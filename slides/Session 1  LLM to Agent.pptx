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Canva Sans" charset="1" panose="020B0503030501040103"/>
      <p:regular r:id="rId47"/>
    </p:embeddedFont>
    <p:embeddedFont>
      <p:font typeface="Lilita One" charset="1" panose="02000000000000000000"/>
      <p:regular r:id="rId48"/>
    </p:embeddedFont>
    <p:embeddedFont>
      <p:font typeface="Helvetica World" charset="1" panose="020B0500040000020004"/>
      <p:regular r:id="rId49"/>
    </p:embeddedFont>
    <p:embeddedFont>
      <p:font typeface="Inter Semi-Bold" charset="1" panose="02000503000000020004"/>
      <p:regular r:id="rId50"/>
    </p:embeddedFont>
    <p:embeddedFont>
      <p:font typeface="Calibri (MS) Bold" charset="1" panose="020F0702030404030204"/>
      <p:regular r:id="rId51"/>
    </p:embeddedFont>
    <p:embeddedFont>
      <p:font typeface="Calibri (MS)" charset="1" panose="020F0502020204030204"/>
      <p:regular r:id="rId52"/>
    </p:embeddedFont>
    <p:embeddedFont>
      <p:font typeface="Calibri (MS) Italics" charset="1" panose="020F05020202040A0204"/>
      <p:regular r:id="rId53"/>
    </p:embeddedFont>
    <p:embeddedFont>
      <p:font typeface="Calibri (MS) Bold Italics" charset="1" panose="020F07020304040A0204"/>
      <p:regular r:id="rId54"/>
    </p:embeddedFont>
    <p:embeddedFont>
      <p:font typeface="Courier New" charset="1" panose="02070309020205020404"/>
      <p:regular r:id="rId55"/>
    </p:embeddedFont>
    <p:embeddedFont>
      <p:font typeface="Courier New Bold" charset="1" panose="02070609020205020404"/>
      <p:regular r:id="rId56"/>
    </p:embeddedFont>
    <p:embeddedFont>
      <p:font typeface="Arial Bold" charset="1" panose="020B0704020202020204"/>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7.jpeg" Type="http://schemas.openxmlformats.org/officeDocument/2006/relationships/image"/><Relationship Id="rId6"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png" Type="http://schemas.openxmlformats.org/officeDocument/2006/relationships/image"/><Relationship Id="rId12" Target="../media/image32.png" Type="http://schemas.openxmlformats.org/officeDocument/2006/relationships/image"/><Relationship Id="rId13" Target="../media/image33.png" Type="http://schemas.openxmlformats.org/officeDocument/2006/relationships/image"/><Relationship Id="rId14" Target="../media/image34.png" Type="http://schemas.openxmlformats.org/officeDocument/2006/relationships/image"/><Relationship Id="rId15" Target="../media/image35.png" Type="http://schemas.openxmlformats.org/officeDocument/2006/relationships/image"/><Relationship Id="rId16" Target="../media/image36.png" Type="http://schemas.openxmlformats.org/officeDocument/2006/relationships/image"/><Relationship Id="rId17" Target="../media/image37.png" Type="http://schemas.openxmlformats.org/officeDocument/2006/relationships/image"/><Relationship Id="rId18" Target="../media/image38.png" Type="http://schemas.openxmlformats.org/officeDocument/2006/relationships/image"/><Relationship Id="rId19" Target="../media/image39.png" Type="http://schemas.openxmlformats.org/officeDocument/2006/relationships/image"/><Relationship Id="rId2" Target="../media/image22.png" Type="http://schemas.openxmlformats.org/officeDocument/2006/relationships/image"/><Relationship Id="rId20" Target="../media/image40.png" Type="http://schemas.openxmlformats.org/officeDocument/2006/relationships/image"/><Relationship Id="rId21" Target="../media/image41.png" Type="http://schemas.openxmlformats.org/officeDocument/2006/relationships/image"/><Relationship Id="rId22" Target="../media/image42.png" Type="http://schemas.openxmlformats.org/officeDocument/2006/relationships/image"/><Relationship Id="rId23" Target="../media/image43.png" Type="http://schemas.openxmlformats.org/officeDocument/2006/relationships/image"/><Relationship Id="rId24" Target="../media/image44.png" Type="http://schemas.openxmlformats.org/officeDocument/2006/relationships/image"/><Relationship Id="rId25" Target="../media/image45.png" Type="http://schemas.openxmlformats.org/officeDocument/2006/relationships/image"/><Relationship Id="rId26" Target="../media/image46.png" Type="http://schemas.openxmlformats.org/officeDocument/2006/relationships/image"/><Relationship Id="rId27" Target="../media/image47.png" Type="http://schemas.openxmlformats.org/officeDocument/2006/relationships/image"/><Relationship Id="rId28" Target="../media/image48.png" Type="http://schemas.openxmlformats.org/officeDocument/2006/relationships/image"/><Relationship Id="rId29" Target="../media/image49.png" Type="http://schemas.openxmlformats.org/officeDocument/2006/relationships/image"/><Relationship Id="rId3" Target="../media/image23.png" Type="http://schemas.openxmlformats.org/officeDocument/2006/relationships/image"/><Relationship Id="rId30" Target="../media/image50.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 Id="rId3" Target="../media/image53.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75956" y="7966921"/>
            <a:ext cx="5480719" cy="5511824"/>
          </a:xfrm>
          <a:custGeom>
            <a:avLst/>
            <a:gdLst/>
            <a:ahLst/>
            <a:cxnLst/>
            <a:rect r="r" b="b" t="t" l="l"/>
            <a:pathLst>
              <a:path h="5511824" w="5480719">
                <a:moveTo>
                  <a:pt x="0" y="0"/>
                </a:moveTo>
                <a:lnTo>
                  <a:pt x="5480720" y="0"/>
                </a:lnTo>
                <a:lnTo>
                  <a:pt x="5480720" y="5511824"/>
                </a:lnTo>
                <a:lnTo>
                  <a:pt x="0" y="5511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4"/>
            <a:stretch>
              <a:fillRect l="0" t="0" r="0" b="0"/>
            </a:stretch>
          </a:blipFill>
        </p:spPr>
      </p:sp>
      <p:grpSp>
        <p:nvGrpSpPr>
          <p:cNvPr name="Group 4" id="4"/>
          <p:cNvGrpSpPr/>
          <p:nvPr/>
        </p:nvGrpSpPr>
        <p:grpSpPr>
          <a:xfrm rot="0">
            <a:off x="1522589" y="3619411"/>
            <a:ext cx="9869311" cy="677350"/>
            <a:chOff x="0" y="0"/>
            <a:chExt cx="2508974" cy="172196"/>
          </a:xfrm>
        </p:grpSpPr>
        <p:sp>
          <p:nvSpPr>
            <p:cNvPr name="Freeform 5" id="5"/>
            <p:cNvSpPr/>
            <p:nvPr/>
          </p:nvSpPr>
          <p:spPr>
            <a:xfrm flipH="false" flipV="false" rot="0">
              <a:off x="0" y="0"/>
              <a:ext cx="2508974" cy="172196"/>
            </a:xfrm>
            <a:custGeom>
              <a:avLst/>
              <a:gdLst/>
              <a:ahLst/>
              <a:cxnLst/>
              <a:rect r="r" b="b" t="t" l="l"/>
              <a:pathLst>
                <a:path h="172196" w="2508974">
                  <a:moveTo>
                    <a:pt x="0" y="0"/>
                  </a:moveTo>
                  <a:lnTo>
                    <a:pt x="2508974" y="0"/>
                  </a:lnTo>
                  <a:lnTo>
                    <a:pt x="2508974" y="172196"/>
                  </a:lnTo>
                  <a:lnTo>
                    <a:pt x="0" y="172196"/>
                  </a:lnTo>
                  <a:close/>
                </a:path>
              </a:pathLst>
            </a:custGeom>
            <a:solidFill>
              <a:srgbClr val="0493FB"/>
            </a:solidFill>
          </p:spPr>
        </p:sp>
        <p:sp>
          <p:nvSpPr>
            <p:cNvPr name="TextBox 6" id="6"/>
            <p:cNvSpPr txBox="true"/>
            <p:nvPr/>
          </p:nvSpPr>
          <p:spPr>
            <a:xfrm>
              <a:off x="0" y="-38100"/>
              <a:ext cx="2508974" cy="210296"/>
            </a:xfrm>
            <a:prstGeom prst="rect">
              <a:avLst/>
            </a:prstGeom>
          </p:spPr>
          <p:txBody>
            <a:bodyPr anchor="ctr" rtlCol="false" tIns="50800" lIns="50800" bIns="50800" rIns="50800"/>
            <a:lstStyle/>
            <a:p>
              <a:pPr algn="ctr">
                <a:lnSpc>
                  <a:spcPts val="2659"/>
                </a:lnSpc>
                <a:spcBef>
                  <a:spcPct val="0"/>
                </a:spcBef>
              </a:pPr>
            </a:p>
          </p:txBody>
        </p:sp>
      </p:grpSp>
      <p:sp>
        <p:nvSpPr>
          <p:cNvPr name="AutoShape 7" id="7"/>
          <p:cNvSpPr/>
          <p:nvPr/>
        </p:nvSpPr>
        <p:spPr>
          <a:xfrm flipV="true">
            <a:off x="1028708" y="1028700"/>
            <a:ext cx="16230592" cy="24204"/>
          </a:xfrm>
          <a:prstGeom prst="line">
            <a:avLst/>
          </a:prstGeom>
          <a:ln cap="flat" w="9525">
            <a:solidFill>
              <a:srgbClr val="FFFFFF"/>
            </a:solidFill>
            <a:prstDash val="solid"/>
            <a:headEnd type="none" len="sm" w="sm"/>
            <a:tailEnd type="none" len="sm" w="sm"/>
          </a:ln>
        </p:spPr>
      </p:sp>
      <p:sp>
        <p:nvSpPr>
          <p:cNvPr name="AutoShape 8" id="8"/>
          <p:cNvSpPr/>
          <p:nvPr/>
        </p:nvSpPr>
        <p:spPr>
          <a:xfrm flipV="true">
            <a:off x="1028701" y="457718"/>
            <a:ext cx="16230592" cy="24204"/>
          </a:xfrm>
          <a:prstGeom prst="line">
            <a:avLst/>
          </a:prstGeom>
          <a:ln cap="flat" w="9525">
            <a:solidFill>
              <a:srgbClr val="FFFFFF"/>
            </a:solidFill>
            <a:prstDash val="solid"/>
            <a:headEnd type="none" len="sm" w="sm"/>
            <a:tailEnd type="none" len="sm" w="sm"/>
          </a:ln>
        </p:spPr>
      </p:sp>
      <p:grpSp>
        <p:nvGrpSpPr>
          <p:cNvPr name="Group 9" id="9"/>
          <p:cNvGrpSpPr/>
          <p:nvPr/>
        </p:nvGrpSpPr>
        <p:grpSpPr>
          <a:xfrm rot="0">
            <a:off x="1522589" y="4948714"/>
            <a:ext cx="9655441" cy="419201"/>
            <a:chOff x="0" y="0"/>
            <a:chExt cx="2454605" cy="106569"/>
          </a:xfrm>
        </p:grpSpPr>
        <p:sp>
          <p:nvSpPr>
            <p:cNvPr name="Freeform 10" id="10"/>
            <p:cNvSpPr/>
            <p:nvPr/>
          </p:nvSpPr>
          <p:spPr>
            <a:xfrm flipH="false" flipV="false" rot="0">
              <a:off x="0" y="0"/>
              <a:ext cx="2454605" cy="106569"/>
            </a:xfrm>
            <a:custGeom>
              <a:avLst/>
              <a:gdLst/>
              <a:ahLst/>
              <a:cxnLst/>
              <a:rect r="r" b="b" t="t" l="l"/>
              <a:pathLst>
                <a:path h="106569" w="2454605">
                  <a:moveTo>
                    <a:pt x="0" y="0"/>
                  </a:moveTo>
                  <a:lnTo>
                    <a:pt x="2454605" y="0"/>
                  </a:lnTo>
                  <a:lnTo>
                    <a:pt x="2454605" y="106569"/>
                  </a:lnTo>
                  <a:lnTo>
                    <a:pt x="0" y="106569"/>
                  </a:lnTo>
                  <a:close/>
                </a:path>
              </a:pathLst>
            </a:custGeom>
            <a:solidFill>
              <a:srgbClr val="0493FB"/>
            </a:solidFill>
          </p:spPr>
        </p:sp>
        <p:sp>
          <p:nvSpPr>
            <p:cNvPr name="TextBox 11" id="11"/>
            <p:cNvSpPr txBox="true"/>
            <p:nvPr/>
          </p:nvSpPr>
          <p:spPr>
            <a:xfrm>
              <a:off x="0" y="-38100"/>
              <a:ext cx="2454605" cy="144669"/>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7313088" y="7677397"/>
            <a:ext cx="1809150" cy="1335024"/>
            <a:chOff x="0" y="0"/>
            <a:chExt cx="1101461" cy="812800"/>
          </a:xfrm>
        </p:grpSpPr>
        <p:sp>
          <p:nvSpPr>
            <p:cNvPr name="Freeform 13" id="13"/>
            <p:cNvSpPr/>
            <p:nvPr/>
          </p:nvSpPr>
          <p:spPr>
            <a:xfrm flipH="false" flipV="false" rot="0">
              <a:off x="0" y="0"/>
              <a:ext cx="1101461" cy="812800"/>
            </a:xfrm>
            <a:custGeom>
              <a:avLst/>
              <a:gdLst/>
              <a:ahLst/>
              <a:cxnLst/>
              <a:rect r="r" b="b" t="t" l="l"/>
              <a:pathLst>
                <a:path h="812800" w="1101461">
                  <a:moveTo>
                    <a:pt x="550731" y="0"/>
                  </a:moveTo>
                  <a:cubicBezTo>
                    <a:pt x="246570" y="0"/>
                    <a:pt x="0" y="181951"/>
                    <a:pt x="0" y="406400"/>
                  </a:cubicBezTo>
                  <a:cubicBezTo>
                    <a:pt x="0" y="630849"/>
                    <a:pt x="246570" y="812800"/>
                    <a:pt x="550731" y="812800"/>
                  </a:cubicBezTo>
                  <a:cubicBezTo>
                    <a:pt x="854891" y="812800"/>
                    <a:pt x="1101461" y="630849"/>
                    <a:pt x="1101461" y="406400"/>
                  </a:cubicBezTo>
                  <a:cubicBezTo>
                    <a:pt x="1101461" y="181951"/>
                    <a:pt x="854891" y="0"/>
                    <a:pt x="550731" y="0"/>
                  </a:cubicBezTo>
                  <a:close/>
                </a:path>
              </a:pathLst>
            </a:custGeom>
            <a:solidFill>
              <a:srgbClr val="A8D4FF"/>
            </a:solidFill>
          </p:spPr>
        </p:sp>
        <p:sp>
          <p:nvSpPr>
            <p:cNvPr name="TextBox 14" id="14"/>
            <p:cNvSpPr txBox="true"/>
            <p:nvPr/>
          </p:nvSpPr>
          <p:spPr>
            <a:xfrm>
              <a:off x="103262" y="19050"/>
              <a:ext cx="894937" cy="717550"/>
            </a:xfrm>
            <a:prstGeom prst="rect">
              <a:avLst/>
            </a:prstGeom>
          </p:spPr>
          <p:txBody>
            <a:bodyPr anchor="ctr" rtlCol="false" tIns="50800" lIns="50800" bIns="50800" rIns="50800"/>
            <a:lstStyle/>
            <a:p>
              <a:pPr algn="ctr">
                <a:lnSpc>
                  <a:spcPts val="3919"/>
                </a:lnSpc>
              </a:pPr>
              <a:r>
                <a:rPr lang="en-US" sz="2799">
                  <a:solidFill>
                    <a:srgbClr val="000000"/>
                  </a:solidFill>
                  <a:latin typeface="Canva Sans"/>
                  <a:ea typeface="Canva Sans"/>
                  <a:cs typeface="Canva Sans"/>
                  <a:sym typeface="Canva Sans"/>
                </a:rPr>
                <a:t>LLM</a:t>
              </a:r>
            </a:p>
          </p:txBody>
        </p:sp>
      </p:grpSp>
      <p:sp>
        <p:nvSpPr>
          <p:cNvPr name="TextBox 15" id="15"/>
          <p:cNvSpPr txBox="true"/>
          <p:nvPr/>
        </p:nvSpPr>
        <p:spPr>
          <a:xfrm rot="0">
            <a:off x="1257300" y="581025"/>
            <a:ext cx="5619750" cy="328765"/>
          </a:xfrm>
          <a:prstGeom prst="rect">
            <a:avLst/>
          </a:prstGeom>
        </p:spPr>
        <p:txBody>
          <a:bodyPr anchor="t" rtlCol="false" tIns="0" lIns="0" bIns="0" rIns="0">
            <a:spAutoFit/>
          </a:bodyPr>
          <a:lstStyle/>
          <a:p>
            <a:pPr algn="l" marL="0" indent="0" lvl="0">
              <a:lnSpc>
                <a:spcPts val="2673"/>
              </a:lnSpc>
              <a:spcBef>
                <a:spcPct val="0"/>
              </a:spcBef>
            </a:pPr>
            <a:r>
              <a:rPr lang="en-US" sz="2010" spc="291" strike="noStrike" u="none">
                <a:solidFill>
                  <a:srgbClr val="DDEFFF"/>
                </a:solidFill>
                <a:latin typeface="Lilita One"/>
                <a:ea typeface="Lilita One"/>
                <a:cs typeface="Lilita One"/>
                <a:sym typeface="Lilita One"/>
              </a:rPr>
              <a:t>@dalmlsociety</a:t>
            </a:r>
          </a:p>
        </p:txBody>
      </p:sp>
      <p:sp>
        <p:nvSpPr>
          <p:cNvPr name="TextBox 16" id="16"/>
          <p:cNvSpPr txBox="true"/>
          <p:nvPr/>
        </p:nvSpPr>
        <p:spPr>
          <a:xfrm rot="0">
            <a:off x="12811125" y="552450"/>
            <a:ext cx="4448168" cy="417576"/>
          </a:xfrm>
          <a:prstGeom prst="rect">
            <a:avLst/>
          </a:prstGeom>
        </p:spPr>
        <p:txBody>
          <a:bodyPr anchor="t" rtlCol="false" tIns="0" lIns="0" bIns="0" rIns="0">
            <a:spAutoFit/>
          </a:bodyPr>
          <a:lstStyle/>
          <a:p>
            <a:pPr algn="r">
              <a:lnSpc>
                <a:spcPts val="3168"/>
              </a:lnSpc>
              <a:spcBef>
                <a:spcPct val="0"/>
              </a:spcBef>
            </a:pPr>
            <a:r>
              <a:rPr lang="en-US" sz="2879" spc="-83">
                <a:solidFill>
                  <a:srgbClr val="DDEFFF"/>
                </a:solidFill>
                <a:latin typeface="Lilita One"/>
                <a:ea typeface="Lilita One"/>
                <a:cs typeface="Lilita One"/>
                <a:sym typeface="Lilita One"/>
              </a:rPr>
              <a:t>From LLM to Agent</a:t>
            </a:r>
          </a:p>
        </p:txBody>
      </p:sp>
      <p:sp>
        <p:nvSpPr>
          <p:cNvPr name="TextBox 17" id="17"/>
          <p:cNvSpPr txBox="true"/>
          <p:nvPr/>
        </p:nvSpPr>
        <p:spPr>
          <a:xfrm rot="0">
            <a:off x="1257300" y="2631929"/>
            <a:ext cx="10134600" cy="1507109"/>
          </a:xfrm>
          <a:prstGeom prst="rect">
            <a:avLst/>
          </a:prstGeom>
        </p:spPr>
        <p:txBody>
          <a:bodyPr anchor="t" rtlCol="false" tIns="0" lIns="0" bIns="0" rIns="0">
            <a:spAutoFit/>
          </a:bodyPr>
          <a:lstStyle/>
          <a:p>
            <a:pPr algn="ctr" marL="0" indent="0" lvl="0">
              <a:lnSpc>
                <a:spcPts val="12102"/>
              </a:lnSpc>
              <a:spcBef>
                <a:spcPct val="0"/>
              </a:spcBef>
            </a:pPr>
            <a:r>
              <a:rPr lang="en-US" sz="9099">
                <a:solidFill>
                  <a:srgbClr val="DDEFFF"/>
                </a:solidFill>
                <a:latin typeface="Lilita One"/>
                <a:ea typeface="Lilita One"/>
                <a:cs typeface="Lilita One"/>
                <a:sym typeface="Lilita One"/>
              </a:rPr>
              <a:t>F</a:t>
            </a:r>
            <a:r>
              <a:rPr lang="en-US" sz="9099" strike="noStrike" u="none">
                <a:solidFill>
                  <a:srgbClr val="DDEFFF"/>
                </a:solidFill>
                <a:latin typeface="Lilita One"/>
                <a:ea typeface="Lilita One"/>
                <a:cs typeface="Lilita One"/>
                <a:sym typeface="Lilita One"/>
              </a:rPr>
              <a:t>r</a:t>
            </a:r>
            <a:r>
              <a:rPr lang="en-US" sz="9099" strike="noStrike" u="none">
                <a:solidFill>
                  <a:srgbClr val="DDEFFF"/>
                </a:solidFill>
                <a:latin typeface="Lilita One"/>
                <a:ea typeface="Lilita One"/>
                <a:cs typeface="Lilita One"/>
                <a:sym typeface="Lilita One"/>
              </a:rPr>
              <a:t>om</a:t>
            </a:r>
            <a:r>
              <a:rPr lang="en-US" sz="9099" strike="noStrike" u="none">
                <a:solidFill>
                  <a:srgbClr val="DDEFFF"/>
                </a:solidFill>
                <a:latin typeface="Lilita One"/>
                <a:ea typeface="Lilita One"/>
                <a:cs typeface="Lilita One"/>
                <a:sym typeface="Lilita One"/>
              </a:rPr>
              <a:t> </a:t>
            </a:r>
            <a:r>
              <a:rPr lang="en-US" sz="9099" strike="noStrike" u="none">
                <a:solidFill>
                  <a:srgbClr val="DDEFFF"/>
                </a:solidFill>
                <a:latin typeface="Lilita One"/>
                <a:ea typeface="Lilita One"/>
                <a:cs typeface="Lilita One"/>
                <a:sym typeface="Lilita One"/>
              </a:rPr>
              <a:t>LLM </a:t>
            </a:r>
            <a:r>
              <a:rPr lang="en-US" sz="9099" strike="noStrike" u="none">
                <a:solidFill>
                  <a:srgbClr val="DDEFFF"/>
                </a:solidFill>
                <a:latin typeface="Lilita One"/>
                <a:ea typeface="Lilita One"/>
                <a:cs typeface="Lilita One"/>
                <a:sym typeface="Lilita One"/>
              </a:rPr>
              <a:t>to </a:t>
            </a:r>
            <a:r>
              <a:rPr lang="en-US" sz="9099" strike="noStrike" u="none">
                <a:solidFill>
                  <a:srgbClr val="DDEFFF"/>
                </a:solidFill>
                <a:latin typeface="Lilita One"/>
                <a:ea typeface="Lilita One"/>
                <a:cs typeface="Lilita One"/>
                <a:sym typeface="Lilita One"/>
              </a:rPr>
              <a:t>Agent​</a:t>
            </a:r>
          </a:p>
        </p:txBody>
      </p:sp>
      <p:sp>
        <p:nvSpPr>
          <p:cNvPr name="TextBox 18" id="18"/>
          <p:cNvSpPr txBox="true"/>
          <p:nvPr/>
        </p:nvSpPr>
        <p:spPr>
          <a:xfrm rot="0">
            <a:off x="1593391" y="2248357"/>
            <a:ext cx="4947568" cy="323215"/>
          </a:xfrm>
          <a:prstGeom prst="rect">
            <a:avLst/>
          </a:prstGeom>
        </p:spPr>
        <p:txBody>
          <a:bodyPr anchor="t" rtlCol="false" tIns="0" lIns="0" bIns="0" rIns="0">
            <a:spAutoFit/>
          </a:bodyPr>
          <a:lstStyle/>
          <a:p>
            <a:pPr algn="ctr">
              <a:lnSpc>
                <a:spcPts val="2659"/>
              </a:lnSpc>
              <a:spcBef>
                <a:spcPct val="0"/>
              </a:spcBef>
            </a:pPr>
            <a:r>
              <a:rPr lang="en-US" sz="1899">
                <a:solidFill>
                  <a:srgbClr val="DDEFFF"/>
                </a:solidFill>
                <a:latin typeface="Canva Sans"/>
                <a:ea typeface="Canva Sans"/>
                <a:cs typeface="Canva Sans"/>
                <a:sym typeface="Canva Sans"/>
              </a:rPr>
              <a:t>DMLS AGENTIC AI WORKSHOP · SESSION 1​</a:t>
            </a:r>
          </a:p>
        </p:txBody>
      </p:sp>
      <p:sp>
        <p:nvSpPr>
          <p:cNvPr name="TextBox 19" id="19"/>
          <p:cNvSpPr txBox="true"/>
          <p:nvPr/>
        </p:nvSpPr>
        <p:spPr>
          <a:xfrm rot="0">
            <a:off x="1257300" y="4660805"/>
            <a:ext cx="10134600" cy="528193"/>
          </a:xfrm>
          <a:prstGeom prst="rect">
            <a:avLst/>
          </a:prstGeom>
        </p:spPr>
        <p:txBody>
          <a:bodyPr anchor="t" rtlCol="false" tIns="0" lIns="0" bIns="0" rIns="0">
            <a:spAutoFit/>
          </a:bodyPr>
          <a:lstStyle/>
          <a:p>
            <a:pPr algn="ctr" marL="0" indent="0" lvl="0">
              <a:lnSpc>
                <a:spcPts val="4256"/>
              </a:lnSpc>
              <a:spcBef>
                <a:spcPct val="0"/>
              </a:spcBef>
            </a:pPr>
            <a:r>
              <a:rPr lang="en-US" sz="3200">
                <a:solidFill>
                  <a:srgbClr val="FFFFFF"/>
                </a:solidFill>
                <a:latin typeface="Lilita One"/>
                <a:ea typeface="Lilita One"/>
                <a:cs typeface="Lilita One"/>
                <a:sym typeface="Lilita One"/>
              </a:rPr>
              <a:t>What c</a:t>
            </a:r>
            <a:r>
              <a:rPr lang="en-US" sz="3200" strike="noStrike" u="none">
                <a:solidFill>
                  <a:srgbClr val="FFFFFF"/>
                </a:solidFill>
                <a:latin typeface="Lilita One"/>
                <a:ea typeface="Lilita One"/>
                <a:cs typeface="Lilita One"/>
                <a:sym typeface="Lilita One"/>
              </a:rPr>
              <a:t>om</a:t>
            </a:r>
            <a:r>
              <a:rPr lang="en-US" sz="3200" strike="noStrike" u="none">
                <a:solidFill>
                  <a:srgbClr val="FFFFFF"/>
                </a:solidFill>
                <a:latin typeface="Lilita One"/>
                <a:ea typeface="Lilita One"/>
                <a:cs typeface="Lilita One"/>
                <a:sym typeface="Lilita One"/>
              </a:rPr>
              <a:t>panies</a:t>
            </a:r>
            <a:r>
              <a:rPr lang="en-US" sz="3200" strike="noStrike" u="none">
                <a:solidFill>
                  <a:srgbClr val="FFFFFF"/>
                </a:solidFill>
                <a:latin typeface="Lilita One"/>
                <a:ea typeface="Lilita One"/>
                <a:cs typeface="Lilita One"/>
                <a:sym typeface="Lilita One"/>
              </a:rPr>
              <a:t> actually </a:t>
            </a:r>
            <a:r>
              <a:rPr lang="en-US" sz="3200" strike="noStrike" u="none">
                <a:solidFill>
                  <a:srgbClr val="FFFFFF"/>
                </a:solidFill>
                <a:latin typeface="Lilita One"/>
                <a:ea typeface="Lilita One"/>
                <a:cs typeface="Lilita One"/>
                <a:sym typeface="Lilita One"/>
              </a:rPr>
              <a:t>hire for, buil</a:t>
            </a:r>
            <a:r>
              <a:rPr lang="en-US" sz="3200" strike="noStrike" u="none">
                <a:solidFill>
                  <a:srgbClr val="FFFFFF"/>
                </a:solidFill>
                <a:latin typeface="Lilita One"/>
                <a:ea typeface="Lilita One"/>
                <a:cs typeface="Lilita One"/>
                <a:sym typeface="Lilita One"/>
              </a:rPr>
              <a:t>t from scrat</a:t>
            </a:r>
            <a:r>
              <a:rPr lang="en-US" sz="3200" strike="noStrike" u="none">
                <a:solidFill>
                  <a:srgbClr val="FFFFFF"/>
                </a:solidFill>
                <a:latin typeface="Lilita One"/>
                <a:ea typeface="Lilita One"/>
                <a:cs typeface="Lilita One"/>
                <a:sym typeface="Lilita One"/>
              </a:rPr>
              <a:t>ch.</a:t>
            </a:r>
            <a:r>
              <a:rPr lang="en-US" sz="3200" strike="noStrike" u="none">
                <a:solidFill>
                  <a:srgbClr val="FFFFFF"/>
                </a:solidFill>
                <a:latin typeface="Lilita One"/>
                <a:ea typeface="Lilita One"/>
                <a:cs typeface="Lilita One"/>
                <a:sym typeface="Lilita One"/>
              </a:rPr>
              <a:t>​</a:t>
            </a:r>
          </a:p>
        </p:txBody>
      </p:sp>
      <p:sp>
        <p:nvSpPr>
          <p:cNvPr name="AutoShape 20" id="20"/>
          <p:cNvSpPr/>
          <p:nvPr/>
        </p:nvSpPr>
        <p:spPr>
          <a:xfrm>
            <a:off x="9122421" y="8360653"/>
            <a:ext cx="629060" cy="0"/>
          </a:xfrm>
          <a:prstGeom prst="line">
            <a:avLst/>
          </a:prstGeom>
          <a:ln cap="flat" w="28575">
            <a:solidFill>
              <a:srgbClr val="FFFFFF"/>
            </a:solidFill>
            <a:prstDash val="solid"/>
            <a:headEnd type="none" len="sm" w="sm"/>
            <a:tailEnd type="triangle" len="med" w="lg"/>
          </a:ln>
        </p:spPr>
      </p:sp>
      <p:grpSp>
        <p:nvGrpSpPr>
          <p:cNvPr name="Group 21" id="21"/>
          <p:cNvGrpSpPr/>
          <p:nvPr/>
        </p:nvGrpSpPr>
        <p:grpSpPr>
          <a:xfrm rot="0">
            <a:off x="9751481" y="7693141"/>
            <a:ext cx="1809150" cy="1335024"/>
            <a:chOff x="0" y="0"/>
            <a:chExt cx="1101461" cy="812800"/>
          </a:xfrm>
        </p:grpSpPr>
        <p:sp>
          <p:nvSpPr>
            <p:cNvPr name="Freeform 22" id="22"/>
            <p:cNvSpPr/>
            <p:nvPr/>
          </p:nvSpPr>
          <p:spPr>
            <a:xfrm flipH="false" flipV="false" rot="0">
              <a:off x="0" y="0"/>
              <a:ext cx="1101461" cy="812800"/>
            </a:xfrm>
            <a:custGeom>
              <a:avLst/>
              <a:gdLst/>
              <a:ahLst/>
              <a:cxnLst/>
              <a:rect r="r" b="b" t="t" l="l"/>
              <a:pathLst>
                <a:path h="812800" w="1101461">
                  <a:moveTo>
                    <a:pt x="550731" y="0"/>
                  </a:moveTo>
                  <a:cubicBezTo>
                    <a:pt x="246570" y="0"/>
                    <a:pt x="0" y="181951"/>
                    <a:pt x="0" y="406400"/>
                  </a:cubicBezTo>
                  <a:cubicBezTo>
                    <a:pt x="0" y="630849"/>
                    <a:pt x="246570" y="812800"/>
                    <a:pt x="550731" y="812800"/>
                  </a:cubicBezTo>
                  <a:cubicBezTo>
                    <a:pt x="854891" y="812800"/>
                    <a:pt x="1101461" y="630849"/>
                    <a:pt x="1101461" y="406400"/>
                  </a:cubicBezTo>
                  <a:cubicBezTo>
                    <a:pt x="1101461" y="181951"/>
                    <a:pt x="854891" y="0"/>
                    <a:pt x="550731" y="0"/>
                  </a:cubicBezTo>
                  <a:close/>
                </a:path>
              </a:pathLst>
            </a:custGeom>
            <a:solidFill>
              <a:srgbClr val="DDEFFF"/>
            </a:solidFill>
          </p:spPr>
        </p:sp>
        <p:sp>
          <p:nvSpPr>
            <p:cNvPr name="TextBox 23" id="23"/>
            <p:cNvSpPr txBox="true"/>
            <p:nvPr/>
          </p:nvSpPr>
          <p:spPr>
            <a:xfrm>
              <a:off x="103262" y="19050"/>
              <a:ext cx="894937" cy="717550"/>
            </a:xfrm>
            <a:prstGeom prst="rect">
              <a:avLst/>
            </a:prstGeom>
          </p:spPr>
          <p:txBody>
            <a:bodyPr anchor="ctr" rtlCol="false" tIns="50800" lIns="50800" bIns="50800" rIns="50800"/>
            <a:lstStyle/>
            <a:p>
              <a:pPr algn="ctr">
                <a:lnSpc>
                  <a:spcPts val="3919"/>
                </a:lnSpc>
              </a:pPr>
              <a:r>
                <a:rPr lang="en-US" sz="2799">
                  <a:solidFill>
                    <a:srgbClr val="000000"/>
                  </a:solidFill>
                  <a:latin typeface="Canva Sans"/>
                  <a:ea typeface="Canva Sans"/>
                  <a:cs typeface="Canva Sans"/>
                  <a:sym typeface="Canva Sans"/>
                </a:rPr>
                <a:t>Validate</a:t>
              </a:r>
            </a:p>
          </p:txBody>
        </p:sp>
      </p:grpSp>
      <p:grpSp>
        <p:nvGrpSpPr>
          <p:cNvPr name="Group 24" id="24"/>
          <p:cNvGrpSpPr/>
          <p:nvPr/>
        </p:nvGrpSpPr>
        <p:grpSpPr>
          <a:xfrm rot="0">
            <a:off x="12190457" y="7677397"/>
            <a:ext cx="1809150" cy="1335024"/>
            <a:chOff x="0" y="0"/>
            <a:chExt cx="1101461" cy="812800"/>
          </a:xfrm>
        </p:grpSpPr>
        <p:sp>
          <p:nvSpPr>
            <p:cNvPr name="Freeform 25" id="25"/>
            <p:cNvSpPr/>
            <p:nvPr/>
          </p:nvSpPr>
          <p:spPr>
            <a:xfrm flipH="false" flipV="false" rot="0">
              <a:off x="0" y="0"/>
              <a:ext cx="1101461" cy="812800"/>
            </a:xfrm>
            <a:custGeom>
              <a:avLst/>
              <a:gdLst/>
              <a:ahLst/>
              <a:cxnLst/>
              <a:rect r="r" b="b" t="t" l="l"/>
              <a:pathLst>
                <a:path h="812800" w="1101461">
                  <a:moveTo>
                    <a:pt x="550731" y="0"/>
                  </a:moveTo>
                  <a:cubicBezTo>
                    <a:pt x="246570" y="0"/>
                    <a:pt x="0" y="181951"/>
                    <a:pt x="0" y="406400"/>
                  </a:cubicBezTo>
                  <a:cubicBezTo>
                    <a:pt x="0" y="630849"/>
                    <a:pt x="246570" y="812800"/>
                    <a:pt x="550731" y="812800"/>
                  </a:cubicBezTo>
                  <a:cubicBezTo>
                    <a:pt x="854891" y="812800"/>
                    <a:pt x="1101461" y="630849"/>
                    <a:pt x="1101461" y="406400"/>
                  </a:cubicBezTo>
                  <a:cubicBezTo>
                    <a:pt x="1101461" y="181951"/>
                    <a:pt x="854891" y="0"/>
                    <a:pt x="550731" y="0"/>
                  </a:cubicBezTo>
                  <a:close/>
                </a:path>
              </a:pathLst>
            </a:custGeom>
            <a:solidFill>
              <a:srgbClr val="DDEFFF"/>
            </a:solidFill>
          </p:spPr>
        </p:sp>
        <p:sp>
          <p:nvSpPr>
            <p:cNvPr name="TextBox 26" id="26"/>
            <p:cNvSpPr txBox="true"/>
            <p:nvPr/>
          </p:nvSpPr>
          <p:spPr>
            <a:xfrm>
              <a:off x="103262" y="19050"/>
              <a:ext cx="894937" cy="717550"/>
            </a:xfrm>
            <a:prstGeom prst="rect">
              <a:avLst/>
            </a:prstGeom>
          </p:spPr>
          <p:txBody>
            <a:bodyPr anchor="ctr" rtlCol="false" tIns="50800" lIns="50800" bIns="50800" rIns="50800"/>
            <a:lstStyle/>
            <a:p>
              <a:pPr algn="ctr">
                <a:lnSpc>
                  <a:spcPts val="3919"/>
                </a:lnSpc>
              </a:pPr>
              <a:r>
                <a:rPr lang="en-US" sz="2799">
                  <a:solidFill>
                    <a:srgbClr val="000000"/>
                  </a:solidFill>
                  <a:latin typeface="Canva Sans"/>
                  <a:ea typeface="Canva Sans"/>
                  <a:cs typeface="Canva Sans"/>
                  <a:sym typeface="Canva Sans"/>
                </a:rPr>
                <a:t>Route</a:t>
              </a:r>
            </a:p>
          </p:txBody>
        </p:sp>
      </p:grpSp>
      <p:sp>
        <p:nvSpPr>
          <p:cNvPr name="AutoShape 27" id="27"/>
          <p:cNvSpPr/>
          <p:nvPr/>
        </p:nvSpPr>
        <p:spPr>
          <a:xfrm>
            <a:off x="13999789" y="8360653"/>
            <a:ext cx="629060" cy="0"/>
          </a:xfrm>
          <a:prstGeom prst="line">
            <a:avLst/>
          </a:prstGeom>
          <a:ln cap="flat" w="28575">
            <a:solidFill>
              <a:srgbClr val="FFFFFF"/>
            </a:solidFill>
            <a:prstDash val="solid"/>
            <a:headEnd type="none" len="sm" w="sm"/>
            <a:tailEnd type="triangle" len="med" w="lg"/>
          </a:ln>
        </p:spPr>
      </p:sp>
      <p:sp>
        <p:nvSpPr>
          <p:cNvPr name="AutoShape 28" id="28"/>
          <p:cNvSpPr/>
          <p:nvPr/>
        </p:nvSpPr>
        <p:spPr>
          <a:xfrm>
            <a:off x="11558087" y="8376399"/>
            <a:ext cx="629060" cy="0"/>
          </a:xfrm>
          <a:prstGeom prst="line">
            <a:avLst/>
          </a:prstGeom>
          <a:ln cap="flat" w="28575">
            <a:solidFill>
              <a:srgbClr val="FFFFFF"/>
            </a:solidFill>
            <a:prstDash val="solid"/>
            <a:headEnd type="none" len="sm" w="sm"/>
            <a:tailEnd type="triangle" len="med" w="lg"/>
          </a:ln>
        </p:spPr>
      </p:sp>
      <p:grpSp>
        <p:nvGrpSpPr>
          <p:cNvPr name="Group 29" id="29"/>
          <p:cNvGrpSpPr/>
          <p:nvPr/>
        </p:nvGrpSpPr>
        <p:grpSpPr>
          <a:xfrm rot="0">
            <a:off x="14628850" y="7708887"/>
            <a:ext cx="1809150" cy="1335024"/>
            <a:chOff x="0" y="0"/>
            <a:chExt cx="1101461" cy="812800"/>
          </a:xfrm>
        </p:grpSpPr>
        <p:sp>
          <p:nvSpPr>
            <p:cNvPr name="Freeform 30" id="30"/>
            <p:cNvSpPr/>
            <p:nvPr/>
          </p:nvSpPr>
          <p:spPr>
            <a:xfrm flipH="false" flipV="false" rot="0">
              <a:off x="0" y="0"/>
              <a:ext cx="1101461" cy="812800"/>
            </a:xfrm>
            <a:custGeom>
              <a:avLst/>
              <a:gdLst/>
              <a:ahLst/>
              <a:cxnLst/>
              <a:rect r="r" b="b" t="t" l="l"/>
              <a:pathLst>
                <a:path h="812800" w="1101461">
                  <a:moveTo>
                    <a:pt x="550731" y="0"/>
                  </a:moveTo>
                  <a:cubicBezTo>
                    <a:pt x="246570" y="0"/>
                    <a:pt x="0" y="181951"/>
                    <a:pt x="0" y="406400"/>
                  </a:cubicBezTo>
                  <a:cubicBezTo>
                    <a:pt x="0" y="630849"/>
                    <a:pt x="246570" y="812800"/>
                    <a:pt x="550731" y="812800"/>
                  </a:cubicBezTo>
                  <a:cubicBezTo>
                    <a:pt x="854891" y="812800"/>
                    <a:pt x="1101461" y="630849"/>
                    <a:pt x="1101461" y="406400"/>
                  </a:cubicBezTo>
                  <a:cubicBezTo>
                    <a:pt x="1101461" y="181951"/>
                    <a:pt x="854891" y="0"/>
                    <a:pt x="550731" y="0"/>
                  </a:cubicBezTo>
                  <a:close/>
                </a:path>
              </a:pathLst>
            </a:custGeom>
            <a:solidFill>
              <a:srgbClr val="FFFFFF"/>
            </a:solidFill>
          </p:spPr>
        </p:sp>
        <p:sp>
          <p:nvSpPr>
            <p:cNvPr name="TextBox 31" id="31"/>
            <p:cNvSpPr txBox="true"/>
            <p:nvPr/>
          </p:nvSpPr>
          <p:spPr>
            <a:xfrm>
              <a:off x="103262" y="19050"/>
              <a:ext cx="894937" cy="717550"/>
            </a:xfrm>
            <a:prstGeom prst="rect">
              <a:avLst/>
            </a:prstGeom>
          </p:spPr>
          <p:txBody>
            <a:bodyPr anchor="ctr" rtlCol="false" tIns="50800" lIns="50800" bIns="50800" rIns="50800"/>
            <a:lstStyle/>
            <a:p>
              <a:pPr algn="ctr">
                <a:lnSpc>
                  <a:spcPts val="3919"/>
                </a:lnSpc>
              </a:pPr>
              <a:r>
                <a:rPr lang="en-US" sz="2799">
                  <a:solidFill>
                    <a:srgbClr val="000000"/>
                  </a:solidFill>
                  <a:latin typeface="Canva Sans"/>
                  <a:ea typeface="Canva Sans"/>
                  <a:cs typeface="Canva Sans"/>
                  <a:sym typeface="Canva Sans"/>
                </a:rPr>
                <a:t>End</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75956" y="7966921"/>
            <a:ext cx="5480719" cy="5511824"/>
          </a:xfrm>
          <a:custGeom>
            <a:avLst/>
            <a:gdLst/>
            <a:ahLst/>
            <a:cxnLst/>
            <a:rect r="r" b="b" t="t" l="l"/>
            <a:pathLst>
              <a:path h="5511824" w="5480719">
                <a:moveTo>
                  <a:pt x="0" y="0"/>
                </a:moveTo>
                <a:lnTo>
                  <a:pt x="5480720" y="0"/>
                </a:lnTo>
                <a:lnTo>
                  <a:pt x="5480720" y="5511824"/>
                </a:lnTo>
                <a:lnTo>
                  <a:pt x="0" y="5511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4"/>
            <a:stretch>
              <a:fillRect l="0" t="0" r="0" b="0"/>
            </a:stretch>
          </a:blipFill>
        </p:spPr>
      </p:sp>
      <p:sp>
        <p:nvSpPr>
          <p:cNvPr name="AutoShape 4" id="4"/>
          <p:cNvSpPr/>
          <p:nvPr/>
        </p:nvSpPr>
        <p:spPr>
          <a:xfrm flipV="true">
            <a:off x="1028708" y="1028700"/>
            <a:ext cx="16230592" cy="24204"/>
          </a:xfrm>
          <a:prstGeom prst="line">
            <a:avLst/>
          </a:prstGeom>
          <a:ln cap="flat" w="9525">
            <a:solidFill>
              <a:srgbClr val="FFFFFF"/>
            </a:solidFill>
            <a:prstDash val="solid"/>
            <a:headEnd type="none" len="sm" w="sm"/>
            <a:tailEnd type="none" len="sm" w="sm"/>
          </a:ln>
        </p:spPr>
      </p:sp>
      <p:sp>
        <p:nvSpPr>
          <p:cNvPr name="TextBox 5" id="5"/>
          <p:cNvSpPr txBox="true"/>
          <p:nvPr/>
        </p:nvSpPr>
        <p:spPr>
          <a:xfrm rot="0">
            <a:off x="1257300" y="581025"/>
            <a:ext cx="5619750" cy="328765"/>
          </a:xfrm>
          <a:prstGeom prst="rect">
            <a:avLst/>
          </a:prstGeom>
        </p:spPr>
        <p:txBody>
          <a:bodyPr anchor="t" rtlCol="false" tIns="0" lIns="0" bIns="0" rIns="0">
            <a:spAutoFit/>
          </a:bodyPr>
          <a:lstStyle/>
          <a:p>
            <a:pPr algn="l" marL="0" indent="0" lvl="0">
              <a:lnSpc>
                <a:spcPts val="2673"/>
              </a:lnSpc>
              <a:spcBef>
                <a:spcPct val="0"/>
              </a:spcBef>
            </a:pPr>
            <a:r>
              <a:rPr lang="en-US" sz="2010" spc="291" strike="noStrike" u="none">
                <a:solidFill>
                  <a:srgbClr val="DDEFFF"/>
                </a:solidFill>
                <a:latin typeface="Lilita One"/>
                <a:ea typeface="Lilita One"/>
                <a:cs typeface="Lilita One"/>
                <a:sym typeface="Lilita One"/>
              </a:rPr>
              <a:t>@dalmlsociety</a:t>
            </a:r>
          </a:p>
        </p:txBody>
      </p:sp>
      <p:sp>
        <p:nvSpPr>
          <p:cNvPr name="TextBox 6" id="6"/>
          <p:cNvSpPr txBox="true"/>
          <p:nvPr/>
        </p:nvSpPr>
        <p:spPr>
          <a:xfrm rot="0">
            <a:off x="12811125" y="552450"/>
            <a:ext cx="4448175" cy="417576"/>
          </a:xfrm>
          <a:prstGeom prst="rect">
            <a:avLst/>
          </a:prstGeom>
        </p:spPr>
        <p:txBody>
          <a:bodyPr anchor="t" rtlCol="false" tIns="0" lIns="0" bIns="0" rIns="0">
            <a:spAutoFit/>
          </a:bodyPr>
          <a:lstStyle/>
          <a:p>
            <a:pPr algn="r" marL="0" indent="0" lvl="0">
              <a:lnSpc>
                <a:spcPts val="3168"/>
              </a:lnSpc>
              <a:spcBef>
                <a:spcPct val="0"/>
              </a:spcBef>
            </a:pPr>
            <a:r>
              <a:rPr lang="en-US" sz="2879" spc="-83">
                <a:solidFill>
                  <a:srgbClr val="DDEFFF"/>
                </a:solidFill>
                <a:latin typeface="Lilita One"/>
                <a:ea typeface="Lilita One"/>
                <a:cs typeface="Lilita One"/>
                <a:sym typeface="Lilita One"/>
              </a:rPr>
              <a:t>From </a:t>
            </a:r>
            <a:r>
              <a:rPr lang="en-US" sz="2879" spc="-83" strike="noStrike" u="none">
                <a:solidFill>
                  <a:srgbClr val="DDEFFF"/>
                </a:solidFill>
                <a:latin typeface="Lilita One"/>
                <a:ea typeface="Lilita One"/>
                <a:cs typeface="Lilita One"/>
                <a:sym typeface="Lilita One"/>
              </a:rPr>
              <a:t>L</a:t>
            </a:r>
            <a:r>
              <a:rPr lang="en-US" sz="2879" spc="-83" strike="noStrike" u="none">
                <a:solidFill>
                  <a:srgbClr val="DDEFFF"/>
                </a:solidFill>
                <a:latin typeface="Lilita One"/>
                <a:ea typeface="Lilita One"/>
                <a:cs typeface="Lilita One"/>
                <a:sym typeface="Lilita One"/>
              </a:rPr>
              <a:t>LM</a:t>
            </a:r>
            <a:r>
              <a:rPr lang="en-US" sz="2879" spc="-83" strike="noStrike" u="none">
                <a:solidFill>
                  <a:srgbClr val="DDEFFF"/>
                </a:solidFill>
                <a:latin typeface="Lilita One"/>
                <a:ea typeface="Lilita One"/>
                <a:cs typeface="Lilita One"/>
                <a:sym typeface="Lilita One"/>
              </a:rPr>
              <a:t> to </a:t>
            </a:r>
            <a:r>
              <a:rPr lang="en-US" sz="2879" spc="-83" strike="noStrike" u="none">
                <a:solidFill>
                  <a:srgbClr val="DDEFFF"/>
                </a:solidFill>
                <a:latin typeface="Lilita One"/>
                <a:ea typeface="Lilita One"/>
                <a:cs typeface="Lilita One"/>
                <a:sym typeface="Lilita One"/>
              </a:rPr>
              <a:t>Agent</a:t>
            </a:r>
          </a:p>
        </p:txBody>
      </p:sp>
      <p:sp>
        <p:nvSpPr>
          <p:cNvPr name="AutoShape 7" id="7"/>
          <p:cNvSpPr/>
          <p:nvPr/>
        </p:nvSpPr>
        <p:spPr>
          <a:xfrm flipV="true">
            <a:off x="1028701" y="457718"/>
            <a:ext cx="16230592" cy="24204"/>
          </a:xfrm>
          <a:prstGeom prst="line">
            <a:avLst/>
          </a:prstGeom>
          <a:ln cap="flat" w="9525">
            <a:solidFill>
              <a:srgbClr val="FFFFFF"/>
            </a:solidFill>
            <a:prstDash val="solid"/>
            <a:headEnd type="none" len="sm" w="sm"/>
            <a:tailEnd type="none" len="sm" w="sm"/>
          </a:ln>
        </p:spPr>
      </p:sp>
      <p:grpSp>
        <p:nvGrpSpPr>
          <p:cNvPr name="Group 8" id="8"/>
          <p:cNvGrpSpPr/>
          <p:nvPr/>
        </p:nvGrpSpPr>
        <p:grpSpPr>
          <a:xfrm rot="0">
            <a:off x="1028708" y="2352675"/>
            <a:ext cx="11553825" cy="476250"/>
            <a:chOff x="0" y="0"/>
            <a:chExt cx="2937211" cy="121072"/>
          </a:xfrm>
        </p:grpSpPr>
        <p:sp>
          <p:nvSpPr>
            <p:cNvPr name="Freeform 9" id="9"/>
            <p:cNvSpPr/>
            <p:nvPr/>
          </p:nvSpPr>
          <p:spPr>
            <a:xfrm flipH="false" flipV="false" rot="0">
              <a:off x="0" y="0"/>
              <a:ext cx="2937211" cy="121072"/>
            </a:xfrm>
            <a:custGeom>
              <a:avLst/>
              <a:gdLst/>
              <a:ahLst/>
              <a:cxnLst/>
              <a:rect r="r" b="b" t="t" l="l"/>
              <a:pathLst>
                <a:path h="121072" w="2937211">
                  <a:moveTo>
                    <a:pt x="0" y="0"/>
                  </a:moveTo>
                  <a:lnTo>
                    <a:pt x="2937211" y="0"/>
                  </a:lnTo>
                  <a:lnTo>
                    <a:pt x="2937211" y="121072"/>
                  </a:lnTo>
                  <a:lnTo>
                    <a:pt x="0" y="121072"/>
                  </a:lnTo>
                  <a:close/>
                </a:path>
              </a:pathLst>
            </a:custGeom>
            <a:solidFill>
              <a:srgbClr val="0493FB"/>
            </a:solidFill>
          </p:spPr>
        </p:sp>
        <p:sp>
          <p:nvSpPr>
            <p:cNvPr name="TextBox 10" id="10"/>
            <p:cNvSpPr txBox="true"/>
            <p:nvPr/>
          </p:nvSpPr>
          <p:spPr>
            <a:xfrm>
              <a:off x="0" y="-38100"/>
              <a:ext cx="2937211" cy="159172"/>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895350" y="1321816"/>
            <a:ext cx="11963400" cy="1507109"/>
          </a:xfrm>
          <a:prstGeom prst="rect">
            <a:avLst/>
          </a:prstGeom>
        </p:spPr>
        <p:txBody>
          <a:bodyPr anchor="t" rtlCol="false" tIns="0" lIns="0" bIns="0" rIns="0">
            <a:spAutoFit/>
          </a:bodyPr>
          <a:lstStyle/>
          <a:p>
            <a:pPr algn="ctr" marL="0" indent="0" lvl="0">
              <a:lnSpc>
                <a:spcPts val="12102"/>
              </a:lnSpc>
              <a:spcBef>
                <a:spcPct val="0"/>
              </a:spcBef>
            </a:pPr>
            <a:r>
              <a:rPr lang="en-US" sz="9099" strike="noStrike" u="none">
                <a:solidFill>
                  <a:srgbClr val="DDEFFF"/>
                </a:solidFill>
                <a:latin typeface="Lilita One"/>
                <a:ea typeface="Lilita One"/>
                <a:cs typeface="Lilita One"/>
                <a:sym typeface="Lilita One"/>
              </a:rPr>
              <a:t>Land Acknowledgment </a:t>
            </a:r>
          </a:p>
        </p:txBody>
      </p:sp>
      <p:sp>
        <p:nvSpPr>
          <p:cNvPr name="TextBox 12" id="12"/>
          <p:cNvSpPr txBox="true"/>
          <p:nvPr/>
        </p:nvSpPr>
        <p:spPr>
          <a:xfrm rot="0">
            <a:off x="1028700" y="3381375"/>
            <a:ext cx="16078200" cy="2703322"/>
          </a:xfrm>
          <a:prstGeom prst="rect">
            <a:avLst/>
          </a:prstGeom>
        </p:spPr>
        <p:txBody>
          <a:bodyPr anchor="t" rtlCol="false" tIns="0" lIns="0" bIns="0" rIns="0">
            <a:spAutoFit/>
          </a:bodyPr>
          <a:lstStyle/>
          <a:p>
            <a:pPr algn="l" marL="0" indent="0" lvl="0">
              <a:lnSpc>
                <a:spcPts val="4297"/>
              </a:lnSpc>
              <a:spcBef>
                <a:spcPct val="0"/>
              </a:spcBef>
            </a:pPr>
            <a:r>
              <a:rPr lang="en-US" sz="3069" strike="noStrike" u="none">
                <a:solidFill>
                  <a:srgbClr val="DDEFFF"/>
                </a:solidFill>
                <a:latin typeface="Helvetica World"/>
                <a:ea typeface="Helvetica World"/>
                <a:cs typeface="Helvetica World"/>
                <a:sym typeface="Helvetica World"/>
              </a:rPr>
              <a:t>Dalhousie University operates in the unceded territories of the Mi’kmaw, Wolastoqey, and Peskotomuhkati Peoples. These sovereign nations hold inherent rights as the original peoples of these lands, and we each carry collective obligations under the Peace and Friendship Treaties. Section 35 of the Constitution Act, 1982 recognizes and affirms Aboriginal and Treaty rights in Canada.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75956" y="7966921"/>
            <a:ext cx="5480719" cy="5511824"/>
          </a:xfrm>
          <a:custGeom>
            <a:avLst/>
            <a:gdLst/>
            <a:ahLst/>
            <a:cxnLst/>
            <a:rect r="r" b="b" t="t" l="l"/>
            <a:pathLst>
              <a:path h="5511824" w="5480719">
                <a:moveTo>
                  <a:pt x="0" y="0"/>
                </a:moveTo>
                <a:lnTo>
                  <a:pt x="5480720" y="0"/>
                </a:lnTo>
                <a:lnTo>
                  <a:pt x="5480720" y="5511824"/>
                </a:lnTo>
                <a:lnTo>
                  <a:pt x="0" y="5511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4"/>
            <a:stretch>
              <a:fillRect l="0" t="0" r="0" b="0"/>
            </a:stretch>
          </a:blipFill>
        </p:spPr>
      </p:sp>
      <p:grpSp>
        <p:nvGrpSpPr>
          <p:cNvPr name="Group 4" id="4"/>
          <p:cNvGrpSpPr/>
          <p:nvPr/>
        </p:nvGrpSpPr>
        <p:grpSpPr>
          <a:xfrm rot="0">
            <a:off x="5943600" y="2505075"/>
            <a:ext cx="6667500" cy="476250"/>
            <a:chOff x="0" y="0"/>
            <a:chExt cx="1695011" cy="121072"/>
          </a:xfrm>
        </p:grpSpPr>
        <p:sp>
          <p:nvSpPr>
            <p:cNvPr name="Freeform 5" id="5"/>
            <p:cNvSpPr/>
            <p:nvPr/>
          </p:nvSpPr>
          <p:spPr>
            <a:xfrm flipH="false" flipV="false" rot="0">
              <a:off x="0" y="0"/>
              <a:ext cx="1695011" cy="121072"/>
            </a:xfrm>
            <a:custGeom>
              <a:avLst/>
              <a:gdLst/>
              <a:ahLst/>
              <a:cxnLst/>
              <a:rect r="r" b="b" t="t" l="l"/>
              <a:pathLst>
                <a:path h="121072" w="1695011">
                  <a:moveTo>
                    <a:pt x="0" y="0"/>
                  </a:moveTo>
                  <a:lnTo>
                    <a:pt x="1695011" y="0"/>
                  </a:lnTo>
                  <a:lnTo>
                    <a:pt x="1695011" y="121072"/>
                  </a:lnTo>
                  <a:lnTo>
                    <a:pt x="0" y="121072"/>
                  </a:lnTo>
                  <a:close/>
                </a:path>
              </a:pathLst>
            </a:custGeom>
            <a:solidFill>
              <a:srgbClr val="0493FB"/>
            </a:solidFill>
          </p:spPr>
        </p:sp>
        <p:sp>
          <p:nvSpPr>
            <p:cNvPr name="TextBox 6" id="6"/>
            <p:cNvSpPr txBox="true"/>
            <p:nvPr/>
          </p:nvSpPr>
          <p:spPr>
            <a:xfrm>
              <a:off x="0" y="-38100"/>
              <a:ext cx="1695011" cy="159172"/>
            </a:xfrm>
            <a:prstGeom prst="rect">
              <a:avLst/>
            </a:prstGeom>
          </p:spPr>
          <p:txBody>
            <a:bodyPr anchor="ctr" rtlCol="false" tIns="50800" lIns="50800" bIns="50800" rIns="50800"/>
            <a:lstStyle/>
            <a:p>
              <a:pPr algn="ctr">
                <a:lnSpc>
                  <a:spcPts val="2659"/>
                </a:lnSpc>
                <a:spcBef>
                  <a:spcPct val="0"/>
                </a:spcBef>
              </a:pPr>
            </a:p>
          </p:txBody>
        </p:sp>
      </p:grpSp>
      <p:sp>
        <p:nvSpPr>
          <p:cNvPr name="AutoShape 7" id="7"/>
          <p:cNvSpPr/>
          <p:nvPr/>
        </p:nvSpPr>
        <p:spPr>
          <a:xfrm flipV="true">
            <a:off x="1028708" y="1028700"/>
            <a:ext cx="16230592" cy="24204"/>
          </a:xfrm>
          <a:prstGeom prst="line">
            <a:avLst/>
          </a:prstGeom>
          <a:ln cap="flat" w="9525">
            <a:solidFill>
              <a:srgbClr val="FFFFFF"/>
            </a:solidFill>
            <a:prstDash val="solid"/>
            <a:headEnd type="none" len="sm" w="sm"/>
            <a:tailEnd type="none" len="sm" w="sm"/>
          </a:ln>
        </p:spPr>
      </p:sp>
      <p:sp>
        <p:nvSpPr>
          <p:cNvPr name="AutoShape 8" id="8"/>
          <p:cNvSpPr/>
          <p:nvPr/>
        </p:nvSpPr>
        <p:spPr>
          <a:xfrm flipV="true">
            <a:off x="1028701" y="457718"/>
            <a:ext cx="16230592" cy="24204"/>
          </a:xfrm>
          <a:prstGeom prst="line">
            <a:avLst/>
          </a:prstGeom>
          <a:ln cap="flat" w="9525">
            <a:solidFill>
              <a:srgbClr val="FFFFFF"/>
            </a:solidFill>
            <a:prstDash val="solid"/>
            <a:headEnd type="none" len="sm" w="sm"/>
            <a:tailEnd type="none" len="sm" w="sm"/>
          </a:ln>
        </p:spPr>
      </p:sp>
      <p:grpSp>
        <p:nvGrpSpPr>
          <p:cNvPr name="Group 9" id="9"/>
          <p:cNvGrpSpPr/>
          <p:nvPr/>
        </p:nvGrpSpPr>
        <p:grpSpPr>
          <a:xfrm rot="0">
            <a:off x="1254059" y="3956709"/>
            <a:ext cx="3438242" cy="4010212"/>
            <a:chOff x="0" y="0"/>
            <a:chExt cx="905545" cy="1056187"/>
          </a:xfrm>
        </p:grpSpPr>
        <p:sp>
          <p:nvSpPr>
            <p:cNvPr name="Freeform 10" id="10"/>
            <p:cNvSpPr/>
            <p:nvPr/>
          </p:nvSpPr>
          <p:spPr>
            <a:xfrm flipH="false" flipV="false" rot="0">
              <a:off x="0" y="0"/>
              <a:ext cx="905545" cy="1056187"/>
            </a:xfrm>
            <a:custGeom>
              <a:avLst/>
              <a:gdLst/>
              <a:ahLst/>
              <a:cxnLst/>
              <a:rect r="r" b="b" t="t" l="l"/>
              <a:pathLst>
                <a:path h="1056187" w="905545">
                  <a:moveTo>
                    <a:pt x="112585" y="0"/>
                  </a:moveTo>
                  <a:lnTo>
                    <a:pt x="792960" y="0"/>
                  </a:lnTo>
                  <a:cubicBezTo>
                    <a:pt x="822819" y="0"/>
                    <a:pt x="851456" y="11862"/>
                    <a:pt x="872570" y="32976"/>
                  </a:cubicBezTo>
                  <a:cubicBezTo>
                    <a:pt x="893684" y="54089"/>
                    <a:pt x="905545" y="82726"/>
                    <a:pt x="905545" y="112585"/>
                  </a:cubicBezTo>
                  <a:lnTo>
                    <a:pt x="905545" y="943602"/>
                  </a:lnTo>
                  <a:cubicBezTo>
                    <a:pt x="905545" y="973462"/>
                    <a:pt x="893684" y="1002098"/>
                    <a:pt x="872570" y="1023212"/>
                  </a:cubicBezTo>
                  <a:cubicBezTo>
                    <a:pt x="851456" y="1044326"/>
                    <a:pt x="822819" y="1056187"/>
                    <a:pt x="792960" y="1056187"/>
                  </a:cubicBezTo>
                  <a:lnTo>
                    <a:pt x="112585" y="1056187"/>
                  </a:lnTo>
                  <a:cubicBezTo>
                    <a:pt x="82726" y="1056187"/>
                    <a:pt x="54089" y="1044326"/>
                    <a:pt x="32976" y="1023212"/>
                  </a:cubicBezTo>
                  <a:cubicBezTo>
                    <a:pt x="11862" y="1002098"/>
                    <a:pt x="0" y="973462"/>
                    <a:pt x="0" y="943602"/>
                  </a:cubicBezTo>
                  <a:lnTo>
                    <a:pt x="0" y="112585"/>
                  </a:lnTo>
                  <a:cubicBezTo>
                    <a:pt x="0" y="82726"/>
                    <a:pt x="11862" y="54089"/>
                    <a:pt x="32976" y="32976"/>
                  </a:cubicBezTo>
                  <a:cubicBezTo>
                    <a:pt x="54089" y="11862"/>
                    <a:pt x="82726" y="0"/>
                    <a:pt x="112585" y="0"/>
                  </a:cubicBezTo>
                  <a:close/>
                </a:path>
              </a:pathLst>
            </a:custGeom>
            <a:solidFill>
              <a:srgbClr val="0493FB">
                <a:alpha val="29804"/>
              </a:srgbClr>
            </a:solidFill>
          </p:spPr>
        </p:sp>
        <p:sp>
          <p:nvSpPr>
            <p:cNvPr name="TextBox 11" id="11"/>
            <p:cNvSpPr txBox="true"/>
            <p:nvPr/>
          </p:nvSpPr>
          <p:spPr>
            <a:xfrm>
              <a:off x="0" y="-38100"/>
              <a:ext cx="905545" cy="109428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620031" y="3956709"/>
            <a:ext cx="3438242" cy="4010212"/>
            <a:chOff x="0" y="0"/>
            <a:chExt cx="905545" cy="1056187"/>
          </a:xfrm>
        </p:grpSpPr>
        <p:sp>
          <p:nvSpPr>
            <p:cNvPr name="Freeform 13" id="13"/>
            <p:cNvSpPr/>
            <p:nvPr/>
          </p:nvSpPr>
          <p:spPr>
            <a:xfrm flipH="false" flipV="false" rot="0">
              <a:off x="0" y="0"/>
              <a:ext cx="905545" cy="1056187"/>
            </a:xfrm>
            <a:custGeom>
              <a:avLst/>
              <a:gdLst/>
              <a:ahLst/>
              <a:cxnLst/>
              <a:rect r="r" b="b" t="t" l="l"/>
              <a:pathLst>
                <a:path h="1056187" w="905545">
                  <a:moveTo>
                    <a:pt x="112585" y="0"/>
                  </a:moveTo>
                  <a:lnTo>
                    <a:pt x="792960" y="0"/>
                  </a:lnTo>
                  <a:cubicBezTo>
                    <a:pt x="822819" y="0"/>
                    <a:pt x="851456" y="11862"/>
                    <a:pt x="872570" y="32976"/>
                  </a:cubicBezTo>
                  <a:cubicBezTo>
                    <a:pt x="893684" y="54089"/>
                    <a:pt x="905545" y="82726"/>
                    <a:pt x="905545" y="112585"/>
                  </a:cubicBezTo>
                  <a:lnTo>
                    <a:pt x="905545" y="943602"/>
                  </a:lnTo>
                  <a:cubicBezTo>
                    <a:pt x="905545" y="973462"/>
                    <a:pt x="893684" y="1002098"/>
                    <a:pt x="872570" y="1023212"/>
                  </a:cubicBezTo>
                  <a:cubicBezTo>
                    <a:pt x="851456" y="1044326"/>
                    <a:pt x="822819" y="1056187"/>
                    <a:pt x="792960" y="1056187"/>
                  </a:cubicBezTo>
                  <a:lnTo>
                    <a:pt x="112585" y="1056187"/>
                  </a:lnTo>
                  <a:cubicBezTo>
                    <a:pt x="82726" y="1056187"/>
                    <a:pt x="54089" y="1044326"/>
                    <a:pt x="32976" y="1023212"/>
                  </a:cubicBezTo>
                  <a:cubicBezTo>
                    <a:pt x="11862" y="1002098"/>
                    <a:pt x="0" y="973462"/>
                    <a:pt x="0" y="943602"/>
                  </a:cubicBezTo>
                  <a:lnTo>
                    <a:pt x="0" y="112585"/>
                  </a:lnTo>
                  <a:cubicBezTo>
                    <a:pt x="0" y="82726"/>
                    <a:pt x="11862" y="54089"/>
                    <a:pt x="32976" y="32976"/>
                  </a:cubicBezTo>
                  <a:cubicBezTo>
                    <a:pt x="54089" y="11862"/>
                    <a:pt x="82726" y="0"/>
                    <a:pt x="112585" y="0"/>
                  </a:cubicBezTo>
                  <a:close/>
                </a:path>
              </a:pathLst>
            </a:custGeom>
            <a:solidFill>
              <a:srgbClr val="0493FB">
                <a:alpha val="29804"/>
              </a:srgbClr>
            </a:solidFill>
          </p:spPr>
        </p:sp>
        <p:sp>
          <p:nvSpPr>
            <p:cNvPr name="TextBox 14" id="14"/>
            <p:cNvSpPr txBox="true"/>
            <p:nvPr/>
          </p:nvSpPr>
          <p:spPr>
            <a:xfrm>
              <a:off x="0" y="-38100"/>
              <a:ext cx="905545" cy="1094287"/>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982198" y="3956709"/>
            <a:ext cx="3438242" cy="4010212"/>
            <a:chOff x="0" y="0"/>
            <a:chExt cx="905545" cy="1056187"/>
          </a:xfrm>
        </p:grpSpPr>
        <p:sp>
          <p:nvSpPr>
            <p:cNvPr name="Freeform 16" id="16"/>
            <p:cNvSpPr/>
            <p:nvPr/>
          </p:nvSpPr>
          <p:spPr>
            <a:xfrm flipH="false" flipV="false" rot="0">
              <a:off x="0" y="0"/>
              <a:ext cx="905545" cy="1056187"/>
            </a:xfrm>
            <a:custGeom>
              <a:avLst/>
              <a:gdLst/>
              <a:ahLst/>
              <a:cxnLst/>
              <a:rect r="r" b="b" t="t" l="l"/>
              <a:pathLst>
                <a:path h="1056187" w="905545">
                  <a:moveTo>
                    <a:pt x="112585" y="0"/>
                  </a:moveTo>
                  <a:lnTo>
                    <a:pt x="792960" y="0"/>
                  </a:lnTo>
                  <a:cubicBezTo>
                    <a:pt x="822819" y="0"/>
                    <a:pt x="851456" y="11862"/>
                    <a:pt x="872570" y="32976"/>
                  </a:cubicBezTo>
                  <a:cubicBezTo>
                    <a:pt x="893684" y="54089"/>
                    <a:pt x="905545" y="82726"/>
                    <a:pt x="905545" y="112585"/>
                  </a:cubicBezTo>
                  <a:lnTo>
                    <a:pt x="905545" y="943602"/>
                  </a:lnTo>
                  <a:cubicBezTo>
                    <a:pt x="905545" y="973462"/>
                    <a:pt x="893684" y="1002098"/>
                    <a:pt x="872570" y="1023212"/>
                  </a:cubicBezTo>
                  <a:cubicBezTo>
                    <a:pt x="851456" y="1044326"/>
                    <a:pt x="822819" y="1056187"/>
                    <a:pt x="792960" y="1056187"/>
                  </a:cubicBezTo>
                  <a:lnTo>
                    <a:pt x="112585" y="1056187"/>
                  </a:lnTo>
                  <a:cubicBezTo>
                    <a:pt x="82726" y="1056187"/>
                    <a:pt x="54089" y="1044326"/>
                    <a:pt x="32976" y="1023212"/>
                  </a:cubicBezTo>
                  <a:cubicBezTo>
                    <a:pt x="11862" y="1002098"/>
                    <a:pt x="0" y="973462"/>
                    <a:pt x="0" y="943602"/>
                  </a:cubicBezTo>
                  <a:lnTo>
                    <a:pt x="0" y="112585"/>
                  </a:lnTo>
                  <a:cubicBezTo>
                    <a:pt x="0" y="82726"/>
                    <a:pt x="11862" y="54089"/>
                    <a:pt x="32976" y="32976"/>
                  </a:cubicBezTo>
                  <a:cubicBezTo>
                    <a:pt x="54089" y="11862"/>
                    <a:pt x="82726" y="0"/>
                    <a:pt x="112585" y="0"/>
                  </a:cubicBezTo>
                  <a:close/>
                </a:path>
              </a:pathLst>
            </a:custGeom>
            <a:solidFill>
              <a:srgbClr val="0493FB">
                <a:alpha val="29804"/>
              </a:srgbClr>
            </a:solidFill>
          </p:spPr>
        </p:sp>
        <p:sp>
          <p:nvSpPr>
            <p:cNvPr name="TextBox 17" id="17"/>
            <p:cNvSpPr txBox="true"/>
            <p:nvPr/>
          </p:nvSpPr>
          <p:spPr>
            <a:xfrm>
              <a:off x="0" y="-38100"/>
              <a:ext cx="905545" cy="1094287"/>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4200806" y="3956709"/>
            <a:ext cx="3743226" cy="4010212"/>
            <a:chOff x="0" y="0"/>
            <a:chExt cx="985870" cy="1056187"/>
          </a:xfrm>
        </p:grpSpPr>
        <p:sp>
          <p:nvSpPr>
            <p:cNvPr name="Freeform 19" id="19"/>
            <p:cNvSpPr/>
            <p:nvPr/>
          </p:nvSpPr>
          <p:spPr>
            <a:xfrm flipH="false" flipV="false" rot="0">
              <a:off x="0" y="0"/>
              <a:ext cx="985870" cy="1056187"/>
            </a:xfrm>
            <a:custGeom>
              <a:avLst/>
              <a:gdLst/>
              <a:ahLst/>
              <a:cxnLst/>
              <a:rect r="r" b="b" t="t" l="l"/>
              <a:pathLst>
                <a:path h="1056187" w="985870">
                  <a:moveTo>
                    <a:pt x="103412" y="0"/>
                  </a:moveTo>
                  <a:lnTo>
                    <a:pt x="882458" y="0"/>
                  </a:lnTo>
                  <a:cubicBezTo>
                    <a:pt x="909884" y="0"/>
                    <a:pt x="936188" y="10895"/>
                    <a:pt x="955581" y="30289"/>
                  </a:cubicBezTo>
                  <a:cubicBezTo>
                    <a:pt x="974975" y="49682"/>
                    <a:pt x="985870" y="75986"/>
                    <a:pt x="985870" y="103412"/>
                  </a:cubicBezTo>
                  <a:lnTo>
                    <a:pt x="985870" y="952775"/>
                  </a:lnTo>
                  <a:cubicBezTo>
                    <a:pt x="985870" y="1009888"/>
                    <a:pt x="939571" y="1056187"/>
                    <a:pt x="882458" y="1056187"/>
                  </a:cubicBezTo>
                  <a:lnTo>
                    <a:pt x="103412" y="1056187"/>
                  </a:lnTo>
                  <a:cubicBezTo>
                    <a:pt x="46299" y="1056187"/>
                    <a:pt x="0" y="1009888"/>
                    <a:pt x="0" y="952775"/>
                  </a:cubicBezTo>
                  <a:lnTo>
                    <a:pt x="0" y="103412"/>
                  </a:lnTo>
                  <a:cubicBezTo>
                    <a:pt x="0" y="46299"/>
                    <a:pt x="46299" y="0"/>
                    <a:pt x="103412" y="0"/>
                  </a:cubicBezTo>
                  <a:close/>
                </a:path>
              </a:pathLst>
            </a:custGeom>
            <a:solidFill>
              <a:srgbClr val="0493FB">
                <a:alpha val="44706"/>
              </a:srgbClr>
            </a:solidFill>
          </p:spPr>
        </p:sp>
        <p:sp>
          <p:nvSpPr>
            <p:cNvPr name="TextBox 20" id="20"/>
            <p:cNvSpPr txBox="true"/>
            <p:nvPr/>
          </p:nvSpPr>
          <p:spPr>
            <a:xfrm>
              <a:off x="0" y="-38100"/>
              <a:ext cx="985870" cy="1094287"/>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2213954" y="4328292"/>
            <a:ext cx="1292710" cy="1292710"/>
          </a:xfrm>
          <a:custGeom>
            <a:avLst/>
            <a:gdLst/>
            <a:ahLst/>
            <a:cxnLst/>
            <a:rect r="r" b="b" t="t" l="l"/>
            <a:pathLst>
              <a:path h="1292710" w="1292710">
                <a:moveTo>
                  <a:pt x="0" y="0"/>
                </a:moveTo>
                <a:lnTo>
                  <a:pt x="1292709" y="0"/>
                </a:lnTo>
                <a:lnTo>
                  <a:pt x="1292709" y="1292710"/>
                </a:lnTo>
                <a:lnTo>
                  <a:pt x="0" y="12927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781565" y="4119526"/>
            <a:ext cx="1695949" cy="1615776"/>
          </a:xfrm>
          <a:custGeom>
            <a:avLst/>
            <a:gdLst/>
            <a:ahLst/>
            <a:cxnLst/>
            <a:rect r="r" b="b" t="t" l="l"/>
            <a:pathLst>
              <a:path h="1615776" w="1695949">
                <a:moveTo>
                  <a:pt x="0" y="0"/>
                </a:moveTo>
                <a:lnTo>
                  <a:pt x="1695949" y="0"/>
                </a:lnTo>
                <a:lnTo>
                  <a:pt x="1695949" y="1615776"/>
                </a:lnTo>
                <a:lnTo>
                  <a:pt x="0" y="16157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15443924" y="4300062"/>
            <a:ext cx="1256990" cy="1254705"/>
          </a:xfrm>
          <a:custGeom>
            <a:avLst/>
            <a:gdLst/>
            <a:ahLst/>
            <a:cxnLst/>
            <a:rect r="r" b="b" t="t" l="l"/>
            <a:pathLst>
              <a:path h="1254705" w="1256990">
                <a:moveTo>
                  <a:pt x="0" y="0"/>
                </a:moveTo>
                <a:lnTo>
                  <a:pt x="1256990" y="0"/>
                </a:lnTo>
                <a:lnTo>
                  <a:pt x="1256990" y="1254705"/>
                </a:lnTo>
                <a:lnTo>
                  <a:pt x="0" y="12547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4" id="24"/>
          <p:cNvSpPr/>
          <p:nvPr/>
        </p:nvSpPr>
        <p:spPr>
          <a:xfrm flipH="false" flipV="false" rot="0">
            <a:off x="6614265" y="4296947"/>
            <a:ext cx="1445968" cy="1571705"/>
          </a:xfrm>
          <a:custGeom>
            <a:avLst/>
            <a:gdLst/>
            <a:ahLst/>
            <a:cxnLst/>
            <a:rect r="r" b="b" t="t" l="l"/>
            <a:pathLst>
              <a:path h="1571705" w="1445968">
                <a:moveTo>
                  <a:pt x="0" y="0"/>
                </a:moveTo>
                <a:lnTo>
                  <a:pt x="1445969" y="0"/>
                </a:lnTo>
                <a:lnTo>
                  <a:pt x="1445969" y="1571705"/>
                </a:lnTo>
                <a:lnTo>
                  <a:pt x="0" y="157170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TextBox 25" id="25"/>
          <p:cNvSpPr txBox="true"/>
          <p:nvPr/>
        </p:nvSpPr>
        <p:spPr>
          <a:xfrm rot="0">
            <a:off x="1257300" y="581025"/>
            <a:ext cx="5619750" cy="328765"/>
          </a:xfrm>
          <a:prstGeom prst="rect">
            <a:avLst/>
          </a:prstGeom>
        </p:spPr>
        <p:txBody>
          <a:bodyPr anchor="t" rtlCol="false" tIns="0" lIns="0" bIns="0" rIns="0">
            <a:spAutoFit/>
          </a:bodyPr>
          <a:lstStyle/>
          <a:p>
            <a:pPr algn="l" marL="0" indent="0" lvl="0">
              <a:lnSpc>
                <a:spcPts val="2673"/>
              </a:lnSpc>
              <a:spcBef>
                <a:spcPct val="0"/>
              </a:spcBef>
            </a:pPr>
            <a:r>
              <a:rPr lang="en-US" sz="2010" spc="291" strike="noStrike" u="none">
                <a:solidFill>
                  <a:srgbClr val="DDEFFF"/>
                </a:solidFill>
                <a:latin typeface="Lilita One"/>
                <a:ea typeface="Lilita One"/>
                <a:cs typeface="Lilita One"/>
                <a:sym typeface="Lilita One"/>
              </a:rPr>
              <a:t>@dalmlsociety</a:t>
            </a:r>
          </a:p>
        </p:txBody>
      </p:sp>
      <p:sp>
        <p:nvSpPr>
          <p:cNvPr name="TextBox 26" id="26"/>
          <p:cNvSpPr txBox="true"/>
          <p:nvPr/>
        </p:nvSpPr>
        <p:spPr>
          <a:xfrm rot="0">
            <a:off x="12811125" y="552450"/>
            <a:ext cx="4448175" cy="417576"/>
          </a:xfrm>
          <a:prstGeom prst="rect">
            <a:avLst/>
          </a:prstGeom>
        </p:spPr>
        <p:txBody>
          <a:bodyPr anchor="t" rtlCol="false" tIns="0" lIns="0" bIns="0" rIns="0">
            <a:spAutoFit/>
          </a:bodyPr>
          <a:lstStyle/>
          <a:p>
            <a:pPr algn="r" marL="0" indent="0" lvl="0">
              <a:lnSpc>
                <a:spcPts val="3168"/>
              </a:lnSpc>
              <a:spcBef>
                <a:spcPct val="0"/>
              </a:spcBef>
            </a:pPr>
            <a:r>
              <a:rPr lang="en-US" sz="2879" spc="-83">
                <a:solidFill>
                  <a:srgbClr val="DDEFFF"/>
                </a:solidFill>
                <a:latin typeface="Lilita One"/>
                <a:ea typeface="Lilita One"/>
                <a:cs typeface="Lilita One"/>
                <a:sym typeface="Lilita One"/>
              </a:rPr>
              <a:t>From </a:t>
            </a:r>
            <a:r>
              <a:rPr lang="en-US" sz="2879" spc="-83" strike="noStrike" u="none">
                <a:solidFill>
                  <a:srgbClr val="DDEFFF"/>
                </a:solidFill>
                <a:latin typeface="Lilita One"/>
                <a:ea typeface="Lilita One"/>
                <a:cs typeface="Lilita One"/>
                <a:sym typeface="Lilita One"/>
              </a:rPr>
              <a:t>L</a:t>
            </a:r>
            <a:r>
              <a:rPr lang="en-US" sz="2879" spc="-83" strike="noStrike" u="none">
                <a:solidFill>
                  <a:srgbClr val="DDEFFF"/>
                </a:solidFill>
                <a:latin typeface="Lilita One"/>
                <a:ea typeface="Lilita One"/>
                <a:cs typeface="Lilita One"/>
                <a:sym typeface="Lilita One"/>
              </a:rPr>
              <a:t>LM</a:t>
            </a:r>
            <a:r>
              <a:rPr lang="en-US" sz="2879" spc="-83" strike="noStrike" u="none">
                <a:solidFill>
                  <a:srgbClr val="DDEFFF"/>
                </a:solidFill>
                <a:latin typeface="Lilita One"/>
                <a:ea typeface="Lilita One"/>
                <a:cs typeface="Lilita One"/>
                <a:sym typeface="Lilita One"/>
              </a:rPr>
              <a:t> to </a:t>
            </a:r>
            <a:r>
              <a:rPr lang="en-US" sz="2879" spc="-83" strike="noStrike" u="none">
                <a:solidFill>
                  <a:srgbClr val="DDEFFF"/>
                </a:solidFill>
                <a:latin typeface="Lilita One"/>
                <a:ea typeface="Lilita One"/>
                <a:cs typeface="Lilita One"/>
                <a:sym typeface="Lilita One"/>
              </a:rPr>
              <a:t>Agent</a:t>
            </a:r>
          </a:p>
        </p:txBody>
      </p:sp>
      <p:sp>
        <p:nvSpPr>
          <p:cNvPr name="TextBox 27" id="27"/>
          <p:cNvSpPr txBox="true"/>
          <p:nvPr/>
        </p:nvSpPr>
        <p:spPr>
          <a:xfrm rot="0">
            <a:off x="4352925" y="1466850"/>
            <a:ext cx="9848850" cy="1507109"/>
          </a:xfrm>
          <a:prstGeom prst="rect">
            <a:avLst/>
          </a:prstGeom>
        </p:spPr>
        <p:txBody>
          <a:bodyPr anchor="t" rtlCol="false" tIns="0" lIns="0" bIns="0" rIns="0">
            <a:spAutoFit/>
          </a:bodyPr>
          <a:lstStyle/>
          <a:p>
            <a:pPr algn="ctr" marL="0" indent="0" lvl="0">
              <a:lnSpc>
                <a:spcPts val="12102"/>
              </a:lnSpc>
              <a:spcBef>
                <a:spcPct val="0"/>
              </a:spcBef>
            </a:pPr>
            <a:r>
              <a:rPr lang="en-US" sz="9099" strike="noStrike" u="none">
                <a:solidFill>
                  <a:srgbClr val="DDEFFF"/>
                </a:solidFill>
                <a:latin typeface="Lilita One"/>
                <a:ea typeface="Lilita One"/>
                <a:cs typeface="Lilita One"/>
                <a:sym typeface="Lilita One"/>
              </a:rPr>
              <a:t>Society Goals</a:t>
            </a:r>
          </a:p>
        </p:txBody>
      </p:sp>
      <p:sp>
        <p:nvSpPr>
          <p:cNvPr name="TextBox 28" id="28"/>
          <p:cNvSpPr txBox="true"/>
          <p:nvPr/>
        </p:nvSpPr>
        <p:spPr>
          <a:xfrm rot="0">
            <a:off x="1762125" y="5667375"/>
            <a:ext cx="2428875" cy="1976755"/>
          </a:xfrm>
          <a:prstGeom prst="rect">
            <a:avLst/>
          </a:prstGeom>
        </p:spPr>
        <p:txBody>
          <a:bodyPr anchor="t" rtlCol="false" tIns="0" lIns="0" bIns="0" rIns="0">
            <a:spAutoFit/>
          </a:bodyPr>
          <a:lstStyle/>
          <a:p>
            <a:pPr algn="ctr" marL="0" indent="0" lvl="0">
              <a:lnSpc>
                <a:spcPts val="3919"/>
              </a:lnSpc>
              <a:spcBef>
                <a:spcPct val="0"/>
              </a:spcBef>
            </a:pPr>
            <a:r>
              <a:rPr lang="en-US" sz="2799" strike="noStrike" u="none">
                <a:solidFill>
                  <a:srgbClr val="DDEFFF"/>
                </a:solidFill>
                <a:latin typeface="Helvetica World"/>
                <a:ea typeface="Helvetica World"/>
                <a:cs typeface="Helvetica World"/>
                <a:sym typeface="Helvetica World"/>
              </a:rPr>
              <a:t>Learn about ML in a fun, low pressure environment</a:t>
            </a:r>
          </a:p>
        </p:txBody>
      </p:sp>
      <p:sp>
        <p:nvSpPr>
          <p:cNvPr name="TextBox 29" id="29"/>
          <p:cNvSpPr txBox="true"/>
          <p:nvPr/>
        </p:nvSpPr>
        <p:spPr>
          <a:xfrm rot="0">
            <a:off x="6124575" y="6048375"/>
            <a:ext cx="2590800" cy="1481455"/>
          </a:xfrm>
          <a:prstGeom prst="rect">
            <a:avLst/>
          </a:prstGeom>
        </p:spPr>
        <p:txBody>
          <a:bodyPr anchor="t" rtlCol="false" tIns="0" lIns="0" bIns="0" rIns="0">
            <a:spAutoFit/>
          </a:bodyPr>
          <a:lstStyle/>
          <a:p>
            <a:pPr algn="ctr" marL="0" indent="0" lvl="0">
              <a:lnSpc>
                <a:spcPts val="3919"/>
              </a:lnSpc>
              <a:spcBef>
                <a:spcPct val="0"/>
              </a:spcBef>
            </a:pPr>
            <a:r>
              <a:rPr lang="en-US" sz="2799" strike="noStrike" u="none">
                <a:solidFill>
                  <a:srgbClr val="DDEFFF"/>
                </a:solidFill>
                <a:latin typeface="Helvetica World"/>
                <a:ea typeface="Helvetica World"/>
                <a:cs typeface="Helvetica World"/>
                <a:sym typeface="Helvetica World"/>
              </a:rPr>
              <a:t>Gain hands-on, practical ML experience</a:t>
            </a:r>
          </a:p>
        </p:txBody>
      </p:sp>
      <p:sp>
        <p:nvSpPr>
          <p:cNvPr name="TextBox 30" id="30"/>
          <p:cNvSpPr txBox="true"/>
          <p:nvPr/>
        </p:nvSpPr>
        <p:spPr>
          <a:xfrm rot="0">
            <a:off x="10506075" y="5667375"/>
            <a:ext cx="2428875" cy="1976755"/>
          </a:xfrm>
          <a:prstGeom prst="rect">
            <a:avLst/>
          </a:prstGeom>
        </p:spPr>
        <p:txBody>
          <a:bodyPr anchor="t" rtlCol="false" tIns="0" lIns="0" bIns="0" rIns="0">
            <a:spAutoFit/>
          </a:bodyPr>
          <a:lstStyle/>
          <a:p>
            <a:pPr algn="ctr" marL="0" indent="0" lvl="0">
              <a:lnSpc>
                <a:spcPts val="3919"/>
              </a:lnSpc>
              <a:spcBef>
                <a:spcPct val="0"/>
              </a:spcBef>
            </a:pPr>
            <a:r>
              <a:rPr lang="en-US" sz="2799" strike="noStrike" u="none">
                <a:solidFill>
                  <a:srgbClr val="DDEFFF"/>
                </a:solidFill>
                <a:latin typeface="Helvetica World"/>
                <a:ea typeface="Helvetica World"/>
                <a:cs typeface="Helvetica World"/>
                <a:sym typeface="Helvetica World"/>
              </a:rPr>
              <a:t>Grow their networks and build industry contacts</a:t>
            </a:r>
          </a:p>
        </p:txBody>
      </p:sp>
      <p:sp>
        <p:nvSpPr>
          <p:cNvPr name="TextBox 31" id="31"/>
          <p:cNvSpPr txBox="true"/>
          <p:nvPr/>
        </p:nvSpPr>
        <p:spPr>
          <a:xfrm rot="0">
            <a:off x="14430375" y="5553075"/>
            <a:ext cx="3286125" cy="1976755"/>
          </a:xfrm>
          <a:prstGeom prst="rect">
            <a:avLst/>
          </a:prstGeom>
        </p:spPr>
        <p:txBody>
          <a:bodyPr anchor="t" rtlCol="false" tIns="0" lIns="0" bIns="0" rIns="0">
            <a:spAutoFit/>
          </a:bodyPr>
          <a:lstStyle/>
          <a:p>
            <a:pPr algn="ctr" marL="0" indent="0" lvl="0">
              <a:lnSpc>
                <a:spcPts val="3919"/>
              </a:lnSpc>
              <a:spcBef>
                <a:spcPct val="0"/>
              </a:spcBef>
            </a:pPr>
            <a:r>
              <a:rPr lang="en-US" sz="2799" strike="noStrike" u="none">
                <a:solidFill>
                  <a:srgbClr val="DDEFFF"/>
                </a:solidFill>
                <a:latin typeface="Helvetica World"/>
                <a:ea typeface="Helvetica World"/>
                <a:cs typeface="Helvetica World"/>
                <a:sym typeface="Helvetica World"/>
              </a:rPr>
              <a:t>find a Supportive community of peers passionate about AI/ML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124289" y="7950183"/>
            <a:ext cx="5480719" cy="5511824"/>
          </a:xfrm>
          <a:custGeom>
            <a:avLst/>
            <a:gdLst/>
            <a:ahLst/>
            <a:cxnLst/>
            <a:rect r="r" b="b" t="t" l="l"/>
            <a:pathLst>
              <a:path h="5511824" w="5480719">
                <a:moveTo>
                  <a:pt x="0" y="0"/>
                </a:moveTo>
                <a:lnTo>
                  <a:pt x="5480719" y="0"/>
                </a:lnTo>
                <a:lnTo>
                  <a:pt x="5480719" y="5511824"/>
                </a:lnTo>
                <a:lnTo>
                  <a:pt x="0" y="5511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4"/>
            <a:stretch>
              <a:fillRect l="0" t="0" r="0" b="0"/>
            </a:stretch>
          </a:blipFill>
        </p:spPr>
      </p:sp>
      <p:sp>
        <p:nvSpPr>
          <p:cNvPr name="AutoShape 4" id="4"/>
          <p:cNvSpPr/>
          <p:nvPr/>
        </p:nvSpPr>
        <p:spPr>
          <a:xfrm flipV="true">
            <a:off x="1028708" y="1028700"/>
            <a:ext cx="16230592" cy="24204"/>
          </a:xfrm>
          <a:prstGeom prst="line">
            <a:avLst/>
          </a:prstGeom>
          <a:ln cap="flat" w="9525">
            <a:solidFill>
              <a:srgbClr val="FFFFFF"/>
            </a:solidFill>
            <a:prstDash val="solid"/>
            <a:headEnd type="none" len="sm" w="sm"/>
            <a:tailEnd type="none" len="sm" w="sm"/>
          </a:ln>
        </p:spPr>
      </p:sp>
      <p:sp>
        <p:nvSpPr>
          <p:cNvPr name="AutoShape 5" id="5"/>
          <p:cNvSpPr/>
          <p:nvPr/>
        </p:nvSpPr>
        <p:spPr>
          <a:xfrm flipV="true">
            <a:off x="1028701" y="457718"/>
            <a:ext cx="16230592" cy="24204"/>
          </a:xfrm>
          <a:prstGeom prst="line">
            <a:avLst/>
          </a:prstGeom>
          <a:ln cap="flat" w="9525">
            <a:solidFill>
              <a:srgbClr val="FFFFFF"/>
            </a:solidFill>
            <a:prstDash val="solid"/>
            <a:headEnd type="none" len="sm" w="sm"/>
            <a:tailEnd type="none" len="sm" w="sm"/>
          </a:ln>
        </p:spPr>
      </p:sp>
      <p:grpSp>
        <p:nvGrpSpPr>
          <p:cNvPr name="Group 6" id="6"/>
          <p:cNvGrpSpPr/>
          <p:nvPr/>
        </p:nvGrpSpPr>
        <p:grpSpPr>
          <a:xfrm rot="0">
            <a:off x="5362575" y="2114746"/>
            <a:ext cx="7448550" cy="419100"/>
            <a:chOff x="0" y="0"/>
            <a:chExt cx="1893569" cy="106544"/>
          </a:xfrm>
        </p:grpSpPr>
        <p:sp>
          <p:nvSpPr>
            <p:cNvPr name="Freeform 7" id="7"/>
            <p:cNvSpPr/>
            <p:nvPr/>
          </p:nvSpPr>
          <p:spPr>
            <a:xfrm flipH="false" flipV="false" rot="0">
              <a:off x="0" y="0"/>
              <a:ext cx="1893569" cy="106544"/>
            </a:xfrm>
            <a:custGeom>
              <a:avLst/>
              <a:gdLst/>
              <a:ahLst/>
              <a:cxnLst/>
              <a:rect r="r" b="b" t="t" l="l"/>
              <a:pathLst>
                <a:path h="106544" w="1893569">
                  <a:moveTo>
                    <a:pt x="0" y="0"/>
                  </a:moveTo>
                  <a:lnTo>
                    <a:pt x="1893569" y="0"/>
                  </a:lnTo>
                  <a:lnTo>
                    <a:pt x="1893569" y="106544"/>
                  </a:lnTo>
                  <a:lnTo>
                    <a:pt x="0" y="106544"/>
                  </a:lnTo>
                  <a:close/>
                </a:path>
              </a:pathLst>
            </a:custGeom>
            <a:solidFill>
              <a:srgbClr val="0493FB"/>
            </a:solidFill>
          </p:spPr>
        </p:sp>
        <p:sp>
          <p:nvSpPr>
            <p:cNvPr name="TextBox 8" id="8"/>
            <p:cNvSpPr txBox="true"/>
            <p:nvPr/>
          </p:nvSpPr>
          <p:spPr>
            <a:xfrm>
              <a:off x="0" y="-38100"/>
              <a:ext cx="1893569" cy="14464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257300" y="581025"/>
            <a:ext cx="5619750" cy="328765"/>
          </a:xfrm>
          <a:prstGeom prst="rect">
            <a:avLst/>
          </a:prstGeom>
        </p:spPr>
        <p:txBody>
          <a:bodyPr anchor="t" rtlCol="false" tIns="0" lIns="0" bIns="0" rIns="0">
            <a:spAutoFit/>
          </a:bodyPr>
          <a:lstStyle/>
          <a:p>
            <a:pPr algn="l" marL="0" indent="0" lvl="0">
              <a:lnSpc>
                <a:spcPts val="2673"/>
              </a:lnSpc>
              <a:spcBef>
                <a:spcPct val="0"/>
              </a:spcBef>
            </a:pPr>
            <a:r>
              <a:rPr lang="en-US" sz="2010" spc="291" strike="noStrike" u="none">
                <a:solidFill>
                  <a:srgbClr val="DDEFFF"/>
                </a:solidFill>
                <a:latin typeface="Lilita One"/>
                <a:ea typeface="Lilita One"/>
                <a:cs typeface="Lilita One"/>
                <a:sym typeface="Lilita One"/>
              </a:rPr>
              <a:t>@dalmlsociety</a:t>
            </a:r>
          </a:p>
        </p:txBody>
      </p:sp>
      <p:sp>
        <p:nvSpPr>
          <p:cNvPr name="TextBox 10" id="10"/>
          <p:cNvSpPr txBox="true"/>
          <p:nvPr/>
        </p:nvSpPr>
        <p:spPr>
          <a:xfrm rot="0">
            <a:off x="12811125" y="552450"/>
            <a:ext cx="4448168" cy="417576"/>
          </a:xfrm>
          <a:prstGeom prst="rect">
            <a:avLst/>
          </a:prstGeom>
        </p:spPr>
        <p:txBody>
          <a:bodyPr anchor="t" rtlCol="false" tIns="0" lIns="0" bIns="0" rIns="0">
            <a:spAutoFit/>
          </a:bodyPr>
          <a:lstStyle/>
          <a:p>
            <a:pPr algn="r" marL="0" indent="0" lvl="0">
              <a:lnSpc>
                <a:spcPts val="3168"/>
              </a:lnSpc>
              <a:spcBef>
                <a:spcPct val="0"/>
              </a:spcBef>
            </a:pPr>
            <a:r>
              <a:rPr lang="en-US" sz="2879" spc="-83">
                <a:solidFill>
                  <a:srgbClr val="DDEFFF"/>
                </a:solidFill>
                <a:latin typeface="Lilita One"/>
                <a:ea typeface="Lilita One"/>
                <a:cs typeface="Lilita One"/>
                <a:sym typeface="Lilita One"/>
              </a:rPr>
              <a:t>From </a:t>
            </a:r>
            <a:r>
              <a:rPr lang="en-US" sz="2879" spc="-83" strike="noStrike" u="none">
                <a:solidFill>
                  <a:srgbClr val="DDEFFF"/>
                </a:solidFill>
                <a:latin typeface="Lilita One"/>
                <a:ea typeface="Lilita One"/>
                <a:cs typeface="Lilita One"/>
                <a:sym typeface="Lilita One"/>
              </a:rPr>
              <a:t>L</a:t>
            </a:r>
            <a:r>
              <a:rPr lang="en-US" sz="2879" spc="-83" strike="noStrike" u="none">
                <a:solidFill>
                  <a:srgbClr val="DDEFFF"/>
                </a:solidFill>
                <a:latin typeface="Lilita One"/>
                <a:ea typeface="Lilita One"/>
                <a:cs typeface="Lilita One"/>
                <a:sym typeface="Lilita One"/>
              </a:rPr>
              <a:t>LM</a:t>
            </a:r>
            <a:r>
              <a:rPr lang="en-US" sz="2879" spc="-83" strike="noStrike" u="none">
                <a:solidFill>
                  <a:srgbClr val="DDEFFF"/>
                </a:solidFill>
                <a:latin typeface="Lilita One"/>
                <a:ea typeface="Lilita One"/>
                <a:cs typeface="Lilita One"/>
                <a:sym typeface="Lilita One"/>
              </a:rPr>
              <a:t> to </a:t>
            </a:r>
            <a:r>
              <a:rPr lang="en-US" sz="2879" spc="-83" strike="noStrike" u="none">
                <a:solidFill>
                  <a:srgbClr val="DDEFFF"/>
                </a:solidFill>
                <a:latin typeface="Lilita One"/>
                <a:ea typeface="Lilita One"/>
                <a:cs typeface="Lilita One"/>
                <a:sym typeface="Lilita One"/>
              </a:rPr>
              <a:t>Agent</a:t>
            </a:r>
          </a:p>
        </p:txBody>
      </p:sp>
      <p:sp>
        <p:nvSpPr>
          <p:cNvPr name="TextBox 11" id="11"/>
          <p:cNvSpPr txBox="true"/>
          <p:nvPr/>
        </p:nvSpPr>
        <p:spPr>
          <a:xfrm rot="0">
            <a:off x="4219575" y="1094445"/>
            <a:ext cx="9848850" cy="1507109"/>
          </a:xfrm>
          <a:prstGeom prst="rect">
            <a:avLst/>
          </a:prstGeom>
        </p:spPr>
        <p:txBody>
          <a:bodyPr anchor="t" rtlCol="false" tIns="0" lIns="0" bIns="0" rIns="0">
            <a:spAutoFit/>
          </a:bodyPr>
          <a:lstStyle/>
          <a:p>
            <a:pPr algn="ctr" marL="0" indent="0" lvl="0">
              <a:lnSpc>
                <a:spcPts val="12102"/>
              </a:lnSpc>
              <a:spcBef>
                <a:spcPct val="0"/>
              </a:spcBef>
            </a:pPr>
            <a:r>
              <a:rPr lang="en-US" sz="9099" strike="noStrike" u="none">
                <a:solidFill>
                  <a:srgbClr val="DDEFFF"/>
                </a:solidFill>
                <a:latin typeface="Lilita One"/>
                <a:ea typeface="Lilita One"/>
                <a:cs typeface="Lilita One"/>
                <a:sym typeface="Lilita One"/>
              </a:rPr>
              <a:t>What we offer?</a:t>
            </a:r>
          </a:p>
        </p:txBody>
      </p:sp>
      <p:grpSp>
        <p:nvGrpSpPr>
          <p:cNvPr name="Group 12" id="12"/>
          <p:cNvGrpSpPr/>
          <p:nvPr/>
        </p:nvGrpSpPr>
        <p:grpSpPr>
          <a:xfrm rot="0">
            <a:off x="5154446" y="3134955"/>
            <a:ext cx="3989554" cy="2638741"/>
            <a:chOff x="0" y="0"/>
            <a:chExt cx="1050747" cy="694977"/>
          </a:xfrm>
        </p:grpSpPr>
        <p:sp>
          <p:nvSpPr>
            <p:cNvPr name="Freeform 13" id="13"/>
            <p:cNvSpPr/>
            <p:nvPr/>
          </p:nvSpPr>
          <p:spPr>
            <a:xfrm flipH="false" flipV="false" rot="0">
              <a:off x="0" y="0"/>
              <a:ext cx="1050747" cy="694977"/>
            </a:xfrm>
            <a:custGeom>
              <a:avLst/>
              <a:gdLst/>
              <a:ahLst/>
              <a:cxnLst/>
              <a:rect r="r" b="b" t="t" l="l"/>
              <a:pathLst>
                <a:path h="694977" w="1050747">
                  <a:moveTo>
                    <a:pt x="0" y="0"/>
                  </a:moveTo>
                  <a:lnTo>
                    <a:pt x="1050747" y="0"/>
                  </a:lnTo>
                  <a:lnTo>
                    <a:pt x="1050747" y="694977"/>
                  </a:lnTo>
                  <a:lnTo>
                    <a:pt x="0" y="694977"/>
                  </a:lnTo>
                  <a:close/>
                </a:path>
              </a:pathLst>
            </a:custGeom>
            <a:ln w="38100" cap="sq">
              <a:solidFill>
                <a:srgbClr val="FFFFFF"/>
              </a:solidFill>
              <a:prstDash val="solid"/>
              <a:miter/>
            </a:ln>
          </p:spPr>
        </p:sp>
        <p:sp>
          <p:nvSpPr>
            <p:cNvPr name="TextBox 14" id="14"/>
            <p:cNvSpPr txBox="true"/>
            <p:nvPr/>
          </p:nvSpPr>
          <p:spPr>
            <a:xfrm>
              <a:off x="0" y="-47625"/>
              <a:ext cx="1050747" cy="74260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499141" y="3134955"/>
            <a:ext cx="3954362" cy="2584647"/>
            <a:chOff x="0" y="0"/>
            <a:chExt cx="1041478" cy="680730"/>
          </a:xfrm>
        </p:grpSpPr>
        <p:sp>
          <p:nvSpPr>
            <p:cNvPr name="Freeform 16" id="16"/>
            <p:cNvSpPr/>
            <p:nvPr/>
          </p:nvSpPr>
          <p:spPr>
            <a:xfrm flipH="false" flipV="false" rot="0">
              <a:off x="0" y="0"/>
              <a:ext cx="1041478" cy="680730"/>
            </a:xfrm>
            <a:custGeom>
              <a:avLst/>
              <a:gdLst/>
              <a:ahLst/>
              <a:cxnLst/>
              <a:rect r="r" b="b" t="t" l="l"/>
              <a:pathLst>
                <a:path h="680730" w="1041478">
                  <a:moveTo>
                    <a:pt x="0" y="0"/>
                  </a:moveTo>
                  <a:lnTo>
                    <a:pt x="1041478" y="0"/>
                  </a:lnTo>
                  <a:lnTo>
                    <a:pt x="1041478" y="680730"/>
                  </a:lnTo>
                  <a:lnTo>
                    <a:pt x="0" y="680730"/>
                  </a:lnTo>
                  <a:close/>
                </a:path>
              </a:pathLst>
            </a:custGeom>
            <a:ln w="38100" cap="sq">
              <a:solidFill>
                <a:srgbClr val="FFFFFF"/>
              </a:solidFill>
              <a:prstDash val="solid"/>
              <a:miter/>
            </a:ln>
          </p:spPr>
        </p:sp>
        <p:sp>
          <p:nvSpPr>
            <p:cNvPr name="TextBox 17" id="17"/>
            <p:cNvSpPr txBox="true"/>
            <p:nvPr/>
          </p:nvSpPr>
          <p:spPr>
            <a:xfrm>
              <a:off x="0" y="-47625"/>
              <a:ext cx="1041478" cy="72835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3269746" y="6088021"/>
            <a:ext cx="3989554" cy="2638741"/>
            <a:chOff x="0" y="0"/>
            <a:chExt cx="1050747" cy="694977"/>
          </a:xfrm>
        </p:grpSpPr>
        <p:sp>
          <p:nvSpPr>
            <p:cNvPr name="Freeform 19" id="19"/>
            <p:cNvSpPr/>
            <p:nvPr/>
          </p:nvSpPr>
          <p:spPr>
            <a:xfrm flipH="false" flipV="false" rot="0">
              <a:off x="0" y="0"/>
              <a:ext cx="1050747" cy="694977"/>
            </a:xfrm>
            <a:custGeom>
              <a:avLst/>
              <a:gdLst/>
              <a:ahLst/>
              <a:cxnLst/>
              <a:rect r="r" b="b" t="t" l="l"/>
              <a:pathLst>
                <a:path h="694977" w="1050747">
                  <a:moveTo>
                    <a:pt x="0" y="0"/>
                  </a:moveTo>
                  <a:lnTo>
                    <a:pt x="1050747" y="0"/>
                  </a:lnTo>
                  <a:lnTo>
                    <a:pt x="1050747" y="694977"/>
                  </a:lnTo>
                  <a:lnTo>
                    <a:pt x="0" y="694977"/>
                  </a:lnTo>
                  <a:close/>
                </a:path>
              </a:pathLst>
            </a:custGeom>
            <a:ln w="38100" cap="sq">
              <a:solidFill>
                <a:srgbClr val="FFFFFF"/>
              </a:solidFill>
              <a:prstDash val="solid"/>
              <a:miter/>
            </a:ln>
          </p:spPr>
        </p:sp>
        <p:sp>
          <p:nvSpPr>
            <p:cNvPr name="TextBox 20" id="20"/>
            <p:cNvSpPr txBox="true"/>
            <p:nvPr/>
          </p:nvSpPr>
          <p:spPr>
            <a:xfrm>
              <a:off x="0" y="-47625"/>
              <a:ext cx="1050747" cy="742602"/>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5629275" y="3562350"/>
            <a:ext cx="3057525" cy="1616710"/>
          </a:xfrm>
          <a:prstGeom prst="rect">
            <a:avLst/>
          </a:prstGeom>
        </p:spPr>
        <p:txBody>
          <a:bodyPr anchor="t" rtlCol="false" tIns="0" lIns="0" bIns="0" rIns="0">
            <a:spAutoFit/>
          </a:bodyPr>
          <a:lstStyle/>
          <a:p>
            <a:pPr algn="ctr" marL="0" indent="0" lvl="0">
              <a:lnSpc>
                <a:spcPts val="4339"/>
              </a:lnSpc>
              <a:spcBef>
                <a:spcPct val="0"/>
              </a:spcBef>
            </a:pPr>
            <a:r>
              <a:rPr lang="en-US" sz="3099" strike="noStrike" u="none">
                <a:solidFill>
                  <a:srgbClr val="DDEFFF"/>
                </a:solidFill>
                <a:latin typeface="Helvetica World"/>
                <a:ea typeface="Helvetica World"/>
                <a:cs typeface="Helvetica World"/>
                <a:sym typeface="Helvetica World"/>
              </a:rPr>
              <a:t>Experience solving data challenges</a:t>
            </a:r>
          </a:p>
        </p:txBody>
      </p:sp>
      <p:sp>
        <p:nvSpPr>
          <p:cNvPr name="TextBox 22" id="22"/>
          <p:cNvSpPr txBox="true"/>
          <p:nvPr/>
        </p:nvSpPr>
        <p:spPr>
          <a:xfrm rot="0">
            <a:off x="11020425" y="3524250"/>
            <a:ext cx="2895600" cy="1616710"/>
          </a:xfrm>
          <a:prstGeom prst="rect">
            <a:avLst/>
          </a:prstGeom>
        </p:spPr>
        <p:txBody>
          <a:bodyPr anchor="t" rtlCol="false" tIns="0" lIns="0" bIns="0" rIns="0">
            <a:spAutoFit/>
          </a:bodyPr>
          <a:lstStyle/>
          <a:p>
            <a:pPr algn="ctr" marL="0" indent="0" lvl="0">
              <a:lnSpc>
                <a:spcPts val="4339"/>
              </a:lnSpc>
              <a:spcBef>
                <a:spcPct val="0"/>
              </a:spcBef>
            </a:pPr>
            <a:r>
              <a:rPr lang="en-US" sz="3099" strike="noStrike" u="none">
                <a:solidFill>
                  <a:srgbClr val="DDEFFF"/>
                </a:solidFill>
                <a:latin typeface="Helvetica World"/>
                <a:ea typeface="Helvetica World"/>
                <a:cs typeface="Helvetica World"/>
                <a:sym typeface="Helvetica World"/>
              </a:rPr>
              <a:t>Resume-ready projects &amp; certificates</a:t>
            </a:r>
          </a:p>
        </p:txBody>
      </p:sp>
      <p:sp>
        <p:nvSpPr>
          <p:cNvPr name="TextBox 23" id="23"/>
          <p:cNvSpPr txBox="true"/>
          <p:nvPr/>
        </p:nvSpPr>
        <p:spPr>
          <a:xfrm rot="0">
            <a:off x="13592175" y="6296025"/>
            <a:ext cx="3352800" cy="2159635"/>
          </a:xfrm>
          <a:prstGeom prst="rect">
            <a:avLst/>
          </a:prstGeom>
        </p:spPr>
        <p:txBody>
          <a:bodyPr anchor="t" rtlCol="false" tIns="0" lIns="0" bIns="0" rIns="0">
            <a:spAutoFit/>
          </a:bodyPr>
          <a:lstStyle/>
          <a:p>
            <a:pPr algn="ctr" marL="0" indent="0" lvl="0">
              <a:lnSpc>
                <a:spcPts val="4339"/>
              </a:lnSpc>
              <a:spcBef>
                <a:spcPct val="0"/>
              </a:spcBef>
            </a:pPr>
            <a:r>
              <a:rPr lang="en-US" sz="3099" strike="noStrike" u="none">
                <a:solidFill>
                  <a:srgbClr val="DDEFFF"/>
                </a:solidFill>
                <a:latin typeface="Helvetica World"/>
                <a:ea typeface="Helvetica World"/>
                <a:cs typeface="Helvetica World"/>
                <a:sym typeface="Helvetica World"/>
              </a:rPr>
              <a:t>Supportive community of peers passionate about AI/ML</a:t>
            </a:r>
          </a:p>
        </p:txBody>
      </p:sp>
      <p:sp>
        <p:nvSpPr>
          <p:cNvPr name="TextBox 24" id="24"/>
          <p:cNvSpPr txBox="true"/>
          <p:nvPr/>
        </p:nvSpPr>
        <p:spPr>
          <a:xfrm rot="0">
            <a:off x="3076575" y="6238875"/>
            <a:ext cx="3057525" cy="1616710"/>
          </a:xfrm>
          <a:prstGeom prst="rect">
            <a:avLst/>
          </a:prstGeom>
        </p:spPr>
        <p:txBody>
          <a:bodyPr anchor="t" rtlCol="false" tIns="0" lIns="0" bIns="0" rIns="0">
            <a:spAutoFit/>
          </a:bodyPr>
          <a:lstStyle/>
          <a:p>
            <a:pPr algn="ctr" marL="0" indent="0" lvl="0">
              <a:lnSpc>
                <a:spcPts val="4339"/>
              </a:lnSpc>
              <a:spcBef>
                <a:spcPct val="0"/>
              </a:spcBef>
            </a:pPr>
            <a:r>
              <a:rPr lang="en-US" sz="3099" strike="noStrike" u="none">
                <a:solidFill>
                  <a:srgbClr val="DDEFFF"/>
                </a:solidFill>
                <a:latin typeface="Helvetica World"/>
                <a:ea typeface="Helvetica World"/>
                <a:cs typeface="Helvetica World"/>
                <a:sym typeface="Helvetica World"/>
              </a:rPr>
              <a:t>Hands-on ML projects with data + mentorship</a:t>
            </a:r>
          </a:p>
        </p:txBody>
      </p:sp>
      <p:grpSp>
        <p:nvGrpSpPr>
          <p:cNvPr name="Group 25" id="25"/>
          <p:cNvGrpSpPr/>
          <p:nvPr/>
        </p:nvGrpSpPr>
        <p:grpSpPr>
          <a:xfrm rot="0">
            <a:off x="2609987" y="6088021"/>
            <a:ext cx="3989554" cy="2638741"/>
            <a:chOff x="0" y="0"/>
            <a:chExt cx="1050747" cy="694977"/>
          </a:xfrm>
        </p:grpSpPr>
        <p:sp>
          <p:nvSpPr>
            <p:cNvPr name="Freeform 26" id="26"/>
            <p:cNvSpPr/>
            <p:nvPr/>
          </p:nvSpPr>
          <p:spPr>
            <a:xfrm flipH="false" flipV="false" rot="0">
              <a:off x="0" y="0"/>
              <a:ext cx="1050747" cy="694977"/>
            </a:xfrm>
            <a:custGeom>
              <a:avLst/>
              <a:gdLst/>
              <a:ahLst/>
              <a:cxnLst/>
              <a:rect r="r" b="b" t="t" l="l"/>
              <a:pathLst>
                <a:path h="694977" w="1050747">
                  <a:moveTo>
                    <a:pt x="0" y="0"/>
                  </a:moveTo>
                  <a:lnTo>
                    <a:pt x="1050747" y="0"/>
                  </a:lnTo>
                  <a:lnTo>
                    <a:pt x="1050747" y="694977"/>
                  </a:lnTo>
                  <a:lnTo>
                    <a:pt x="0" y="694977"/>
                  </a:lnTo>
                  <a:close/>
                </a:path>
              </a:pathLst>
            </a:custGeom>
            <a:ln w="38100" cap="sq">
              <a:solidFill>
                <a:srgbClr val="FFFFFF"/>
              </a:solidFill>
              <a:prstDash val="solid"/>
              <a:miter/>
            </a:ln>
          </p:spPr>
        </p:sp>
        <p:sp>
          <p:nvSpPr>
            <p:cNvPr name="TextBox 27" id="27"/>
            <p:cNvSpPr txBox="true"/>
            <p:nvPr/>
          </p:nvSpPr>
          <p:spPr>
            <a:xfrm>
              <a:off x="0" y="-47625"/>
              <a:ext cx="1050747" cy="742602"/>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2433979" y="3780923"/>
            <a:ext cx="1292710" cy="1292710"/>
          </a:xfrm>
          <a:custGeom>
            <a:avLst/>
            <a:gdLst/>
            <a:ahLst/>
            <a:cxnLst/>
            <a:rect r="r" b="b" t="t" l="l"/>
            <a:pathLst>
              <a:path h="1292710" w="1292710">
                <a:moveTo>
                  <a:pt x="0" y="0"/>
                </a:moveTo>
                <a:lnTo>
                  <a:pt x="1292710" y="0"/>
                </a:lnTo>
                <a:lnTo>
                  <a:pt x="1292710" y="1292710"/>
                </a:lnTo>
                <a:lnTo>
                  <a:pt x="0" y="12927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7149223" y="6869071"/>
            <a:ext cx="1351512" cy="1252770"/>
          </a:xfrm>
          <a:custGeom>
            <a:avLst/>
            <a:gdLst/>
            <a:ahLst/>
            <a:cxnLst/>
            <a:rect r="r" b="b" t="t" l="l"/>
            <a:pathLst>
              <a:path h="1252770" w="1351512">
                <a:moveTo>
                  <a:pt x="0" y="0"/>
                </a:moveTo>
                <a:lnTo>
                  <a:pt x="1351513" y="0"/>
                </a:lnTo>
                <a:lnTo>
                  <a:pt x="1351513" y="1252770"/>
                </a:lnTo>
                <a:lnTo>
                  <a:pt x="0" y="1252770"/>
                </a:lnTo>
                <a:lnTo>
                  <a:pt x="0" y="0"/>
                </a:lnTo>
                <a:close/>
              </a:path>
            </a:pathLst>
          </a:custGeom>
          <a:blipFill>
            <a:blip r:embed="rId7"/>
            <a:stretch>
              <a:fillRect l="0" t="0" r="0" b="0"/>
            </a:stretch>
          </a:blipFill>
        </p:spPr>
      </p:sp>
      <p:sp>
        <p:nvSpPr>
          <p:cNvPr name="Freeform 30" id="30"/>
          <p:cNvSpPr/>
          <p:nvPr/>
        </p:nvSpPr>
        <p:spPr>
          <a:xfrm flipH="false" flipV="false" rot="0">
            <a:off x="14984138" y="3593464"/>
            <a:ext cx="1618369" cy="1203887"/>
          </a:xfrm>
          <a:custGeom>
            <a:avLst/>
            <a:gdLst/>
            <a:ahLst/>
            <a:cxnLst/>
            <a:rect r="r" b="b" t="t" l="l"/>
            <a:pathLst>
              <a:path h="1203887" w="1618369">
                <a:moveTo>
                  <a:pt x="0" y="0"/>
                </a:moveTo>
                <a:lnTo>
                  <a:pt x="1618369" y="0"/>
                </a:lnTo>
                <a:lnTo>
                  <a:pt x="1618369" y="1203887"/>
                </a:lnTo>
                <a:lnTo>
                  <a:pt x="0" y="12038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1" id="31"/>
          <p:cNvSpPr/>
          <p:nvPr/>
        </p:nvSpPr>
        <p:spPr>
          <a:xfrm flipH="false" flipV="false" rot="0">
            <a:off x="11658283" y="6453026"/>
            <a:ext cx="1256990" cy="1254705"/>
          </a:xfrm>
          <a:custGeom>
            <a:avLst/>
            <a:gdLst/>
            <a:ahLst/>
            <a:cxnLst/>
            <a:rect r="r" b="b" t="t" l="l"/>
            <a:pathLst>
              <a:path h="1254705" w="1256990">
                <a:moveTo>
                  <a:pt x="0" y="0"/>
                </a:moveTo>
                <a:lnTo>
                  <a:pt x="1256990" y="0"/>
                </a:lnTo>
                <a:lnTo>
                  <a:pt x="1256990" y="1254705"/>
                </a:lnTo>
                <a:lnTo>
                  <a:pt x="0" y="12547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32" id="32"/>
          <p:cNvGrpSpPr/>
          <p:nvPr/>
        </p:nvGrpSpPr>
        <p:grpSpPr>
          <a:xfrm rot="0">
            <a:off x="7824979" y="8121841"/>
            <a:ext cx="4831663" cy="1326511"/>
            <a:chOff x="0" y="0"/>
            <a:chExt cx="6442217" cy="1768681"/>
          </a:xfrm>
        </p:grpSpPr>
        <p:sp>
          <p:nvSpPr>
            <p:cNvPr name="Freeform 33" id="33"/>
            <p:cNvSpPr/>
            <p:nvPr/>
          </p:nvSpPr>
          <p:spPr>
            <a:xfrm flipH="false" flipV="false" rot="0">
              <a:off x="0" y="0"/>
              <a:ext cx="6442217" cy="1768681"/>
            </a:xfrm>
            <a:custGeom>
              <a:avLst/>
              <a:gdLst/>
              <a:ahLst/>
              <a:cxnLst/>
              <a:rect r="r" b="b" t="t" l="l"/>
              <a:pathLst>
                <a:path h="1768681" w="6442217">
                  <a:moveTo>
                    <a:pt x="0" y="0"/>
                  </a:moveTo>
                  <a:lnTo>
                    <a:pt x="6442217" y="0"/>
                  </a:lnTo>
                  <a:lnTo>
                    <a:pt x="6442217" y="1768681"/>
                  </a:lnTo>
                  <a:lnTo>
                    <a:pt x="0" y="17686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539494" y="229404"/>
              <a:ext cx="5435600" cy="1239308"/>
            </a:xfrm>
            <a:prstGeom prst="rect">
              <a:avLst/>
            </a:prstGeom>
          </p:spPr>
          <p:txBody>
            <a:bodyPr anchor="t" rtlCol="false" tIns="0" lIns="0" bIns="0" rIns="0">
              <a:spAutoFit/>
            </a:bodyPr>
            <a:lstStyle/>
            <a:p>
              <a:pPr algn="ctr" marL="0" indent="0" lvl="0">
                <a:lnSpc>
                  <a:spcPts val="3500"/>
                </a:lnSpc>
                <a:spcBef>
                  <a:spcPct val="0"/>
                </a:spcBef>
              </a:pPr>
              <a:r>
                <a:rPr lang="en-US" sz="3500" strike="noStrike" u="none">
                  <a:solidFill>
                    <a:srgbClr val="FFFFFF"/>
                  </a:solidFill>
                  <a:latin typeface="Helvetica World"/>
                  <a:ea typeface="Helvetica World"/>
                  <a:cs typeface="Helvetica World"/>
                  <a:sym typeface="Helvetica World"/>
                </a:rPr>
                <a:t>Learn. Build. Grow. With DMLS.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969032" y="8256262"/>
            <a:ext cx="5480719" cy="5511824"/>
          </a:xfrm>
          <a:custGeom>
            <a:avLst/>
            <a:gdLst/>
            <a:ahLst/>
            <a:cxnLst/>
            <a:rect r="r" b="b" t="t" l="l"/>
            <a:pathLst>
              <a:path h="5511824" w="5480719">
                <a:moveTo>
                  <a:pt x="0" y="0"/>
                </a:moveTo>
                <a:lnTo>
                  <a:pt x="5480719" y="0"/>
                </a:lnTo>
                <a:lnTo>
                  <a:pt x="5480719" y="5511824"/>
                </a:lnTo>
                <a:lnTo>
                  <a:pt x="0" y="5511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4"/>
            <a:stretch>
              <a:fillRect l="0" t="0" r="0" b="0"/>
            </a:stretch>
          </a:blipFill>
        </p:spPr>
      </p:sp>
      <p:sp>
        <p:nvSpPr>
          <p:cNvPr name="AutoShape 4" id="4"/>
          <p:cNvSpPr/>
          <p:nvPr/>
        </p:nvSpPr>
        <p:spPr>
          <a:xfrm flipV="true">
            <a:off x="1028708" y="1028700"/>
            <a:ext cx="16230592" cy="24204"/>
          </a:xfrm>
          <a:prstGeom prst="line">
            <a:avLst/>
          </a:prstGeom>
          <a:ln cap="flat" w="9525">
            <a:solidFill>
              <a:srgbClr val="FFFFFF"/>
            </a:solidFill>
            <a:prstDash val="solid"/>
            <a:headEnd type="none" len="sm" w="sm"/>
            <a:tailEnd type="none" len="sm" w="sm"/>
          </a:ln>
        </p:spPr>
      </p:sp>
      <p:sp>
        <p:nvSpPr>
          <p:cNvPr name="AutoShape 5" id="5"/>
          <p:cNvSpPr/>
          <p:nvPr/>
        </p:nvSpPr>
        <p:spPr>
          <a:xfrm flipV="true">
            <a:off x="1028701" y="457718"/>
            <a:ext cx="16230592" cy="24204"/>
          </a:xfrm>
          <a:prstGeom prst="line">
            <a:avLst/>
          </a:prstGeom>
          <a:ln cap="flat" w="9525">
            <a:solidFill>
              <a:srgbClr val="FFFFFF"/>
            </a:solidFill>
            <a:prstDash val="solid"/>
            <a:headEnd type="none" len="sm" w="sm"/>
            <a:tailEnd type="none" len="sm" w="sm"/>
          </a:ln>
        </p:spPr>
      </p:sp>
      <p:grpSp>
        <p:nvGrpSpPr>
          <p:cNvPr name="Group 6" id="6"/>
          <p:cNvGrpSpPr/>
          <p:nvPr/>
        </p:nvGrpSpPr>
        <p:grpSpPr>
          <a:xfrm rot="0">
            <a:off x="1028700" y="2581275"/>
            <a:ext cx="4762500" cy="390525"/>
            <a:chOff x="0" y="0"/>
            <a:chExt cx="1210722" cy="99279"/>
          </a:xfrm>
        </p:grpSpPr>
        <p:sp>
          <p:nvSpPr>
            <p:cNvPr name="Freeform 7" id="7"/>
            <p:cNvSpPr/>
            <p:nvPr/>
          </p:nvSpPr>
          <p:spPr>
            <a:xfrm flipH="false" flipV="false" rot="0">
              <a:off x="0" y="0"/>
              <a:ext cx="1210722" cy="99279"/>
            </a:xfrm>
            <a:custGeom>
              <a:avLst/>
              <a:gdLst/>
              <a:ahLst/>
              <a:cxnLst/>
              <a:rect r="r" b="b" t="t" l="l"/>
              <a:pathLst>
                <a:path h="99279" w="1210722">
                  <a:moveTo>
                    <a:pt x="0" y="0"/>
                  </a:moveTo>
                  <a:lnTo>
                    <a:pt x="1210722" y="0"/>
                  </a:lnTo>
                  <a:lnTo>
                    <a:pt x="1210722" y="99279"/>
                  </a:lnTo>
                  <a:lnTo>
                    <a:pt x="0" y="99279"/>
                  </a:lnTo>
                  <a:close/>
                </a:path>
              </a:pathLst>
            </a:custGeom>
            <a:solidFill>
              <a:srgbClr val="0493FB"/>
            </a:solidFill>
          </p:spPr>
        </p:sp>
        <p:sp>
          <p:nvSpPr>
            <p:cNvPr name="TextBox 8" id="8"/>
            <p:cNvSpPr txBox="true"/>
            <p:nvPr/>
          </p:nvSpPr>
          <p:spPr>
            <a:xfrm>
              <a:off x="0" y="-38100"/>
              <a:ext cx="1210722" cy="137379"/>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3837664" y="3446654"/>
            <a:ext cx="3907073" cy="3988147"/>
          </a:xfrm>
          <a:custGeom>
            <a:avLst/>
            <a:gdLst/>
            <a:ahLst/>
            <a:cxnLst/>
            <a:rect r="r" b="b" t="t" l="l"/>
            <a:pathLst>
              <a:path h="3988147" w="3907073">
                <a:moveTo>
                  <a:pt x="0" y="0"/>
                </a:moveTo>
                <a:lnTo>
                  <a:pt x="3907072" y="0"/>
                </a:lnTo>
                <a:lnTo>
                  <a:pt x="3907072" y="3988146"/>
                </a:lnTo>
                <a:lnTo>
                  <a:pt x="0" y="3988146"/>
                </a:lnTo>
                <a:lnTo>
                  <a:pt x="0" y="0"/>
                </a:lnTo>
                <a:close/>
              </a:path>
            </a:pathLst>
          </a:custGeom>
          <a:blipFill>
            <a:blip r:embed="rId5"/>
            <a:stretch>
              <a:fillRect l="0" t="-16414" r="0" b="-14207"/>
            </a:stretch>
          </a:blipFill>
        </p:spPr>
      </p:sp>
      <p:sp>
        <p:nvSpPr>
          <p:cNvPr name="Freeform 10" id="10"/>
          <p:cNvSpPr/>
          <p:nvPr/>
        </p:nvSpPr>
        <p:spPr>
          <a:xfrm flipH="false" flipV="false" rot="0">
            <a:off x="10086289" y="3446654"/>
            <a:ext cx="4232787" cy="3988147"/>
          </a:xfrm>
          <a:custGeom>
            <a:avLst/>
            <a:gdLst/>
            <a:ahLst/>
            <a:cxnLst/>
            <a:rect r="r" b="b" t="t" l="l"/>
            <a:pathLst>
              <a:path h="3988147" w="4232787">
                <a:moveTo>
                  <a:pt x="0" y="0"/>
                </a:moveTo>
                <a:lnTo>
                  <a:pt x="4232788" y="0"/>
                </a:lnTo>
                <a:lnTo>
                  <a:pt x="4232788" y="3988146"/>
                </a:lnTo>
                <a:lnTo>
                  <a:pt x="0" y="3988146"/>
                </a:lnTo>
                <a:lnTo>
                  <a:pt x="0" y="0"/>
                </a:lnTo>
                <a:close/>
              </a:path>
            </a:pathLst>
          </a:custGeom>
          <a:blipFill>
            <a:blip r:embed="rId6"/>
            <a:stretch>
              <a:fillRect l="-3197" t="0" r="-6068" b="0"/>
            </a:stretch>
          </a:blipFill>
          <a:ln cap="rnd">
            <a:noFill/>
            <a:prstDash val="solid"/>
            <a:round/>
          </a:ln>
        </p:spPr>
      </p:sp>
      <p:sp>
        <p:nvSpPr>
          <p:cNvPr name="TextBox 11" id="11"/>
          <p:cNvSpPr txBox="true"/>
          <p:nvPr/>
        </p:nvSpPr>
        <p:spPr>
          <a:xfrm rot="0">
            <a:off x="1257300" y="581025"/>
            <a:ext cx="5619750" cy="328765"/>
          </a:xfrm>
          <a:prstGeom prst="rect">
            <a:avLst/>
          </a:prstGeom>
        </p:spPr>
        <p:txBody>
          <a:bodyPr anchor="t" rtlCol="false" tIns="0" lIns="0" bIns="0" rIns="0">
            <a:spAutoFit/>
          </a:bodyPr>
          <a:lstStyle/>
          <a:p>
            <a:pPr algn="l" marL="0" indent="0" lvl="0">
              <a:lnSpc>
                <a:spcPts val="2673"/>
              </a:lnSpc>
              <a:spcBef>
                <a:spcPct val="0"/>
              </a:spcBef>
            </a:pPr>
            <a:r>
              <a:rPr lang="en-US" sz="2010" spc="291" strike="noStrike" u="none">
                <a:solidFill>
                  <a:srgbClr val="DDEFFF"/>
                </a:solidFill>
                <a:latin typeface="Lilita One"/>
                <a:ea typeface="Lilita One"/>
                <a:cs typeface="Lilita One"/>
                <a:sym typeface="Lilita One"/>
              </a:rPr>
              <a:t>@dalmlsociety</a:t>
            </a:r>
          </a:p>
        </p:txBody>
      </p:sp>
      <p:sp>
        <p:nvSpPr>
          <p:cNvPr name="TextBox 12" id="12"/>
          <p:cNvSpPr txBox="true"/>
          <p:nvPr/>
        </p:nvSpPr>
        <p:spPr>
          <a:xfrm rot="0">
            <a:off x="12811125" y="552450"/>
            <a:ext cx="4448175" cy="417576"/>
          </a:xfrm>
          <a:prstGeom prst="rect">
            <a:avLst/>
          </a:prstGeom>
        </p:spPr>
        <p:txBody>
          <a:bodyPr anchor="t" rtlCol="false" tIns="0" lIns="0" bIns="0" rIns="0">
            <a:spAutoFit/>
          </a:bodyPr>
          <a:lstStyle/>
          <a:p>
            <a:pPr algn="r" marL="0" indent="0" lvl="0">
              <a:lnSpc>
                <a:spcPts val="3168"/>
              </a:lnSpc>
              <a:spcBef>
                <a:spcPct val="0"/>
              </a:spcBef>
            </a:pPr>
            <a:r>
              <a:rPr lang="en-US" sz="2879" spc="-83">
                <a:solidFill>
                  <a:srgbClr val="DDEFFF"/>
                </a:solidFill>
                <a:latin typeface="Lilita One"/>
                <a:ea typeface="Lilita One"/>
                <a:cs typeface="Lilita One"/>
                <a:sym typeface="Lilita One"/>
              </a:rPr>
              <a:t>From </a:t>
            </a:r>
            <a:r>
              <a:rPr lang="en-US" sz="2879" spc="-83" strike="noStrike" u="none">
                <a:solidFill>
                  <a:srgbClr val="DDEFFF"/>
                </a:solidFill>
                <a:latin typeface="Lilita One"/>
                <a:ea typeface="Lilita One"/>
                <a:cs typeface="Lilita One"/>
                <a:sym typeface="Lilita One"/>
              </a:rPr>
              <a:t>L</a:t>
            </a:r>
            <a:r>
              <a:rPr lang="en-US" sz="2879" spc="-83" strike="noStrike" u="none">
                <a:solidFill>
                  <a:srgbClr val="DDEFFF"/>
                </a:solidFill>
                <a:latin typeface="Lilita One"/>
                <a:ea typeface="Lilita One"/>
                <a:cs typeface="Lilita One"/>
                <a:sym typeface="Lilita One"/>
              </a:rPr>
              <a:t>LM</a:t>
            </a:r>
            <a:r>
              <a:rPr lang="en-US" sz="2879" spc="-83" strike="noStrike" u="none">
                <a:solidFill>
                  <a:srgbClr val="DDEFFF"/>
                </a:solidFill>
                <a:latin typeface="Lilita One"/>
                <a:ea typeface="Lilita One"/>
                <a:cs typeface="Lilita One"/>
                <a:sym typeface="Lilita One"/>
              </a:rPr>
              <a:t> to </a:t>
            </a:r>
            <a:r>
              <a:rPr lang="en-US" sz="2879" spc="-83" strike="noStrike" u="none">
                <a:solidFill>
                  <a:srgbClr val="DDEFFF"/>
                </a:solidFill>
                <a:latin typeface="Lilita One"/>
                <a:ea typeface="Lilita One"/>
                <a:cs typeface="Lilita One"/>
                <a:sym typeface="Lilita One"/>
              </a:rPr>
              <a:t>Agent</a:t>
            </a:r>
          </a:p>
        </p:txBody>
      </p:sp>
      <p:sp>
        <p:nvSpPr>
          <p:cNvPr name="TextBox 13" id="13"/>
          <p:cNvSpPr txBox="true"/>
          <p:nvPr/>
        </p:nvSpPr>
        <p:spPr>
          <a:xfrm rot="0">
            <a:off x="1028700" y="1619250"/>
            <a:ext cx="5429250" cy="1507109"/>
          </a:xfrm>
          <a:prstGeom prst="rect">
            <a:avLst/>
          </a:prstGeom>
        </p:spPr>
        <p:txBody>
          <a:bodyPr anchor="t" rtlCol="false" tIns="0" lIns="0" bIns="0" rIns="0">
            <a:spAutoFit/>
          </a:bodyPr>
          <a:lstStyle/>
          <a:p>
            <a:pPr algn="l" marL="0" indent="0" lvl="0">
              <a:lnSpc>
                <a:spcPts val="12102"/>
              </a:lnSpc>
              <a:spcBef>
                <a:spcPct val="0"/>
              </a:spcBef>
            </a:pPr>
            <a:r>
              <a:rPr lang="en-US" sz="9099" strike="noStrike" u="none">
                <a:solidFill>
                  <a:srgbClr val="DDEFFF"/>
                </a:solidFill>
                <a:latin typeface="Lilita One"/>
                <a:ea typeface="Lilita One"/>
                <a:cs typeface="Lilita One"/>
                <a:sym typeface="Lilita One"/>
              </a:rPr>
              <a:t>Our Hosts</a:t>
            </a:r>
          </a:p>
        </p:txBody>
      </p:sp>
      <p:sp>
        <p:nvSpPr>
          <p:cNvPr name="TextBox 14" id="14"/>
          <p:cNvSpPr txBox="true"/>
          <p:nvPr/>
        </p:nvSpPr>
        <p:spPr>
          <a:xfrm rot="0">
            <a:off x="4766122" y="7579547"/>
            <a:ext cx="2533650" cy="545592"/>
          </a:xfrm>
          <a:prstGeom prst="rect">
            <a:avLst/>
          </a:prstGeom>
        </p:spPr>
        <p:txBody>
          <a:bodyPr anchor="t" rtlCol="false" tIns="0" lIns="0" bIns="0" rIns="0">
            <a:spAutoFit/>
          </a:bodyPr>
          <a:lstStyle/>
          <a:p>
            <a:pPr algn="ctr" marL="0" indent="0" lvl="0">
              <a:lnSpc>
                <a:spcPts val="4389"/>
              </a:lnSpc>
              <a:spcBef>
                <a:spcPct val="0"/>
              </a:spcBef>
            </a:pPr>
            <a:r>
              <a:rPr lang="en-US" sz="3300">
                <a:solidFill>
                  <a:srgbClr val="DDEFFF"/>
                </a:solidFill>
                <a:latin typeface="Lilita One"/>
                <a:ea typeface="Lilita One"/>
                <a:cs typeface="Lilita One"/>
                <a:sym typeface="Lilita One"/>
              </a:rPr>
              <a:t>Akshit Bhalla</a:t>
            </a:r>
          </a:p>
        </p:txBody>
      </p:sp>
      <p:sp>
        <p:nvSpPr>
          <p:cNvPr name="TextBox 15" id="15"/>
          <p:cNvSpPr txBox="true"/>
          <p:nvPr/>
        </p:nvSpPr>
        <p:spPr>
          <a:xfrm rot="0">
            <a:off x="11022356" y="7579547"/>
            <a:ext cx="2369438" cy="545592"/>
          </a:xfrm>
          <a:prstGeom prst="rect">
            <a:avLst/>
          </a:prstGeom>
        </p:spPr>
        <p:txBody>
          <a:bodyPr anchor="t" rtlCol="false" tIns="0" lIns="0" bIns="0" rIns="0">
            <a:spAutoFit/>
          </a:bodyPr>
          <a:lstStyle/>
          <a:p>
            <a:pPr algn="ctr" marL="0" indent="0" lvl="0">
              <a:lnSpc>
                <a:spcPts val="4389"/>
              </a:lnSpc>
              <a:spcBef>
                <a:spcPct val="0"/>
              </a:spcBef>
            </a:pPr>
            <a:r>
              <a:rPr lang="en-US" sz="3300">
                <a:solidFill>
                  <a:srgbClr val="DDEFFF"/>
                </a:solidFill>
                <a:latin typeface="Lilita One"/>
                <a:ea typeface="Lilita One"/>
                <a:cs typeface="Lilita One"/>
                <a:sym typeface="Lilita One"/>
              </a:rPr>
              <a:t>Akash Maity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75956" y="7966921"/>
            <a:ext cx="5480719" cy="5511824"/>
          </a:xfrm>
          <a:custGeom>
            <a:avLst/>
            <a:gdLst/>
            <a:ahLst/>
            <a:cxnLst/>
            <a:rect r="r" b="b" t="t" l="l"/>
            <a:pathLst>
              <a:path h="5511824" w="5480719">
                <a:moveTo>
                  <a:pt x="0" y="0"/>
                </a:moveTo>
                <a:lnTo>
                  <a:pt x="5480720" y="0"/>
                </a:lnTo>
                <a:lnTo>
                  <a:pt x="5480720" y="5511824"/>
                </a:lnTo>
                <a:lnTo>
                  <a:pt x="0" y="5511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4"/>
            <a:stretch>
              <a:fillRect l="0" t="0" r="0" b="0"/>
            </a:stretch>
          </a:blipFill>
        </p:spPr>
      </p:sp>
      <p:grpSp>
        <p:nvGrpSpPr>
          <p:cNvPr name="Group 4" id="4"/>
          <p:cNvGrpSpPr/>
          <p:nvPr/>
        </p:nvGrpSpPr>
        <p:grpSpPr>
          <a:xfrm rot="0">
            <a:off x="1028708" y="5008113"/>
            <a:ext cx="4806606" cy="659264"/>
            <a:chOff x="0" y="0"/>
            <a:chExt cx="1221934" cy="167598"/>
          </a:xfrm>
        </p:grpSpPr>
        <p:sp>
          <p:nvSpPr>
            <p:cNvPr name="Freeform 5" id="5"/>
            <p:cNvSpPr/>
            <p:nvPr/>
          </p:nvSpPr>
          <p:spPr>
            <a:xfrm flipH="false" flipV="false" rot="0">
              <a:off x="0" y="0"/>
              <a:ext cx="1221934" cy="167598"/>
            </a:xfrm>
            <a:custGeom>
              <a:avLst/>
              <a:gdLst/>
              <a:ahLst/>
              <a:cxnLst/>
              <a:rect r="r" b="b" t="t" l="l"/>
              <a:pathLst>
                <a:path h="167598" w="1221934">
                  <a:moveTo>
                    <a:pt x="0" y="0"/>
                  </a:moveTo>
                  <a:lnTo>
                    <a:pt x="1221934" y="0"/>
                  </a:lnTo>
                  <a:lnTo>
                    <a:pt x="1221934" y="167598"/>
                  </a:lnTo>
                  <a:lnTo>
                    <a:pt x="0" y="167598"/>
                  </a:lnTo>
                  <a:close/>
                </a:path>
              </a:pathLst>
            </a:custGeom>
            <a:solidFill>
              <a:srgbClr val="0493FB"/>
            </a:solidFill>
          </p:spPr>
        </p:sp>
        <p:sp>
          <p:nvSpPr>
            <p:cNvPr name="TextBox 6" id="6"/>
            <p:cNvSpPr txBox="true"/>
            <p:nvPr/>
          </p:nvSpPr>
          <p:spPr>
            <a:xfrm>
              <a:off x="0" y="-38100"/>
              <a:ext cx="1221934" cy="205698"/>
            </a:xfrm>
            <a:prstGeom prst="rect">
              <a:avLst/>
            </a:prstGeom>
          </p:spPr>
          <p:txBody>
            <a:bodyPr anchor="ctr" rtlCol="false" tIns="50800" lIns="50800" bIns="50800" rIns="50800"/>
            <a:lstStyle/>
            <a:p>
              <a:pPr algn="ctr">
                <a:lnSpc>
                  <a:spcPts val="2659"/>
                </a:lnSpc>
                <a:spcBef>
                  <a:spcPct val="0"/>
                </a:spcBef>
              </a:pPr>
            </a:p>
          </p:txBody>
        </p:sp>
      </p:grpSp>
      <p:sp>
        <p:nvSpPr>
          <p:cNvPr name="AutoShape 7" id="7"/>
          <p:cNvSpPr/>
          <p:nvPr/>
        </p:nvSpPr>
        <p:spPr>
          <a:xfrm flipV="true">
            <a:off x="1028708" y="1028700"/>
            <a:ext cx="16230592" cy="24204"/>
          </a:xfrm>
          <a:prstGeom prst="line">
            <a:avLst/>
          </a:prstGeom>
          <a:ln cap="flat" w="9525">
            <a:solidFill>
              <a:srgbClr val="FFFFFF"/>
            </a:solidFill>
            <a:prstDash val="solid"/>
            <a:headEnd type="none" len="sm" w="sm"/>
            <a:tailEnd type="none" len="sm" w="sm"/>
          </a:ln>
        </p:spPr>
      </p:sp>
      <p:sp>
        <p:nvSpPr>
          <p:cNvPr name="TextBox 8" id="8"/>
          <p:cNvSpPr txBox="true"/>
          <p:nvPr/>
        </p:nvSpPr>
        <p:spPr>
          <a:xfrm rot="0">
            <a:off x="1257300" y="581025"/>
            <a:ext cx="5619750" cy="328765"/>
          </a:xfrm>
          <a:prstGeom prst="rect">
            <a:avLst/>
          </a:prstGeom>
        </p:spPr>
        <p:txBody>
          <a:bodyPr anchor="t" rtlCol="false" tIns="0" lIns="0" bIns="0" rIns="0">
            <a:spAutoFit/>
          </a:bodyPr>
          <a:lstStyle/>
          <a:p>
            <a:pPr algn="l" marL="0" indent="0" lvl="0">
              <a:lnSpc>
                <a:spcPts val="2673"/>
              </a:lnSpc>
              <a:spcBef>
                <a:spcPct val="0"/>
              </a:spcBef>
            </a:pPr>
            <a:r>
              <a:rPr lang="en-US" sz="2010" spc="291" strike="noStrike" u="none">
                <a:solidFill>
                  <a:srgbClr val="DDEFFF"/>
                </a:solidFill>
                <a:latin typeface="Lilita One"/>
                <a:ea typeface="Lilita One"/>
                <a:cs typeface="Lilita One"/>
                <a:sym typeface="Lilita One"/>
              </a:rPr>
              <a:t>@dalmlsociety</a:t>
            </a:r>
          </a:p>
        </p:txBody>
      </p:sp>
      <p:sp>
        <p:nvSpPr>
          <p:cNvPr name="TextBox 9" id="9"/>
          <p:cNvSpPr txBox="true"/>
          <p:nvPr/>
        </p:nvSpPr>
        <p:spPr>
          <a:xfrm rot="0">
            <a:off x="12811125" y="552450"/>
            <a:ext cx="4448168" cy="417576"/>
          </a:xfrm>
          <a:prstGeom prst="rect">
            <a:avLst/>
          </a:prstGeom>
        </p:spPr>
        <p:txBody>
          <a:bodyPr anchor="t" rtlCol="false" tIns="0" lIns="0" bIns="0" rIns="0">
            <a:spAutoFit/>
          </a:bodyPr>
          <a:lstStyle/>
          <a:p>
            <a:pPr algn="r" marL="0" indent="0" lvl="0">
              <a:lnSpc>
                <a:spcPts val="3168"/>
              </a:lnSpc>
              <a:spcBef>
                <a:spcPct val="0"/>
              </a:spcBef>
            </a:pPr>
            <a:r>
              <a:rPr lang="en-US" sz="2879" spc="-83">
                <a:solidFill>
                  <a:srgbClr val="DDEFFF"/>
                </a:solidFill>
                <a:latin typeface="Lilita One"/>
                <a:ea typeface="Lilita One"/>
                <a:cs typeface="Lilita One"/>
                <a:sym typeface="Lilita One"/>
              </a:rPr>
              <a:t>From </a:t>
            </a:r>
            <a:r>
              <a:rPr lang="en-US" sz="2879" spc="-83" strike="noStrike" u="none">
                <a:solidFill>
                  <a:srgbClr val="DDEFFF"/>
                </a:solidFill>
                <a:latin typeface="Lilita One"/>
                <a:ea typeface="Lilita One"/>
                <a:cs typeface="Lilita One"/>
                <a:sym typeface="Lilita One"/>
              </a:rPr>
              <a:t>L</a:t>
            </a:r>
            <a:r>
              <a:rPr lang="en-US" sz="2879" spc="-83" strike="noStrike" u="none">
                <a:solidFill>
                  <a:srgbClr val="DDEFFF"/>
                </a:solidFill>
                <a:latin typeface="Lilita One"/>
                <a:ea typeface="Lilita One"/>
                <a:cs typeface="Lilita One"/>
                <a:sym typeface="Lilita One"/>
              </a:rPr>
              <a:t>LM</a:t>
            </a:r>
            <a:r>
              <a:rPr lang="en-US" sz="2879" spc="-83" strike="noStrike" u="none">
                <a:solidFill>
                  <a:srgbClr val="DDEFFF"/>
                </a:solidFill>
                <a:latin typeface="Lilita One"/>
                <a:ea typeface="Lilita One"/>
                <a:cs typeface="Lilita One"/>
                <a:sym typeface="Lilita One"/>
              </a:rPr>
              <a:t> to </a:t>
            </a:r>
            <a:r>
              <a:rPr lang="en-US" sz="2879" spc="-83" strike="noStrike" u="none">
                <a:solidFill>
                  <a:srgbClr val="DDEFFF"/>
                </a:solidFill>
                <a:latin typeface="Lilita One"/>
                <a:ea typeface="Lilita One"/>
                <a:cs typeface="Lilita One"/>
                <a:sym typeface="Lilita One"/>
              </a:rPr>
              <a:t>Agent</a:t>
            </a:r>
          </a:p>
        </p:txBody>
      </p:sp>
      <p:sp>
        <p:nvSpPr>
          <p:cNvPr name="AutoShape 10" id="10"/>
          <p:cNvSpPr/>
          <p:nvPr/>
        </p:nvSpPr>
        <p:spPr>
          <a:xfrm flipV="true">
            <a:off x="1028701" y="457718"/>
            <a:ext cx="16230592" cy="24204"/>
          </a:xfrm>
          <a:prstGeom prst="line">
            <a:avLst/>
          </a:prstGeom>
          <a:ln cap="flat" w="9525">
            <a:solidFill>
              <a:srgbClr val="FFFFFF"/>
            </a:solidFill>
            <a:prstDash val="solid"/>
            <a:headEnd type="none" len="sm" w="sm"/>
            <a:tailEnd type="none" len="sm" w="sm"/>
          </a:ln>
        </p:spPr>
      </p:sp>
      <p:grpSp>
        <p:nvGrpSpPr>
          <p:cNvPr name="Group 11" id="11"/>
          <p:cNvGrpSpPr/>
          <p:nvPr/>
        </p:nvGrpSpPr>
        <p:grpSpPr>
          <a:xfrm rot="0">
            <a:off x="1028700" y="1939838"/>
            <a:ext cx="6907664" cy="620200"/>
            <a:chOff x="0" y="0"/>
            <a:chExt cx="1756065" cy="157667"/>
          </a:xfrm>
        </p:grpSpPr>
        <p:sp>
          <p:nvSpPr>
            <p:cNvPr name="Freeform 12" id="12"/>
            <p:cNvSpPr/>
            <p:nvPr/>
          </p:nvSpPr>
          <p:spPr>
            <a:xfrm flipH="false" flipV="false" rot="0">
              <a:off x="0" y="0"/>
              <a:ext cx="1756065" cy="157667"/>
            </a:xfrm>
            <a:custGeom>
              <a:avLst/>
              <a:gdLst/>
              <a:ahLst/>
              <a:cxnLst/>
              <a:rect r="r" b="b" t="t" l="l"/>
              <a:pathLst>
                <a:path h="157667" w="1756065">
                  <a:moveTo>
                    <a:pt x="0" y="0"/>
                  </a:moveTo>
                  <a:lnTo>
                    <a:pt x="1756065" y="0"/>
                  </a:lnTo>
                  <a:lnTo>
                    <a:pt x="1756065" y="157667"/>
                  </a:lnTo>
                  <a:lnTo>
                    <a:pt x="0" y="157667"/>
                  </a:lnTo>
                  <a:close/>
                </a:path>
              </a:pathLst>
            </a:custGeom>
            <a:solidFill>
              <a:srgbClr val="0493FB"/>
            </a:solidFill>
          </p:spPr>
        </p:sp>
        <p:sp>
          <p:nvSpPr>
            <p:cNvPr name="TextBox 13" id="13"/>
            <p:cNvSpPr txBox="true"/>
            <p:nvPr/>
          </p:nvSpPr>
          <p:spPr>
            <a:xfrm>
              <a:off x="0" y="-38100"/>
              <a:ext cx="1756065" cy="19576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028700" y="3442210"/>
            <a:ext cx="4806606" cy="701165"/>
            <a:chOff x="0" y="0"/>
            <a:chExt cx="1221934" cy="178250"/>
          </a:xfrm>
        </p:grpSpPr>
        <p:sp>
          <p:nvSpPr>
            <p:cNvPr name="Freeform 15" id="15"/>
            <p:cNvSpPr/>
            <p:nvPr/>
          </p:nvSpPr>
          <p:spPr>
            <a:xfrm flipH="false" flipV="false" rot="0">
              <a:off x="0" y="0"/>
              <a:ext cx="1221934" cy="178250"/>
            </a:xfrm>
            <a:custGeom>
              <a:avLst/>
              <a:gdLst/>
              <a:ahLst/>
              <a:cxnLst/>
              <a:rect r="r" b="b" t="t" l="l"/>
              <a:pathLst>
                <a:path h="178250" w="1221934">
                  <a:moveTo>
                    <a:pt x="0" y="0"/>
                  </a:moveTo>
                  <a:lnTo>
                    <a:pt x="1221934" y="0"/>
                  </a:lnTo>
                  <a:lnTo>
                    <a:pt x="1221934" y="178250"/>
                  </a:lnTo>
                  <a:lnTo>
                    <a:pt x="0" y="178250"/>
                  </a:lnTo>
                  <a:close/>
                </a:path>
              </a:pathLst>
            </a:custGeom>
            <a:solidFill>
              <a:srgbClr val="0493FB"/>
            </a:solidFill>
          </p:spPr>
        </p:sp>
        <p:sp>
          <p:nvSpPr>
            <p:cNvPr name="TextBox 16" id="16"/>
            <p:cNvSpPr txBox="true"/>
            <p:nvPr/>
          </p:nvSpPr>
          <p:spPr>
            <a:xfrm>
              <a:off x="0" y="-38100"/>
              <a:ext cx="1221934" cy="216350"/>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121704" y="1093218"/>
            <a:ext cx="9848850" cy="4574159"/>
          </a:xfrm>
          <a:prstGeom prst="rect">
            <a:avLst/>
          </a:prstGeom>
        </p:spPr>
        <p:txBody>
          <a:bodyPr anchor="t" rtlCol="false" tIns="0" lIns="0" bIns="0" rIns="0">
            <a:spAutoFit/>
          </a:bodyPr>
          <a:lstStyle/>
          <a:p>
            <a:pPr algn="l" marL="0" indent="0" lvl="0">
              <a:lnSpc>
                <a:spcPts val="12102"/>
              </a:lnSpc>
              <a:spcBef>
                <a:spcPct val="0"/>
              </a:spcBef>
            </a:pPr>
            <a:r>
              <a:rPr lang="en-US" sz="9099" strike="noStrike" u="none">
                <a:solidFill>
                  <a:srgbClr val="DDEFFF"/>
                </a:solidFill>
                <a:latin typeface="Lilita One"/>
                <a:ea typeface="Lilita One"/>
                <a:cs typeface="Lilita One"/>
                <a:sym typeface="Lilita One"/>
              </a:rPr>
              <a:t>JOIN US AS A</a:t>
            </a:r>
          </a:p>
          <a:p>
            <a:pPr algn="l" marL="0" indent="0" lvl="0">
              <a:lnSpc>
                <a:spcPts val="12102"/>
              </a:lnSpc>
              <a:spcBef>
                <a:spcPct val="0"/>
              </a:spcBef>
            </a:pPr>
            <a:r>
              <a:rPr lang="en-US" sz="9099" strike="noStrike" u="none">
                <a:solidFill>
                  <a:srgbClr val="DDEFFF"/>
                </a:solidFill>
                <a:latin typeface="Lilita One"/>
                <a:ea typeface="Lilita One"/>
                <a:cs typeface="Lilita One"/>
                <a:sym typeface="Lilita One"/>
              </a:rPr>
              <a:t>GENERAL </a:t>
            </a:r>
          </a:p>
          <a:p>
            <a:pPr algn="l" marL="0" indent="0" lvl="0">
              <a:lnSpc>
                <a:spcPts val="12102"/>
              </a:lnSpc>
              <a:spcBef>
                <a:spcPct val="0"/>
              </a:spcBef>
            </a:pPr>
            <a:r>
              <a:rPr lang="en-US" sz="9099" strike="noStrike" u="none">
                <a:solidFill>
                  <a:srgbClr val="DDEFFF"/>
                </a:solidFill>
                <a:latin typeface="Lilita One"/>
                <a:ea typeface="Lilita One"/>
                <a:cs typeface="Lilita One"/>
                <a:sym typeface="Lilita One"/>
              </a:rPr>
              <a:t>MEMBER</a:t>
            </a:r>
          </a:p>
        </p:txBody>
      </p:sp>
      <p:pic>
        <p:nvPicPr>
          <p:cNvPr name="Picture 18" id="18"/>
          <p:cNvPicPr>
            <a:picLocks noChangeAspect="true"/>
          </p:cNvPicPr>
          <p:nvPr/>
        </p:nvPicPr>
        <p:blipFill>
          <a:blip r:embed="rId5"/>
          <a:stretch>
            <a:fillRect/>
          </a:stretch>
        </p:blipFill>
        <p:spPr>
          <a:xfrm rot="0">
            <a:off x="10482788" y="1442090"/>
            <a:ext cx="7663469" cy="7663469"/>
          </a:xfrm>
          <a:prstGeom prst="rect">
            <a:avLst/>
          </a:prstGeom>
        </p:spPr>
      </p:pic>
      <p:grpSp>
        <p:nvGrpSpPr>
          <p:cNvPr name="Group 19" id="19"/>
          <p:cNvGrpSpPr/>
          <p:nvPr/>
        </p:nvGrpSpPr>
        <p:grpSpPr>
          <a:xfrm rot="0">
            <a:off x="1121704" y="6245853"/>
            <a:ext cx="5421971" cy="1518546"/>
            <a:chOff x="0" y="0"/>
            <a:chExt cx="7229295" cy="2024728"/>
          </a:xfrm>
        </p:grpSpPr>
        <p:sp>
          <p:nvSpPr>
            <p:cNvPr name="TextBox 20" id="20"/>
            <p:cNvSpPr txBox="true"/>
            <p:nvPr/>
          </p:nvSpPr>
          <p:spPr>
            <a:xfrm rot="0">
              <a:off x="1361895" y="254221"/>
              <a:ext cx="5867400" cy="576707"/>
            </a:xfrm>
            <a:prstGeom prst="rect">
              <a:avLst/>
            </a:prstGeom>
          </p:spPr>
          <p:txBody>
            <a:bodyPr anchor="t" rtlCol="false" tIns="0" lIns="0" bIns="0" rIns="0">
              <a:spAutoFit/>
            </a:bodyPr>
            <a:lstStyle/>
            <a:p>
              <a:pPr algn="l" marL="0" indent="0" lvl="0">
                <a:lnSpc>
                  <a:spcPts val="3393"/>
                </a:lnSpc>
                <a:spcBef>
                  <a:spcPct val="0"/>
                </a:spcBef>
              </a:pPr>
              <a:r>
                <a:rPr lang="en-US" sz="2900" strike="noStrike" u="none">
                  <a:solidFill>
                    <a:srgbClr val="FFFFFF"/>
                  </a:solidFill>
                  <a:latin typeface="Helvetica World"/>
                  <a:ea typeface="Helvetica World"/>
                  <a:cs typeface="Helvetica World"/>
                  <a:sym typeface="Helvetica World"/>
                </a:rPr>
                <a:t>dmls@dal.ca</a:t>
              </a:r>
            </a:p>
          </p:txBody>
        </p:sp>
        <p:sp>
          <p:nvSpPr>
            <p:cNvPr name="Freeform 21" id="21"/>
            <p:cNvSpPr/>
            <p:nvPr/>
          </p:nvSpPr>
          <p:spPr>
            <a:xfrm flipH="false" flipV="false" rot="0">
              <a:off x="0" y="0"/>
              <a:ext cx="1085006" cy="1085006"/>
            </a:xfrm>
            <a:custGeom>
              <a:avLst/>
              <a:gdLst/>
              <a:ahLst/>
              <a:cxnLst/>
              <a:rect r="r" b="b" t="t" l="l"/>
              <a:pathLst>
                <a:path h="1085006" w="1085006">
                  <a:moveTo>
                    <a:pt x="0" y="0"/>
                  </a:moveTo>
                  <a:lnTo>
                    <a:pt x="1085006" y="0"/>
                  </a:lnTo>
                  <a:lnTo>
                    <a:pt x="1085006" y="1085006"/>
                  </a:lnTo>
                  <a:lnTo>
                    <a:pt x="0" y="1085006"/>
                  </a:lnTo>
                  <a:lnTo>
                    <a:pt x="0" y="0"/>
                  </a:lnTo>
                  <a:close/>
                </a:path>
              </a:pathLst>
            </a:custGeom>
            <a:blipFill>
              <a:blip r:embed="rId6"/>
              <a:stretch>
                <a:fillRect l="0" t="0" r="0" b="0"/>
              </a:stretch>
            </a:blipFill>
          </p:spPr>
        </p:sp>
        <p:sp>
          <p:nvSpPr>
            <p:cNvPr name="Freeform 22" id="22"/>
            <p:cNvSpPr/>
            <p:nvPr/>
          </p:nvSpPr>
          <p:spPr>
            <a:xfrm flipH="false" flipV="false" rot="0">
              <a:off x="150117" y="1237406"/>
              <a:ext cx="784772" cy="784772"/>
            </a:xfrm>
            <a:custGeom>
              <a:avLst/>
              <a:gdLst/>
              <a:ahLst/>
              <a:cxnLst/>
              <a:rect r="r" b="b" t="t" l="l"/>
              <a:pathLst>
                <a:path h="784772" w="784772">
                  <a:moveTo>
                    <a:pt x="0" y="0"/>
                  </a:moveTo>
                  <a:lnTo>
                    <a:pt x="784772" y="0"/>
                  </a:lnTo>
                  <a:lnTo>
                    <a:pt x="784772" y="784772"/>
                  </a:lnTo>
                  <a:lnTo>
                    <a:pt x="0" y="784772"/>
                  </a:lnTo>
                  <a:lnTo>
                    <a:pt x="0" y="0"/>
                  </a:lnTo>
                  <a:close/>
                </a:path>
              </a:pathLst>
            </a:custGeom>
            <a:blipFill>
              <a:blip r:embed="rId7"/>
              <a:stretch>
                <a:fillRect l="0" t="0" r="0" b="0"/>
              </a:stretch>
            </a:blipFill>
          </p:spPr>
        </p:sp>
        <p:sp>
          <p:nvSpPr>
            <p:cNvPr name="TextBox 23" id="23"/>
            <p:cNvSpPr txBox="true"/>
            <p:nvPr/>
          </p:nvSpPr>
          <p:spPr>
            <a:xfrm rot="0">
              <a:off x="1361895" y="1448021"/>
              <a:ext cx="3860800" cy="576707"/>
            </a:xfrm>
            <a:prstGeom prst="rect">
              <a:avLst/>
            </a:prstGeom>
          </p:spPr>
          <p:txBody>
            <a:bodyPr anchor="t" rtlCol="false" tIns="0" lIns="0" bIns="0" rIns="0">
              <a:spAutoFit/>
            </a:bodyPr>
            <a:lstStyle/>
            <a:p>
              <a:pPr algn="l" marL="0" indent="0" lvl="0">
                <a:lnSpc>
                  <a:spcPts val="3393"/>
                </a:lnSpc>
                <a:spcBef>
                  <a:spcPct val="0"/>
                </a:spcBef>
              </a:pPr>
              <a:r>
                <a:rPr lang="en-US" sz="2900" strike="noStrike" u="none">
                  <a:solidFill>
                    <a:srgbClr val="FFFFFF"/>
                  </a:solidFill>
                  <a:latin typeface="Helvetica World"/>
                  <a:ea typeface="Helvetica World"/>
                  <a:cs typeface="Helvetica World"/>
                  <a:sym typeface="Helvetica World"/>
                </a:rPr>
                <a:t>dalmlsociety</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645330" y="2142670"/>
            <a:ext cx="1323474" cy="863627"/>
          </a:xfrm>
          <a:custGeom>
            <a:avLst/>
            <a:gdLst/>
            <a:ahLst/>
            <a:cxnLst/>
            <a:rect r="r" b="b" t="t" l="l"/>
            <a:pathLst>
              <a:path h="863627" w="1323474">
                <a:moveTo>
                  <a:pt x="0" y="0"/>
                </a:moveTo>
                <a:lnTo>
                  <a:pt x="1323474" y="0"/>
                </a:lnTo>
                <a:lnTo>
                  <a:pt x="1323474" y="863626"/>
                </a:lnTo>
                <a:lnTo>
                  <a:pt x="0" y="863626"/>
                </a:lnTo>
                <a:lnTo>
                  <a:pt x="0" y="0"/>
                </a:lnTo>
                <a:close/>
              </a:path>
            </a:pathLst>
          </a:custGeom>
          <a:blipFill>
            <a:blip r:embed="rId2"/>
            <a:stretch>
              <a:fillRect l="0" t="0" r="0" b="0"/>
            </a:stretch>
          </a:blipFill>
        </p:spPr>
      </p:sp>
      <p:sp>
        <p:nvSpPr>
          <p:cNvPr name="Freeform 3" id="3"/>
          <p:cNvSpPr/>
          <p:nvPr/>
        </p:nvSpPr>
        <p:spPr>
          <a:xfrm flipH="false" flipV="false" rot="0">
            <a:off x="1739110" y="2142670"/>
            <a:ext cx="2187560" cy="863627"/>
          </a:xfrm>
          <a:custGeom>
            <a:avLst/>
            <a:gdLst/>
            <a:ahLst/>
            <a:cxnLst/>
            <a:rect r="r" b="b" t="t" l="l"/>
            <a:pathLst>
              <a:path h="863627" w="2187560">
                <a:moveTo>
                  <a:pt x="0" y="0"/>
                </a:moveTo>
                <a:lnTo>
                  <a:pt x="2187560" y="0"/>
                </a:lnTo>
                <a:lnTo>
                  <a:pt x="2187560" y="863626"/>
                </a:lnTo>
                <a:lnTo>
                  <a:pt x="0" y="863626"/>
                </a:lnTo>
                <a:lnTo>
                  <a:pt x="0" y="0"/>
                </a:lnTo>
                <a:close/>
              </a:path>
            </a:pathLst>
          </a:custGeom>
          <a:blipFill>
            <a:blip r:embed="rId3"/>
            <a:stretch>
              <a:fillRect l="0" t="0" r="0" b="0"/>
            </a:stretch>
          </a:blipFill>
        </p:spPr>
      </p:sp>
      <p:sp>
        <p:nvSpPr>
          <p:cNvPr name="Freeform 4" id="4"/>
          <p:cNvSpPr/>
          <p:nvPr/>
        </p:nvSpPr>
        <p:spPr>
          <a:xfrm flipH="false" flipV="false" rot="0">
            <a:off x="3696976" y="2142670"/>
            <a:ext cx="2187560" cy="863627"/>
          </a:xfrm>
          <a:custGeom>
            <a:avLst/>
            <a:gdLst/>
            <a:ahLst/>
            <a:cxnLst/>
            <a:rect r="r" b="b" t="t" l="l"/>
            <a:pathLst>
              <a:path h="863627" w="2187560">
                <a:moveTo>
                  <a:pt x="0" y="0"/>
                </a:moveTo>
                <a:lnTo>
                  <a:pt x="2187560" y="0"/>
                </a:lnTo>
                <a:lnTo>
                  <a:pt x="2187560" y="863626"/>
                </a:lnTo>
                <a:lnTo>
                  <a:pt x="0" y="863626"/>
                </a:lnTo>
                <a:lnTo>
                  <a:pt x="0" y="0"/>
                </a:lnTo>
                <a:close/>
              </a:path>
            </a:pathLst>
          </a:custGeom>
          <a:blipFill>
            <a:blip r:embed="rId4"/>
            <a:stretch>
              <a:fillRect l="0" t="0" r="0" b="0"/>
            </a:stretch>
          </a:blipFill>
        </p:spPr>
      </p:sp>
      <p:sp>
        <p:nvSpPr>
          <p:cNvPr name="Freeform 5" id="5"/>
          <p:cNvSpPr/>
          <p:nvPr/>
        </p:nvSpPr>
        <p:spPr>
          <a:xfrm flipH="false" flipV="false" rot="0">
            <a:off x="5654842" y="2142670"/>
            <a:ext cx="2406316" cy="863627"/>
          </a:xfrm>
          <a:custGeom>
            <a:avLst/>
            <a:gdLst/>
            <a:ahLst/>
            <a:cxnLst/>
            <a:rect r="r" b="b" t="t" l="l"/>
            <a:pathLst>
              <a:path h="863627" w="2406316">
                <a:moveTo>
                  <a:pt x="0" y="0"/>
                </a:moveTo>
                <a:lnTo>
                  <a:pt x="2406316" y="0"/>
                </a:lnTo>
                <a:lnTo>
                  <a:pt x="2406316" y="863626"/>
                </a:lnTo>
                <a:lnTo>
                  <a:pt x="0" y="863626"/>
                </a:lnTo>
                <a:lnTo>
                  <a:pt x="0" y="0"/>
                </a:lnTo>
                <a:close/>
              </a:path>
            </a:pathLst>
          </a:custGeom>
          <a:blipFill>
            <a:blip r:embed="rId5"/>
            <a:stretch>
              <a:fillRect l="0" t="0" r="0" b="0"/>
            </a:stretch>
          </a:blipFill>
        </p:spPr>
      </p:sp>
      <p:sp>
        <p:nvSpPr>
          <p:cNvPr name="Freeform 6" id="6"/>
          <p:cNvSpPr/>
          <p:nvPr/>
        </p:nvSpPr>
        <p:spPr>
          <a:xfrm flipH="false" flipV="false" rot="0">
            <a:off x="7831464" y="2142670"/>
            <a:ext cx="1968804" cy="863627"/>
          </a:xfrm>
          <a:custGeom>
            <a:avLst/>
            <a:gdLst/>
            <a:ahLst/>
            <a:cxnLst/>
            <a:rect r="r" b="b" t="t" l="l"/>
            <a:pathLst>
              <a:path h="863627" w="1968804">
                <a:moveTo>
                  <a:pt x="0" y="0"/>
                </a:moveTo>
                <a:lnTo>
                  <a:pt x="1968804" y="0"/>
                </a:lnTo>
                <a:lnTo>
                  <a:pt x="1968804" y="863626"/>
                </a:lnTo>
                <a:lnTo>
                  <a:pt x="0" y="863626"/>
                </a:lnTo>
                <a:lnTo>
                  <a:pt x="0" y="0"/>
                </a:lnTo>
                <a:close/>
              </a:path>
            </a:pathLst>
          </a:custGeom>
          <a:blipFill>
            <a:blip r:embed="rId6"/>
            <a:stretch>
              <a:fillRect l="0" t="0" r="0" b="0"/>
            </a:stretch>
          </a:blipFill>
        </p:spPr>
      </p:sp>
      <p:sp>
        <p:nvSpPr>
          <p:cNvPr name="Freeform 7" id="7"/>
          <p:cNvSpPr/>
          <p:nvPr/>
        </p:nvSpPr>
        <p:spPr>
          <a:xfrm flipH="false" flipV="false" rot="0">
            <a:off x="9570574" y="2142670"/>
            <a:ext cx="1968804" cy="863627"/>
          </a:xfrm>
          <a:custGeom>
            <a:avLst/>
            <a:gdLst/>
            <a:ahLst/>
            <a:cxnLst/>
            <a:rect r="r" b="b" t="t" l="l"/>
            <a:pathLst>
              <a:path h="863627" w="1968804">
                <a:moveTo>
                  <a:pt x="0" y="0"/>
                </a:moveTo>
                <a:lnTo>
                  <a:pt x="1968804" y="0"/>
                </a:lnTo>
                <a:lnTo>
                  <a:pt x="1968804" y="863626"/>
                </a:lnTo>
                <a:lnTo>
                  <a:pt x="0" y="863626"/>
                </a:lnTo>
                <a:lnTo>
                  <a:pt x="0" y="0"/>
                </a:lnTo>
                <a:close/>
              </a:path>
            </a:pathLst>
          </a:custGeom>
          <a:blipFill>
            <a:blip r:embed="rId7"/>
            <a:stretch>
              <a:fillRect l="0" t="0" r="0" b="0"/>
            </a:stretch>
          </a:blipFill>
        </p:spPr>
      </p:sp>
      <p:sp>
        <p:nvSpPr>
          <p:cNvPr name="Freeform 8" id="8"/>
          <p:cNvSpPr/>
          <p:nvPr/>
        </p:nvSpPr>
        <p:spPr>
          <a:xfrm flipH="false" flipV="false" rot="0">
            <a:off x="11528440" y="2142670"/>
            <a:ext cx="4801694" cy="863627"/>
          </a:xfrm>
          <a:custGeom>
            <a:avLst/>
            <a:gdLst/>
            <a:ahLst/>
            <a:cxnLst/>
            <a:rect r="r" b="b" t="t" l="l"/>
            <a:pathLst>
              <a:path h="863627" w="4801694">
                <a:moveTo>
                  <a:pt x="0" y="0"/>
                </a:moveTo>
                <a:lnTo>
                  <a:pt x="4801694" y="0"/>
                </a:lnTo>
                <a:lnTo>
                  <a:pt x="4801694" y="863626"/>
                </a:lnTo>
                <a:lnTo>
                  <a:pt x="0" y="863626"/>
                </a:lnTo>
                <a:lnTo>
                  <a:pt x="0" y="0"/>
                </a:lnTo>
                <a:close/>
              </a:path>
            </a:pathLst>
          </a:custGeom>
          <a:blipFill>
            <a:blip r:embed="rId8"/>
            <a:stretch>
              <a:fillRect l="0" t="0" r="0" b="0"/>
            </a:stretch>
          </a:blipFill>
        </p:spPr>
      </p:sp>
      <p:sp>
        <p:nvSpPr>
          <p:cNvPr name="Freeform 9" id="9"/>
          <p:cNvSpPr/>
          <p:nvPr/>
        </p:nvSpPr>
        <p:spPr>
          <a:xfrm flipH="false" flipV="false" rot="0">
            <a:off x="16319196" y="2142670"/>
            <a:ext cx="1323474" cy="863627"/>
          </a:xfrm>
          <a:custGeom>
            <a:avLst/>
            <a:gdLst/>
            <a:ahLst/>
            <a:cxnLst/>
            <a:rect r="r" b="b" t="t" l="l"/>
            <a:pathLst>
              <a:path h="863627" w="1323474">
                <a:moveTo>
                  <a:pt x="0" y="0"/>
                </a:moveTo>
                <a:lnTo>
                  <a:pt x="1323474" y="0"/>
                </a:lnTo>
                <a:lnTo>
                  <a:pt x="1323474" y="863626"/>
                </a:lnTo>
                <a:lnTo>
                  <a:pt x="0" y="863626"/>
                </a:lnTo>
                <a:lnTo>
                  <a:pt x="0" y="0"/>
                </a:lnTo>
                <a:close/>
              </a:path>
            </a:pathLst>
          </a:custGeom>
          <a:blipFill>
            <a:blip r:embed="rId9"/>
            <a:stretch>
              <a:fillRect l="0" t="0" r="0" b="0"/>
            </a:stretch>
          </a:blipFill>
        </p:spPr>
      </p:sp>
      <p:sp>
        <p:nvSpPr>
          <p:cNvPr name="Freeform 10" id="10"/>
          <p:cNvSpPr/>
          <p:nvPr/>
        </p:nvSpPr>
        <p:spPr>
          <a:xfrm flipH="false" flipV="false" rot="0">
            <a:off x="645330" y="3214004"/>
            <a:ext cx="5676718" cy="1934962"/>
          </a:xfrm>
          <a:custGeom>
            <a:avLst/>
            <a:gdLst/>
            <a:ahLst/>
            <a:cxnLst/>
            <a:rect r="r" b="b" t="t" l="l"/>
            <a:pathLst>
              <a:path h="1934962" w="5676718">
                <a:moveTo>
                  <a:pt x="0" y="0"/>
                </a:moveTo>
                <a:lnTo>
                  <a:pt x="5676718" y="0"/>
                </a:lnTo>
                <a:lnTo>
                  <a:pt x="5676718" y="1934962"/>
                </a:lnTo>
                <a:lnTo>
                  <a:pt x="0" y="1934962"/>
                </a:lnTo>
                <a:lnTo>
                  <a:pt x="0" y="0"/>
                </a:lnTo>
                <a:close/>
              </a:path>
            </a:pathLst>
          </a:custGeom>
          <a:blipFill>
            <a:blip r:embed="rId10"/>
            <a:stretch>
              <a:fillRect l="0" t="0" r="0" b="0"/>
            </a:stretch>
          </a:blipFill>
        </p:spPr>
      </p:sp>
      <p:sp>
        <p:nvSpPr>
          <p:cNvPr name="Freeform 11" id="11"/>
          <p:cNvSpPr/>
          <p:nvPr/>
        </p:nvSpPr>
        <p:spPr>
          <a:xfrm flipH="false" flipV="false" rot="0">
            <a:off x="864086" y="3640352"/>
            <a:ext cx="667206" cy="655919"/>
          </a:xfrm>
          <a:custGeom>
            <a:avLst/>
            <a:gdLst/>
            <a:ahLst/>
            <a:cxnLst/>
            <a:rect r="r" b="b" t="t" l="l"/>
            <a:pathLst>
              <a:path h="655919" w="667206">
                <a:moveTo>
                  <a:pt x="0" y="0"/>
                </a:moveTo>
                <a:lnTo>
                  <a:pt x="667206" y="0"/>
                </a:lnTo>
                <a:lnTo>
                  <a:pt x="667206" y="655919"/>
                </a:lnTo>
                <a:lnTo>
                  <a:pt x="0" y="655919"/>
                </a:lnTo>
                <a:lnTo>
                  <a:pt x="0" y="0"/>
                </a:lnTo>
                <a:close/>
              </a:path>
            </a:pathLst>
          </a:custGeom>
          <a:blipFill>
            <a:blip r:embed="rId11"/>
            <a:stretch>
              <a:fillRect l="0" t="0" r="0" b="0"/>
            </a:stretch>
          </a:blipFill>
        </p:spPr>
      </p:sp>
      <p:sp>
        <p:nvSpPr>
          <p:cNvPr name="TextBox 12" id="12"/>
          <p:cNvSpPr txBox="true"/>
          <p:nvPr/>
        </p:nvSpPr>
        <p:spPr>
          <a:xfrm rot="0">
            <a:off x="1778978" y="3647456"/>
            <a:ext cx="1588909" cy="339089"/>
          </a:xfrm>
          <a:prstGeom prst="rect">
            <a:avLst/>
          </a:prstGeom>
        </p:spPr>
        <p:txBody>
          <a:bodyPr anchor="t" rtlCol="false" tIns="0" lIns="0" bIns="0" rIns="0">
            <a:spAutoFit/>
          </a:bodyPr>
          <a:lstStyle/>
          <a:p>
            <a:pPr algn="l">
              <a:lnSpc>
                <a:spcPts val="2774"/>
              </a:lnSpc>
            </a:pPr>
            <a:r>
              <a:rPr lang="en-US" sz="2311" b="true">
                <a:solidFill>
                  <a:srgbClr val="4F749B"/>
                </a:solidFill>
                <a:latin typeface="Inter Semi-Bold"/>
                <a:ea typeface="Inter Semi-Bold"/>
                <a:cs typeface="Inter Semi-Bold"/>
                <a:sym typeface="Inter Semi-Bold"/>
              </a:rPr>
              <a:t>0:00 – 0:15</a:t>
            </a:r>
          </a:p>
        </p:txBody>
      </p:sp>
      <p:sp>
        <p:nvSpPr>
          <p:cNvPr name="TextBox 13" id="13"/>
          <p:cNvSpPr txBox="true"/>
          <p:nvPr/>
        </p:nvSpPr>
        <p:spPr>
          <a:xfrm rot="0">
            <a:off x="1767220" y="4149999"/>
            <a:ext cx="2764763" cy="420002"/>
          </a:xfrm>
          <a:prstGeom prst="rect">
            <a:avLst/>
          </a:prstGeom>
        </p:spPr>
        <p:txBody>
          <a:bodyPr anchor="t" rtlCol="false" tIns="0" lIns="0" bIns="0" rIns="0">
            <a:spAutoFit/>
          </a:bodyPr>
          <a:lstStyle/>
          <a:p>
            <a:pPr algn="l">
              <a:lnSpc>
                <a:spcPts val="3312"/>
              </a:lnSpc>
            </a:pPr>
            <a:r>
              <a:rPr lang="en-US" sz="2759" b="true">
                <a:solidFill>
                  <a:srgbClr val="0D1B34"/>
                </a:solidFill>
                <a:latin typeface="Inter Semi-Bold"/>
                <a:ea typeface="Inter Semi-Bold"/>
                <a:cs typeface="Inter Semi-Bold"/>
                <a:sym typeface="Inter Semi-Bold"/>
              </a:rPr>
              <a:t>Theory &amp; Scope</a:t>
            </a:r>
          </a:p>
        </p:txBody>
      </p:sp>
      <p:sp>
        <p:nvSpPr>
          <p:cNvPr name="Freeform 14" id="14"/>
          <p:cNvSpPr/>
          <p:nvPr/>
        </p:nvSpPr>
        <p:spPr>
          <a:xfrm flipH="false" flipV="false" rot="0">
            <a:off x="6311110" y="3214004"/>
            <a:ext cx="5665780" cy="1934962"/>
          </a:xfrm>
          <a:custGeom>
            <a:avLst/>
            <a:gdLst/>
            <a:ahLst/>
            <a:cxnLst/>
            <a:rect r="r" b="b" t="t" l="l"/>
            <a:pathLst>
              <a:path h="1934962" w="5665780">
                <a:moveTo>
                  <a:pt x="0" y="0"/>
                </a:moveTo>
                <a:lnTo>
                  <a:pt x="5665780" y="0"/>
                </a:lnTo>
                <a:lnTo>
                  <a:pt x="5665780" y="1934962"/>
                </a:lnTo>
                <a:lnTo>
                  <a:pt x="0" y="1934962"/>
                </a:lnTo>
                <a:lnTo>
                  <a:pt x="0" y="0"/>
                </a:lnTo>
                <a:close/>
              </a:path>
            </a:pathLst>
          </a:custGeom>
          <a:blipFill>
            <a:blip r:embed="rId12"/>
            <a:stretch>
              <a:fillRect l="0" t="0" r="0" b="0"/>
            </a:stretch>
          </a:blipFill>
        </p:spPr>
      </p:sp>
      <p:sp>
        <p:nvSpPr>
          <p:cNvPr name="Freeform 15" id="15"/>
          <p:cNvSpPr/>
          <p:nvPr/>
        </p:nvSpPr>
        <p:spPr>
          <a:xfrm flipH="false" flipV="false" rot="0">
            <a:off x="6529866" y="3640352"/>
            <a:ext cx="656268" cy="655919"/>
          </a:xfrm>
          <a:custGeom>
            <a:avLst/>
            <a:gdLst/>
            <a:ahLst/>
            <a:cxnLst/>
            <a:rect r="r" b="b" t="t" l="l"/>
            <a:pathLst>
              <a:path h="655919" w="656268">
                <a:moveTo>
                  <a:pt x="0" y="0"/>
                </a:moveTo>
                <a:lnTo>
                  <a:pt x="656268" y="0"/>
                </a:lnTo>
                <a:lnTo>
                  <a:pt x="656268" y="655919"/>
                </a:lnTo>
                <a:lnTo>
                  <a:pt x="0" y="655919"/>
                </a:lnTo>
                <a:lnTo>
                  <a:pt x="0" y="0"/>
                </a:lnTo>
                <a:close/>
              </a:path>
            </a:pathLst>
          </a:custGeom>
          <a:blipFill>
            <a:blip r:embed="rId13"/>
            <a:stretch>
              <a:fillRect l="0" t="0" r="0" b="0"/>
            </a:stretch>
          </a:blipFill>
        </p:spPr>
      </p:sp>
      <p:sp>
        <p:nvSpPr>
          <p:cNvPr name="TextBox 16" id="16"/>
          <p:cNvSpPr txBox="true"/>
          <p:nvPr/>
        </p:nvSpPr>
        <p:spPr>
          <a:xfrm rot="0">
            <a:off x="7431734" y="3647456"/>
            <a:ext cx="1562521" cy="339089"/>
          </a:xfrm>
          <a:prstGeom prst="rect">
            <a:avLst/>
          </a:prstGeom>
        </p:spPr>
        <p:txBody>
          <a:bodyPr anchor="t" rtlCol="false" tIns="0" lIns="0" bIns="0" rIns="0">
            <a:spAutoFit/>
          </a:bodyPr>
          <a:lstStyle/>
          <a:p>
            <a:pPr algn="l">
              <a:lnSpc>
                <a:spcPts val="2774"/>
              </a:lnSpc>
            </a:pPr>
            <a:r>
              <a:rPr lang="en-US" sz="2311" b="true">
                <a:solidFill>
                  <a:srgbClr val="4F749B"/>
                </a:solidFill>
                <a:latin typeface="Inter Semi-Bold"/>
                <a:ea typeface="Inter Semi-Bold"/>
                <a:cs typeface="Inter Semi-Bold"/>
                <a:sym typeface="Inter Semi-Bold"/>
              </a:rPr>
              <a:t>0:15 – 0:25</a:t>
            </a:r>
          </a:p>
        </p:txBody>
      </p:sp>
      <p:sp>
        <p:nvSpPr>
          <p:cNvPr name="TextBox 17" id="17"/>
          <p:cNvSpPr txBox="true"/>
          <p:nvPr/>
        </p:nvSpPr>
        <p:spPr>
          <a:xfrm rot="0">
            <a:off x="7415928" y="4149999"/>
            <a:ext cx="3143110" cy="420002"/>
          </a:xfrm>
          <a:prstGeom prst="rect">
            <a:avLst/>
          </a:prstGeom>
        </p:spPr>
        <p:txBody>
          <a:bodyPr anchor="t" rtlCol="false" tIns="0" lIns="0" bIns="0" rIns="0">
            <a:spAutoFit/>
          </a:bodyPr>
          <a:lstStyle/>
          <a:p>
            <a:pPr algn="l">
              <a:lnSpc>
                <a:spcPts val="3312"/>
              </a:lnSpc>
            </a:pPr>
            <a:r>
              <a:rPr lang="en-US" sz="2759" b="true">
                <a:solidFill>
                  <a:srgbClr val="0D1B34"/>
                </a:solidFill>
                <a:latin typeface="Inter Semi-Bold"/>
                <a:ea typeface="Inter Semi-Bold"/>
                <a:cs typeface="Inter Semi-Bold"/>
                <a:sym typeface="Inter Semi-Bold"/>
              </a:rPr>
              <a:t>Structured Output</a:t>
            </a:r>
          </a:p>
        </p:txBody>
      </p:sp>
      <p:sp>
        <p:nvSpPr>
          <p:cNvPr name="Freeform 18" id="18"/>
          <p:cNvSpPr/>
          <p:nvPr/>
        </p:nvSpPr>
        <p:spPr>
          <a:xfrm flipH="false" flipV="false" rot="0">
            <a:off x="11965952" y="3214004"/>
            <a:ext cx="5676718" cy="1934962"/>
          </a:xfrm>
          <a:custGeom>
            <a:avLst/>
            <a:gdLst/>
            <a:ahLst/>
            <a:cxnLst/>
            <a:rect r="r" b="b" t="t" l="l"/>
            <a:pathLst>
              <a:path h="1934962" w="5676718">
                <a:moveTo>
                  <a:pt x="0" y="0"/>
                </a:moveTo>
                <a:lnTo>
                  <a:pt x="5676718" y="0"/>
                </a:lnTo>
                <a:lnTo>
                  <a:pt x="5676718" y="1934962"/>
                </a:lnTo>
                <a:lnTo>
                  <a:pt x="0" y="1934962"/>
                </a:lnTo>
                <a:lnTo>
                  <a:pt x="0" y="0"/>
                </a:lnTo>
                <a:close/>
              </a:path>
            </a:pathLst>
          </a:custGeom>
          <a:blipFill>
            <a:blip r:embed="rId14"/>
            <a:stretch>
              <a:fillRect l="0" t="0" r="0" b="0"/>
            </a:stretch>
          </a:blipFill>
        </p:spPr>
      </p:sp>
      <p:sp>
        <p:nvSpPr>
          <p:cNvPr name="Freeform 19" id="19"/>
          <p:cNvSpPr/>
          <p:nvPr/>
        </p:nvSpPr>
        <p:spPr>
          <a:xfrm flipH="false" flipV="false" rot="0">
            <a:off x="12184708" y="3640352"/>
            <a:ext cx="667206" cy="655919"/>
          </a:xfrm>
          <a:custGeom>
            <a:avLst/>
            <a:gdLst/>
            <a:ahLst/>
            <a:cxnLst/>
            <a:rect r="r" b="b" t="t" l="l"/>
            <a:pathLst>
              <a:path h="655919" w="667206">
                <a:moveTo>
                  <a:pt x="0" y="0"/>
                </a:moveTo>
                <a:lnTo>
                  <a:pt x="667206" y="0"/>
                </a:lnTo>
                <a:lnTo>
                  <a:pt x="667206" y="655919"/>
                </a:lnTo>
                <a:lnTo>
                  <a:pt x="0" y="655919"/>
                </a:lnTo>
                <a:lnTo>
                  <a:pt x="0" y="0"/>
                </a:lnTo>
                <a:close/>
              </a:path>
            </a:pathLst>
          </a:custGeom>
          <a:blipFill>
            <a:blip r:embed="rId15"/>
            <a:stretch>
              <a:fillRect l="0" t="0" r="0" b="0"/>
            </a:stretch>
          </a:blipFill>
        </p:spPr>
      </p:sp>
      <p:sp>
        <p:nvSpPr>
          <p:cNvPr name="TextBox 20" id="20"/>
          <p:cNvSpPr txBox="true"/>
          <p:nvPr/>
        </p:nvSpPr>
        <p:spPr>
          <a:xfrm rot="0">
            <a:off x="13056543" y="3647456"/>
            <a:ext cx="1651914" cy="339089"/>
          </a:xfrm>
          <a:prstGeom prst="rect">
            <a:avLst/>
          </a:prstGeom>
        </p:spPr>
        <p:txBody>
          <a:bodyPr anchor="t" rtlCol="false" tIns="0" lIns="0" bIns="0" rIns="0">
            <a:spAutoFit/>
          </a:bodyPr>
          <a:lstStyle/>
          <a:p>
            <a:pPr algn="l">
              <a:lnSpc>
                <a:spcPts val="2774"/>
              </a:lnSpc>
            </a:pPr>
            <a:r>
              <a:rPr lang="en-US" sz="2311" b="true">
                <a:solidFill>
                  <a:srgbClr val="4F749B"/>
                </a:solidFill>
                <a:latin typeface="Inter Semi-Bold"/>
                <a:ea typeface="Inter Semi-Bold"/>
                <a:cs typeface="Inter Semi-Bold"/>
                <a:sym typeface="Inter Semi-Bold"/>
              </a:rPr>
              <a:t>0:25 – 0:40</a:t>
            </a:r>
          </a:p>
        </p:txBody>
      </p:sp>
      <p:sp>
        <p:nvSpPr>
          <p:cNvPr name="TextBox 21" id="21"/>
          <p:cNvSpPr txBox="true"/>
          <p:nvPr/>
        </p:nvSpPr>
        <p:spPr>
          <a:xfrm rot="0">
            <a:off x="13040530" y="4149999"/>
            <a:ext cx="3253217" cy="420002"/>
          </a:xfrm>
          <a:prstGeom prst="rect">
            <a:avLst/>
          </a:prstGeom>
        </p:spPr>
        <p:txBody>
          <a:bodyPr anchor="t" rtlCol="false" tIns="0" lIns="0" bIns="0" rIns="0">
            <a:spAutoFit/>
          </a:bodyPr>
          <a:lstStyle/>
          <a:p>
            <a:pPr algn="l">
              <a:lnSpc>
                <a:spcPts val="3312"/>
              </a:lnSpc>
            </a:pPr>
            <a:r>
              <a:rPr lang="en-US" sz="2759" b="true">
                <a:solidFill>
                  <a:srgbClr val="0D1B34"/>
                </a:solidFill>
                <a:latin typeface="Inter Semi-Bold"/>
                <a:ea typeface="Inter Semi-Bold"/>
                <a:cs typeface="Inter Semi-Bold"/>
                <a:sym typeface="Inter Semi-Bold"/>
              </a:rPr>
              <a:t>The State Machine</a:t>
            </a:r>
          </a:p>
        </p:txBody>
      </p:sp>
      <p:sp>
        <p:nvSpPr>
          <p:cNvPr name="Freeform 22" id="22"/>
          <p:cNvSpPr/>
          <p:nvPr/>
        </p:nvSpPr>
        <p:spPr>
          <a:xfrm flipH="false" flipV="false" rot="0">
            <a:off x="645330" y="5138034"/>
            <a:ext cx="5676718" cy="1727254"/>
          </a:xfrm>
          <a:custGeom>
            <a:avLst/>
            <a:gdLst/>
            <a:ahLst/>
            <a:cxnLst/>
            <a:rect r="r" b="b" t="t" l="l"/>
            <a:pathLst>
              <a:path h="1727254" w="5676718">
                <a:moveTo>
                  <a:pt x="0" y="0"/>
                </a:moveTo>
                <a:lnTo>
                  <a:pt x="5676718" y="0"/>
                </a:lnTo>
                <a:lnTo>
                  <a:pt x="5676718" y="1727254"/>
                </a:lnTo>
                <a:lnTo>
                  <a:pt x="0" y="1727254"/>
                </a:lnTo>
                <a:lnTo>
                  <a:pt x="0" y="0"/>
                </a:lnTo>
                <a:close/>
              </a:path>
            </a:pathLst>
          </a:custGeom>
          <a:blipFill>
            <a:blip r:embed="rId16"/>
            <a:stretch>
              <a:fillRect l="0" t="0" r="0" b="0"/>
            </a:stretch>
          </a:blipFill>
        </p:spPr>
      </p:sp>
      <p:sp>
        <p:nvSpPr>
          <p:cNvPr name="Freeform 23" id="23"/>
          <p:cNvSpPr/>
          <p:nvPr/>
        </p:nvSpPr>
        <p:spPr>
          <a:xfrm flipH="false" flipV="false" rot="0">
            <a:off x="864086" y="5356674"/>
            <a:ext cx="667206" cy="644987"/>
          </a:xfrm>
          <a:custGeom>
            <a:avLst/>
            <a:gdLst/>
            <a:ahLst/>
            <a:cxnLst/>
            <a:rect r="r" b="b" t="t" l="l"/>
            <a:pathLst>
              <a:path h="644987" w="667206">
                <a:moveTo>
                  <a:pt x="0" y="0"/>
                </a:moveTo>
                <a:lnTo>
                  <a:pt x="667206" y="0"/>
                </a:lnTo>
                <a:lnTo>
                  <a:pt x="667206" y="644987"/>
                </a:lnTo>
                <a:lnTo>
                  <a:pt x="0" y="644987"/>
                </a:lnTo>
                <a:lnTo>
                  <a:pt x="0" y="0"/>
                </a:lnTo>
                <a:close/>
              </a:path>
            </a:pathLst>
          </a:custGeom>
          <a:blipFill>
            <a:blip r:embed="rId17"/>
            <a:stretch>
              <a:fillRect l="0" t="0" r="0" b="0"/>
            </a:stretch>
          </a:blipFill>
        </p:spPr>
      </p:sp>
      <p:sp>
        <p:nvSpPr>
          <p:cNvPr name="TextBox 24" id="24"/>
          <p:cNvSpPr txBox="true"/>
          <p:nvPr/>
        </p:nvSpPr>
        <p:spPr>
          <a:xfrm rot="0">
            <a:off x="1778226" y="5530061"/>
            <a:ext cx="1664070" cy="339089"/>
          </a:xfrm>
          <a:prstGeom prst="rect">
            <a:avLst/>
          </a:prstGeom>
        </p:spPr>
        <p:txBody>
          <a:bodyPr anchor="t" rtlCol="false" tIns="0" lIns="0" bIns="0" rIns="0">
            <a:spAutoFit/>
          </a:bodyPr>
          <a:lstStyle/>
          <a:p>
            <a:pPr algn="l">
              <a:lnSpc>
                <a:spcPts val="2774"/>
              </a:lnSpc>
            </a:pPr>
            <a:r>
              <a:rPr lang="en-US" sz="2311" b="true">
                <a:solidFill>
                  <a:srgbClr val="4F749B"/>
                </a:solidFill>
                <a:latin typeface="Inter Semi-Bold"/>
                <a:ea typeface="Inter Semi-Bold"/>
                <a:cs typeface="Inter Semi-Bold"/>
                <a:sym typeface="Inter Semi-Bold"/>
              </a:rPr>
              <a:t>0:40 – 0:50</a:t>
            </a:r>
          </a:p>
        </p:txBody>
      </p:sp>
      <p:sp>
        <p:nvSpPr>
          <p:cNvPr name="TextBox 25" id="25"/>
          <p:cNvSpPr txBox="true"/>
          <p:nvPr/>
        </p:nvSpPr>
        <p:spPr>
          <a:xfrm rot="0">
            <a:off x="1767956" y="6002483"/>
            <a:ext cx="2691121" cy="420002"/>
          </a:xfrm>
          <a:prstGeom prst="rect">
            <a:avLst/>
          </a:prstGeom>
        </p:spPr>
        <p:txBody>
          <a:bodyPr anchor="t" rtlCol="false" tIns="0" lIns="0" bIns="0" rIns="0">
            <a:spAutoFit/>
          </a:bodyPr>
          <a:lstStyle/>
          <a:p>
            <a:pPr algn="l">
              <a:lnSpc>
                <a:spcPts val="3312"/>
              </a:lnSpc>
            </a:pPr>
            <a:r>
              <a:rPr lang="en-US" sz="2759" b="true">
                <a:solidFill>
                  <a:srgbClr val="0D1B34"/>
                </a:solidFill>
                <a:latin typeface="Inter Semi-Bold"/>
                <a:ea typeface="Inter Semi-Bold"/>
                <a:cs typeface="Inter Semi-Bold"/>
                <a:sym typeface="Inter Semi-Bold"/>
              </a:rPr>
              <a:t>Errors &amp; Retries</a:t>
            </a:r>
          </a:p>
        </p:txBody>
      </p:sp>
      <p:sp>
        <p:nvSpPr>
          <p:cNvPr name="Freeform 26" id="26"/>
          <p:cNvSpPr/>
          <p:nvPr/>
        </p:nvSpPr>
        <p:spPr>
          <a:xfrm flipH="false" flipV="false" rot="0">
            <a:off x="6311110" y="5138034"/>
            <a:ext cx="5665780" cy="1727254"/>
          </a:xfrm>
          <a:custGeom>
            <a:avLst/>
            <a:gdLst/>
            <a:ahLst/>
            <a:cxnLst/>
            <a:rect r="r" b="b" t="t" l="l"/>
            <a:pathLst>
              <a:path h="1727254" w="5665780">
                <a:moveTo>
                  <a:pt x="0" y="0"/>
                </a:moveTo>
                <a:lnTo>
                  <a:pt x="5665780" y="0"/>
                </a:lnTo>
                <a:lnTo>
                  <a:pt x="5665780" y="1727254"/>
                </a:lnTo>
                <a:lnTo>
                  <a:pt x="0" y="1727254"/>
                </a:lnTo>
                <a:lnTo>
                  <a:pt x="0" y="0"/>
                </a:lnTo>
                <a:close/>
              </a:path>
            </a:pathLst>
          </a:custGeom>
          <a:blipFill>
            <a:blip r:embed="rId18"/>
            <a:stretch>
              <a:fillRect l="0" t="0" r="0" b="0"/>
            </a:stretch>
          </a:blipFill>
        </p:spPr>
      </p:sp>
      <p:sp>
        <p:nvSpPr>
          <p:cNvPr name="Freeform 27" id="27"/>
          <p:cNvSpPr/>
          <p:nvPr/>
        </p:nvSpPr>
        <p:spPr>
          <a:xfrm flipH="false" flipV="false" rot="0">
            <a:off x="6529866" y="5356674"/>
            <a:ext cx="656268" cy="644987"/>
          </a:xfrm>
          <a:custGeom>
            <a:avLst/>
            <a:gdLst/>
            <a:ahLst/>
            <a:cxnLst/>
            <a:rect r="r" b="b" t="t" l="l"/>
            <a:pathLst>
              <a:path h="644987" w="656268">
                <a:moveTo>
                  <a:pt x="0" y="0"/>
                </a:moveTo>
                <a:lnTo>
                  <a:pt x="656268" y="0"/>
                </a:lnTo>
                <a:lnTo>
                  <a:pt x="656268" y="644987"/>
                </a:lnTo>
                <a:lnTo>
                  <a:pt x="0" y="644987"/>
                </a:lnTo>
                <a:lnTo>
                  <a:pt x="0" y="0"/>
                </a:lnTo>
                <a:close/>
              </a:path>
            </a:pathLst>
          </a:custGeom>
          <a:blipFill>
            <a:blip r:embed="rId19"/>
            <a:stretch>
              <a:fillRect l="0" t="0" r="0" b="0"/>
            </a:stretch>
          </a:blipFill>
        </p:spPr>
      </p:sp>
      <p:sp>
        <p:nvSpPr>
          <p:cNvPr name="TextBox 28" id="28"/>
          <p:cNvSpPr txBox="true"/>
          <p:nvPr/>
        </p:nvSpPr>
        <p:spPr>
          <a:xfrm rot="0">
            <a:off x="7431613" y="5530061"/>
            <a:ext cx="1574677" cy="339089"/>
          </a:xfrm>
          <a:prstGeom prst="rect">
            <a:avLst/>
          </a:prstGeom>
        </p:spPr>
        <p:txBody>
          <a:bodyPr anchor="t" rtlCol="false" tIns="0" lIns="0" bIns="0" rIns="0">
            <a:spAutoFit/>
          </a:bodyPr>
          <a:lstStyle/>
          <a:p>
            <a:pPr algn="l">
              <a:lnSpc>
                <a:spcPts val="2774"/>
              </a:lnSpc>
            </a:pPr>
            <a:r>
              <a:rPr lang="en-US" sz="2311" b="true">
                <a:solidFill>
                  <a:srgbClr val="4F749B"/>
                </a:solidFill>
                <a:latin typeface="Inter Semi-Bold"/>
                <a:ea typeface="Inter Semi-Bold"/>
                <a:cs typeface="Inter Semi-Bold"/>
                <a:sym typeface="Inter Semi-Bold"/>
              </a:rPr>
              <a:t>0:50 – 1:05</a:t>
            </a:r>
          </a:p>
        </p:txBody>
      </p:sp>
      <p:sp>
        <p:nvSpPr>
          <p:cNvPr name="TextBox 29" id="29"/>
          <p:cNvSpPr txBox="true"/>
          <p:nvPr/>
        </p:nvSpPr>
        <p:spPr>
          <a:xfrm rot="0">
            <a:off x="7412383" y="6002483"/>
            <a:ext cx="3497621" cy="420002"/>
          </a:xfrm>
          <a:prstGeom prst="rect">
            <a:avLst/>
          </a:prstGeom>
        </p:spPr>
        <p:txBody>
          <a:bodyPr anchor="t" rtlCol="false" tIns="0" lIns="0" bIns="0" rIns="0">
            <a:spAutoFit/>
          </a:bodyPr>
          <a:lstStyle/>
          <a:p>
            <a:pPr algn="l">
              <a:lnSpc>
                <a:spcPts val="3312"/>
              </a:lnSpc>
            </a:pPr>
            <a:r>
              <a:rPr lang="en-US" sz="2759" b="true">
                <a:solidFill>
                  <a:srgbClr val="0D1B34"/>
                </a:solidFill>
                <a:latin typeface="Inter Semi-Bold"/>
                <a:ea typeface="Inter Semi-Bold"/>
                <a:cs typeface="Inter Semi-Bold"/>
                <a:sym typeface="Inter Semi-Bold"/>
              </a:rPr>
              <a:t>Branching + Tracing</a:t>
            </a:r>
          </a:p>
        </p:txBody>
      </p:sp>
      <p:sp>
        <p:nvSpPr>
          <p:cNvPr name="Freeform 30" id="30"/>
          <p:cNvSpPr/>
          <p:nvPr/>
        </p:nvSpPr>
        <p:spPr>
          <a:xfrm flipH="false" flipV="false" rot="0">
            <a:off x="11965952" y="5138034"/>
            <a:ext cx="5676718" cy="1727254"/>
          </a:xfrm>
          <a:custGeom>
            <a:avLst/>
            <a:gdLst/>
            <a:ahLst/>
            <a:cxnLst/>
            <a:rect r="r" b="b" t="t" l="l"/>
            <a:pathLst>
              <a:path h="1727254" w="5676718">
                <a:moveTo>
                  <a:pt x="0" y="0"/>
                </a:moveTo>
                <a:lnTo>
                  <a:pt x="5676718" y="0"/>
                </a:lnTo>
                <a:lnTo>
                  <a:pt x="5676718" y="1727254"/>
                </a:lnTo>
                <a:lnTo>
                  <a:pt x="0" y="1727254"/>
                </a:lnTo>
                <a:lnTo>
                  <a:pt x="0" y="0"/>
                </a:lnTo>
                <a:close/>
              </a:path>
            </a:pathLst>
          </a:custGeom>
          <a:blipFill>
            <a:blip r:embed="rId20"/>
            <a:stretch>
              <a:fillRect l="0" t="0" r="0" b="0"/>
            </a:stretch>
          </a:blipFill>
        </p:spPr>
      </p:sp>
      <p:sp>
        <p:nvSpPr>
          <p:cNvPr name="Freeform 31" id="31"/>
          <p:cNvSpPr/>
          <p:nvPr/>
        </p:nvSpPr>
        <p:spPr>
          <a:xfrm flipH="false" flipV="false" rot="0">
            <a:off x="12184708" y="5356674"/>
            <a:ext cx="667206" cy="644987"/>
          </a:xfrm>
          <a:custGeom>
            <a:avLst/>
            <a:gdLst/>
            <a:ahLst/>
            <a:cxnLst/>
            <a:rect r="r" b="b" t="t" l="l"/>
            <a:pathLst>
              <a:path h="644987" w="667206">
                <a:moveTo>
                  <a:pt x="0" y="0"/>
                </a:moveTo>
                <a:lnTo>
                  <a:pt x="667206" y="0"/>
                </a:lnTo>
                <a:lnTo>
                  <a:pt x="667206" y="644987"/>
                </a:lnTo>
                <a:lnTo>
                  <a:pt x="0" y="644987"/>
                </a:lnTo>
                <a:lnTo>
                  <a:pt x="0" y="0"/>
                </a:lnTo>
                <a:close/>
              </a:path>
            </a:pathLst>
          </a:custGeom>
          <a:blipFill>
            <a:blip r:embed="rId21"/>
            <a:stretch>
              <a:fillRect l="0" t="0" r="0" b="0"/>
            </a:stretch>
          </a:blipFill>
        </p:spPr>
      </p:sp>
      <p:sp>
        <p:nvSpPr>
          <p:cNvPr name="TextBox 32" id="32"/>
          <p:cNvSpPr txBox="true"/>
          <p:nvPr/>
        </p:nvSpPr>
        <p:spPr>
          <a:xfrm rot="0">
            <a:off x="13058027" y="5520536"/>
            <a:ext cx="1503519" cy="348615"/>
          </a:xfrm>
          <a:prstGeom prst="rect">
            <a:avLst/>
          </a:prstGeom>
        </p:spPr>
        <p:txBody>
          <a:bodyPr anchor="t" rtlCol="false" tIns="0" lIns="0" bIns="0" rIns="0">
            <a:spAutoFit/>
          </a:bodyPr>
          <a:lstStyle/>
          <a:p>
            <a:pPr algn="l">
              <a:lnSpc>
                <a:spcPts val="2726"/>
              </a:lnSpc>
            </a:pPr>
            <a:r>
              <a:rPr lang="en-US" sz="2271" b="true">
                <a:solidFill>
                  <a:srgbClr val="4F749B"/>
                </a:solidFill>
                <a:latin typeface="Inter Semi-Bold"/>
                <a:ea typeface="Inter Semi-Bold"/>
                <a:cs typeface="Inter Semi-Bold"/>
                <a:sym typeface="Inter Semi-Bold"/>
              </a:rPr>
              <a:t>1:05 – 1:20</a:t>
            </a:r>
          </a:p>
        </p:txBody>
      </p:sp>
      <p:sp>
        <p:nvSpPr>
          <p:cNvPr name="TextBox 33" id="33"/>
          <p:cNvSpPr txBox="true"/>
          <p:nvPr/>
        </p:nvSpPr>
        <p:spPr>
          <a:xfrm rot="0">
            <a:off x="13032430" y="6002483"/>
            <a:ext cx="4063274" cy="420002"/>
          </a:xfrm>
          <a:prstGeom prst="rect">
            <a:avLst/>
          </a:prstGeom>
        </p:spPr>
        <p:txBody>
          <a:bodyPr anchor="t" rtlCol="false" tIns="0" lIns="0" bIns="0" rIns="0">
            <a:spAutoFit/>
          </a:bodyPr>
          <a:lstStyle/>
          <a:p>
            <a:pPr algn="l">
              <a:lnSpc>
                <a:spcPts val="3312"/>
              </a:lnSpc>
            </a:pPr>
            <a:r>
              <a:rPr lang="en-US" sz="2759" b="true">
                <a:solidFill>
                  <a:srgbClr val="0D1B34"/>
                </a:solidFill>
                <a:latin typeface="Inter Semi-Bold"/>
                <a:ea typeface="Inter Semi-Bold"/>
                <a:cs typeface="Inter Semi-Bold"/>
                <a:sym typeface="Inter Semi-Bold"/>
              </a:rPr>
              <a:t>The LangGraph Rebuild</a:t>
            </a:r>
          </a:p>
        </p:txBody>
      </p:sp>
      <p:sp>
        <p:nvSpPr>
          <p:cNvPr name="Freeform 34" id="34"/>
          <p:cNvSpPr/>
          <p:nvPr/>
        </p:nvSpPr>
        <p:spPr>
          <a:xfrm flipH="false" flipV="false" rot="0">
            <a:off x="645330" y="6854356"/>
            <a:ext cx="5676718" cy="1934962"/>
          </a:xfrm>
          <a:custGeom>
            <a:avLst/>
            <a:gdLst/>
            <a:ahLst/>
            <a:cxnLst/>
            <a:rect r="r" b="b" t="t" l="l"/>
            <a:pathLst>
              <a:path h="1934962" w="5676718">
                <a:moveTo>
                  <a:pt x="0" y="0"/>
                </a:moveTo>
                <a:lnTo>
                  <a:pt x="5676718" y="0"/>
                </a:lnTo>
                <a:lnTo>
                  <a:pt x="5676718" y="1934962"/>
                </a:lnTo>
                <a:lnTo>
                  <a:pt x="0" y="1934962"/>
                </a:lnTo>
                <a:lnTo>
                  <a:pt x="0" y="0"/>
                </a:lnTo>
                <a:close/>
              </a:path>
            </a:pathLst>
          </a:custGeom>
          <a:blipFill>
            <a:blip r:embed="rId22"/>
            <a:stretch>
              <a:fillRect l="0" t="0" r="0" b="0"/>
            </a:stretch>
          </a:blipFill>
        </p:spPr>
      </p:sp>
      <p:sp>
        <p:nvSpPr>
          <p:cNvPr name="Freeform 35" id="35"/>
          <p:cNvSpPr/>
          <p:nvPr/>
        </p:nvSpPr>
        <p:spPr>
          <a:xfrm flipH="false" flipV="false" rot="0">
            <a:off x="864086" y="7280704"/>
            <a:ext cx="667206" cy="655919"/>
          </a:xfrm>
          <a:custGeom>
            <a:avLst/>
            <a:gdLst/>
            <a:ahLst/>
            <a:cxnLst/>
            <a:rect r="r" b="b" t="t" l="l"/>
            <a:pathLst>
              <a:path h="655919" w="667206">
                <a:moveTo>
                  <a:pt x="0" y="0"/>
                </a:moveTo>
                <a:lnTo>
                  <a:pt x="667206" y="0"/>
                </a:lnTo>
                <a:lnTo>
                  <a:pt x="667206" y="655919"/>
                </a:lnTo>
                <a:lnTo>
                  <a:pt x="0" y="655919"/>
                </a:lnTo>
                <a:lnTo>
                  <a:pt x="0" y="0"/>
                </a:lnTo>
                <a:close/>
              </a:path>
            </a:pathLst>
          </a:custGeom>
          <a:blipFill>
            <a:blip r:embed="rId23"/>
            <a:stretch>
              <a:fillRect l="0" t="0" r="0" b="0"/>
            </a:stretch>
          </a:blipFill>
        </p:spPr>
      </p:sp>
      <p:sp>
        <p:nvSpPr>
          <p:cNvPr name="TextBox 36" id="36"/>
          <p:cNvSpPr txBox="true"/>
          <p:nvPr/>
        </p:nvSpPr>
        <p:spPr>
          <a:xfrm rot="0">
            <a:off x="1779762" y="7397605"/>
            <a:ext cx="1510486" cy="339089"/>
          </a:xfrm>
          <a:prstGeom prst="rect">
            <a:avLst/>
          </a:prstGeom>
        </p:spPr>
        <p:txBody>
          <a:bodyPr anchor="t" rtlCol="false" tIns="0" lIns="0" bIns="0" rIns="0">
            <a:spAutoFit/>
          </a:bodyPr>
          <a:lstStyle/>
          <a:p>
            <a:pPr algn="l">
              <a:lnSpc>
                <a:spcPts val="2774"/>
              </a:lnSpc>
            </a:pPr>
            <a:r>
              <a:rPr lang="en-US" sz="2311" b="true">
                <a:solidFill>
                  <a:srgbClr val="4F749B"/>
                </a:solidFill>
                <a:latin typeface="Inter Semi-Bold"/>
                <a:ea typeface="Inter Semi-Bold"/>
                <a:cs typeface="Inter Semi-Bold"/>
                <a:sym typeface="Inter Semi-Bold"/>
              </a:rPr>
              <a:t>1:20 – 1:30</a:t>
            </a:r>
          </a:p>
        </p:txBody>
      </p:sp>
      <p:sp>
        <p:nvSpPr>
          <p:cNvPr name="TextBox 37" id="37"/>
          <p:cNvSpPr txBox="true"/>
          <p:nvPr/>
        </p:nvSpPr>
        <p:spPr>
          <a:xfrm rot="0">
            <a:off x="1782053" y="7885088"/>
            <a:ext cx="1281436" cy="420002"/>
          </a:xfrm>
          <a:prstGeom prst="rect">
            <a:avLst/>
          </a:prstGeom>
        </p:spPr>
        <p:txBody>
          <a:bodyPr anchor="t" rtlCol="false" tIns="0" lIns="0" bIns="0" rIns="0">
            <a:spAutoFit/>
          </a:bodyPr>
          <a:lstStyle/>
          <a:p>
            <a:pPr algn="l">
              <a:lnSpc>
                <a:spcPts val="3312"/>
              </a:lnSpc>
            </a:pPr>
            <a:r>
              <a:rPr lang="en-US" sz="2759" b="true">
                <a:solidFill>
                  <a:srgbClr val="0D1B34"/>
                </a:solidFill>
                <a:latin typeface="Inter Semi-Bold"/>
                <a:ea typeface="Inter Semi-Bold"/>
                <a:cs typeface="Inter Semi-Bold"/>
                <a:sym typeface="Inter Semi-Bold"/>
              </a:rPr>
              <a:t>Testing</a:t>
            </a:r>
          </a:p>
        </p:txBody>
      </p:sp>
      <p:sp>
        <p:nvSpPr>
          <p:cNvPr name="Freeform 38" id="38"/>
          <p:cNvSpPr/>
          <p:nvPr/>
        </p:nvSpPr>
        <p:spPr>
          <a:xfrm flipH="false" flipV="false" rot="0">
            <a:off x="6311110" y="6854356"/>
            <a:ext cx="5665780" cy="1934962"/>
          </a:xfrm>
          <a:custGeom>
            <a:avLst/>
            <a:gdLst/>
            <a:ahLst/>
            <a:cxnLst/>
            <a:rect r="r" b="b" t="t" l="l"/>
            <a:pathLst>
              <a:path h="1934962" w="5665780">
                <a:moveTo>
                  <a:pt x="0" y="0"/>
                </a:moveTo>
                <a:lnTo>
                  <a:pt x="5665780" y="0"/>
                </a:lnTo>
                <a:lnTo>
                  <a:pt x="5665780" y="1934962"/>
                </a:lnTo>
                <a:lnTo>
                  <a:pt x="0" y="1934962"/>
                </a:lnTo>
                <a:lnTo>
                  <a:pt x="0" y="0"/>
                </a:lnTo>
                <a:close/>
              </a:path>
            </a:pathLst>
          </a:custGeom>
          <a:blipFill>
            <a:blip r:embed="rId24"/>
            <a:stretch>
              <a:fillRect l="0" t="0" r="0" b="0"/>
            </a:stretch>
          </a:blipFill>
        </p:spPr>
      </p:sp>
      <p:sp>
        <p:nvSpPr>
          <p:cNvPr name="Freeform 39" id="39"/>
          <p:cNvSpPr/>
          <p:nvPr/>
        </p:nvSpPr>
        <p:spPr>
          <a:xfrm flipH="false" flipV="false" rot="0">
            <a:off x="6529866" y="7280704"/>
            <a:ext cx="656268" cy="655919"/>
          </a:xfrm>
          <a:custGeom>
            <a:avLst/>
            <a:gdLst/>
            <a:ahLst/>
            <a:cxnLst/>
            <a:rect r="r" b="b" t="t" l="l"/>
            <a:pathLst>
              <a:path h="655919" w="656268">
                <a:moveTo>
                  <a:pt x="0" y="0"/>
                </a:moveTo>
                <a:lnTo>
                  <a:pt x="656268" y="0"/>
                </a:lnTo>
                <a:lnTo>
                  <a:pt x="656268" y="655919"/>
                </a:lnTo>
                <a:lnTo>
                  <a:pt x="0" y="655919"/>
                </a:lnTo>
                <a:lnTo>
                  <a:pt x="0" y="0"/>
                </a:lnTo>
                <a:close/>
              </a:path>
            </a:pathLst>
          </a:custGeom>
          <a:blipFill>
            <a:blip r:embed="rId25"/>
            <a:stretch>
              <a:fillRect l="0" t="0" r="0" b="0"/>
            </a:stretch>
          </a:blipFill>
        </p:spPr>
      </p:sp>
      <p:sp>
        <p:nvSpPr>
          <p:cNvPr name="TextBox 40" id="40"/>
          <p:cNvSpPr txBox="true"/>
          <p:nvPr/>
        </p:nvSpPr>
        <p:spPr>
          <a:xfrm rot="0">
            <a:off x="7432418" y="7388080"/>
            <a:ext cx="1494179" cy="348615"/>
          </a:xfrm>
          <a:prstGeom prst="rect">
            <a:avLst/>
          </a:prstGeom>
        </p:spPr>
        <p:txBody>
          <a:bodyPr anchor="t" rtlCol="false" tIns="0" lIns="0" bIns="0" rIns="0">
            <a:spAutoFit/>
          </a:bodyPr>
          <a:lstStyle/>
          <a:p>
            <a:pPr algn="l">
              <a:lnSpc>
                <a:spcPts val="2726"/>
              </a:lnSpc>
            </a:pPr>
            <a:r>
              <a:rPr lang="en-US" sz="2271" b="true">
                <a:solidFill>
                  <a:srgbClr val="4F749B"/>
                </a:solidFill>
                <a:latin typeface="Inter Semi-Bold"/>
                <a:ea typeface="Inter Semi-Bold"/>
                <a:cs typeface="Inter Semi-Bold"/>
                <a:sym typeface="Inter Semi-Bold"/>
              </a:rPr>
              <a:t>1:30 – 1:55</a:t>
            </a:r>
          </a:p>
        </p:txBody>
      </p:sp>
      <p:sp>
        <p:nvSpPr>
          <p:cNvPr name="TextBox 41" id="41"/>
          <p:cNvSpPr txBox="true"/>
          <p:nvPr/>
        </p:nvSpPr>
        <p:spPr>
          <a:xfrm rot="0">
            <a:off x="7419909" y="7885088"/>
            <a:ext cx="2745018" cy="420002"/>
          </a:xfrm>
          <a:prstGeom prst="rect">
            <a:avLst/>
          </a:prstGeom>
        </p:spPr>
        <p:txBody>
          <a:bodyPr anchor="t" rtlCol="false" tIns="0" lIns="0" bIns="0" rIns="0">
            <a:spAutoFit/>
          </a:bodyPr>
          <a:lstStyle/>
          <a:p>
            <a:pPr algn="l">
              <a:lnSpc>
                <a:spcPts val="3312"/>
              </a:lnSpc>
            </a:pPr>
            <a:r>
              <a:rPr lang="en-US" sz="2759" b="true">
                <a:solidFill>
                  <a:srgbClr val="0D1B34"/>
                </a:solidFill>
                <a:latin typeface="Inter Semi-Bold"/>
                <a:ea typeface="Inter Semi-Bold"/>
                <a:cs typeface="Inter Semi-Bold"/>
                <a:sym typeface="Inter Semi-Bold"/>
              </a:rPr>
              <a:t>Your Build (Lab)</a:t>
            </a:r>
          </a:p>
        </p:txBody>
      </p:sp>
      <p:sp>
        <p:nvSpPr>
          <p:cNvPr name="Freeform 42" id="42"/>
          <p:cNvSpPr/>
          <p:nvPr/>
        </p:nvSpPr>
        <p:spPr>
          <a:xfrm flipH="false" flipV="false" rot="0">
            <a:off x="11965952" y="6854356"/>
            <a:ext cx="5676718" cy="1934962"/>
          </a:xfrm>
          <a:custGeom>
            <a:avLst/>
            <a:gdLst/>
            <a:ahLst/>
            <a:cxnLst/>
            <a:rect r="r" b="b" t="t" l="l"/>
            <a:pathLst>
              <a:path h="1934962" w="5676718">
                <a:moveTo>
                  <a:pt x="0" y="0"/>
                </a:moveTo>
                <a:lnTo>
                  <a:pt x="5676718" y="0"/>
                </a:lnTo>
                <a:lnTo>
                  <a:pt x="5676718" y="1934962"/>
                </a:lnTo>
                <a:lnTo>
                  <a:pt x="0" y="1934962"/>
                </a:lnTo>
                <a:lnTo>
                  <a:pt x="0" y="0"/>
                </a:lnTo>
                <a:close/>
              </a:path>
            </a:pathLst>
          </a:custGeom>
          <a:blipFill>
            <a:blip r:embed="rId26"/>
            <a:stretch>
              <a:fillRect l="0" t="0" r="0" b="0"/>
            </a:stretch>
          </a:blipFill>
        </p:spPr>
      </p:sp>
      <p:sp>
        <p:nvSpPr>
          <p:cNvPr name="Freeform 43" id="43"/>
          <p:cNvSpPr/>
          <p:nvPr/>
        </p:nvSpPr>
        <p:spPr>
          <a:xfrm flipH="false" flipV="false" rot="0">
            <a:off x="12184708" y="7280704"/>
            <a:ext cx="667206" cy="655919"/>
          </a:xfrm>
          <a:custGeom>
            <a:avLst/>
            <a:gdLst/>
            <a:ahLst/>
            <a:cxnLst/>
            <a:rect r="r" b="b" t="t" l="l"/>
            <a:pathLst>
              <a:path h="655919" w="667206">
                <a:moveTo>
                  <a:pt x="0" y="0"/>
                </a:moveTo>
                <a:lnTo>
                  <a:pt x="667206" y="0"/>
                </a:lnTo>
                <a:lnTo>
                  <a:pt x="667206" y="655919"/>
                </a:lnTo>
                <a:lnTo>
                  <a:pt x="0" y="655919"/>
                </a:lnTo>
                <a:lnTo>
                  <a:pt x="0" y="0"/>
                </a:lnTo>
                <a:close/>
              </a:path>
            </a:pathLst>
          </a:custGeom>
          <a:blipFill>
            <a:blip r:embed="rId27"/>
            <a:stretch>
              <a:fillRect l="0" t="0" r="0" b="0"/>
            </a:stretch>
          </a:blipFill>
        </p:spPr>
      </p:sp>
      <p:sp>
        <p:nvSpPr>
          <p:cNvPr name="TextBox 44" id="44"/>
          <p:cNvSpPr txBox="true"/>
          <p:nvPr/>
        </p:nvSpPr>
        <p:spPr>
          <a:xfrm rot="0">
            <a:off x="13057437" y="7397605"/>
            <a:ext cx="1562521" cy="339089"/>
          </a:xfrm>
          <a:prstGeom prst="rect">
            <a:avLst/>
          </a:prstGeom>
        </p:spPr>
        <p:txBody>
          <a:bodyPr anchor="t" rtlCol="false" tIns="0" lIns="0" bIns="0" rIns="0">
            <a:spAutoFit/>
          </a:bodyPr>
          <a:lstStyle/>
          <a:p>
            <a:pPr algn="l">
              <a:lnSpc>
                <a:spcPts val="2774"/>
              </a:lnSpc>
            </a:pPr>
            <a:r>
              <a:rPr lang="en-US" sz="2311" b="true">
                <a:solidFill>
                  <a:srgbClr val="4F749B"/>
                </a:solidFill>
                <a:latin typeface="Inter Semi-Bold"/>
                <a:ea typeface="Inter Semi-Bold"/>
                <a:cs typeface="Inter Semi-Bold"/>
                <a:sym typeface="Inter Semi-Bold"/>
              </a:rPr>
              <a:t>1:55 – 2:00</a:t>
            </a:r>
          </a:p>
        </p:txBody>
      </p:sp>
      <p:sp>
        <p:nvSpPr>
          <p:cNvPr name="TextBox 45" id="45"/>
          <p:cNvSpPr txBox="true"/>
          <p:nvPr/>
        </p:nvSpPr>
        <p:spPr>
          <a:xfrm rot="0">
            <a:off x="13057692" y="7885088"/>
            <a:ext cx="1537047" cy="420002"/>
          </a:xfrm>
          <a:prstGeom prst="rect">
            <a:avLst/>
          </a:prstGeom>
        </p:spPr>
        <p:txBody>
          <a:bodyPr anchor="t" rtlCol="false" tIns="0" lIns="0" bIns="0" rIns="0">
            <a:spAutoFit/>
          </a:bodyPr>
          <a:lstStyle/>
          <a:p>
            <a:pPr algn="l">
              <a:lnSpc>
                <a:spcPts val="3312"/>
              </a:lnSpc>
            </a:pPr>
            <a:r>
              <a:rPr lang="en-US" sz="2759" b="true">
                <a:solidFill>
                  <a:srgbClr val="0D1B34"/>
                </a:solidFill>
                <a:latin typeface="Inter Semi-Bold"/>
                <a:ea typeface="Inter Semi-Bold"/>
                <a:cs typeface="Inter Semi-Bold"/>
                <a:sym typeface="Inter Semi-Bold"/>
              </a:rPr>
              <a:t>Wrap-up</a:t>
            </a:r>
          </a:p>
        </p:txBody>
      </p:sp>
      <p:sp>
        <p:nvSpPr>
          <p:cNvPr name="Freeform 46" id="46"/>
          <p:cNvSpPr/>
          <p:nvPr/>
        </p:nvSpPr>
        <p:spPr>
          <a:xfrm flipH="false" flipV="false" rot="0">
            <a:off x="645330" y="9204733"/>
            <a:ext cx="667206" cy="448211"/>
          </a:xfrm>
          <a:custGeom>
            <a:avLst/>
            <a:gdLst/>
            <a:ahLst/>
            <a:cxnLst/>
            <a:rect r="r" b="b" t="t" l="l"/>
            <a:pathLst>
              <a:path h="448211" w="667206">
                <a:moveTo>
                  <a:pt x="0" y="0"/>
                </a:moveTo>
                <a:lnTo>
                  <a:pt x="667206" y="0"/>
                </a:lnTo>
                <a:lnTo>
                  <a:pt x="667206" y="448212"/>
                </a:lnTo>
                <a:lnTo>
                  <a:pt x="0" y="448212"/>
                </a:lnTo>
                <a:lnTo>
                  <a:pt x="0" y="0"/>
                </a:lnTo>
                <a:close/>
              </a:path>
            </a:pathLst>
          </a:custGeom>
          <a:blipFill>
            <a:blip r:embed="rId28"/>
            <a:stretch>
              <a:fillRect l="0" t="0" r="0" b="0"/>
            </a:stretch>
          </a:blipFill>
        </p:spPr>
      </p:sp>
      <p:sp>
        <p:nvSpPr>
          <p:cNvPr name="Freeform 47" id="47"/>
          <p:cNvSpPr/>
          <p:nvPr/>
        </p:nvSpPr>
        <p:spPr>
          <a:xfrm flipH="false" flipV="false" rot="0">
            <a:off x="2603196" y="9204733"/>
            <a:ext cx="448450" cy="448211"/>
          </a:xfrm>
          <a:custGeom>
            <a:avLst/>
            <a:gdLst/>
            <a:ahLst/>
            <a:cxnLst/>
            <a:rect r="r" b="b" t="t" l="l"/>
            <a:pathLst>
              <a:path h="448211" w="448450">
                <a:moveTo>
                  <a:pt x="0" y="0"/>
                </a:moveTo>
                <a:lnTo>
                  <a:pt x="448450" y="0"/>
                </a:lnTo>
                <a:lnTo>
                  <a:pt x="448450" y="448212"/>
                </a:lnTo>
                <a:lnTo>
                  <a:pt x="0" y="448212"/>
                </a:lnTo>
                <a:lnTo>
                  <a:pt x="0" y="0"/>
                </a:lnTo>
                <a:close/>
              </a:path>
            </a:pathLst>
          </a:custGeom>
          <a:blipFill>
            <a:blip r:embed="rId29"/>
            <a:stretch>
              <a:fillRect l="0" t="0" r="0" b="0"/>
            </a:stretch>
          </a:blipFill>
        </p:spPr>
      </p:sp>
      <p:sp>
        <p:nvSpPr>
          <p:cNvPr name="TextBox 48" id="48"/>
          <p:cNvSpPr txBox="true"/>
          <p:nvPr/>
        </p:nvSpPr>
        <p:spPr>
          <a:xfrm rot="0">
            <a:off x="3214688" y="9255137"/>
            <a:ext cx="1607344" cy="321242"/>
          </a:xfrm>
          <a:prstGeom prst="rect">
            <a:avLst/>
          </a:prstGeom>
        </p:spPr>
        <p:txBody>
          <a:bodyPr anchor="t" rtlCol="false" tIns="0" lIns="0" bIns="0" rIns="0">
            <a:spAutoFit/>
          </a:bodyPr>
          <a:lstStyle/>
          <a:p>
            <a:pPr algn="l">
              <a:lnSpc>
                <a:spcPts val="2626"/>
              </a:lnSpc>
            </a:pPr>
            <a:r>
              <a:rPr lang="en-US" sz="2188" b="true">
                <a:solidFill>
                  <a:srgbClr val="FFFFFF"/>
                </a:solidFill>
                <a:latin typeface="Inter Semi-Bold"/>
                <a:ea typeface="Inter Semi-Bold"/>
                <a:cs typeface="Inter Semi-Bold"/>
                <a:sym typeface="Inter Semi-Bold"/>
              </a:rPr>
              <a:t>Live build</a:t>
            </a:r>
          </a:p>
        </p:txBody>
      </p:sp>
      <p:sp>
        <p:nvSpPr>
          <p:cNvPr name="Freeform 49" id="49"/>
          <p:cNvSpPr/>
          <p:nvPr/>
        </p:nvSpPr>
        <p:spPr>
          <a:xfrm flipH="false" flipV="false" rot="0">
            <a:off x="4998574" y="9204733"/>
            <a:ext cx="667206" cy="448211"/>
          </a:xfrm>
          <a:custGeom>
            <a:avLst/>
            <a:gdLst/>
            <a:ahLst/>
            <a:cxnLst/>
            <a:rect r="r" b="b" t="t" l="l"/>
            <a:pathLst>
              <a:path h="448211" w="667206">
                <a:moveTo>
                  <a:pt x="0" y="0"/>
                </a:moveTo>
                <a:lnTo>
                  <a:pt x="667206" y="0"/>
                </a:lnTo>
                <a:lnTo>
                  <a:pt x="667206" y="448212"/>
                </a:lnTo>
                <a:lnTo>
                  <a:pt x="0" y="448212"/>
                </a:lnTo>
                <a:lnTo>
                  <a:pt x="0" y="0"/>
                </a:lnTo>
                <a:close/>
              </a:path>
            </a:pathLst>
          </a:custGeom>
          <a:blipFill>
            <a:blip r:embed="rId30"/>
            <a:stretch>
              <a:fillRect l="0" t="0" r="0" b="0"/>
            </a:stretch>
          </a:blipFill>
        </p:spPr>
      </p:sp>
      <p:sp>
        <p:nvSpPr>
          <p:cNvPr name="TextBox 50" id="50"/>
          <p:cNvSpPr txBox="true"/>
          <p:nvPr/>
        </p:nvSpPr>
        <p:spPr>
          <a:xfrm rot="0">
            <a:off x="5706070" y="9255137"/>
            <a:ext cx="1607344" cy="321242"/>
          </a:xfrm>
          <a:prstGeom prst="rect">
            <a:avLst/>
          </a:prstGeom>
        </p:spPr>
        <p:txBody>
          <a:bodyPr anchor="t" rtlCol="false" tIns="0" lIns="0" bIns="0" rIns="0">
            <a:spAutoFit/>
          </a:bodyPr>
          <a:lstStyle/>
          <a:p>
            <a:pPr algn="l">
              <a:lnSpc>
                <a:spcPts val="2626"/>
              </a:lnSpc>
            </a:pPr>
            <a:r>
              <a:rPr lang="en-US" sz="2188" b="true">
                <a:solidFill>
                  <a:srgbClr val="FFFFFF"/>
                </a:solidFill>
                <a:latin typeface="Inter Semi-Bold"/>
                <a:ea typeface="Inter Semi-Bold"/>
                <a:cs typeface="Inter Semi-Bold"/>
                <a:sym typeface="Inter Semi-Bold"/>
              </a:rPr>
              <a:t>Your turn</a:t>
            </a:r>
          </a:p>
        </p:txBody>
      </p:sp>
      <p:sp>
        <p:nvSpPr>
          <p:cNvPr name="TextBox 51" id="51"/>
          <p:cNvSpPr txBox="true"/>
          <p:nvPr/>
        </p:nvSpPr>
        <p:spPr>
          <a:xfrm rot="0">
            <a:off x="1312664" y="9255137"/>
            <a:ext cx="1607344" cy="321242"/>
          </a:xfrm>
          <a:prstGeom prst="rect">
            <a:avLst/>
          </a:prstGeom>
        </p:spPr>
        <p:txBody>
          <a:bodyPr anchor="t" rtlCol="false" tIns="0" lIns="0" bIns="0" rIns="0">
            <a:spAutoFit/>
          </a:bodyPr>
          <a:lstStyle/>
          <a:p>
            <a:pPr algn="l">
              <a:lnSpc>
                <a:spcPts val="2626"/>
              </a:lnSpc>
            </a:pPr>
            <a:r>
              <a:rPr lang="en-US" sz="2188" b="true">
                <a:solidFill>
                  <a:srgbClr val="FFFFFF"/>
                </a:solidFill>
                <a:latin typeface="Inter Semi-Bold"/>
                <a:ea typeface="Inter Semi-Bold"/>
                <a:cs typeface="Inter Semi-Bold"/>
                <a:sym typeface="Inter Semi-Bold"/>
              </a:rPr>
              <a:t>Talk</a:t>
            </a:r>
          </a:p>
        </p:txBody>
      </p:sp>
      <p:grpSp>
        <p:nvGrpSpPr>
          <p:cNvPr name="Group 52" id="52"/>
          <p:cNvGrpSpPr/>
          <p:nvPr/>
        </p:nvGrpSpPr>
        <p:grpSpPr>
          <a:xfrm rot="0">
            <a:off x="801847" y="1419121"/>
            <a:ext cx="8342153" cy="479573"/>
            <a:chOff x="0" y="0"/>
            <a:chExt cx="2120741" cy="121917"/>
          </a:xfrm>
        </p:grpSpPr>
        <p:sp>
          <p:nvSpPr>
            <p:cNvPr name="Freeform 53" id="53"/>
            <p:cNvSpPr/>
            <p:nvPr/>
          </p:nvSpPr>
          <p:spPr>
            <a:xfrm flipH="false" flipV="false" rot="0">
              <a:off x="0" y="0"/>
              <a:ext cx="2120741" cy="121917"/>
            </a:xfrm>
            <a:custGeom>
              <a:avLst/>
              <a:gdLst/>
              <a:ahLst/>
              <a:cxnLst/>
              <a:rect r="r" b="b" t="t" l="l"/>
              <a:pathLst>
                <a:path h="121917" w="2120741">
                  <a:moveTo>
                    <a:pt x="0" y="0"/>
                  </a:moveTo>
                  <a:lnTo>
                    <a:pt x="2120741" y="0"/>
                  </a:lnTo>
                  <a:lnTo>
                    <a:pt x="2120741" y="121917"/>
                  </a:lnTo>
                  <a:lnTo>
                    <a:pt x="0" y="121917"/>
                  </a:lnTo>
                  <a:close/>
                </a:path>
              </a:pathLst>
            </a:custGeom>
            <a:solidFill>
              <a:srgbClr val="0493FB"/>
            </a:solidFill>
          </p:spPr>
        </p:sp>
        <p:sp>
          <p:nvSpPr>
            <p:cNvPr name="TextBox 54" id="54"/>
            <p:cNvSpPr txBox="true"/>
            <p:nvPr/>
          </p:nvSpPr>
          <p:spPr>
            <a:xfrm>
              <a:off x="0" y="-38100"/>
              <a:ext cx="2120741" cy="160017"/>
            </a:xfrm>
            <a:prstGeom prst="rect">
              <a:avLst/>
            </a:prstGeom>
          </p:spPr>
          <p:txBody>
            <a:bodyPr anchor="ctr" rtlCol="false" tIns="50800" lIns="50800" bIns="50800" rIns="50800"/>
            <a:lstStyle/>
            <a:p>
              <a:pPr algn="ctr">
                <a:lnSpc>
                  <a:spcPts val="2659"/>
                </a:lnSpc>
                <a:spcBef>
                  <a:spcPct val="0"/>
                </a:spcBef>
              </a:pPr>
            </a:p>
          </p:txBody>
        </p:sp>
      </p:grpSp>
      <p:sp>
        <p:nvSpPr>
          <p:cNvPr name="TextBox 55" id="55"/>
          <p:cNvSpPr txBox="true"/>
          <p:nvPr/>
        </p:nvSpPr>
        <p:spPr>
          <a:xfrm rot="0">
            <a:off x="884188" y="464110"/>
            <a:ext cx="8212224"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Today’s Agenda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75956" y="7966921"/>
            <a:ext cx="5480719" cy="5511824"/>
          </a:xfrm>
          <a:custGeom>
            <a:avLst/>
            <a:gdLst/>
            <a:ahLst/>
            <a:cxnLst/>
            <a:rect r="r" b="b" t="t" l="l"/>
            <a:pathLst>
              <a:path h="5511824" w="5480719">
                <a:moveTo>
                  <a:pt x="0" y="0"/>
                </a:moveTo>
                <a:lnTo>
                  <a:pt x="5480720" y="0"/>
                </a:lnTo>
                <a:lnTo>
                  <a:pt x="5480720" y="5511824"/>
                </a:lnTo>
                <a:lnTo>
                  <a:pt x="0" y="5511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4"/>
            <a:stretch>
              <a:fillRect l="0" t="0" r="0" b="0"/>
            </a:stretch>
          </a:blipFill>
        </p:spPr>
      </p:sp>
      <p:sp>
        <p:nvSpPr>
          <p:cNvPr name="AutoShape 4" id="4"/>
          <p:cNvSpPr/>
          <p:nvPr/>
        </p:nvSpPr>
        <p:spPr>
          <a:xfrm flipV="true">
            <a:off x="1028708" y="1028700"/>
            <a:ext cx="16230592" cy="24204"/>
          </a:xfrm>
          <a:prstGeom prst="line">
            <a:avLst/>
          </a:prstGeom>
          <a:ln cap="flat" w="9525">
            <a:solidFill>
              <a:srgbClr val="FFFFFF"/>
            </a:solidFill>
            <a:prstDash val="solid"/>
            <a:headEnd type="none" len="sm" w="sm"/>
            <a:tailEnd type="none" len="sm" w="sm"/>
          </a:ln>
        </p:spPr>
      </p:sp>
      <p:sp>
        <p:nvSpPr>
          <p:cNvPr name="TextBox 5" id="5"/>
          <p:cNvSpPr txBox="true"/>
          <p:nvPr/>
        </p:nvSpPr>
        <p:spPr>
          <a:xfrm rot="0">
            <a:off x="1257300" y="581025"/>
            <a:ext cx="5619750" cy="328765"/>
          </a:xfrm>
          <a:prstGeom prst="rect">
            <a:avLst/>
          </a:prstGeom>
        </p:spPr>
        <p:txBody>
          <a:bodyPr anchor="t" rtlCol="false" tIns="0" lIns="0" bIns="0" rIns="0">
            <a:spAutoFit/>
          </a:bodyPr>
          <a:lstStyle/>
          <a:p>
            <a:pPr algn="l" marL="0" indent="0" lvl="0">
              <a:lnSpc>
                <a:spcPts val="2673"/>
              </a:lnSpc>
              <a:spcBef>
                <a:spcPct val="0"/>
              </a:spcBef>
            </a:pPr>
            <a:r>
              <a:rPr lang="en-US" sz="2010" spc="291" strike="noStrike" u="none">
                <a:solidFill>
                  <a:srgbClr val="DDEFFF"/>
                </a:solidFill>
                <a:latin typeface="Lilita One"/>
                <a:ea typeface="Lilita One"/>
                <a:cs typeface="Lilita One"/>
                <a:sym typeface="Lilita One"/>
              </a:rPr>
              <a:t>@dalmlsociety</a:t>
            </a:r>
          </a:p>
        </p:txBody>
      </p:sp>
      <p:sp>
        <p:nvSpPr>
          <p:cNvPr name="TextBox 6" id="6"/>
          <p:cNvSpPr txBox="true"/>
          <p:nvPr/>
        </p:nvSpPr>
        <p:spPr>
          <a:xfrm rot="0">
            <a:off x="12811125" y="552450"/>
            <a:ext cx="4448175" cy="417576"/>
          </a:xfrm>
          <a:prstGeom prst="rect">
            <a:avLst/>
          </a:prstGeom>
        </p:spPr>
        <p:txBody>
          <a:bodyPr anchor="t" rtlCol="false" tIns="0" lIns="0" bIns="0" rIns="0">
            <a:spAutoFit/>
          </a:bodyPr>
          <a:lstStyle/>
          <a:p>
            <a:pPr algn="r" marL="0" indent="0" lvl="0">
              <a:lnSpc>
                <a:spcPts val="3168"/>
              </a:lnSpc>
              <a:spcBef>
                <a:spcPct val="0"/>
              </a:spcBef>
            </a:pPr>
            <a:r>
              <a:rPr lang="en-US" sz="2879" spc="-83">
                <a:solidFill>
                  <a:srgbClr val="DDEFFF"/>
                </a:solidFill>
                <a:latin typeface="Lilita One"/>
                <a:ea typeface="Lilita One"/>
                <a:cs typeface="Lilita One"/>
                <a:sym typeface="Lilita One"/>
              </a:rPr>
              <a:t>From LLM to Agent</a:t>
            </a:r>
          </a:p>
        </p:txBody>
      </p:sp>
      <p:sp>
        <p:nvSpPr>
          <p:cNvPr name="AutoShape 7" id="7"/>
          <p:cNvSpPr/>
          <p:nvPr/>
        </p:nvSpPr>
        <p:spPr>
          <a:xfrm flipV="true">
            <a:off x="1028701" y="457718"/>
            <a:ext cx="16230592" cy="24204"/>
          </a:xfrm>
          <a:prstGeom prst="line">
            <a:avLst/>
          </a:prstGeom>
          <a:ln cap="flat" w="9525">
            <a:solidFill>
              <a:srgbClr val="FFFFFF"/>
            </a:solidFill>
            <a:prstDash val="solid"/>
            <a:headEnd type="none" len="sm" w="sm"/>
            <a:tailEnd type="none" len="sm" w="sm"/>
          </a:ln>
        </p:spPr>
      </p:sp>
      <p:grpSp>
        <p:nvGrpSpPr>
          <p:cNvPr name="Group 8" id="8"/>
          <p:cNvGrpSpPr/>
          <p:nvPr/>
        </p:nvGrpSpPr>
        <p:grpSpPr>
          <a:xfrm rot="0">
            <a:off x="1028708" y="2226299"/>
            <a:ext cx="9434108" cy="555001"/>
            <a:chOff x="0" y="0"/>
            <a:chExt cx="2398337" cy="141092"/>
          </a:xfrm>
        </p:grpSpPr>
        <p:sp>
          <p:nvSpPr>
            <p:cNvPr name="Freeform 9" id="9"/>
            <p:cNvSpPr/>
            <p:nvPr/>
          </p:nvSpPr>
          <p:spPr>
            <a:xfrm flipH="false" flipV="false" rot="0">
              <a:off x="0" y="0"/>
              <a:ext cx="2398337" cy="141092"/>
            </a:xfrm>
            <a:custGeom>
              <a:avLst/>
              <a:gdLst/>
              <a:ahLst/>
              <a:cxnLst/>
              <a:rect r="r" b="b" t="t" l="l"/>
              <a:pathLst>
                <a:path h="141092" w="2398337">
                  <a:moveTo>
                    <a:pt x="0" y="0"/>
                  </a:moveTo>
                  <a:lnTo>
                    <a:pt x="2398337" y="0"/>
                  </a:lnTo>
                  <a:lnTo>
                    <a:pt x="2398337" y="141092"/>
                  </a:lnTo>
                  <a:lnTo>
                    <a:pt x="0" y="141092"/>
                  </a:lnTo>
                  <a:close/>
                </a:path>
              </a:pathLst>
            </a:custGeom>
            <a:solidFill>
              <a:srgbClr val="0493FB"/>
            </a:solidFill>
          </p:spPr>
        </p:sp>
        <p:sp>
          <p:nvSpPr>
            <p:cNvPr name="TextBox 10" id="10"/>
            <p:cNvSpPr txBox="true"/>
            <p:nvPr/>
          </p:nvSpPr>
          <p:spPr>
            <a:xfrm>
              <a:off x="0" y="-38100"/>
              <a:ext cx="2398337" cy="179192"/>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257300" y="1410832"/>
            <a:ext cx="9205517"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Before We Start</a:t>
            </a:r>
          </a:p>
        </p:txBody>
      </p:sp>
      <p:grpSp>
        <p:nvGrpSpPr>
          <p:cNvPr name="Group 12" id="12"/>
          <p:cNvGrpSpPr/>
          <p:nvPr/>
        </p:nvGrpSpPr>
        <p:grpSpPr>
          <a:xfrm rot="0">
            <a:off x="1028700" y="3827780"/>
            <a:ext cx="3909333" cy="5004729"/>
            <a:chOff x="0" y="0"/>
            <a:chExt cx="5172456" cy="6621780"/>
          </a:xfrm>
        </p:grpSpPr>
        <p:sp>
          <p:nvSpPr>
            <p:cNvPr name="Freeform 13" id="13"/>
            <p:cNvSpPr/>
            <p:nvPr/>
          </p:nvSpPr>
          <p:spPr>
            <a:xfrm flipH="false" flipV="false" rot="0">
              <a:off x="0" y="0"/>
              <a:ext cx="5172456" cy="6621780"/>
            </a:xfrm>
            <a:custGeom>
              <a:avLst/>
              <a:gdLst/>
              <a:ahLst/>
              <a:cxnLst/>
              <a:rect r="r" b="b" t="t" l="l"/>
              <a:pathLst>
                <a:path h="6621780" w="5172456">
                  <a:moveTo>
                    <a:pt x="0" y="221107"/>
                  </a:moveTo>
                  <a:cubicBezTo>
                    <a:pt x="0" y="98933"/>
                    <a:pt x="98933" y="0"/>
                    <a:pt x="221107" y="0"/>
                  </a:cubicBezTo>
                  <a:lnTo>
                    <a:pt x="4951349" y="0"/>
                  </a:lnTo>
                  <a:cubicBezTo>
                    <a:pt x="5073396" y="0"/>
                    <a:pt x="5172456" y="98933"/>
                    <a:pt x="5172456" y="221107"/>
                  </a:cubicBezTo>
                  <a:lnTo>
                    <a:pt x="5172456" y="6400673"/>
                  </a:lnTo>
                  <a:cubicBezTo>
                    <a:pt x="5172456" y="6522720"/>
                    <a:pt x="5073523" y="6621780"/>
                    <a:pt x="4951349" y="6621780"/>
                  </a:cubicBezTo>
                  <a:lnTo>
                    <a:pt x="221107" y="6621780"/>
                  </a:lnTo>
                  <a:cubicBezTo>
                    <a:pt x="98933" y="6621780"/>
                    <a:pt x="0" y="6522847"/>
                    <a:pt x="0" y="6400673"/>
                  </a:cubicBezTo>
                  <a:close/>
                </a:path>
              </a:pathLst>
            </a:custGeom>
            <a:solidFill>
              <a:srgbClr val="FFFFFF"/>
            </a:solidFill>
            <a:ln w="28575" cap="sq">
              <a:solidFill>
                <a:srgbClr val="F1F3F8"/>
              </a:solidFill>
              <a:prstDash val="solid"/>
              <a:miter/>
            </a:ln>
          </p:spPr>
        </p:sp>
      </p:grpSp>
      <p:grpSp>
        <p:nvGrpSpPr>
          <p:cNvPr name="Group 14" id="14"/>
          <p:cNvGrpSpPr/>
          <p:nvPr/>
        </p:nvGrpSpPr>
        <p:grpSpPr>
          <a:xfrm rot="0">
            <a:off x="1443361" y="4242441"/>
            <a:ext cx="858118" cy="892776"/>
            <a:chOff x="0" y="0"/>
            <a:chExt cx="1135380" cy="1181236"/>
          </a:xfrm>
        </p:grpSpPr>
        <p:sp>
          <p:nvSpPr>
            <p:cNvPr name="Freeform 15" id="15"/>
            <p:cNvSpPr/>
            <p:nvPr/>
          </p:nvSpPr>
          <p:spPr>
            <a:xfrm flipH="false" flipV="false" rot="0">
              <a:off x="0" y="0"/>
              <a:ext cx="1135380" cy="1181236"/>
            </a:xfrm>
            <a:custGeom>
              <a:avLst/>
              <a:gdLst/>
              <a:ahLst/>
              <a:cxnLst/>
              <a:rect r="r" b="b" t="t" l="l"/>
              <a:pathLst>
                <a:path h="1181236" w="1135380">
                  <a:moveTo>
                    <a:pt x="0" y="196873"/>
                  </a:moveTo>
                  <a:cubicBezTo>
                    <a:pt x="0" y="88130"/>
                    <a:pt x="84709" y="0"/>
                    <a:pt x="189230" y="0"/>
                  </a:cubicBezTo>
                  <a:lnTo>
                    <a:pt x="946150" y="0"/>
                  </a:lnTo>
                  <a:cubicBezTo>
                    <a:pt x="1050671" y="0"/>
                    <a:pt x="1135380" y="88130"/>
                    <a:pt x="1135380" y="196873"/>
                  </a:cubicBezTo>
                  <a:lnTo>
                    <a:pt x="1135380" y="984364"/>
                  </a:lnTo>
                  <a:cubicBezTo>
                    <a:pt x="1135380" y="1093106"/>
                    <a:pt x="1050671" y="1181236"/>
                    <a:pt x="946150" y="1181236"/>
                  </a:cubicBezTo>
                  <a:lnTo>
                    <a:pt x="189230" y="1181236"/>
                  </a:lnTo>
                  <a:cubicBezTo>
                    <a:pt x="84709" y="1181236"/>
                    <a:pt x="0" y="1093106"/>
                    <a:pt x="0" y="984364"/>
                  </a:cubicBezTo>
                  <a:close/>
                </a:path>
              </a:pathLst>
            </a:custGeom>
            <a:solidFill>
              <a:srgbClr val="0493FB"/>
            </a:solidFill>
            <a:ln w="28575" cap="sq">
              <a:solidFill>
                <a:srgbClr val="2A9D8F"/>
              </a:solidFill>
              <a:prstDash val="solid"/>
              <a:miter/>
            </a:ln>
          </p:spPr>
        </p:sp>
        <p:sp>
          <p:nvSpPr>
            <p:cNvPr name="TextBox 16" id="16"/>
            <p:cNvSpPr txBox="true"/>
            <p:nvPr/>
          </p:nvSpPr>
          <p:spPr>
            <a:xfrm>
              <a:off x="0" y="-76200"/>
              <a:ext cx="1135380" cy="1257436"/>
            </a:xfrm>
            <a:prstGeom prst="rect">
              <a:avLst/>
            </a:prstGeom>
          </p:spPr>
          <p:txBody>
            <a:bodyPr anchor="ctr" rtlCol="false" tIns="51193" lIns="51193" bIns="51193" rIns="51193"/>
            <a:lstStyle/>
            <a:p>
              <a:pPr algn="ctr">
                <a:lnSpc>
                  <a:spcPts val="4559"/>
                </a:lnSpc>
              </a:pPr>
              <a:r>
                <a:rPr lang="en-US" sz="3799" b="true">
                  <a:solidFill>
                    <a:srgbClr val="0E3C74"/>
                  </a:solidFill>
                  <a:latin typeface="Calibri (MS) Bold"/>
                  <a:ea typeface="Calibri (MS) Bold"/>
                  <a:cs typeface="Calibri (MS) Bold"/>
                  <a:sym typeface="Calibri (MS) Bold"/>
                </a:rPr>
                <a:t>1</a:t>
              </a:r>
            </a:p>
          </p:txBody>
        </p:sp>
      </p:grpSp>
      <p:sp>
        <p:nvSpPr>
          <p:cNvPr name="TextBox 17" id="17"/>
          <p:cNvSpPr txBox="true"/>
          <p:nvPr/>
        </p:nvSpPr>
        <p:spPr>
          <a:xfrm rot="0">
            <a:off x="1457759" y="5365037"/>
            <a:ext cx="3051215" cy="571500"/>
          </a:xfrm>
          <a:prstGeom prst="rect">
            <a:avLst/>
          </a:prstGeom>
        </p:spPr>
        <p:txBody>
          <a:bodyPr anchor="t" rtlCol="false" tIns="0" lIns="0" bIns="0" rIns="0">
            <a:spAutoFit/>
          </a:bodyPr>
          <a:lstStyle/>
          <a:p>
            <a:pPr algn="l">
              <a:lnSpc>
                <a:spcPts val="4049"/>
              </a:lnSpc>
            </a:pPr>
            <a:r>
              <a:rPr lang="en-US" sz="3374" b="true">
                <a:solidFill>
                  <a:srgbClr val="1B1F3B"/>
                </a:solidFill>
                <a:latin typeface="Calibri (MS) Bold"/>
                <a:ea typeface="Calibri (MS) Bold"/>
                <a:cs typeface="Calibri (MS) Bold"/>
                <a:sym typeface="Calibri (MS) Bold"/>
              </a:rPr>
              <a:t>Get a free key</a:t>
            </a:r>
          </a:p>
        </p:txBody>
      </p:sp>
      <p:sp>
        <p:nvSpPr>
          <p:cNvPr name="TextBox 18" id="18"/>
          <p:cNvSpPr txBox="true"/>
          <p:nvPr/>
        </p:nvSpPr>
        <p:spPr>
          <a:xfrm rot="0">
            <a:off x="1257300" y="6493603"/>
            <a:ext cx="3251674" cy="1323975"/>
          </a:xfrm>
          <a:prstGeom prst="rect">
            <a:avLst/>
          </a:prstGeom>
        </p:spPr>
        <p:txBody>
          <a:bodyPr anchor="t" rtlCol="false" tIns="0" lIns="0" bIns="0" rIns="0">
            <a:spAutoFit/>
          </a:bodyPr>
          <a:lstStyle/>
          <a:p>
            <a:pPr algn="l">
              <a:lnSpc>
                <a:spcPts val="3332"/>
              </a:lnSpc>
            </a:pPr>
            <a:r>
              <a:rPr lang="en-US" sz="2777">
                <a:solidFill>
                  <a:srgbClr val="0E3C74"/>
                </a:solidFill>
                <a:latin typeface="Calibri (MS)"/>
                <a:ea typeface="Calibri (MS)"/>
                <a:cs typeface="Calibri (MS)"/>
                <a:sym typeface="Calibri (MS)"/>
              </a:rPr>
              <a:t>console.groq.com: signin, create an API key.</a:t>
            </a:r>
          </a:p>
        </p:txBody>
      </p:sp>
      <p:grpSp>
        <p:nvGrpSpPr>
          <p:cNvPr name="Group 19" id="19"/>
          <p:cNvGrpSpPr/>
          <p:nvPr/>
        </p:nvGrpSpPr>
        <p:grpSpPr>
          <a:xfrm rot="0">
            <a:off x="5323898" y="3827780"/>
            <a:ext cx="3909333" cy="5004729"/>
            <a:chOff x="0" y="0"/>
            <a:chExt cx="5172456" cy="6621780"/>
          </a:xfrm>
        </p:grpSpPr>
        <p:sp>
          <p:nvSpPr>
            <p:cNvPr name="Freeform 20" id="20"/>
            <p:cNvSpPr/>
            <p:nvPr/>
          </p:nvSpPr>
          <p:spPr>
            <a:xfrm flipH="false" flipV="false" rot="0">
              <a:off x="0" y="0"/>
              <a:ext cx="5172456" cy="6621780"/>
            </a:xfrm>
            <a:custGeom>
              <a:avLst/>
              <a:gdLst/>
              <a:ahLst/>
              <a:cxnLst/>
              <a:rect r="r" b="b" t="t" l="l"/>
              <a:pathLst>
                <a:path h="6621780" w="5172456">
                  <a:moveTo>
                    <a:pt x="0" y="221107"/>
                  </a:moveTo>
                  <a:cubicBezTo>
                    <a:pt x="0" y="98933"/>
                    <a:pt x="98933" y="0"/>
                    <a:pt x="221107" y="0"/>
                  </a:cubicBezTo>
                  <a:lnTo>
                    <a:pt x="4951349" y="0"/>
                  </a:lnTo>
                  <a:cubicBezTo>
                    <a:pt x="5073396" y="0"/>
                    <a:pt x="5172456" y="98933"/>
                    <a:pt x="5172456" y="221107"/>
                  </a:cubicBezTo>
                  <a:lnTo>
                    <a:pt x="5172456" y="6400673"/>
                  </a:lnTo>
                  <a:cubicBezTo>
                    <a:pt x="5172456" y="6522720"/>
                    <a:pt x="5073523" y="6621780"/>
                    <a:pt x="4951349" y="6621780"/>
                  </a:cubicBezTo>
                  <a:lnTo>
                    <a:pt x="221107" y="6621780"/>
                  </a:lnTo>
                  <a:cubicBezTo>
                    <a:pt x="98933" y="6621780"/>
                    <a:pt x="0" y="6522847"/>
                    <a:pt x="0" y="6400673"/>
                  </a:cubicBezTo>
                  <a:close/>
                </a:path>
              </a:pathLst>
            </a:custGeom>
            <a:solidFill>
              <a:srgbClr val="FFFFFF"/>
            </a:solidFill>
            <a:ln w="28575" cap="sq">
              <a:solidFill>
                <a:srgbClr val="F1F3F8"/>
              </a:solidFill>
              <a:prstDash val="solid"/>
              <a:miter/>
            </a:ln>
          </p:spPr>
        </p:sp>
      </p:grpSp>
      <p:grpSp>
        <p:nvGrpSpPr>
          <p:cNvPr name="Group 21" id="21"/>
          <p:cNvGrpSpPr/>
          <p:nvPr/>
        </p:nvGrpSpPr>
        <p:grpSpPr>
          <a:xfrm rot="0">
            <a:off x="5738559" y="4242441"/>
            <a:ext cx="858118" cy="892776"/>
            <a:chOff x="0" y="0"/>
            <a:chExt cx="1135380" cy="1181236"/>
          </a:xfrm>
        </p:grpSpPr>
        <p:sp>
          <p:nvSpPr>
            <p:cNvPr name="Freeform 22" id="22"/>
            <p:cNvSpPr/>
            <p:nvPr/>
          </p:nvSpPr>
          <p:spPr>
            <a:xfrm flipH="false" flipV="false" rot="0">
              <a:off x="0" y="0"/>
              <a:ext cx="1135380" cy="1181236"/>
            </a:xfrm>
            <a:custGeom>
              <a:avLst/>
              <a:gdLst/>
              <a:ahLst/>
              <a:cxnLst/>
              <a:rect r="r" b="b" t="t" l="l"/>
              <a:pathLst>
                <a:path h="1181236" w="1135380">
                  <a:moveTo>
                    <a:pt x="0" y="196873"/>
                  </a:moveTo>
                  <a:cubicBezTo>
                    <a:pt x="0" y="88130"/>
                    <a:pt x="84709" y="0"/>
                    <a:pt x="189230" y="0"/>
                  </a:cubicBezTo>
                  <a:lnTo>
                    <a:pt x="946150" y="0"/>
                  </a:lnTo>
                  <a:cubicBezTo>
                    <a:pt x="1050671" y="0"/>
                    <a:pt x="1135380" y="88130"/>
                    <a:pt x="1135380" y="196873"/>
                  </a:cubicBezTo>
                  <a:lnTo>
                    <a:pt x="1135380" y="984364"/>
                  </a:lnTo>
                  <a:cubicBezTo>
                    <a:pt x="1135380" y="1093106"/>
                    <a:pt x="1050671" y="1181236"/>
                    <a:pt x="946150" y="1181236"/>
                  </a:cubicBezTo>
                  <a:lnTo>
                    <a:pt x="189230" y="1181236"/>
                  </a:lnTo>
                  <a:cubicBezTo>
                    <a:pt x="84709" y="1181236"/>
                    <a:pt x="0" y="1093106"/>
                    <a:pt x="0" y="984364"/>
                  </a:cubicBezTo>
                  <a:close/>
                </a:path>
              </a:pathLst>
            </a:custGeom>
            <a:solidFill>
              <a:srgbClr val="0493FB"/>
            </a:solidFill>
            <a:ln w="28575" cap="sq">
              <a:solidFill>
                <a:srgbClr val="2A9D8F"/>
              </a:solidFill>
              <a:prstDash val="solid"/>
              <a:miter/>
            </a:ln>
          </p:spPr>
        </p:sp>
        <p:sp>
          <p:nvSpPr>
            <p:cNvPr name="TextBox 23" id="23"/>
            <p:cNvSpPr txBox="true"/>
            <p:nvPr/>
          </p:nvSpPr>
          <p:spPr>
            <a:xfrm>
              <a:off x="0" y="-76200"/>
              <a:ext cx="1135380" cy="1257436"/>
            </a:xfrm>
            <a:prstGeom prst="rect">
              <a:avLst/>
            </a:prstGeom>
          </p:spPr>
          <p:txBody>
            <a:bodyPr anchor="ctr" rtlCol="false" tIns="51193" lIns="51193" bIns="51193" rIns="51193"/>
            <a:lstStyle/>
            <a:p>
              <a:pPr algn="ctr">
                <a:lnSpc>
                  <a:spcPts val="4559"/>
                </a:lnSpc>
              </a:pPr>
              <a:r>
                <a:rPr lang="en-US" sz="3799" b="true">
                  <a:solidFill>
                    <a:srgbClr val="0E3C74"/>
                  </a:solidFill>
                  <a:latin typeface="Calibri (MS) Bold"/>
                  <a:ea typeface="Calibri (MS) Bold"/>
                  <a:cs typeface="Calibri (MS) Bold"/>
                  <a:sym typeface="Calibri (MS) Bold"/>
                </a:rPr>
                <a:t>2</a:t>
              </a:r>
            </a:p>
          </p:txBody>
        </p:sp>
      </p:grpSp>
      <p:sp>
        <p:nvSpPr>
          <p:cNvPr name="TextBox 24" id="24"/>
          <p:cNvSpPr txBox="true"/>
          <p:nvPr/>
        </p:nvSpPr>
        <p:spPr>
          <a:xfrm rot="0">
            <a:off x="5752957" y="5365037"/>
            <a:ext cx="3051215" cy="571500"/>
          </a:xfrm>
          <a:prstGeom prst="rect">
            <a:avLst/>
          </a:prstGeom>
        </p:spPr>
        <p:txBody>
          <a:bodyPr anchor="t" rtlCol="false" tIns="0" lIns="0" bIns="0" rIns="0">
            <a:spAutoFit/>
          </a:bodyPr>
          <a:lstStyle/>
          <a:p>
            <a:pPr algn="l">
              <a:lnSpc>
                <a:spcPts val="4049"/>
              </a:lnSpc>
            </a:pPr>
            <a:r>
              <a:rPr lang="en-US" sz="3374" b="true">
                <a:solidFill>
                  <a:srgbClr val="1B1F3B"/>
                </a:solidFill>
                <a:latin typeface="Calibri (MS) Bold"/>
                <a:ea typeface="Calibri (MS) Bold"/>
                <a:cs typeface="Calibri (MS) Bold"/>
                <a:sym typeface="Calibri (MS) Bold"/>
              </a:rPr>
              <a:t>Add it to Colab</a:t>
            </a:r>
          </a:p>
        </p:txBody>
      </p:sp>
      <p:sp>
        <p:nvSpPr>
          <p:cNvPr name="TextBox 25" id="25"/>
          <p:cNvSpPr txBox="true"/>
          <p:nvPr/>
        </p:nvSpPr>
        <p:spPr>
          <a:xfrm rot="0">
            <a:off x="5752957" y="6549435"/>
            <a:ext cx="3051215" cy="2009775"/>
          </a:xfrm>
          <a:prstGeom prst="rect">
            <a:avLst/>
          </a:prstGeom>
        </p:spPr>
        <p:txBody>
          <a:bodyPr anchor="t" rtlCol="false" tIns="0" lIns="0" bIns="0" rIns="0">
            <a:spAutoFit/>
          </a:bodyPr>
          <a:lstStyle/>
          <a:p>
            <a:pPr algn="l">
              <a:lnSpc>
                <a:spcPts val="3142"/>
              </a:lnSpc>
            </a:pPr>
            <a:r>
              <a:rPr lang="en-US" sz="2618">
                <a:solidFill>
                  <a:srgbClr val="0E3C74"/>
                </a:solidFill>
                <a:latin typeface="Calibri (MS)"/>
                <a:ea typeface="Calibri (MS)"/>
                <a:cs typeface="Calibri (MS)"/>
                <a:sym typeface="Calibri (MS)"/>
              </a:rPr>
              <a:t>Secrets Panel → name it GROQ_API_KEY (or whatever API key you choose) → allow access.</a:t>
            </a:r>
          </a:p>
        </p:txBody>
      </p:sp>
      <p:grpSp>
        <p:nvGrpSpPr>
          <p:cNvPr name="Group 26" id="26"/>
          <p:cNvGrpSpPr/>
          <p:nvPr/>
        </p:nvGrpSpPr>
        <p:grpSpPr>
          <a:xfrm rot="0">
            <a:off x="9619096" y="3827780"/>
            <a:ext cx="3909333" cy="5004729"/>
            <a:chOff x="0" y="0"/>
            <a:chExt cx="5172456" cy="6621780"/>
          </a:xfrm>
        </p:grpSpPr>
        <p:sp>
          <p:nvSpPr>
            <p:cNvPr name="Freeform 27" id="27"/>
            <p:cNvSpPr/>
            <p:nvPr/>
          </p:nvSpPr>
          <p:spPr>
            <a:xfrm flipH="false" flipV="false" rot="0">
              <a:off x="0" y="0"/>
              <a:ext cx="5172456" cy="6621780"/>
            </a:xfrm>
            <a:custGeom>
              <a:avLst/>
              <a:gdLst/>
              <a:ahLst/>
              <a:cxnLst/>
              <a:rect r="r" b="b" t="t" l="l"/>
              <a:pathLst>
                <a:path h="6621780" w="5172456">
                  <a:moveTo>
                    <a:pt x="0" y="221107"/>
                  </a:moveTo>
                  <a:cubicBezTo>
                    <a:pt x="0" y="98933"/>
                    <a:pt x="98933" y="0"/>
                    <a:pt x="221107" y="0"/>
                  </a:cubicBezTo>
                  <a:lnTo>
                    <a:pt x="4951349" y="0"/>
                  </a:lnTo>
                  <a:cubicBezTo>
                    <a:pt x="5073396" y="0"/>
                    <a:pt x="5172456" y="98933"/>
                    <a:pt x="5172456" y="221107"/>
                  </a:cubicBezTo>
                  <a:lnTo>
                    <a:pt x="5172456" y="6400673"/>
                  </a:lnTo>
                  <a:cubicBezTo>
                    <a:pt x="5172456" y="6522720"/>
                    <a:pt x="5073523" y="6621780"/>
                    <a:pt x="4951349" y="6621780"/>
                  </a:cubicBezTo>
                  <a:lnTo>
                    <a:pt x="221107" y="6621780"/>
                  </a:lnTo>
                  <a:cubicBezTo>
                    <a:pt x="98933" y="6621780"/>
                    <a:pt x="0" y="6522847"/>
                    <a:pt x="0" y="6400673"/>
                  </a:cubicBezTo>
                  <a:close/>
                </a:path>
              </a:pathLst>
            </a:custGeom>
            <a:solidFill>
              <a:srgbClr val="FFFFFF"/>
            </a:solidFill>
            <a:ln w="28575" cap="sq">
              <a:solidFill>
                <a:srgbClr val="F1F3F8"/>
              </a:solidFill>
              <a:prstDash val="solid"/>
              <a:miter/>
            </a:ln>
          </p:spPr>
        </p:sp>
      </p:grpSp>
      <p:grpSp>
        <p:nvGrpSpPr>
          <p:cNvPr name="Group 28" id="28"/>
          <p:cNvGrpSpPr/>
          <p:nvPr/>
        </p:nvGrpSpPr>
        <p:grpSpPr>
          <a:xfrm rot="0">
            <a:off x="10033758" y="4242441"/>
            <a:ext cx="858118" cy="892776"/>
            <a:chOff x="0" y="0"/>
            <a:chExt cx="1135380" cy="1181236"/>
          </a:xfrm>
        </p:grpSpPr>
        <p:sp>
          <p:nvSpPr>
            <p:cNvPr name="Freeform 29" id="29"/>
            <p:cNvSpPr/>
            <p:nvPr/>
          </p:nvSpPr>
          <p:spPr>
            <a:xfrm flipH="false" flipV="false" rot="0">
              <a:off x="0" y="0"/>
              <a:ext cx="1135380" cy="1181236"/>
            </a:xfrm>
            <a:custGeom>
              <a:avLst/>
              <a:gdLst/>
              <a:ahLst/>
              <a:cxnLst/>
              <a:rect r="r" b="b" t="t" l="l"/>
              <a:pathLst>
                <a:path h="1181236" w="1135380">
                  <a:moveTo>
                    <a:pt x="0" y="196873"/>
                  </a:moveTo>
                  <a:cubicBezTo>
                    <a:pt x="0" y="88130"/>
                    <a:pt x="84709" y="0"/>
                    <a:pt x="189230" y="0"/>
                  </a:cubicBezTo>
                  <a:lnTo>
                    <a:pt x="946150" y="0"/>
                  </a:lnTo>
                  <a:cubicBezTo>
                    <a:pt x="1050671" y="0"/>
                    <a:pt x="1135380" y="88130"/>
                    <a:pt x="1135380" y="196873"/>
                  </a:cubicBezTo>
                  <a:lnTo>
                    <a:pt x="1135380" y="984364"/>
                  </a:lnTo>
                  <a:cubicBezTo>
                    <a:pt x="1135380" y="1093106"/>
                    <a:pt x="1050671" y="1181236"/>
                    <a:pt x="946150" y="1181236"/>
                  </a:cubicBezTo>
                  <a:lnTo>
                    <a:pt x="189230" y="1181236"/>
                  </a:lnTo>
                  <a:cubicBezTo>
                    <a:pt x="84709" y="1181236"/>
                    <a:pt x="0" y="1093106"/>
                    <a:pt x="0" y="984364"/>
                  </a:cubicBezTo>
                  <a:close/>
                </a:path>
              </a:pathLst>
            </a:custGeom>
            <a:solidFill>
              <a:srgbClr val="0493FB"/>
            </a:solidFill>
            <a:ln w="28575" cap="sq">
              <a:solidFill>
                <a:srgbClr val="2A9D8F"/>
              </a:solidFill>
              <a:prstDash val="solid"/>
              <a:miter/>
            </a:ln>
          </p:spPr>
        </p:sp>
        <p:sp>
          <p:nvSpPr>
            <p:cNvPr name="TextBox 30" id="30"/>
            <p:cNvSpPr txBox="true"/>
            <p:nvPr/>
          </p:nvSpPr>
          <p:spPr>
            <a:xfrm>
              <a:off x="0" y="-76200"/>
              <a:ext cx="1135380" cy="1257436"/>
            </a:xfrm>
            <a:prstGeom prst="rect">
              <a:avLst/>
            </a:prstGeom>
          </p:spPr>
          <p:txBody>
            <a:bodyPr anchor="ctr" rtlCol="false" tIns="51193" lIns="51193" bIns="51193" rIns="51193"/>
            <a:lstStyle/>
            <a:p>
              <a:pPr algn="ctr">
                <a:lnSpc>
                  <a:spcPts val="4559"/>
                </a:lnSpc>
              </a:pPr>
              <a:r>
                <a:rPr lang="en-US" sz="3799" b="true">
                  <a:solidFill>
                    <a:srgbClr val="0E3C74"/>
                  </a:solidFill>
                  <a:latin typeface="Calibri (MS) Bold"/>
                  <a:ea typeface="Calibri (MS) Bold"/>
                  <a:cs typeface="Calibri (MS) Bold"/>
                  <a:sym typeface="Calibri (MS) Bold"/>
                </a:rPr>
                <a:t>3</a:t>
              </a:r>
            </a:p>
          </p:txBody>
        </p:sp>
      </p:grpSp>
      <p:sp>
        <p:nvSpPr>
          <p:cNvPr name="TextBox 31" id="31"/>
          <p:cNvSpPr txBox="true"/>
          <p:nvPr/>
        </p:nvSpPr>
        <p:spPr>
          <a:xfrm rot="0">
            <a:off x="10048156" y="5365037"/>
            <a:ext cx="3051215" cy="571500"/>
          </a:xfrm>
          <a:prstGeom prst="rect">
            <a:avLst/>
          </a:prstGeom>
        </p:spPr>
        <p:txBody>
          <a:bodyPr anchor="t" rtlCol="false" tIns="0" lIns="0" bIns="0" rIns="0">
            <a:spAutoFit/>
          </a:bodyPr>
          <a:lstStyle/>
          <a:p>
            <a:pPr algn="l">
              <a:lnSpc>
                <a:spcPts val="4049"/>
              </a:lnSpc>
            </a:pPr>
            <a:r>
              <a:rPr lang="en-US" sz="3374" b="true">
                <a:solidFill>
                  <a:srgbClr val="1B1F3B"/>
                </a:solidFill>
                <a:latin typeface="Calibri (MS) Bold"/>
                <a:ea typeface="Calibri (MS) Bold"/>
                <a:cs typeface="Calibri (MS) Bold"/>
                <a:sym typeface="Calibri (MS) Bold"/>
              </a:rPr>
              <a:t>Run the test cell</a:t>
            </a:r>
          </a:p>
        </p:txBody>
      </p:sp>
      <p:sp>
        <p:nvSpPr>
          <p:cNvPr name="TextBox 32" id="32"/>
          <p:cNvSpPr txBox="true"/>
          <p:nvPr/>
        </p:nvSpPr>
        <p:spPr>
          <a:xfrm rot="0">
            <a:off x="10048156" y="6549435"/>
            <a:ext cx="3051215" cy="1228725"/>
          </a:xfrm>
          <a:prstGeom prst="rect">
            <a:avLst/>
          </a:prstGeom>
        </p:spPr>
        <p:txBody>
          <a:bodyPr anchor="t" rtlCol="false" tIns="0" lIns="0" bIns="0" rIns="0">
            <a:spAutoFit/>
          </a:bodyPr>
          <a:lstStyle/>
          <a:p>
            <a:pPr algn="l">
              <a:lnSpc>
                <a:spcPts val="3142"/>
              </a:lnSpc>
            </a:pPr>
            <a:r>
              <a:rPr lang="en-US" sz="2618">
                <a:solidFill>
                  <a:srgbClr val="0E3C74"/>
                </a:solidFill>
                <a:latin typeface="Calibri (MS)"/>
                <a:ea typeface="Calibri (MS)"/>
                <a:cs typeface="Calibri (MS)"/>
                <a:sym typeface="Calibri (MS)"/>
              </a:rPr>
              <a:t>Answer in a few seconds means you are ready.</a:t>
            </a:r>
          </a:p>
        </p:txBody>
      </p:sp>
      <p:grpSp>
        <p:nvGrpSpPr>
          <p:cNvPr name="Group 33" id="33"/>
          <p:cNvGrpSpPr/>
          <p:nvPr/>
        </p:nvGrpSpPr>
        <p:grpSpPr>
          <a:xfrm rot="0">
            <a:off x="13914295" y="3827780"/>
            <a:ext cx="3909333" cy="5004729"/>
            <a:chOff x="0" y="0"/>
            <a:chExt cx="5172456" cy="6621780"/>
          </a:xfrm>
        </p:grpSpPr>
        <p:sp>
          <p:nvSpPr>
            <p:cNvPr name="Freeform 34" id="34"/>
            <p:cNvSpPr/>
            <p:nvPr/>
          </p:nvSpPr>
          <p:spPr>
            <a:xfrm flipH="false" flipV="false" rot="0">
              <a:off x="0" y="0"/>
              <a:ext cx="5172456" cy="6621780"/>
            </a:xfrm>
            <a:custGeom>
              <a:avLst/>
              <a:gdLst/>
              <a:ahLst/>
              <a:cxnLst/>
              <a:rect r="r" b="b" t="t" l="l"/>
              <a:pathLst>
                <a:path h="6621780" w="5172456">
                  <a:moveTo>
                    <a:pt x="0" y="221107"/>
                  </a:moveTo>
                  <a:cubicBezTo>
                    <a:pt x="0" y="98933"/>
                    <a:pt x="98933" y="0"/>
                    <a:pt x="221107" y="0"/>
                  </a:cubicBezTo>
                  <a:lnTo>
                    <a:pt x="4951349" y="0"/>
                  </a:lnTo>
                  <a:cubicBezTo>
                    <a:pt x="5073396" y="0"/>
                    <a:pt x="5172456" y="98933"/>
                    <a:pt x="5172456" y="221107"/>
                  </a:cubicBezTo>
                  <a:lnTo>
                    <a:pt x="5172456" y="6400673"/>
                  </a:lnTo>
                  <a:cubicBezTo>
                    <a:pt x="5172456" y="6522720"/>
                    <a:pt x="5073523" y="6621780"/>
                    <a:pt x="4951349" y="6621780"/>
                  </a:cubicBezTo>
                  <a:lnTo>
                    <a:pt x="221107" y="6621780"/>
                  </a:lnTo>
                  <a:cubicBezTo>
                    <a:pt x="98933" y="6621780"/>
                    <a:pt x="0" y="6522847"/>
                    <a:pt x="0" y="6400673"/>
                  </a:cubicBezTo>
                  <a:close/>
                </a:path>
              </a:pathLst>
            </a:custGeom>
            <a:solidFill>
              <a:srgbClr val="FFFFFF"/>
            </a:solidFill>
            <a:ln w="28575" cap="sq">
              <a:solidFill>
                <a:srgbClr val="F1F3F8"/>
              </a:solidFill>
              <a:prstDash val="solid"/>
              <a:miter/>
            </a:ln>
          </p:spPr>
        </p:sp>
      </p:grpSp>
      <p:grpSp>
        <p:nvGrpSpPr>
          <p:cNvPr name="Group 35" id="35"/>
          <p:cNvGrpSpPr/>
          <p:nvPr/>
        </p:nvGrpSpPr>
        <p:grpSpPr>
          <a:xfrm rot="0">
            <a:off x="14328956" y="4242441"/>
            <a:ext cx="858118" cy="892776"/>
            <a:chOff x="0" y="0"/>
            <a:chExt cx="1135380" cy="1181236"/>
          </a:xfrm>
        </p:grpSpPr>
        <p:sp>
          <p:nvSpPr>
            <p:cNvPr name="Freeform 36" id="36"/>
            <p:cNvSpPr/>
            <p:nvPr/>
          </p:nvSpPr>
          <p:spPr>
            <a:xfrm flipH="false" flipV="false" rot="0">
              <a:off x="0" y="0"/>
              <a:ext cx="1135380" cy="1181236"/>
            </a:xfrm>
            <a:custGeom>
              <a:avLst/>
              <a:gdLst/>
              <a:ahLst/>
              <a:cxnLst/>
              <a:rect r="r" b="b" t="t" l="l"/>
              <a:pathLst>
                <a:path h="1181236" w="1135380">
                  <a:moveTo>
                    <a:pt x="0" y="196873"/>
                  </a:moveTo>
                  <a:cubicBezTo>
                    <a:pt x="0" y="88130"/>
                    <a:pt x="84709" y="0"/>
                    <a:pt x="189230" y="0"/>
                  </a:cubicBezTo>
                  <a:lnTo>
                    <a:pt x="946150" y="0"/>
                  </a:lnTo>
                  <a:cubicBezTo>
                    <a:pt x="1050671" y="0"/>
                    <a:pt x="1135380" y="88130"/>
                    <a:pt x="1135380" y="196873"/>
                  </a:cubicBezTo>
                  <a:lnTo>
                    <a:pt x="1135380" y="984364"/>
                  </a:lnTo>
                  <a:cubicBezTo>
                    <a:pt x="1135380" y="1093106"/>
                    <a:pt x="1050671" y="1181236"/>
                    <a:pt x="946150" y="1181236"/>
                  </a:cubicBezTo>
                  <a:lnTo>
                    <a:pt x="189230" y="1181236"/>
                  </a:lnTo>
                  <a:cubicBezTo>
                    <a:pt x="84709" y="1181236"/>
                    <a:pt x="0" y="1093106"/>
                    <a:pt x="0" y="984364"/>
                  </a:cubicBezTo>
                  <a:close/>
                </a:path>
              </a:pathLst>
            </a:custGeom>
            <a:solidFill>
              <a:srgbClr val="0493FB"/>
            </a:solidFill>
            <a:ln w="28575" cap="sq">
              <a:solidFill>
                <a:srgbClr val="2A9D8F"/>
              </a:solidFill>
              <a:prstDash val="solid"/>
              <a:miter/>
            </a:ln>
          </p:spPr>
        </p:sp>
        <p:sp>
          <p:nvSpPr>
            <p:cNvPr name="TextBox 37" id="37"/>
            <p:cNvSpPr txBox="true"/>
            <p:nvPr/>
          </p:nvSpPr>
          <p:spPr>
            <a:xfrm>
              <a:off x="0" y="-76200"/>
              <a:ext cx="1135380" cy="1257436"/>
            </a:xfrm>
            <a:prstGeom prst="rect">
              <a:avLst/>
            </a:prstGeom>
          </p:spPr>
          <p:txBody>
            <a:bodyPr anchor="ctr" rtlCol="false" tIns="51193" lIns="51193" bIns="51193" rIns="51193"/>
            <a:lstStyle/>
            <a:p>
              <a:pPr algn="ctr">
                <a:lnSpc>
                  <a:spcPts val="4559"/>
                </a:lnSpc>
              </a:pPr>
              <a:r>
                <a:rPr lang="en-US" sz="3799" b="true">
                  <a:solidFill>
                    <a:srgbClr val="0E3C74"/>
                  </a:solidFill>
                  <a:latin typeface="Calibri (MS) Bold"/>
                  <a:ea typeface="Calibri (MS) Bold"/>
                  <a:cs typeface="Calibri (MS) Bold"/>
                  <a:sym typeface="Calibri (MS) Bold"/>
                </a:rPr>
                <a:t>4</a:t>
              </a:r>
            </a:p>
          </p:txBody>
        </p:sp>
      </p:grpSp>
      <p:sp>
        <p:nvSpPr>
          <p:cNvPr name="TextBox 38" id="38"/>
          <p:cNvSpPr txBox="true"/>
          <p:nvPr/>
        </p:nvSpPr>
        <p:spPr>
          <a:xfrm rot="0">
            <a:off x="14343354" y="5365037"/>
            <a:ext cx="3051215" cy="571500"/>
          </a:xfrm>
          <a:prstGeom prst="rect">
            <a:avLst/>
          </a:prstGeom>
        </p:spPr>
        <p:txBody>
          <a:bodyPr anchor="t" rtlCol="false" tIns="0" lIns="0" bIns="0" rIns="0">
            <a:spAutoFit/>
          </a:bodyPr>
          <a:lstStyle/>
          <a:p>
            <a:pPr algn="l">
              <a:lnSpc>
                <a:spcPts val="4049"/>
              </a:lnSpc>
            </a:pPr>
            <a:r>
              <a:rPr lang="en-US" sz="3374" b="true">
                <a:solidFill>
                  <a:srgbClr val="1B1F3B"/>
                </a:solidFill>
                <a:latin typeface="Calibri (MS) Bold"/>
                <a:ea typeface="Calibri (MS) Bold"/>
                <a:cs typeface="Calibri (MS) Bold"/>
                <a:sym typeface="Calibri (MS) Bold"/>
              </a:rPr>
              <a:t>One key each</a:t>
            </a:r>
          </a:p>
        </p:txBody>
      </p:sp>
      <p:sp>
        <p:nvSpPr>
          <p:cNvPr name="TextBox 39" id="39"/>
          <p:cNvSpPr txBox="true"/>
          <p:nvPr/>
        </p:nvSpPr>
        <p:spPr>
          <a:xfrm rot="0">
            <a:off x="14343354" y="6549435"/>
            <a:ext cx="3051215" cy="1619250"/>
          </a:xfrm>
          <a:prstGeom prst="rect">
            <a:avLst/>
          </a:prstGeom>
        </p:spPr>
        <p:txBody>
          <a:bodyPr anchor="t" rtlCol="false" tIns="0" lIns="0" bIns="0" rIns="0">
            <a:spAutoFit/>
          </a:bodyPr>
          <a:lstStyle/>
          <a:p>
            <a:pPr algn="l">
              <a:lnSpc>
                <a:spcPts val="3142"/>
              </a:lnSpc>
            </a:pPr>
            <a:r>
              <a:rPr lang="en-US" sz="2618">
                <a:solidFill>
                  <a:srgbClr val="0E3C74"/>
                </a:solidFill>
                <a:latin typeface="Calibri (MS)"/>
                <a:ea typeface="Calibri (MS)"/>
                <a:cs typeface="Calibri (MS)"/>
                <a:sym typeface="Calibri (MS)"/>
              </a:rPr>
              <a:t>The limits are per account. Never paste the key in the code. (Bad practice)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75956" y="7966921"/>
            <a:ext cx="5480719" cy="5511824"/>
          </a:xfrm>
          <a:custGeom>
            <a:avLst/>
            <a:gdLst/>
            <a:ahLst/>
            <a:cxnLst/>
            <a:rect r="r" b="b" t="t" l="l"/>
            <a:pathLst>
              <a:path h="5511824" w="5480719">
                <a:moveTo>
                  <a:pt x="0" y="0"/>
                </a:moveTo>
                <a:lnTo>
                  <a:pt x="5480720" y="0"/>
                </a:lnTo>
                <a:lnTo>
                  <a:pt x="5480720" y="5511824"/>
                </a:lnTo>
                <a:lnTo>
                  <a:pt x="0" y="5511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4"/>
            <a:stretch>
              <a:fillRect l="0" t="0" r="0" b="0"/>
            </a:stretch>
          </a:blipFill>
        </p:spPr>
      </p:sp>
      <p:sp>
        <p:nvSpPr>
          <p:cNvPr name="AutoShape 4" id="4"/>
          <p:cNvSpPr/>
          <p:nvPr/>
        </p:nvSpPr>
        <p:spPr>
          <a:xfrm flipV="true">
            <a:off x="1028708" y="1028700"/>
            <a:ext cx="16230592" cy="24204"/>
          </a:xfrm>
          <a:prstGeom prst="line">
            <a:avLst/>
          </a:prstGeom>
          <a:ln cap="flat" w="9525">
            <a:solidFill>
              <a:srgbClr val="FFFFFF"/>
            </a:solidFill>
            <a:prstDash val="solid"/>
            <a:headEnd type="none" len="sm" w="sm"/>
            <a:tailEnd type="none" len="sm" w="sm"/>
          </a:ln>
        </p:spPr>
      </p:sp>
      <p:sp>
        <p:nvSpPr>
          <p:cNvPr name="TextBox 5" id="5"/>
          <p:cNvSpPr txBox="true"/>
          <p:nvPr/>
        </p:nvSpPr>
        <p:spPr>
          <a:xfrm rot="0">
            <a:off x="1257300" y="581025"/>
            <a:ext cx="5619750" cy="328765"/>
          </a:xfrm>
          <a:prstGeom prst="rect">
            <a:avLst/>
          </a:prstGeom>
        </p:spPr>
        <p:txBody>
          <a:bodyPr anchor="t" rtlCol="false" tIns="0" lIns="0" bIns="0" rIns="0">
            <a:spAutoFit/>
          </a:bodyPr>
          <a:lstStyle/>
          <a:p>
            <a:pPr algn="l" marL="0" indent="0" lvl="0">
              <a:lnSpc>
                <a:spcPts val="2673"/>
              </a:lnSpc>
              <a:spcBef>
                <a:spcPct val="0"/>
              </a:spcBef>
            </a:pPr>
            <a:r>
              <a:rPr lang="en-US" sz="2010" spc="291" strike="noStrike" u="none">
                <a:solidFill>
                  <a:srgbClr val="DDEFFF"/>
                </a:solidFill>
                <a:latin typeface="Lilita One"/>
                <a:ea typeface="Lilita One"/>
                <a:cs typeface="Lilita One"/>
                <a:sym typeface="Lilita One"/>
              </a:rPr>
              <a:t>@dalmlsociety</a:t>
            </a:r>
          </a:p>
        </p:txBody>
      </p:sp>
      <p:sp>
        <p:nvSpPr>
          <p:cNvPr name="TextBox 6" id="6"/>
          <p:cNvSpPr txBox="true"/>
          <p:nvPr/>
        </p:nvSpPr>
        <p:spPr>
          <a:xfrm rot="0">
            <a:off x="12811125" y="552450"/>
            <a:ext cx="4448168" cy="417576"/>
          </a:xfrm>
          <a:prstGeom prst="rect">
            <a:avLst/>
          </a:prstGeom>
        </p:spPr>
        <p:txBody>
          <a:bodyPr anchor="t" rtlCol="false" tIns="0" lIns="0" bIns="0" rIns="0">
            <a:spAutoFit/>
          </a:bodyPr>
          <a:lstStyle/>
          <a:p>
            <a:pPr algn="r" marL="0" indent="0" lvl="0">
              <a:lnSpc>
                <a:spcPts val="3168"/>
              </a:lnSpc>
              <a:spcBef>
                <a:spcPct val="0"/>
              </a:spcBef>
            </a:pPr>
            <a:r>
              <a:rPr lang="en-US" sz="2879" spc="-83">
                <a:solidFill>
                  <a:srgbClr val="DDEFFF"/>
                </a:solidFill>
                <a:latin typeface="Lilita One"/>
                <a:ea typeface="Lilita One"/>
                <a:cs typeface="Lilita One"/>
                <a:sym typeface="Lilita One"/>
              </a:rPr>
              <a:t>From </a:t>
            </a:r>
            <a:r>
              <a:rPr lang="en-US" sz="2879" spc="-83" strike="noStrike" u="none">
                <a:solidFill>
                  <a:srgbClr val="DDEFFF"/>
                </a:solidFill>
                <a:latin typeface="Lilita One"/>
                <a:ea typeface="Lilita One"/>
                <a:cs typeface="Lilita One"/>
                <a:sym typeface="Lilita One"/>
              </a:rPr>
              <a:t>L</a:t>
            </a:r>
            <a:r>
              <a:rPr lang="en-US" sz="2879" spc="-83" strike="noStrike" u="none">
                <a:solidFill>
                  <a:srgbClr val="DDEFFF"/>
                </a:solidFill>
                <a:latin typeface="Lilita One"/>
                <a:ea typeface="Lilita One"/>
                <a:cs typeface="Lilita One"/>
                <a:sym typeface="Lilita One"/>
              </a:rPr>
              <a:t>LM</a:t>
            </a:r>
            <a:r>
              <a:rPr lang="en-US" sz="2879" spc="-83" strike="noStrike" u="none">
                <a:solidFill>
                  <a:srgbClr val="DDEFFF"/>
                </a:solidFill>
                <a:latin typeface="Lilita One"/>
                <a:ea typeface="Lilita One"/>
                <a:cs typeface="Lilita One"/>
                <a:sym typeface="Lilita One"/>
              </a:rPr>
              <a:t> to </a:t>
            </a:r>
            <a:r>
              <a:rPr lang="en-US" sz="2879" spc="-83" strike="noStrike" u="none">
                <a:solidFill>
                  <a:srgbClr val="DDEFFF"/>
                </a:solidFill>
                <a:latin typeface="Lilita One"/>
                <a:ea typeface="Lilita One"/>
                <a:cs typeface="Lilita One"/>
                <a:sym typeface="Lilita One"/>
              </a:rPr>
              <a:t>Agent</a:t>
            </a:r>
          </a:p>
        </p:txBody>
      </p:sp>
      <p:sp>
        <p:nvSpPr>
          <p:cNvPr name="AutoShape 7" id="7"/>
          <p:cNvSpPr/>
          <p:nvPr/>
        </p:nvSpPr>
        <p:spPr>
          <a:xfrm flipV="true">
            <a:off x="1028701" y="457718"/>
            <a:ext cx="16230592" cy="24204"/>
          </a:xfrm>
          <a:prstGeom prst="line">
            <a:avLst/>
          </a:prstGeom>
          <a:ln cap="flat" w="9525">
            <a:solidFill>
              <a:srgbClr val="FFFFFF"/>
            </a:solidFill>
            <a:prstDash val="solid"/>
            <a:headEnd type="none" len="sm" w="sm"/>
            <a:tailEnd type="none" len="sm" w="sm"/>
          </a:ln>
        </p:spPr>
      </p:sp>
      <p:grpSp>
        <p:nvGrpSpPr>
          <p:cNvPr name="Group 8" id="8"/>
          <p:cNvGrpSpPr/>
          <p:nvPr/>
        </p:nvGrpSpPr>
        <p:grpSpPr>
          <a:xfrm rot="0">
            <a:off x="1028708" y="2226299"/>
            <a:ext cx="9434108" cy="555001"/>
            <a:chOff x="0" y="0"/>
            <a:chExt cx="2398337" cy="141092"/>
          </a:xfrm>
        </p:grpSpPr>
        <p:sp>
          <p:nvSpPr>
            <p:cNvPr name="Freeform 9" id="9"/>
            <p:cNvSpPr/>
            <p:nvPr/>
          </p:nvSpPr>
          <p:spPr>
            <a:xfrm flipH="false" flipV="false" rot="0">
              <a:off x="0" y="0"/>
              <a:ext cx="2398337" cy="141092"/>
            </a:xfrm>
            <a:custGeom>
              <a:avLst/>
              <a:gdLst/>
              <a:ahLst/>
              <a:cxnLst/>
              <a:rect r="r" b="b" t="t" l="l"/>
              <a:pathLst>
                <a:path h="141092" w="2398337">
                  <a:moveTo>
                    <a:pt x="0" y="0"/>
                  </a:moveTo>
                  <a:lnTo>
                    <a:pt x="2398337" y="0"/>
                  </a:lnTo>
                  <a:lnTo>
                    <a:pt x="2398337" y="141092"/>
                  </a:lnTo>
                  <a:lnTo>
                    <a:pt x="0" y="141092"/>
                  </a:lnTo>
                  <a:close/>
                </a:path>
              </a:pathLst>
            </a:custGeom>
            <a:solidFill>
              <a:srgbClr val="0493FB"/>
            </a:solidFill>
          </p:spPr>
        </p:sp>
        <p:sp>
          <p:nvSpPr>
            <p:cNvPr name="TextBox 10" id="10"/>
            <p:cNvSpPr txBox="true"/>
            <p:nvPr/>
          </p:nvSpPr>
          <p:spPr>
            <a:xfrm>
              <a:off x="0" y="-38100"/>
              <a:ext cx="2398337" cy="179192"/>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257300" y="1410832"/>
            <a:ext cx="9205517"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Why this Session?</a:t>
            </a:r>
          </a:p>
        </p:txBody>
      </p:sp>
      <p:grpSp>
        <p:nvGrpSpPr>
          <p:cNvPr name="Group 12" id="12"/>
          <p:cNvGrpSpPr/>
          <p:nvPr/>
        </p:nvGrpSpPr>
        <p:grpSpPr>
          <a:xfrm rot="0">
            <a:off x="1028700" y="3827780"/>
            <a:ext cx="3909333" cy="5004729"/>
            <a:chOff x="0" y="0"/>
            <a:chExt cx="5172456" cy="6621780"/>
          </a:xfrm>
        </p:grpSpPr>
        <p:sp>
          <p:nvSpPr>
            <p:cNvPr name="Freeform 13" id="13"/>
            <p:cNvSpPr/>
            <p:nvPr/>
          </p:nvSpPr>
          <p:spPr>
            <a:xfrm flipH="false" flipV="false" rot="0">
              <a:off x="0" y="0"/>
              <a:ext cx="5172456" cy="6621780"/>
            </a:xfrm>
            <a:custGeom>
              <a:avLst/>
              <a:gdLst/>
              <a:ahLst/>
              <a:cxnLst/>
              <a:rect r="r" b="b" t="t" l="l"/>
              <a:pathLst>
                <a:path h="6621780" w="5172456">
                  <a:moveTo>
                    <a:pt x="0" y="221107"/>
                  </a:moveTo>
                  <a:cubicBezTo>
                    <a:pt x="0" y="98933"/>
                    <a:pt x="98933" y="0"/>
                    <a:pt x="221107" y="0"/>
                  </a:cubicBezTo>
                  <a:lnTo>
                    <a:pt x="4951349" y="0"/>
                  </a:lnTo>
                  <a:cubicBezTo>
                    <a:pt x="5073396" y="0"/>
                    <a:pt x="5172456" y="98933"/>
                    <a:pt x="5172456" y="221107"/>
                  </a:cubicBezTo>
                  <a:lnTo>
                    <a:pt x="5172456" y="6400673"/>
                  </a:lnTo>
                  <a:cubicBezTo>
                    <a:pt x="5172456" y="6522720"/>
                    <a:pt x="5073523" y="6621780"/>
                    <a:pt x="4951349" y="6621780"/>
                  </a:cubicBezTo>
                  <a:lnTo>
                    <a:pt x="221107" y="6621780"/>
                  </a:lnTo>
                  <a:cubicBezTo>
                    <a:pt x="98933" y="6621780"/>
                    <a:pt x="0" y="6522847"/>
                    <a:pt x="0" y="6400673"/>
                  </a:cubicBezTo>
                  <a:close/>
                </a:path>
              </a:pathLst>
            </a:custGeom>
            <a:solidFill>
              <a:srgbClr val="FFFFFF"/>
            </a:solidFill>
            <a:ln w="28575" cap="sq">
              <a:solidFill>
                <a:srgbClr val="F1F3F8"/>
              </a:solidFill>
              <a:prstDash val="solid"/>
              <a:miter/>
            </a:ln>
          </p:spPr>
        </p:sp>
      </p:grpSp>
      <p:grpSp>
        <p:nvGrpSpPr>
          <p:cNvPr name="Group 14" id="14"/>
          <p:cNvGrpSpPr/>
          <p:nvPr/>
        </p:nvGrpSpPr>
        <p:grpSpPr>
          <a:xfrm rot="0">
            <a:off x="1443361" y="4242441"/>
            <a:ext cx="858118" cy="858118"/>
            <a:chOff x="0" y="0"/>
            <a:chExt cx="1135380" cy="1135380"/>
          </a:xfrm>
        </p:grpSpPr>
        <p:sp>
          <p:nvSpPr>
            <p:cNvPr name="Freeform 15" id="15"/>
            <p:cNvSpPr/>
            <p:nvPr/>
          </p:nvSpPr>
          <p:spPr>
            <a:xfrm flipH="false" flipV="false" rot="0">
              <a:off x="0" y="0"/>
              <a:ext cx="1135380" cy="1135380"/>
            </a:xfrm>
            <a:custGeom>
              <a:avLst/>
              <a:gdLst/>
              <a:ahLst/>
              <a:cxnLst/>
              <a:rect r="r" b="b" t="t" l="l"/>
              <a:pathLst>
                <a:path h="1135380" w="1135380">
                  <a:moveTo>
                    <a:pt x="0" y="189230"/>
                  </a:moveTo>
                  <a:cubicBezTo>
                    <a:pt x="0" y="84709"/>
                    <a:pt x="84709" y="0"/>
                    <a:pt x="189230" y="0"/>
                  </a:cubicBezTo>
                  <a:lnTo>
                    <a:pt x="946150" y="0"/>
                  </a:lnTo>
                  <a:cubicBezTo>
                    <a:pt x="1050671" y="0"/>
                    <a:pt x="1135380" y="84709"/>
                    <a:pt x="1135380" y="189230"/>
                  </a:cubicBezTo>
                  <a:lnTo>
                    <a:pt x="1135380" y="946150"/>
                  </a:lnTo>
                  <a:cubicBezTo>
                    <a:pt x="1135380" y="1050671"/>
                    <a:pt x="1050671" y="1135380"/>
                    <a:pt x="946150" y="1135380"/>
                  </a:cubicBezTo>
                  <a:lnTo>
                    <a:pt x="189230" y="1135380"/>
                  </a:lnTo>
                  <a:cubicBezTo>
                    <a:pt x="84709" y="1135380"/>
                    <a:pt x="0" y="1050671"/>
                    <a:pt x="0" y="946150"/>
                  </a:cubicBezTo>
                  <a:close/>
                </a:path>
              </a:pathLst>
            </a:custGeom>
            <a:solidFill>
              <a:srgbClr val="0493FB"/>
            </a:solidFill>
            <a:ln w="28575" cap="sq">
              <a:solidFill>
                <a:srgbClr val="2A9D8F"/>
              </a:solidFill>
              <a:prstDash val="solid"/>
              <a:miter/>
            </a:ln>
          </p:spPr>
        </p:sp>
        <p:sp>
          <p:nvSpPr>
            <p:cNvPr name="TextBox 16" id="16"/>
            <p:cNvSpPr txBox="true"/>
            <p:nvPr/>
          </p:nvSpPr>
          <p:spPr>
            <a:xfrm>
              <a:off x="0" y="-76200"/>
              <a:ext cx="1135380" cy="1211580"/>
            </a:xfrm>
            <a:prstGeom prst="rect">
              <a:avLst/>
            </a:prstGeom>
          </p:spPr>
          <p:txBody>
            <a:bodyPr anchor="ctr" rtlCol="false" tIns="51193" lIns="51193" bIns="51193" rIns="51193"/>
            <a:lstStyle/>
            <a:p>
              <a:pPr algn="ctr">
                <a:lnSpc>
                  <a:spcPts val="4200"/>
                </a:lnSpc>
              </a:pPr>
              <a:r>
                <a:rPr lang="en-US" b="true" sz="3500">
                  <a:solidFill>
                    <a:srgbClr val="0E3C74"/>
                  </a:solidFill>
                  <a:latin typeface="Calibri (MS) Bold"/>
                  <a:ea typeface="Calibri (MS) Bold"/>
                  <a:cs typeface="Calibri (MS) Bold"/>
                  <a:sym typeface="Calibri (MS) Bold"/>
                </a:rPr>
                <a:t>✓</a:t>
              </a:r>
            </a:p>
          </p:txBody>
        </p:sp>
      </p:grpSp>
      <p:sp>
        <p:nvSpPr>
          <p:cNvPr name="TextBox 17" id="17"/>
          <p:cNvSpPr txBox="true"/>
          <p:nvPr/>
        </p:nvSpPr>
        <p:spPr>
          <a:xfrm rot="0">
            <a:off x="1457759" y="5374562"/>
            <a:ext cx="3051215" cy="523875"/>
          </a:xfrm>
          <a:prstGeom prst="rect">
            <a:avLst/>
          </a:prstGeom>
        </p:spPr>
        <p:txBody>
          <a:bodyPr anchor="t" rtlCol="false" tIns="0" lIns="0" bIns="0" rIns="0">
            <a:spAutoFit/>
          </a:bodyPr>
          <a:lstStyle/>
          <a:p>
            <a:pPr algn="l">
              <a:lnSpc>
                <a:spcPts val="3689"/>
              </a:lnSpc>
            </a:pPr>
            <a:r>
              <a:rPr lang="en-US" sz="3074" b="true">
                <a:solidFill>
                  <a:srgbClr val="1B1F3B"/>
                </a:solidFill>
                <a:latin typeface="Calibri (MS) Bold"/>
                <a:ea typeface="Calibri (MS) Bold"/>
                <a:cs typeface="Calibri (MS) Bold"/>
                <a:sym typeface="Calibri (MS) Bold"/>
              </a:rPr>
              <a:t>Agent frameworks</a:t>
            </a:r>
          </a:p>
        </p:txBody>
      </p:sp>
      <p:sp>
        <p:nvSpPr>
          <p:cNvPr name="TextBox 18" id="18"/>
          <p:cNvSpPr txBox="true"/>
          <p:nvPr/>
        </p:nvSpPr>
        <p:spPr>
          <a:xfrm rot="0">
            <a:off x="1457759" y="6558960"/>
            <a:ext cx="3051215" cy="1104900"/>
          </a:xfrm>
          <a:prstGeom prst="rect">
            <a:avLst/>
          </a:prstGeom>
        </p:spPr>
        <p:txBody>
          <a:bodyPr anchor="t" rtlCol="false" tIns="0" lIns="0" bIns="0" rIns="0">
            <a:spAutoFit/>
          </a:bodyPr>
          <a:lstStyle/>
          <a:p>
            <a:pPr algn="l">
              <a:lnSpc>
                <a:spcPts val="2782"/>
              </a:lnSpc>
            </a:pPr>
            <a:r>
              <a:rPr lang="en-US" sz="2318">
                <a:solidFill>
                  <a:srgbClr val="0E3C74"/>
                </a:solidFill>
                <a:latin typeface="Calibri (MS)"/>
                <a:ea typeface="Calibri (MS)"/>
                <a:cs typeface="Calibri (MS)"/>
                <a:sym typeface="Calibri (MS)"/>
              </a:rPr>
              <a:t>LangGraph &amp; friends, and knowing what they do for you.</a:t>
            </a:r>
          </a:p>
        </p:txBody>
      </p:sp>
      <p:grpSp>
        <p:nvGrpSpPr>
          <p:cNvPr name="Group 19" id="19"/>
          <p:cNvGrpSpPr/>
          <p:nvPr/>
        </p:nvGrpSpPr>
        <p:grpSpPr>
          <a:xfrm rot="0">
            <a:off x="5323898" y="3827780"/>
            <a:ext cx="3909333" cy="5004729"/>
            <a:chOff x="0" y="0"/>
            <a:chExt cx="5172456" cy="6621780"/>
          </a:xfrm>
        </p:grpSpPr>
        <p:sp>
          <p:nvSpPr>
            <p:cNvPr name="Freeform 20" id="20"/>
            <p:cNvSpPr/>
            <p:nvPr/>
          </p:nvSpPr>
          <p:spPr>
            <a:xfrm flipH="false" flipV="false" rot="0">
              <a:off x="0" y="0"/>
              <a:ext cx="5172456" cy="6621780"/>
            </a:xfrm>
            <a:custGeom>
              <a:avLst/>
              <a:gdLst/>
              <a:ahLst/>
              <a:cxnLst/>
              <a:rect r="r" b="b" t="t" l="l"/>
              <a:pathLst>
                <a:path h="6621780" w="5172456">
                  <a:moveTo>
                    <a:pt x="0" y="221107"/>
                  </a:moveTo>
                  <a:cubicBezTo>
                    <a:pt x="0" y="98933"/>
                    <a:pt x="98933" y="0"/>
                    <a:pt x="221107" y="0"/>
                  </a:cubicBezTo>
                  <a:lnTo>
                    <a:pt x="4951349" y="0"/>
                  </a:lnTo>
                  <a:cubicBezTo>
                    <a:pt x="5073396" y="0"/>
                    <a:pt x="5172456" y="98933"/>
                    <a:pt x="5172456" y="221107"/>
                  </a:cubicBezTo>
                  <a:lnTo>
                    <a:pt x="5172456" y="6400673"/>
                  </a:lnTo>
                  <a:cubicBezTo>
                    <a:pt x="5172456" y="6522720"/>
                    <a:pt x="5073523" y="6621780"/>
                    <a:pt x="4951349" y="6621780"/>
                  </a:cubicBezTo>
                  <a:lnTo>
                    <a:pt x="221107" y="6621780"/>
                  </a:lnTo>
                  <a:cubicBezTo>
                    <a:pt x="98933" y="6621780"/>
                    <a:pt x="0" y="6522847"/>
                    <a:pt x="0" y="6400673"/>
                  </a:cubicBezTo>
                  <a:close/>
                </a:path>
              </a:pathLst>
            </a:custGeom>
            <a:solidFill>
              <a:srgbClr val="FFFFFF"/>
            </a:solidFill>
            <a:ln w="28575" cap="sq">
              <a:solidFill>
                <a:srgbClr val="F1F3F8"/>
              </a:solidFill>
              <a:prstDash val="solid"/>
              <a:miter/>
            </a:ln>
          </p:spPr>
        </p:sp>
      </p:grpSp>
      <p:grpSp>
        <p:nvGrpSpPr>
          <p:cNvPr name="Group 21" id="21"/>
          <p:cNvGrpSpPr/>
          <p:nvPr/>
        </p:nvGrpSpPr>
        <p:grpSpPr>
          <a:xfrm rot="0">
            <a:off x="5738559" y="4242441"/>
            <a:ext cx="858118" cy="858118"/>
            <a:chOff x="0" y="0"/>
            <a:chExt cx="1135380" cy="1135380"/>
          </a:xfrm>
        </p:grpSpPr>
        <p:sp>
          <p:nvSpPr>
            <p:cNvPr name="Freeform 22" id="22"/>
            <p:cNvSpPr/>
            <p:nvPr/>
          </p:nvSpPr>
          <p:spPr>
            <a:xfrm flipH="false" flipV="false" rot="0">
              <a:off x="0" y="0"/>
              <a:ext cx="1135380" cy="1135380"/>
            </a:xfrm>
            <a:custGeom>
              <a:avLst/>
              <a:gdLst/>
              <a:ahLst/>
              <a:cxnLst/>
              <a:rect r="r" b="b" t="t" l="l"/>
              <a:pathLst>
                <a:path h="1135380" w="1135380">
                  <a:moveTo>
                    <a:pt x="0" y="189230"/>
                  </a:moveTo>
                  <a:cubicBezTo>
                    <a:pt x="0" y="84709"/>
                    <a:pt x="84709" y="0"/>
                    <a:pt x="189230" y="0"/>
                  </a:cubicBezTo>
                  <a:lnTo>
                    <a:pt x="946150" y="0"/>
                  </a:lnTo>
                  <a:cubicBezTo>
                    <a:pt x="1050671" y="0"/>
                    <a:pt x="1135380" y="84709"/>
                    <a:pt x="1135380" y="189230"/>
                  </a:cubicBezTo>
                  <a:lnTo>
                    <a:pt x="1135380" y="946150"/>
                  </a:lnTo>
                  <a:cubicBezTo>
                    <a:pt x="1135380" y="1050671"/>
                    <a:pt x="1050671" y="1135380"/>
                    <a:pt x="946150" y="1135380"/>
                  </a:cubicBezTo>
                  <a:lnTo>
                    <a:pt x="189230" y="1135380"/>
                  </a:lnTo>
                  <a:cubicBezTo>
                    <a:pt x="84709" y="1135380"/>
                    <a:pt x="0" y="1050671"/>
                    <a:pt x="0" y="946150"/>
                  </a:cubicBezTo>
                  <a:close/>
                </a:path>
              </a:pathLst>
            </a:custGeom>
            <a:solidFill>
              <a:srgbClr val="0493FB"/>
            </a:solidFill>
            <a:ln w="28575" cap="sq">
              <a:solidFill>
                <a:srgbClr val="2A9D8F"/>
              </a:solidFill>
              <a:prstDash val="solid"/>
              <a:miter/>
            </a:ln>
          </p:spPr>
        </p:sp>
        <p:sp>
          <p:nvSpPr>
            <p:cNvPr name="TextBox 23" id="23"/>
            <p:cNvSpPr txBox="true"/>
            <p:nvPr/>
          </p:nvSpPr>
          <p:spPr>
            <a:xfrm>
              <a:off x="0" y="-76200"/>
              <a:ext cx="1135380" cy="1211580"/>
            </a:xfrm>
            <a:prstGeom prst="rect">
              <a:avLst/>
            </a:prstGeom>
          </p:spPr>
          <p:txBody>
            <a:bodyPr anchor="ctr" rtlCol="false" tIns="51193" lIns="51193" bIns="51193" rIns="51193"/>
            <a:lstStyle/>
            <a:p>
              <a:pPr algn="ctr">
                <a:lnSpc>
                  <a:spcPts val="4200"/>
                </a:lnSpc>
              </a:pPr>
              <a:r>
                <a:rPr lang="en-US" b="true" sz="3500">
                  <a:solidFill>
                    <a:srgbClr val="0E3C74"/>
                  </a:solidFill>
                  <a:latin typeface="Calibri (MS) Bold"/>
                  <a:ea typeface="Calibri (MS) Bold"/>
                  <a:cs typeface="Calibri (MS) Bold"/>
                  <a:sym typeface="Calibri (MS) Bold"/>
                </a:rPr>
                <a:t>✓</a:t>
              </a:r>
            </a:p>
          </p:txBody>
        </p:sp>
      </p:grpSp>
      <p:sp>
        <p:nvSpPr>
          <p:cNvPr name="TextBox 24" id="24"/>
          <p:cNvSpPr txBox="true"/>
          <p:nvPr/>
        </p:nvSpPr>
        <p:spPr>
          <a:xfrm rot="0">
            <a:off x="5752957" y="5374562"/>
            <a:ext cx="3051215" cy="523875"/>
          </a:xfrm>
          <a:prstGeom prst="rect">
            <a:avLst/>
          </a:prstGeom>
        </p:spPr>
        <p:txBody>
          <a:bodyPr anchor="t" rtlCol="false" tIns="0" lIns="0" bIns="0" rIns="0">
            <a:spAutoFit/>
          </a:bodyPr>
          <a:lstStyle/>
          <a:p>
            <a:pPr algn="l">
              <a:lnSpc>
                <a:spcPts val="3689"/>
              </a:lnSpc>
            </a:pPr>
            <a:r>
              <a:rPr lang="en-US" sz="3074" b="true">
                <a:solidFill>
                  <a:srgbClr val="1B1F3B"/>
                </a:solidFill>
                <a:latin typeface="Calibri (MS) Bold"/>
                <a:ea typeface="Calibri (MS) Bold"/>
                <a:cs typeface="Calibri (MS) Bold"/>
                <a:sym typeface="Calibri (MS) Bold"/>
              </a:rPr>
              <a:t>Structured output</a:t>
            </a:r>
          </a:p>
        </p:txBody>
      </p:sp>
      <p:sp>
        <p:nvSpPr>
          <p:cNvPr name="TextBox 25" id="25"/>
          <p:cNvSpPr txBox="true"/>
          <p:nvPr/>
        </p:nvSpPr>
        <p:spPr>
          <a:xfrm rot="0">
            <a:off x="5752957" y="6558960"/>
            <a:ext cx="3051215" cy="1104900"/>
          </a:xfrm>
          <a:prstGeom prst="rect">
            <a:avLst/>
          </a:prstGeom>
        </p:spPr>
        <p:txBody>
          <a:bodyPr anchor="t" rtlCol="false" tIns="0" lIns="0" bIns="0" rIns="0">
            <a:spAutoFit/>
          </a:bodyPr>
          <a:lstStyle/>
          <a:p>
            <a:pPr algn="l">
              <a:lnSpc>
                <a:spcPts val="2782"/>
              </a:lnSpc>
            </a:pPr>
            <a:r>
              <a:rPr lang="en-US" sz="2318">
                <a:solidFill>
                  <a:srgbClr val="0E3C74"/>
                </a:solidFill>
                <a:latin typeface="Calibri (MS)"/>
                <a:ea typeface="Calibri (MS)"/>
                <a:cs typeface="Calibri (MS)"/>
                <a:sym typeface="Calibri (MS)"/>
              </a:rPr>
              <a:t>Forcing an unreliable model into data your code can trust.</a:t>
            </a:r>
          </a:p>
        </p:txBody>
      </p:sp>
      <p:grpSp>
        <p:nvGrpSpPr>
          <p:cNvPr name="Group 26" id="26"/>
          <p:cNvGrpSpPr/>
          <p:nvPr/>
        </p:nvGrpSpPr>
        <p:grpSpPr>
          <a:xfrm rot="0">
            <a:off x="9619096" y="3827780"/>
            <a:ext cx="3909333" cy="5004729"/>
            <a:chOff x="0" y="0"/>
            <a:chExt cx="5172456" cy="6621780"/>
          </a:xfrm>
        </p:grpSpPr>
        <p:sp>
          <p:nvSpPr>
            <p:cNvPr name="Freeform 27" id="27"/>
            <p:cNvSpPr/>
            <p:nvPr/>
          </p:nvSpPr>
          <p:spPr>
            <a:xfrm flipH="false" flipV="false" rot="0">
              <a:off x="0" y="0"/>
              <a:ext cx="5172456" cy="6621780"/>
            </a:xfrm>
            <a:custGeom>
              <a:avLst/>
              <a:gdLst/>
              <a:ahLst/>
              <a:cxnLst/>
              <a:rect r="r" b="b" t="t" l="l"/>
              <a:pathLst>
                <a:path h="6621780" w="5172456">
                  <a:moveTo>
                    <a:pt x="0" y="221107"/>
                  </a:moveTo>
                  <a:cubicBezTo>
                    <a:pt x="0" y="98933"/>
                    <a:pt x="98933" y="0"/>
                    <a:pt x="221107" y="0"/>
                  </a:cubicBezTo>
                  <a:lnTo>
                    <a:pt x="4951349" y="0"/>
                  </a:lnTo>
                  <a:cubicBezTo>
                    <a:pt x="5073396" y="0"/>
                    <a:pt x="5172456" y="98933"/>
                    <a:pt x="5172456" y="221107"/>
                  </a:cubicBezTo>
                  <a:lnTo>
                    <a:pt x="5172456" y="6400673"/>
                  </a:lnTo>
                  <a:cubicBezTo>
                    <a:pt x="5172456" y="6522720"/>
                    <a:pt x="5073523" y="6621780"/>
                    <a:pt x="4951349" y="6621780"/>
                  </a:cubicBezTo>
                  <a:lnTo>
                    <a:pt x="221107" y="6621780"/>
                  </a:lnTo>
                  <a:cubicBezTo>
                    <a:pt x="98933" y="6621780"/>
                    <a:pt x="0" y="6522847"/>
                    <a:pt x="0" y="6400673"/>
                  </a:cubicBezTo>
                  <a:close/>
                </a:path>
              </a:pathLst>
            </a:custGeom>
            <a:solidFill>
              <a:srgbClr val="FFFFFF"/>
            </a:solidFill>
            <a:ln w="28575" cap="sq">
              <a:solidFill>
                <a:srgbClr val="F1F3F8"/>
              </a:solidFill>
              <a:prstDash val="solid"/>
              <a:miter/>
            </a:ln>
          </p:spPr>
        </p:sp>
      </p:grpSp>
      <p:grpSp>
        <p:nvGrpSpPr>
          <p:cNvPr name="Group 28" id="28"/>
          <p:cNvGrpSpPr/>
          <p:nvPr/>
        </p:nvGrpSpPr>
        <p:grpSpPr>
          <a:xfrm rot="0">
            <a:off x="10033758" y="4242441"/>
            <a:ext cx="858118" cy="858118"/>
            <a:chOff x="0" y="0"/>
            <a:chExt cx="1135380" cy="1135380"/>
          </a:xfrm>
        </p:grpSpPr>
        <p:sp>
          <p:nvSpPr>
            <p:cNvPr name="Freeform 29" id="29"/>
            <p:cNvSpPr/>
            <p:nvPr/>
          </p:nvSpPr>
          <p:spPr>
            <a:xfrm flipH="false" flipV="false" rot="0">
              <a:off x="0" y="0"/>
              <a:ext cx="1135380" cy="1135380"/>
            </a:xfrm>
            <a:custGeom>
              <a:avLst/>
              <a:gdLst/>
              <a:ahLst/>
              <a:cxnLst/>
              <a:rect r="r" b="b" t="t" l="l"/>
              <a:pathLst>
                <a:path h="1135380" w="1135380">
                  <a:moveTo>
                    <a:pt x="0" y="189230"/>
                  </a:moveTo>
                  <a:cubicBezTo>
                    <a:pt x="0" y="84709"/>
                    <a:pt x="84709" y="0"/>
                    <a:pt x="189230" y="0"/>
                  </a:cubicBezTo>
                  <a:lnTo>
                    <a:pt x="946150" y="0"/>
                  </a:lnTo>
                  <a:cubicBezTo>
                    <a:pt x="1050671" y="0"/>
                    <a:pt x="1135380" y="84709"/>
                    <a:pt x="1135380" y="189230"/>
                  </a:cubicBezTo>
                  <a:lnTo>
                    <a:pt x="1135380" y="946150"/>
                  </a:lnTo>
                  <a:cubicBezTo>
                    <a:pt x="1135380" y="1050671"/>
                    <a:pt x="1050671" y="1135380"/>
                    <a:pt x="946150" y="1135380"/>
                  </a:cubicBezTo>
                  <a:lnTo>
                    <a:pt x="189230" y="1135380"/>
                  </a:lnTo>
                  <a:cubicBezTo>
                    <a:pt x="84709" y="1135380"/>
                    <a:pt x="0" y="1050671"/>
                    <a:pt x="0" y="946150"/>
                  </a:cubicBezTo>
                  <a:close/>
                </a:path>
              </a:pathLst>
            </a:custGeom>
            <a:solidFill>
              <a:srgbClr val="0493FB"/>
            </a:solidFill>
            <a:ln w="28575" cap="sq">
              <a:solidFill>
                <a:srgbClr val="2A9D8F"/>
              </a:solidFill>
              <a:prstDash val="solid"/>
              <a:miter/>
            </a:ln>
          </p:spPr>
        </p:sp>
        <p:sp>
          <p:nvSpPr>
            <p:cNvPr name="TextBox 30" id="30"/>
            <p:cNvSpPr txBox="true"/>
            <p:nvPr/>
          </p:nvSpPr>
          <p:spPr>
            <a:xfrm>
              <a:off x="0" y="-76200"/>
              <a:ext cx="1135380" cy="1211580"/>
            </a:xfrm>
            <a:prstGeom prst="rect">
              <a:avLst/>
            </a:prstGeom>
          </p:spPr>
          <p:txBody>
            <a:bodyPr anchor="ctr" rtlCol="false" tIns="51193" lIns="51193" bIns="51193" rIns="51193"/>
            <a:lstStyle/>
            <a:p>
              <a:pPr algn="ctr">
                <a:lnSpc>
                  <a:spcPts val="4200"/>
                </a:lnSpc>
              </a:pPr>
              <a:r>
                <a:rPr lang="en-US" b="true" sz="3500">
                  <a:solidFill>
                    <a:srgbClr val="0E3C74"/>
                  </a:solidFill>
                  <a:latin typeface="Calibri (MS) Bold"/>
                  <a:ea typeface="Calibri (MS) Bold"/>
                  <a:cs typeface="Calibri (MS) Bold"/>
                  <a:sym typeface="Calibri (MS) Bold"/>
                </a:rPr>
                <a:t>✓</a:t>
              </a:r>
            </a:p>
          </p:txBody>
        </p:sp>
      </p:grpSp>
      <p:sp>
        <p:nvSpPr>
          <p:cNvPr name="TextBox 31" id="31"/>
          <p:cNvSpPr txBox="true"/>
          <p:nvPr/>
        </p:nvSpPr>
        <p:spPr>
          <a:xfrm rot="0">
            <a:off x="10048156" y="5374562"/>
            <a:ext cx="3051215" cy="990600"/>
          </a:xfrm>
          <a:prstGeom prst="rect">
            <a:avLst/>
          </a:prstGeom>
        </p:spPr>
        <p:txBody>
          <a:bodyPr anchor="t" rtlCol="false" tIns="0" lIns="0" bIns="0" rIns="0">
            <a:spAutoFit/>
          </a:bodyPr>
          <a:lstStyle/>
          <a:p>
            <a:pPr algn="l">
              <a:lnSpc>
                <a:spcPts val="3689"/>
              </a:lnSpc>
            </a:pPr>
            <a:r>
              <a:rPr lang="en-US" sz="3074" b="true">
                <a:solidFill>
                  <a:srgbClr val="1B1F3B"/>
                </a:solidFill>
                <a:latin typeface="Calibri (MS) Bold"/>
                <a:ea typeface="Calibri (MS) Bold"/>
                <a:cs typeface="Calibri (MS) Bold"/>
                <a:sym typeface="Calibri (MS) Bold"/>
              </a:rPr>
              <a:t>Observability &amp; evals</a:t>
            </a:r>
          </a:p>
        </p:txBody>
      </p:sp>
      <p:sp>
        <p:nvSpPr>
          <p:cNvPr name="TextBox 32" id="32"/>
          <p:cNvSpPr txBox="true"/>
          <p:nvPr/>
        </p:nvSpPr>
        <p:spPr>
          <a:xfrm rot="0">
            <a:off x="10048156" y="6558960"/>
            <a:ext cx="3051215" cy="752475"/>
          </a:xfrm>
          <a:prstGeom prst="rect">
            <a:avLst/>
          </a:prstGeom>
        </p:spPr>
        <p:txBody>
          <a:bodyPr anchor="t" rtlCol="false" tIns="0" lIns="0" bIns="0" rIns="0">
            <a:spAutoFit/>
          </a:bodyPr>
          <a:lstStyle/>
          <a:p>
            <a:pPr algn="l">
              <a:lnSpc>
                <a:spcPts val="2782"/>
              </a:lnSpc>
            </a:pPr>
            <a:r>
              <a:rPr lang="en-US" sz="2318">
                <a:solidFill>
                  <a:srgbClr val="0E3C74"/>
                </a:solidFill>
                <a:latin typeface="Calibri (MS)"/>
                <a:ea typeface="Calibri (MS)"/>
                <a:cs typeface="Calibri (MS)"/>
                <a:sym typeface="Calibri (MS)"/>
              </a:rPr>
              <a:t>Answering “why did it do that?” with evidence.</a:t>
            </a:r>
          </a:p>
        </p:txBody>
      </p:sp>
      <p:grpSp>
        <p:nvGrpSpPr>
          <p:cNvPr name="Group 33" id="33"/>
          <p:cNvGrpSpPr/>
          <p:nvPr/>
        </p:nvGrpSpPr>
        <p:grpSpPr>
          <a:xfrm rot="0">
            <a:off x="13914295" y="3827780"/>
            <a:ext cx="3909333" cy="5004729"/>
            <a:chOff x="0" y="0"/>
            <a:chExt cx="5172456" cy="6621780"/>
          </a:xfrm>
        </p:grpSpPr>
        <p:sp>
          <p:nvSpPr>
            <p:cNvPr name="Freeform 34" id="34"/>
            <p:cNvSpPr/>
            <p:nvPr/>
          </p:nvSpPr>
          <p:spPr>
            <a:xfrm flipH="false" flipV="false" rot="0">
              <a:off x="0" y="0"/>
              <a:ext cx="5172456" cy="6621780"/>
            </a:xfrm>
            <a:custGeom>
              <a:avLst/>
              <a:gdLst/>
              <a:ahLst/>
              <a:cxnLst/>
              <a:rect r="r" b="b" t="t" l="l"/>
              <a:pathLst>
                <a:path h="6621780" w="5172456">
                  <a:moveTo>
                    <a:pt x="0" y="221107"/>
                  </a:moveTo>
                  <a:cubicBezTo>
                    <a:pt x="0" y="98933"/>
                    <a:pt x="98933" y="0"/>
                    <a:pt x="221107" y="0"/>
                  </a:cubicBezTo>
                  <a:lnTo>
                    <a:pt x="4951349" y="0"/>
                  </a:lnTo>
                  <a:cubicBezTo>
                    <a:pt x="5073396" y="0"/>
                    <a:pt x="5172456" y="98933"/>
                    <a:pt x="5172456" y="221107"/>
                  </a:cubicBezTo>
                  <a:lnTo>
                    <a:pt x="5172456" y="6400673"/>
                  </a:lnTo>
                  <a:cubicBezTo>
                    <a:pt x="5172456" y="6522720"/>
                    <a:pt x="5073523" y="6621780"/>
                    <a:pt x="4951349" y="6621780"/>
                  </a:cubicBezTo>
                  <a:lnTo>
                    <a:pt x="221107" y="6621780"/>
                  </a:lnTo>
                  <a:cubicBezTo>
                    <a:pt x="98933" y="6621780"/>
                    <a:pt x="0" y="6522847"/>
                    <a:pt x="0" y="6400673"/>
                  </a:cubicBezTo>
                  <a:close/>
                </a:path>
              </a:pathLst>
            </a:custGeom>
            <a:solidFill>
              <a:srgbClr val="FFFFFF"/>
            </a:solidFill>
            <a:ln w="28575" cap="sq">
              <a:solidFill>
                <a:srgbClr val="F1F3F8"/>
              </a:solidFill>
              <a:prstDash val="solid"/>
              <a:miter/>
            </a:ln>
          </p:spPr>
        </p:sp>
      </p:grpSp>
      <p:grpSp>
        <p:nvGrpSpPr>
          <p:cNvPr name="Group 35" id="35"/>
          <p:cNvGrpSpPr/>
          <p:nvPr/>
        </p:nvGrpSpPr>
        <p:grpSpPr>
          <a:xfrm rot="0">
            <a:off x="14328956" y="4242441"/>
            <a:ext cx="858118" cy="858118"/>
            <a:chOff x="0" y="0"/>
            <a:chExt cx="1135380" cy="1135380"/>
          </a:xfrm>
        </p:grpSpPr>
        <p:sp>
          <p:nvSpPr>
            <p:cNvPr name="Freeform 36" id="36"/>
            <p:cNvSpPr/>
            <p:nvPr/>
          </p:nvSpPr>
          <p:spPr>
            <a:xfrm flipH="false" flipV="false" rot="0">
              <a:off x="0" y="0"/>
              <a:ext cx="1135380" cy="1135380"/>
            </a:xfrm>
            <a:custGeom>
              <a:avLst/>
              <a:gdLst/>
              <a:ahLst/>
              <a:cxnLst/>
              <a:rect r="r" b="b" t="t" l="l"/>
              <a:pathLst>
                <a:path h="1135380" w="1135380">
                  <a:moveTo>
                    <a:pt x="0" y="189230"/>
                  </a:moveTo>
                  <a:cubicBezTo>
                    <a:pt x="0" y="84709"/>
                    <a:pt x="84709" y="0"/>
                    <a:pt x="189230" y="0"/>
                  </a:cubicBezTo>
                  <a:lnTo>
                    <a:pt x="946150" y="0"/>
                  </a:lnTo>
                  <a:cubicBezTo>
                    <a:pt x="1050671" y="0"/>
                    <a:pt x="1135380" y="84709"/>
                    <a:pt x="1135380" y="189230"/>
                  </a:cubicBezTo>
                  <a:lnTo>
                    <a:pt x="1135380" y="946150"/>
                  </a:lnTo>
                  <a:cubicBezTo>
                    <a:pt x="1135380" y="1050671"/>
                    <a:pt x="1050671" y="1135380"/>
                    <a:pt x="946150" y="1135380"/>
                  </a:cubicBezTo>
                  <a:lnTo>
                    <a:pt x="189230" y="1135380"/>
                  </a:lnTo>
                  <a:cubicBezTo>
                    <a:pt x="84709" y="1135380"/>
                    <a:pt x="0" y="1050671"/>
                    <a:pt x="0" y="946150"/>
                  </a:cubicBezTo>
                  <a:close/>
                </a:path>
              </a:pathLst>
            </a:custGeom>
            <a:solidFill>
              <a:srgbClr val="0493FB"/>
            </a:solidFill>
            <a:ln w="28575" cap="sq">
              <a:solidFill>
                <a:srgbClr val="2A9D8F"/>
              </a:solidFill>
              <a:prstDash val="solid"/>
              <a:miter/>
            </a:ln>
          </p:spPr>
        </p:sp>
        <p:sp>
          <p:nvSpPr>
            <p:cNvPr name="TextBox 37" id="37"/>
            <p:cNvSpPr txBox="true"/>
            <p:nvPr/>
          </p:nvSpPr>
          <p:spPr>
            <a:xfrm>
              <a:off x="0" y="-76200"/>
              <a:ext cx="1135380" cy="1211580"/>
            </a:xfrm>
            <a:prstGeom prst="rect">
              <a:avLst/>
            </a:prstGeom>
          </p:spPr>
          <p:txBody>
            <a:bodyPr anchor="ctr" rtlCol="false" tIns="51193" lIns="51193" bIns="51193" rIns="51193"/>
            <a:lstStyle/>
            <a:p>
              <a:pPr algn="ctr">
                <a:lnSpc>
                  <a:spcPts val="4200"/>
                </a:lnSpc>
              </a:pPr>
              <a:r>
                <a:rPr lang="en-US" b="true" sz="3500">
                  <a:solidFill>
                    <a:srgbClr val="0E3C74"/>
                  </a:solidFill>
                  <a:latin typeface="Calibri (MS) Bold"/>
                  <a:ea typeface="Calibri (MS) Bold"/>
                  <a:cs typeface="Calibri (MS) Bold"/>
                  <a:sym typeface="Calibri (MS) Bold"/>
                </a:rPr>
                <a:t>✓</a:t>
              </a:r>
            </a:p>
          </p:txBody>
        </p:sp>
      </p:grpSp>
      <p:sp>
        <p:nvSpPr>
          <p:cNvPr name="TextBox 38" id="38"/>
          <p:cNvSpPr txBox="true"/>
          <p:nvPr/>
        </p:nvSpPr>
        <p:spPr>
          <a:xfrm rot="0">
            <a:off x="14343354" y="5374562"/>
            <a:ext cx="3051215" cy="523875"/>
          </a:xfrm>
          <a:prstGeom prst="rect">
            <a:avLst/>
          </a:prstGeom>
        </p:spPr>
        <p:txBody>
          <a:bodyPr anchor="t" rtlCol="false" tIns="0" lIns="0" bIns="0" rIns="0">
            <a:spAutoFit/>
          </a:bodyPr>
          <a:lstStyle/>
          <a:p>
            <a:pPr algn="l">
              <a:lnSpc>
                <a:spcPts val="3689"/>
              </a:lnSpc>
            </a:pPr>
            <a:r>
              <a:rPr lang="en-US" sz="3074" b="true">
                <a:solidFill>
                  <a:srgbClr val="1B1F3B"/>
                </a:solidFill>
                <a:latin typeface="Calibri (MS) Bold"/>
                <a:ea typeface="Calibri (MS) Bold"/>
                <a:cs typeface="Calibri (MS) Bold"/>
                <a:sym typeface="Calibri (MS) Bold"/>
              </a:rPr>
              <a:t>Failure handling</a:t>
            </a:r>
          </a:p>
        </p:txBody>
      </p:sp>
      <p:sp>
        <p:nvSpPr>
          <p:cNvPr name="TextBox 39" id="39"/>
          <p:cNvSpPr txBox="true"/>
          <p:nvPr/>
        </p:nvSpPr>
        <p:spPr>
          <a:xfrm rot="0">
            <a:off x="14343354" y="6558960"/>
            <a:ext cx="3051215" cy="752475"/>
          </a:xfrm>
          <a:prstGeom prst="rect">
            <a:avLst/>
          </a:prstGeom>
        </p:spPr>
        <p:txBody>
          <a:bodyPr anchor="t" rtlCol="false" tIns="0" lIns="0" bIns="0" rIns="0">
            <a:spAutoFit/>
          </a:bodyPr>
          <a:lstStyle/>
          <a:p>
            <a:pPr algn="l">
              <a:lnSpc>
                <a:spcPts val="2782"/>
              </a:lnSpc>
            </a:pPr>
            <a:r>
              <a:rPr lang="en-US" sz="2318">
                <a:solidFill>
                  <a:srgbClr val="0E3C74"/>
                </a:solidFill>
                <a:latin typeface="Calibri (MS)"/>
                <a:ea typeface="Calibri (MS)"/>
                <a:cs typeface="Calibri (MS)"/>
                <a:sym typeface="Calibri (MS)"/>
              </a:rPr>
              <a:t>Planning for the call that fails, because it will.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3178749"/>
            <a:ext cx="1400175" cy="920115"/>
            <a:chOff x="0" y="0"/>
            <a:chExt cx="1866900" cy="1226820"/>
          </a:xfrm>
        </p:grpSpPr>
        <p:sp>
          <p:nvSpPr>
            <p:cNvPr name="Freeform 3" id="3"/>
            <p:cNvSpPr/>
            <p:nvPr/>
          </p:nvSpPr>
          <p:spPr>
            <a:xfrm flipH="false" flipV="false" rot="0">
              <a:off x="0" y="0"/>
              <a:ext cx="1866900" cy="1226820"/>
            </a:xfrm>
            <a:custGeom>
              <a:avLst/>
              <a:gdLst/>
              <a:ahLst/>
              <a:cxnLst/>
              <a:rect r="r" b="b" t="t" l="l"/>
              <a:pathLst>
                <a:path h="1226820" w="1866900">
                  <a:moveTo>
                    <a:pt x="0" y="226441"/>
                  </a:moveTo>
                  <a:cubicBezTo>
                    <a:pt x="0" y="101346"/>
                    <a:pt x="101346" y="0"/>
                    <a:pt x="226441" y="0"/>
                  </a:cubicBezTo>
                  <a:lnTo>
                    <a:pt x="1640459" y="0"/>
                  </a:lnTo>
                  <a:cubicBezTo>
                    <a:pt x="1765554" y="0"/>
                    <a:pt x="1866900" y="101346"/>
                    <a:pt x="1866900" y="226441"/>
                  </a:cubicBezTo>
                  <a:lnTo>
                    <a:pt x="1866900" y="1000379"/>
                  </a:lnTo>
                  <a:cubicBezTo>
                    <a:pt x="1866900" y="1125474"/>
                    <a:pt x="1765554" y="1226820"/>
                    <a:pt x="1640459" y="1226820"/>
                  </a:cubicBezTo>
                  <a:lnTo>
                    <a:pt x="226441" y="1226820"/>
                  </a:lnTo>
                  <a:cubicBezTo>
                    <a:pt x="101346" y="1226820"/>
                    <a:pt x="0" y="1125474"/>
                    <a:pt x="0" y="1000379"/>
                  </a:cubicBezTo>
                  <a:close/>
                </a:path>
              </a:pathLst>
            </a:custGeom>
            <a:solidFill>
              <a:srgbClr val="F1F3F8"/>
            </a:solidFill>
            <a:ln w="28575" cap="sq">
              <a:solidFill>
                <a:srgbClr val="F1F3F8"/>
              </a:solidFill>
              <a:prstDash val="solid"/>
              <a:miter/>
            </a:ln>
          </p:spPr>
        </p:sp>
        <p:sp>
          <p:nvSpPr>
            <p:cNvPr name="TextBox 4" id="4"/>
            <p:cNvSpPr txBox="true"/>
            <p:nvPr/>
          </p:nvSpPr>
          <p:spPr>
            <a:xfrm>
              <a:off x="0" y="-66675"/>
              <a:ext cx="1866900" cy="1293495"/>
            </a:xfrm>
            <a:prstGeom prst="rect">
              <a:avLst/>
            </a:prstGeom>
          </p:spPr>
          <p:txBody>
            <a:bodyPr anchor="ctr" rtlCol="false" tIns="50800" lIns="50800" bIns="50800" rIns="50800"/>
            <a:lstStyle/>
            <a:p>
              <a:pPr algn="ctr">
                <a:lnSpc>
                  <a:spcPts val="3600"/>
                </a:lnSpc>
              </a:pPr>
              <a:r>
                <a:rPr lang="en-US" sz="3000">
                  <a:solidFill>
                    <a:srgbClr val="1B1F3B"/>
                  </a:solidFill>
                  <a:latin typeface="Calibri (MS)"/>
                  <a:ea typeface="Calibri (MS)"/>
                  <a:cs typeface="Calibri (MS)"/>
                  <a:sym typeface="Calibri (MS)"/>
                </a:rPr>
                <a:t>Book</a:t>
              </a:r>
            </a:p>
          </p:txBody>
        </p:sp>
      </p:grpSp>
      <p:grpSp>
        <p:nvGrpSpPr>
          <p:cNvPr name="Group 5" id="5"/>
          <p:cNvGrpSpPr/>
          <p:nvPr/>
        </p:nvGrpSpPr>
        <p:grpSpPr>
          <a:xfrm rot="0">
            <a:off x="2388298" y="3178749"/>
            <a:ext cx="988695" cy="920115"/>
            <a:chOff x="0" y="0"/>
            <a:chExt cx="1318260" cy="1226820"/>
          </a:xfrm>
        </p:grpSpPr>
        <p:sp>
          <p:nvSpPr>
            <p:cNvPr name="Freeform 6" id="6"/>
            <p:cNvSpPr/>
            <p:nvPr/>
          </p:nvSpPr>
          <p:spPr>
            <a:xfrm flipH="false" flipV="false" rot="0">
              <a:off x="0" y="0"/>
              <a:ext cx="1318260" cy="1226820"/>
            </a:xfrm>
            <a:custGeom>
              <a:avLst/>
              <a:gdLst/>
              <a:ahLst/>
              <a:cxnLst/>
              <a:rect r="r" b="b" t="t" l="l"/>
              <a:pathLst>
                <a:path h="1226820" w="1318260">
                  <a:moveTo>
                    <a:pt x="0" y="226441"/>
                  </a:moveTo>
                  <a:cubicBezTo>
                    <a:pt x="0" y="101346"/>
                    <a:pt x="101346" y="0"/>
                    <a:pt x="226441" y="0"/>
                  </a:cubicBezTo>
                  <a:lnTo>
                    <a:pt x="1091819" y="0"/>
                  </a:lnTo>
                  <a:cubicBezTo>
                    <a:pt x="1216914" y="0"/>
                    <a:pt x="1318260" y="101346"/>
                    <a:pt x="1318260" y="226441"/>
                  </a:cubicBezTo>
                  <a:lnTo>
                    <a:pt x="1318260" y="1000379"/>
                  </a:lnTo>
                  <a:cubicBezTo>
                    <a:pt x="1318260" y="1125474"/>
                    <a:pt x="1216914" y="1226820"/>
                    <a:pt x="1091819" y="1226820"/>
                  </a:cubicBezTo>
                  <a:lnTo>
                    <a:pt x="226441" y="1226820"/>
                  </a:lnTo>
                  <a:cubicBezTo>
                    <a:pt x="101346" y="1226820"/>
                    <a:pt x="0" y="1125474"/>
                    <a:pt x="0" y="1000379"/>
                  </a:cubicBezTo>
                  <a:close/>
                </a:path>
              </a:pathLst>
            </a:custGeom>
            <a:solidFill>
              <a:srgbClr val="F1F3F8"/>
            </a:solidFill>
            <a:ln w="28575" cap="sq">
              <a:solidFill>
                <a:srgbClr val="F1F3F8"/>
              </a:solidFill>
              <a:prstDash val="solid"/>
              <a:miter/>
            </a:ln>
          </p:spPr>
        </p:sp>
        <p:sp>
          <p:nvSpPr>
            <p:cNvPr name="TextBox 7" id="7"/>
            <p:cNvSpPr txBox="true"/>
            <p:nvPr/>
          </p:nvSpPr>
          <p:spPr>
            <a:xfrm>
              <a:off x="0" y="-66675"/>
              <a:ext cx="1318260" cy="1293495"/>
            </a:xfrm>
            <a:prstGeom prst="rect">
              <a:avLst/>
            </a:prstGeom>
          </p:spPr>
          <p:txBody>
            <a:bodyPr anchor="ctr" rtlCol="false" tIns="50800" lIns="50800" bIns="50800" rIns="50800"/>
            <a:lstStyle/>
            <a:p>
              <a:pPr algn="ctr">
                <a:lnSpc>
                  <a:spcPts val="3600"/>
                </a:lnSpc>
              </a:pPr>
              <a:r>
                <a:rPr lang="en-US" sz="3000">
                  <a:solidFill>
                    <a:srgbClr val="1B1F3B"/>
                  </a:solidFill>
                  <a:latin typeface="Calibri (MS)"/>
                  <a:ea typeface="Calibri (MS)"/>
                  <a:cs typeface="Calibri (MS)"/>
                  <a:sym typeface="Calibri (MS)"/>
                </a:rPr>
                <a:t>me</a:t>
              </a:r>
            </a:p>
          </p:txBody>
        </p:sp>
      </p:grpSp>
      <p:grpSp>
        <p:nvGrpSpPr>
          <p:cNvPr name="Group 8" id="8"/>
          <p:cNvGrpSpPr/>
          <p:nvPr/>
        </p:nvGrpSpPr>
        <p:grpSpPr>
          <a:xfrm rot="0">
            <a:off x="3554158" y="3178749"/>
            <a:ext cx="1194435" cy="920115"/>
            <a:chOff x="0" y="0"/>
            <a:chExt cx="1592580" cy="1226820"/>
          </a:xfrm>
        </p:grpSpPr>
        <p:sp>
          <p:nvSpPr>
            <p:cNvPr name="Freeform 9" id="9"/>
            <p:cNvSpPr/>
            <p:nvPr/>
          </p:nvSpPr>
          <p:spPr>
            <a:xfrm flipH="false" flipV="false" rot="0">
              <a:off x="0" y="0"/>
              <a:ext cx="1592453" cy="1226820"/>
            </a:xfrm>
            <a:custGeom>
              <a:avLst/>
              <a:gdLst/>
              <a:ahLst/>
              <a:cxnLst/>
              <a:rect r="r" b="b" t="t" l="l"/>
              <a:pathLst>
                <a:path h="1226820" w="1592453">
                  <a:moveTo>
                    <a:pt x="0" y="226441"/>
                  </a:moveTo>
                  <a:cubicBezTo>
                    <a:pt x="0" y="101346"/>
                    <a:pt x="101346" y="0"/>
                    <a:pt x="226441" y="0"/>
                  </a:cubicBezTo>
                  <a:lnTo>
                    <a:pt x="1366012" y="0"/>
                  </a:lnTo>
                  <a:cubicBezTo>
                    <a:pt x="1491107" y="0"/>
                    <a:pt x="1592453" y="101346"/>
                    <a:pt x="1592453" y="226441"/>
                  </a:cubicBezTo>
                  <a:lnTo>
                    <a:pt x="1592453" y="1000379"/>
                  </a:lnTo>
                  <a:cubicBezTo>
                    <a:pt x="1592453" y="1125474"/>
                    <a:pt x="1491107" y="1226820"/>
                    <a:pt x="1366012" y="1226820"/>
                  </a:cubicBezTo>
                  <a:lnTo>
                    <a:pt x="226441" y="1226820"/>
                  </a:lnTo>
                  <a:cubicBezTo>
                    <a:pt x="101346" y="1226820"/>
                    <a:pt x="0" y="1125474"/>
                    <a:pt x="0" y="1000379"/>
                  </a:cubicBezTo>
                  <a:close/>
                </a:path>
              </a:pathLst>
            </a:custGeom>
            <a:solidFill>
              <a:srgbClr val="F1F3F8"/>
            </a:solidFill>
            <a:ln w="28575" cap="sq">
              <a:solidFill>
                <a:srgbClr val="F1F3F8"/>
              </a:solidFill>
              <a:prstDash val="solid"/>
              <a:miter/>
            </a:ln>
          </p:spPr>
        </p:sp>
        <p:sp>
          <p:nvSpPr>
            <p:cNvPr name="TextBox 10" id="10"/>
            <p:cNvSpPr txBox="true"/>
            <p:nvPr/>
          </p:nvSpPr>
          <p:spPr>
            <a:xfrm>
              <a:off x="0" y="-66675"/>
              <a:ext cx="1592580" cy="1293495"/>
            </a:xfrm>
            <a:prstGeom prst="rect">
              <a:avLst/>
            </a:prstGeom>
          </p:spPr>
          <p:txBody>
            <a:bodyPr anchor="ctr" rtlCol="false" tIns="50800" lIns="50800" bIns="50800" rIns="50800"/>
            <a:lstStyle/>
            <a:p>
              <a:pPr algn="ctr">
                <a:lnSpc>
                  <a:spcPts val="3600"/>
                </a:lnSpc>
              </a:pPr>
              <a:r>
                <a:rPr lang="en-US" sz="3000">
                  <a:solidFill>
                    <a:srgbClr val="1B1F3B"/>
                  </a:solidFill>
                  <a:latin typeface="Calibri (MS)"/>
                  <a:ea typeface="Calibri (MS)"/>
                  <a:cs typeface="Calibri (MS)"/>
                  <a:sym typeface="Calibri (MS)"/>
                </a:rPr>
                <a:t>the</a:t>
              </a:r>
            </a:p>
          </p:txBody>
        </p:sp>
      </p:grpSp>
      <p:grpSp>
        <p:nvGrpSpPr>
          <p:cNvPr name="Group 11" id="11"/>
          <p:cNvGrpSpPr/>
          <p:nvPr/>
        </p:nvGrpSpPr>
        <p:grpSpPr>
          <a:xfrm rot="0">
            <a:off x="4925758" y="3178749"/>
            <a:ext cx="2223135" cy="920115"/>
            <a:chOff x="0" y="0"/>
            <a:chExt cx="2964180" cy="1226820"/>
          </a:xfrm>
        </p:grpSpPr>
        <p:sp>
          <p:nvSpPr>
            <p:cNvPr name="Freeform 12" id="12"/>
            <p:cNvSpPr/>
            <p:nvPr/>
          </p:nvSpPr>
          <p:spPr>
            <a:xfrm flipH="false" flipV="false" rot="0">
              <a:off x="0" y="0"/>
              <a:ext cx="2964180" cy="1226820"/>
            </a:xfrm>
            <a:custGeom>
              <a:avLst/>
              <a:gdLst/>
              <a:ahLst/>
              <a:cxnLst/>
              <a:rect r="r" b="b" t="t" l="l"/>
              <a:pathLst>
                <a:path h="1226820" w="2964180">
                  <a:moveTo>
                    <a:pt x="0" y="226441"/>
                  </a:moveTo>
                  <a:cubicBezTo>
                    <a:pt x="0" y="101346"/>
                    <a:pt x="101346" y="0"/>
                    <a:pt x="226441" y="0"/>
                  </a:cubicBezTo>
                  <a:lnTo>
                    <a:pt x="2737739" y="0"/>
                  </a:lnTo>
                  <a:cubicBezTo>
                    <a:pt x="2862834" y="0"/>
                    <a:pt x="2964180" y="101346"/>
                    <a:pt x="2964180" y="226441"/>
                  </a:cubicBezTo>
                  <a:lnTo>
                    <a:pt x="2964180" y="1000379"/>
                  </a:lnTo>
                  <a:cubicBezTo>
                    <a:pt x="2964180" y="1125474"/>
                    <a:pt x="2862834" y="1226820"/>
                    <a:pt x="2737739" y="1226820"/>
                  </a:cubicBezTo>
                  <a:lnTo>
                    <a:pt x="226441" y="1226820"/>
                  </a:lnTo>
                  <a:cubicBezTo>
                    <a:pt x="101346" y="1226820"/>
                    <a:pt x="0" y="1125474"/>
                    <a:pt x="0" y="1000379"/>
                  </a:cubicBezTo>
                  <a:close/>
                </a:path>
              </a:pathLst>
            </a:custGeom>
            <a:solidFill>
              <a:srgbClr val="F1F3F8"/>
            </a:solidFill>
            <a:ln w="28575" cap="sq">
              <a:solidFill>
                <a:srgbClr val="F1F3F8"/>
              </a:solidFill>
              <a:prstDash val="solid"/>
              <a:miter/>
            </a:ln>
          </p:spPr>
        </p:sp>
        <p:sp>
          <p:nvSpPr>
            <p:cNvPr name="TextBox 13" id="13"/>
            <p:cNvSpPr txBox="true"/>
            <p:nvPr/>
          </p:nvSpPr>
          <p:spPr>
            <a:xfrm>
              <a:off x="0" y="-66675"/>
              <a:ext cx="2964180" cy="1293495"/>
            </a:xfrm>
            <a:prstGeom prst="rect">
              <a:avLst/>
            </a:prstGeom>
          </p:spPr>
          <p:txBody>
            <a:bodyPr anchor="ctr" rtlCol="false" tIns="50800" lIns="50800" bIns="50800" rIns="50800"/>
            <a:lstStyle/>
            <a:p>
              <a:pPr algn="ctr">
                <a:lnSpc>
                  <a:spcPts val="3600"/>
                </a:lnSpc>
              </a:pPr>
              <a:r>
                <a:rPr lang="en-US" sz="3000">
                  <a:solidFill>
                    <a:srgbClr val="1B1F3B"/>
                  </a:solidFill>
                  <a:latin typeface="Calibri (MS)"/>
                  <a:ea typeface="Calibri (MS)"/>
                  <a:cs typeface="Calibri (MS)"/>
                  <a:sym typeface="Calibri (MS)"/>
                </a:rPr>
                <a:t>cheapest</a:t>
              </a:r>
            </a:p>
          </p:txBody>
        </p:sp>
      </p:grpSp>
      <p:grpSp>
        <p:nvGrpSpPr>
          <p:cNvPr name="Group 14" id="14"/>
          <p:cNvGrpSpPr/>
          <p:nvPr/>
        </p:nvGrpSpPr>
        <p:grpSpPr>
          <a:xfrm rot="0">
            <a:off x="7326058" y="3178749"/>
            <a:ext cx="1811655" cy="920115"/>
            <a:chOff x="0" y="0"/>
            <a:chExt cx="2415540" cy="1226820"/>
          </a:xfrm>
        </p:grpSpPr>
        <p:sp>
          <p:nvSpPr>
            <p:cNvPr name="Freeform 15" id="15"/>
            <p:cNvSpPr/>
            <p:nvPr/>
          </p:nvSpPr>
          <p:spPr>
            <a:xfrm flipH="false" flipV="false" rot="0">
              <a:off x="0" y="0"/>
              <a:ext cx="2415540" cy="1226820"/>
            </a:xfrm>
            <a:custGeom>
              <a:avLst/>
              <a:gdLst/>
              <a:ahLst/>
              <a:cxnLst/>
              <a:rect r="r" b="b" t="t" l="l"/>
              <a:pathLst>
                <a:path h="1226820" w="2415540">
                  <a:moveTo>
                    <a:pt x="0" y="226441"/>
                  </a:moveTo>
                  <a:cubicBezTo>
                    <a:pt x="0" y="101346"/>
                    <a:pt x="101346" y="0"/>
                    <a:pt x="226441" y="0"/>
                  </a:cubicBezTo>
                  <a:lnTo>
                    <a:pt x="2189099" y="0"/>
                  </a:lnTo>
                  <a:cubicBezTo>
                    <a:pt x="2314194" y="0"/>
                    <a:pt x="2415540" y="101346"/>
                    <a:pt x="2415540" y="226441"/>
                  </a:cubicBezTo>
                  <a:lnTo>
                    <a:pt x="2415540" y="1000379"/>
                  </a:lnTo>
                  <a:cubicBezTo>
                    <a:pt x="2415540" y="1125474"/>
                    <a:pt x="2314194" y="1226820"/>
                    <a:pt x="2189099" y="1226820"/>
                  </a:cubicBezTo>
                  <a:lnTo>
                    <a:pt x="226441" y="1226820"/>
                  </a:lnTo>
                  <a:cubicBezTo>
                    <a:pt x="101346" y="1226820"/>
                    <a:pt x="0" y="1125474"/>
                    <a:pt x="0" y="1000379"/>
                  </a:cubicBezTo>
                  <a:close/>
                </a:path>
              </a:pathLst>
            </a:custGeom>
            <a:solidFill>
              <a:srgbClr val="F1F3F8"/>
            </a:solidFill>
            <a:ln w="28575" cap="sq">
              <a:solidFill>
                <a:srgbClr val="F1F3F8"/>
              </a:solidFill>
              <a:prstDash val="solid"/>
              <a:miter/>
            </a:ln>
          </p:spPr>
        </p:sp>
        <p:sp>
          <p:nvSpPr>
            <p:cNvPr name="TextBox 16" id="16"/>
            <p:cNvSpPr txBox="true"/>
            <p:nvPr/>
          </p:nvSpPr>
          <p:spPr>
            <a:xfrm>
              <a:off x="0" y="-66675"/>
              <a:ext cx="2415540" cy="1293495"/>
            </a:xfrm>
            <a:prstGeom prst="rect">
              <a:avLst/>
            </a:prstGeom>
          </p:spPr>
          <p:txBody>
            <a:bodyPr anchor="ctr" rtlCol="false" tIns="50800" lIns="50800" bIns="50800" rIns="50800"/>
            <a:lstStyle/>
            <a:p>
              <a:pPr algn="ctr">
                <a:lnSpc>
                  <a:spcPts val="3600"/>
                </a:lnSpc>
              </a:pPr>
              <a:r>
                <a:rPr lang="en-US" sz="3000">
                  <a:solidFill>
                    <a:srgbClr val="1B1F3B"/>
                  </a:solidFill>
                  <a:latin typeface="Calibri (MS)"/>
                  <a:ea typeface="Calibri (MS)"/>
                  <a:cs typeface="Calibri (MS)"/>
                  <a:sym typeface="Calibri (MS)"/>
                </a:rPr>
                <a:t>flight</a:t>
              </a:r>
            </a:p>
          </p:txBody>
        </p:sp>
      </p:grpSp>
      <p:sp>
        <p:nvSpPr>
          <p:cNvPr name="AutoShape 17" id="17"/>
          <p:cNvSpPr/>
          <p:nvPr/>
        </p:nvSpPr>
        <p:spPr>
          <a:xfrm>
            <a:off x="9310121" y="3619754"/>
            <a:ext cx="837969" cy="0"/>
          </a:xfrm>
          <a:prstGeom prst="line">
            <a:avLst/>
          </a:prstGeom>
          <a:ln cap="rnd" w="19050">
            <a:solidFill>
              <a:srgbClr val="8D99AE"/>
            </a:solidFill>
            <a:prstDash val="solid"/>
            <a:headEnd type="none" len="sm" w="sm"/>
            <a:tailEnd type="triangle" len="med" w="lg"/>
          </a:ln>
        </p:spPr>
      </p:sp>
      <p:grpSp>
        <p:nvGrpSpPr>
          <p:cNvPr name="Group 18" id="18"/>
          <p:cNvGrpSpPr/>
          <p:nvPr/>
        </p:nvGrpSpPr>
        <p:grpSpPr>
          <a:xfrm rot="0">
            <a:off x="10352592" y="3159696"/>
            <a:ext cx="1125855" cy="920115"/>
            <a:chOff x="0" y="0"/>
            <a:chExt cx="1501140" cy="1226820"/>
          </a:xfrm>
        </p:grpSpPr>
        <p:sp>
          <p:nvSpPr>
            <p:cNvPr name="Freeform 19" id="19"/>
            <p:cNvSpPr/>
            <p:nvPr/>
          </p:nvSpPr>
          <p:spPr>
            <a:xfrm flipH="false" flipV="false" rot="0">
              <a:off x="0" y="0"/>
              <a:ext cx="1501013" cy="1226820"/>
            </a:xfrm>
            <a:custGeom>
              <a:avLst/>
              <a:gdLst/>
              <a:ahLst/>
              <a:cxnLst/>
              <a:rect r="r" b="b" t="t" l="l"/>
              <a:pathLst>
                <a:path h="1226820" w="1501013">
                  <a:moveTo>
                    <a:pt x="0" y="226441"/>
                  </a:moveTo>
                  <a:cubicBezTo>
                    <a:pt x="0" y="101346"/>
                    <a:pt x="101346" y="0"/>
                    <a:pt x="226441" y="0"/>
                  </a:cubicBezTo>
                  <a:lnTo>
                    <a:pt x="1274572" y="0"/>
                  </a:lnTo>
                  <a:cubicBezTo>
                    <a:pt x="1399667" y="0"/>
                    <a:pt x="1501013" y="101346"/>
                    <a:pt x="1501013" y="226441"/>
                  </a:cubicBezTo>
                  <a:lnTo>
                    <a:pt x="1501013" y="1000379"/>
                  </a:lnTo>
                  <a:cubicBezTo>
                    <a:pt x="1501013" y="1125474"/>
                    <a:pt x="1399667" y="1226820"/>
                    <a:pt x="1274572" y="1226820"/>
                  </a:cubicBezTo>
                  <a:lnTo>
                    <a:pt x="226441" y="1226820"/>
                  </a:lnTo>
                  <a:cubicBezTo>
                    <a:pt x="101346" y="1226820"/>
                    <a:pt x="0" y="1125474"/>
                    <a:pt x="0" y="1000379"/>
                  </a:cubicBezTo>
                  <a:close/>
                </a:path>
              </a:pathLst>
            </a:custGeom>
            <a:solidFill>
              <a:srgbClr val="FFFFFF"/>
            </a:solidFill>
            <a:ln w="28575" cap="sq">
              <a:solidFill>
                <a:srgbClr val="0D417C"/>
              </a:solidFill>
              <a:prstDash val="dash"/>
              <a:miter/>
            </a:ln>
          </p:spPr>
        </p:sp>
        <p:sp>
          <p:nvSpPr>
            <p:cNvPr name="TextBox 20" id="20"/>
            <p:cNvSpPr txBox="true"/>
            <p:nvPr/>
          </p:nvSpPr>
          <p:spPr>
            <a:xfrm>
              <a:off x="0" y="-76200"/>
              <a:ext cx="1501140" cy="1303020"/>
            </a:xfrm>
            <a:prstGeom prst="rect">
              <a:avLst/>
            </a:prstGeom>
          </p:spPr>
          <p:txBody>
            <a:bodyPr anchor="ctr" rtlCol="false" tIns="50800" lIns="50800" bIns="50800" rIns="50800"/>
            <a:lstStyle/>
            <a:p>
              <a:pPr algn="ctr">
                <a:lnSpc>
                  <a:spcPts val="4680"/>
                </a:lnSpc>
              </a:pPr>
              <a:r>
                <a:rPr lang="en-US" b="true" sz="3900">
                  <a:solidFill>
                    <a:srgbClr val="0E3C74"/>
                  </a:solidFill>
                  <a:latin typeface="Calibri (MS) Bold"/>
                  <a:ea typeface="Calibri (MS) Bold"/>
                  <a:cs typeface="Calibri (MS) Bold"/>
                  <a:sym typeface="Calibri (MS) Bold"/>
                </a:rPr>
                <a:t>?</a:t>
              </a:r>
            </a:p>
          </p:txBody>
        </p:sp>
      </p:grpSp>
      <p:grpSp>
        <p:nvGrpSpPr>
          <p:cNvPr name="Group 21" id="21"/>
          <p:cNvGrpSpPr/>
          <p:nvPr/>
        </p:nvGrpSpPr>
        <p:grpSpPr>
          <a:xfrm rot="0">
            <a:off x="12072366" y="3385632"/>
            <a:ext cx="1028700" cy="530693"/>
            <a:chOff x="0" y="0"/>
            <a:chExt cx="1371600" cy="707590"/>
          </a:xfrm>
        </p:grpSpPr>
        <p:sp>
          <p:nvSpPr>
            <p:cNvPr name="Freeform 22" id="22"/>
            <p:cNvSpPr/>
            <p:nvPr/>
          </p:nvSpPr>
          <p:spPr>
            <a:xfrm flipH="false" flipV="false" rot="0">
              <a:off x="0" y="0"/>
              <a:ext cx="1371600" cy="707590"/>
            </a:xfrm>
            <a:custGeom>
              <a:avLst/>
              <a:gdLst/>
              <a:ahLst/>
              <a:cxnLst/>
              <a:rect r="r" b="b" t="t" l="l"/>
              <a:pathLst>
                <a:path h="707590" w="1371600">
                  <a:moveTo>
                    <a:pt x="0" y="0"/>
                  </a:moveTo>
                  <a:lnTo>
                    <a:pt x="1371600" y="0"/>
                  </a:lnTo>
                  <a:lnTo>
                    <a:pt x="1371600" y="707590"/>
                  </a:lnTo>
                  <a:lnTo>
                    <a:pt x="0" y="707590"/>
                  </a:lnTo>
                  <a:close/>
                </a:path>
              </a:pathLst>
            </a:custGeom>
            <a:blipFill>
              <a:blip r:embed="rId2">
                <a:alphaModFix amt="0"/>
              </a:blip>
              <a:stretch>
                <a:fillRect l="-4742" t="0" r="-4742" b="17294"/>
              </a:stretch>
            </a:blipFill>
          </p:spPr>
        </p:sp>
        <p:sp>
          <p:nvSpPr>
            <p:cNvPr name="TextBox 23" id="23"/>
            <p:cNvSpPr txBox="true"/>
            <p:nvPr/>
          </p:nvSpPr>
          <p:spPr>
            <a:xfrm>
              <a:off x="0" y="-57150"/>
              <a:ext cx="1371600" cy="764740"/>
            </a:xfrm>
            <a:prstGeom prst="rect">
              <a:avLst/>
            </a:prstGeom>
          </p:spPr>
          <p:txBody>
            <a:bodyPr anchor="ctr" rtlCol="false" tIns="0" lIns="0" bIns="0" rIns="0"/>
            <a:lstStyle/>
            <a:p>
              <a:pPr algn="r">
                <a:lnSpc>
                  <a:spcPts val="3179"/>
                </a:lnSpc>
              </a:pPr>
              <a:r>
                <a:rPr lang="en-US" sz="2649">
                  <a:solidFill>
                    <a:srgbClr val="0E3C74"/>
                  </a:solidFill>
                  <a:latin typeface="Calibri (MS)"/>
                  <a:ea typeface="Calibri (MS)"/>
                  <a:cs typeface="Calibri (MS)"/>
                  <a:sym typeface="Calibri (MS)"/>
                </a:rPr>
                <a:t>under</a:t>
              </a:r>
            </a:p>
          </p:txBody>
        </p:sp>
      </p:grpSp>
      <p:grpSp>
        <p:nvGrpSpPr>
          <p:cNvPr name="Group 24" id="24"/>
          <p:cNvGrpSpPr/>
          <p:nvPr/>
        </p:nvGrpSpPr>
        <p:grpSpPr>
          <a:xfrm rot="0">
            <a:off x="13231082" y="3447068"/>
            <a:ext cx="3107246" cy="316040"/>
            <a:chOff x="0" y="0"/>
            <a:chExt cx="4142994" cy="421386"/>
          </a:xfrm>
        </p:grpSpPr>
        <p:sp>
          <p:nvSpPr>
            <p:cNvPr name="Freeform 25" id="25"/>
            <p:cNvSpPr/>
            <p:nvPr/>
          </p:nvSpPr>
          <p:spPr>
            <a:xfrm flipH="false" flipV="false" rot="0">
              <a:off x="0" y="0"/>
              <a:ext cx="4142994" cy="421386"/>
            </a:xfrm>
            <a:custGeom>
              <a:avLst/>
              <a:gdLst/>
              <a:ahLst/>
              <a:cxnLst/>
              <a:rect r="r" b="b" t="t" l="l"/>
              <a:pathLst>
                <a:path h="421386" w="4142994">
                  <a:moveTo>
                    <a:pt x="0" y="95758"/>
                  </a:moveTo>
                  <a:cubicBezTo>
                    <a:pt x="0" y="42926"/>
                    <a:pt x="42926" y="0"/>
                    <a:pt x="95758" y="0"/>
                  </a:cubicBezTo>
                  <a:lnTo>
                    <a:pt x="4047236" y="0"/>
                  </a:lnTo>
                  <a:cubicBezTo>
                    <a:pt x="4100068" y="0"/>
                    <a:pt x="4142994" y="42926"/>
                    <a:pt x="4142994" y="95758"/>
                  </a:cubicBezTo>
                  <a:lnTo>
                    <a:pt x="4142994" y="325628"/>
                  </a:lnTo>
                  <a:cubicBezTo>
                    <a:pt x="4142994" y="378460"/>
                    <a:pt x="4100068" y="421386"/>
                    <a:pt x="4047236" y="421386"/>
                  </a:cubicBezTo>
                  <a:lnTo>
                    <a:pt x="95758" y="421386"/>
                  </a:lnTo>
                  <a:cubicBezTo>
                    <a:pt x="42926" y="421386"/>
                    <a:pt x="0" y="378460"/>
                    <a:pt x="0" y="325628"/>
                  </a:cubicBezTo>
                  <a:close/>
                </a:path>
              </a:pathLst>
            </a:custGeom>
            <a:solidFill>
              <a:srgbClr val="0D417C"/>
            </a:solidFill>
            <a:ln w="14288" cap="sq">
              <a:solidFill>
                <a:srgbClr val="0D417C"/>
              </a:solidFill>
              <a:prstDash val="solid"/>
              <a:miter/>
            </a:ln>
          </p:spPr>
        </p:sp>
      </p:grpSp>
      <p:grpSp>
        <p:nvGrpSpPr>
          <p:cNvPr name="Group 26" id="26"/>
          <p:cNvGrpSpPr/>
          <p:nvPr/>
        </p:nvGrpSpPr>
        <p:grpSpPr>
          <a:xfrm rot="0">
            <a:off x="16468344" y="3385632"/>
            <a:ext cx="960120" cy="494723"/>
            <a:chOff x="0" y="0"/>
            <a:chExt cx="1280160" cy="659630"/>
          </a:xfrm>
        </p:grpSpPr>
        <p:sp>
          <p:nvSpPr>
            <p:cNvPr name="Freeform 27" id="27"/>
            <p:cNvSpPr/>
            <p:nvPr/>
          </p:nvSpPr>
          <p:spPr>
            <a:xfrm flipH="false" flipV="false" rot="0">
              <a:off x="0" y="0"/>
              <a:ext cx="1280160" cy="659630"/>
            </a:xfrm>
            <a:custGeom>
              <a:avLst/>
              <a:gdLst/>
              <a:ahLst/>
              <a:cxnLst/>
              <a:rect r="r" b="b" t="t" l="l"/>
              <a:pathLst>
                <a:path h="659630" w="1280160">
                  <a:moveTo>
                    <a:pt x="0" y="0"/>
                  </a:moveTo>
                  <a:lnTo>
                    <a:pt x="1280160" y="0"/>
                  </a:lnTo>
                  <a:lnTo>
                    <a:pt x="1280160" y="659630"/>
                  </a:lnTo>
                  <a:lnTo>
                    <a:pt x="0" y="659630"/>
                  </a:lnTo>
                  <a:close/>
                </a:path>
              </a:pathLst>
            </a:custGeom>
            <a:blipFill>
              <a:blip r:embed="rId2">
                <a:alphaModFix amt="0"/>
              </a:blip>
              <a:stretch>
                <a:fillRect l="-8653" t="0" r="-8653" b="11281"/>
              </a:stretch>
            </a:blipFill>
          </p:spPr>
        </p:sp>
        <p:sp>
          <p:nvSpPr>
            <p:cNvPr name="TextBox 28" id="28"/>
            <p:cNvSpPr txBox="true"/>
            <p:nvPr/>
          </p:nvSpPr>
          <p:spPr>
            <a:xfrm>
              <a:off x="0" y="-47625"/>
              <a:ext cx="1280160" cy="707255"/>
            </a:xfrm>
            <a:prstGeom prst="rect">
              <a:avLst/>
            </a:prstGeom>
          </p:spPr>
          <p:txBody>
            <a:bodyPr anchor="ctr" rtlCol="false" tIns="0" lIns="0" bIns="0" rIns="0"/>
            <a:lstStyle/>
            <a:p>
              <a:pPr algn="l">
                <a:lnSpc>
                  <a:spcPts val="2999"/>
                </a:lnSpc>
              </a:pPr>
              <a:r>
                <a:rPr lang="en-US" sz="2499">
                  <a:solidFill>
                    <a:srgbClr val="0E3C74"/>
                  </a:solidFill>
                  <a:latin typeface="Calibri (MS)"/>
                  <a:ea typeface="Calibri (MS)"/>
                  <a:cs typeface="Calibri (MS)"/>
                  <a:sym typeface="Calibri (MS)"/>
                </a:rPr>
                <a:t>41%</a:t>
              </a:r>
            </a:p>
          </p:txBody>
        </p:sp>
      </p:grpSp>
      <p:grpSp>
        <p:nvGrpSpPr>
          <p:cNvPr name="Group 29" id="29"/>
          <p:cNvGrpSpPr/>
          <p:nvPr/>
        </p:nvGrpSpPr>
        <p:grpSpPr>
          <a:xfrm rot="0">
            <a:off x="12072366" y="3879408"/>
            <a:ext cx="1028700" cy="530693"/>
            <a:chOff x="0" y="0"/>
            <a:chExt cx="1371600" cy="707590"/>
          </a:xfrm>
        </p:grpSpPr>
        <p:sp>
          <p:nvSpPr>
            <p:cNvPr name="Freeform 30" id="30"/>
            <p:cNvSpPr/>
            <p:nvPr/>
          </p:nvSpPr>
          <p:spPr>
            <a:xfrm flipH="false" flipV="false" rot="0">
              <a:off x="0" y="0"/>
              <a:ext cx="1371600" cy="707590"/>
            </a:xfrm>
            <a:custGeom>
              <a:avLst/>
              <a:gdLst/>
              <a:ahLst/>
              <a:cxnLst/>
              <a:rect r="r" b="b" t="t" l="l"/>
              <a:pathLst>
                <a:path h="707590" w="1371600">
                  <a:moveTo>
                    <a:pt x="0" y="0"/>
                  </a:moveTo>
                  <a:lnTo>
                    <a:pt x="1371600" y="0"/>
                  </a:lnTo>
                  <a:lnTo>
                    <a:pt x="1371600" y="707590"/>
                  </a:lnTo>
                  <a:lnTo>
                    <a:pt x="0" y="707590"/>
                  </a:lnTo>
                  <a:close/>
                </a:path>
              </a:pathLst>
            </a:custGeom>
            <a:blipFill>
              <a:blip r:embed="rId2">
                <a:alphaModFix amt="0"/>
              </a:blip>
              <a:stretch>
                <a:fillRect l="-4742" t="0" r="-4742" b="17294"/>
              </a:stretch>
            </a:blipFill>
          </p:spPr>
        </p:sp>
        <p:sp>
          <p:nvSpPr>
            <p:cNvPr name="TextBox 31" id="31"/>
            <p:cNvSpPr txBox="true"/>
            <p:nvPr/>
          </p:nvSpPr>
          <p:spPr>
            <a:xfrm>
              <a:off x="0" y="-57150"/>
              <a:ext cx="1371600" cy="764740"/>
            </a:xfrm>
            <a:prstGeom prst="rect">
              <a:avLst/>
            </a:prstGeom>
          </p:spPr>
          <p:txBody>
            <a:bodyPr anchor="ctr" rtlCol="false" tIns="0" lIns="0" bIns="0" rIns="0"/>
            <a:lstStyle/>
            <a:p>
              <a:pPr algn="r">
                <a:lnSpc>
                  <a:spcPts val="3179"/>
                </a:lnSpc>
              </a:pPr>
              <a:r>
                <a:rPr lang="en-US" sz="2649">
                  <a:solidFill>
                    <a:srgbClr val="0E3C74"/>
                  </a:solidFill>
                  <a:latin typeface="Calibri (MS)"/>
                  <a:ea typeface="Calibri (MS)"/>
                  <a:cs typeface="Calibri (MS)"/>
                  <a:sym typeface="Calibri (MS)"/>
                </a:rPr>
                <a:t>to</a:t>
              </a:r>
            </a:p>
          </p:txBody>
        </p:sp>
      </p:grpSp>
      <p:grpSp>
        <p:nvGrpSpPr>
          <p:cNvPr name="Group 32" id="32"/>
          <p:cNvGrpSpPr/>
          <p:nvPr/>
        </p:nvGrpSpPr>
        <p:grpSpPr>
          <a:xfrm rot="0">
            <a:off x="13231082" y="3940844"/>
            <a:ext cx="1673924" cy="316040"/>
            <a:chOff x="0" y="0"/>
            <a:chExt cx="2231898" cy="421386"/>
          </a:xfrm>
        </p:grpSpPr>
        <p:sp>
          <p:nvSpPr>
            <p:cNvPr name="Freeform 33" id="33"/>
            <p:cNvSpPr/>
            <p:nvPr/>
          </p:nvSpPr>
          <p:spPr>
            <a:xfrm flipH="false" flipV="false" rot="0">
              <a:off x="0" y="0"/>
              <a:ext cx="2231898" cy="421386"/>
            </a:xfrm>
            <a:custGeom>
              <a:avLst/>
              <a:gdLst/>
              <a:ahLst/>
              <a:cxnLst/>
              <a:rect r="r" b="b" t="t" l="l"/>
              <a:pathLst>
                <a:path h="421386" w="2231898">
                  <a:moveTo>
                    <a:pt x="0" y="95758"/>
                  </a:moveTo>
                  <a:cubicBezTo>
                    <a:pt x="0" y="42926"/>
                    <a:pt x="42926" y="0"/>
                    <a:pt x="95758" y="0"/>
                  </a:cubicBezTo>
                  <a:lnTo>
                    <a:pt x="2136140" y="0"/>
                  </a:lnTo>
                  <a:cubicBezTo>
                    <a:pt x="2188972" y="0"/>
                    <a:pt x="2231898" y="42926"/>
                    <a:pt x="2231898" y="95758"/>
                  </a:cubicBezTo>
                  <a:lnTo>
                    <a:pt x="2231898" y="325628"/>
                  </a:lnTo>
                  <a:cubicBezTo>
                    <a:pt x="2231898" y="378460"/>
                    <a:pt x="2188972" y="421386"/>
                    <a:pt x="2136140" y="421386"/>
                  </a:cubicBezTo>
                  <a:lnTo>
                    <a:pt x="95758" y="421386"/>
                  </a:lnTo>
                  <a:cubicBezTo>
                    <a:pt x="42926" y="421386"/>
                    <a:pt x="0" y="378460"/>
                    <a:pt x="0" y="325628"/>
                  </a:cubicBezTo>
                  <a:close/>
                </a:path>
              </a:pathLst>
            </a:custGeom>
            <a:solidFill>
              <a:srgbClr val="F1F3F8"/>
            </a:solidFill>
            <a:ln w="14288" cap="sq">
              <a:solidFill>
                <a:srgbClr val="8D99AE"/>
              </a:solidFill>
              <a:prstDash val="solid"/>
              <a:miter/>
            </a:ln>
          </p:spPr>
        </p:sp>
      </p:grpSp>
      <p:grpSp>
        <p:nvGrpSpPr>
          <p:cNvPr name="Group 34" id="34"/>
          <p:cNvGrpSpPr/>
          <p:nvPr/>
        </p:nvGrpSpPr>
        <p:grpSpPr>
          <a:xfrm rot="0">
            <a:off x="15035022" y="3879408"/>
            <a:ext cx="960120" cy="494723"/>
            <a:chOff x="0" y="0"/>
            <a:chExt cx="1280160" cy="659630"/>
          </a:xfrm>
        </p:grpSpPr>
        <p:sp>
          <p:nvSpPr>
            <p:cNvPr name="Freeform 35" id="35"/>
            <p:cNvSpPr/>
            <p:nvPr/>
          </p:nvSpPr>
          <p:spPr>
            <a:xfrm flipH="false" flipV="false" rot="0">
              <a:off x="0" y="0"/>
              <a:ext cx="1280160" cy="659630"/>
            </a:xfrm>
            <a:custGeom>
              <a:avLst/>
              <a:gdLst/>
              <a:ahLst/>
              <a:cxnLst/>
              <a:rect r="r" b="b" t="t" l="l"/>
              <a:pathLst>
                <a:path h="659630" w="1280160">
                  <a:moveTo>
                    <a:pt x="0" y="0"/>
                  </a:moveTo>
                  <a:lnTo>
                    <a:pt x="1280160" y="0"/>
                  </a:lnTo>
                  <a:lnTo>
                    <a:pt x="1280160" y="659630"/>
                  </a:lnTo>
                  <a:lnTo>
                    <a:pt x="0" y="659630"/>
                  </a:lnTo>
                  <a:close/>
                </a:path>
              </a:pathLst>
            </a:custGeom>
            <a:blipFill>
              <a:blip r:embed="rId2">
                <a:alphaModFix amt="0"/>
              </a:blip>
              <a:stretch>
                <a:fillRect l="-8653" t="0" r="-8653" b="11281"/>
              </a:stretch>
            </a:blipFill>
          </p:spPr>
        </p:sp>
        <p:sp>
          <p:nvSpPr>
            <p:cNvPr name="TextBox 36" id="36"/>
            <p:cNvSpPr txBox="true"/>
            <p:nvPr/>
          </p:nvSpPr>
          <p:spPr>
            <a:xfrm>
              <a:off x="0" y="-47625"/>
              <a:ext cx="1280160" cy="707255"/>
            </a:xfrm>
            <a:prstGeom prst="rect">
              <a:avLst/>
            </a:prstGeom>
          </p:spPr>
          <p:txBody>
            <a:bodyPr anchor="ctr" rtlCol="false" tIns="0" lIns="0" bIns="0" rIns="0"/>
            <a:lstStyle/>
            <a:p>
              <a:pPr algn="l">
                <a:lnSpc>
                  <a:spcPts val="2999"/>
                </a:lnSpc>
              </a:pPr>
              <a:r>
                <a:rPr lang="en-US" sz="2499">
                  <a:solidFill>
                    <a:srgbClr val="0E3C74"/>
                  </a:solidFill>
                  <a:latin typeface="Calibri (MS)"/>
                  <a:ea typeface="Calibri (MS)"/>
                  <a:cs typeface="Calibri (MS)"/>
                  <a:sym typeface="Calibri (MS)"/>
                </a:rPr>
                <a:t>22%</a:t>
              </a:r>
            </a:p>
          </p:txBody>
        </p:sp>
      </p:grpSp>
      <p:grpSp>
        <p:nvGrpSpPr>
          <p:cNvPr name="Group 37" id="37"/>
          <p:cNvGrpSpPr/>
          <p:nvPr/>
        </p:nvGrpSpPr>
        <p:grpSpPr>
          <a:xfrm rot="0">
            <a:off x="12072366" y="4373184"/>
            <a:ext cx="1028700" cy="530693"/>
            <a:chOff x="0" y="0"/>
            <a:chExt cx="1371600" cy="707590"/>
          </a:xfrm>
        </p:grpSpPr>
        <p:sp>
          <p:nvSpPr>
            <p:cNvPr name="Freeform 38" id="38"/>
            <p:cNvSpPr/>
            <p:nvPr/>
          </p:nvSpPr>
          <p:spPr>
            <a:xfrm flipH="false" flipV="false" rot="0">
              <a:off x="0" y="0"/>
              <a:ext cx="1371600" cy="707590"/>
            </a:xfrm>
            <a:custGeom>
              <a:avLst/>
              <a:gdLst/>
              <a:ahLst/>
              <a:cxnLst/>
              <a:rect r="r" b="b" t="t" l="l"/>
              <a:pathLst>
                <a:path h="707590" w="1371600">
                  <a:moveTo>
                    <a:pt x="0" y="0"/>
                  </a:moveTo>
                  <a:lnTo>
                    <a:pt x="1371600" y="0"/>
                  </a:lnTo>
                  <a:lnTo>
                    <a:pt x="1371600" y="707590"/>
                  </a:lnTo>
                  <a:lnTo>
                    <a:pt x="0" y="707590"/>
                  </a:lnTo>
                  <a:close/>
                </a:path>
              </a:pathLst>
            </a:custGeom>
            <a:blipFill>
              <a:blip r:embed="rId2">
                <a:alphaModFix amt="0"/>
              </a:blip>
              <a:stretch>
                <a:fillRect l="-4742" t="0" r="-4742" b="17294"/>
              </a:stretch>
            </a:blipFill>
          </p:spPr>
        </p:sp>
        <p:sp>
          <p:nvSpPr>
            <p:cNvPr name="TextBox 39" id="39"/>
            <p:cNvSpPr txBox="true"/>
            <p:nvPr/>
          </p:nvSpPr>
          <p:spPr>
            <a:xfrm>
              <a:off x="0" y="-57150"/>
              <a:ext cx="1371600" cy="764740"/>
            </a:xfrm>
            <a:prstGeom prst="rect">
              <a:avLst/>
            </a:prstGeom>
          </p:spPr>
          <p:txBody>
            <a:bodyPr anchor="ctr" rtlCol="false" tIns="0" lIns="0" bIns="0" rIns="0"/>
            <a:lstStyle/>
            <a:p>
              <a:pPr algn="r">
                <a:lnSpc>
                  <a:spcPts val="3179"/>
                </a:lnSpc>
              </a:pPr>
              <a:r>
                <a:rPr lang="en-US" sz="2649">
                  <a:solidFill>
                    <a:srgbClr val="0E3C74"/>
                  </a:solidFill>
                  <a:latin typeface="Calibri (MS)"/>
                  <a:ea typeface="Calibri (MS)"/>
                  <a:cs typeface="Calibri (MS)"/>
                  <a:sym typeface="Calibri (MS)"/>
                </a:rPr>
                <a:t>from</a:t>
              </a:r>
            </a:p>
          </p:txBody>
        </p:sp>
      </p:grpSp>
      <p:grpSp>
        <p:nvGrpSpPr>
          <p:cNvPr name="Group 40" id="40"/>
          <p:cNvGrpSpPr/>
          <p:nvPr/>
        </p:nvGrpSpPr>
        <p:grpSpPr>
          <a:xfrm rot="0">
            <a:off x="13231082" y="4434620"/>
            <a:ext cx="693230" cy="316040"/>
            <a:chOff x="0" y="0"/>
            <a:chExt cx="924306" cy="421386"/>
          </a:xfrm>
        </p:grpSpPr>
        <p:sp>
          <p:nvSpPr>
            <p:cNvPr name="Freeform 41" id="41"/>
            <p:cNvSpPr/>
            <p:nvPr/>
          </p:nvSpPr>
          <p:spPr>
            <a:xfrm flipH="false" flipV="false" rot="0">
              <a:off x="0" y="0"/>
              <a:ext cx="924306" cy="421386"/>
            </a:xfrm>
            <a:custGeom>
              <a:avLst/>
              <a:gdLst/>
              <a:ahLst/>
              <a:cxnLst/>
              <a:rect r="r" b="b" t="t" l="l"/>
              <a:pathLst>
                <a:path h="421386" w="924306">
                  <a:moveTo>
                    <a:pt x="0" y="95758"/>
                  </a:moveTo>
                  <a:cubicBezTo>
                    <a:pt x="0" y="42926"/>
                    <a:pt x="42926" y="0"/>
                    <a:pt x="95758" y="0"/>
                  </a:cubicBezTo>
                  <a:lnTo>
                    <a:pt x="828548" y="0"/>
                  </a:lnTo>
                  <a:cubicBezTo>
                    <a:pt x="881380" y="0"/>
                    <a:pt x="924306" y="42926"/>
                    <a:pt x="924306" y="95758"/>
                  </a:cubicBezTo>
                  <a:lnTo>
                    <a:pt x="924306" y="325628"/>
                  </a:lnTo>
                  <a:cubicBezTo>
                    <a:pt x="924306" y="378460"/>
                    <a:pt x="881380" y="421386"/>
                    <a:pt x="828548" y="421386"/>
                  </a:cubicBezTo>
                  <a:lnTo>
                    <a:pt x="95758" y="421386"/>
                  </a:lnTo>
                  <a:cubicBezTo>
                    <a:pt x="42926" y="421386"/>
                    <a:pt x="0" y="378460"/>
                    <a:pt x="0" y="325628"/>
                  </a:cubicBezTo>
                  <a:close/>
                </a:path>
              </a:pathLst>
            </a:custGeom>
            <a:solidFill>
              <a:srgbClr val="F1F3F8"/>
            </a:solidFill>
            <a:ln w="14288" cap="sq">
              <a:solidFill>
                <a:srgbClr val="8D99AE"/>
              </a:solidFill>
              <a:prstDash val="solid"/>
              <a:miter/>
            </a:ln>
          </p:spPr>
        </p:sp>
      </p:grpSp>
      <p:grpSp>
        <p:nvGrpSpPr>
          <p:cNvPr name="Group 42" id="42"/>
          <p:cNvGrpSpPr/>
          <p:nvPr/>
        </p:nvGrpSpPr>
        <p:grpSpPr>
          <a:xfrm rot="0">
            <a:off x="14054328" y="4373184"/>
            <a:ext cx="960120" cy="494723"/>
            <a:chOff x="0" y="0"/>
            <a:chExt cx="1280160" cy="659630"/>
          </a:xfrm>
        </p:grpSpPr>
        <p:sp>
          <p:nvSpPr>
            <p:cNvPr name="Freeform 43" id="43"/>
            <p:cNvSpPr/>
            <p:nvPr/>
          </p:nvSpPr>
          <p:spPr>
            <a:xfrm flipH="false" flipV="false" rot="0">
              <a:off x="0" y="0"/>
              <a:ext cx="1280160" cy="659630"/>
            </a:xfrm>
            <a:custGeom>
              <a:avLst/>
              <a:gdLst/>
              <a:ahLst/>
              <a:cxnLst/>
              <a:rect r="r" b="b" t="t" l="l"/>
              <a:pathLst>
                <a:path h="659630" w="1280160">
                  <a:moveTo>
                    <a:pt x="0" y="0"/>
                  </a:moveTo>
                  <a:lnTo>
                    <a:pt x="1280160" y="0"/>
                  </a:lnTo>
                  <a:lnTo>
                    <a:pt x="1280160" y="659630"/>
                  </a:lnTo>
                  <a:lnTo>
                    <a:pt x="0" y="659630"/>
                  </a:lnTo>
                  <a:close/>
                </a:path>
              </a:pathLst>
            </a:custGeom>
            <a:blipFill>
              <a:blip r:embed="rId2">
                <a:alphaModFix amt="0"/>
              </a:blip>
              <a:stretch>
                <a:fillRect l="-8653" t="0" r="-8653" b="11281"/>
              </a:stretch>
            </a:blipFill>
          </p:spPr>
        </p:sp>
        <p:sp>
          <p:nvSpPr>
            <p:cNvPr name="TextBox 44" id="44"/>
            <p:cNvSpPr txBox="true"/>
            <p:nvPr/>
          </p:nvSpPr>
          <p:spPr>
            <a:xfrm>
              <a:off x="0" y="-47625"/>
              <a:ext cx="1280160" cy="707255"/>
            </a:xfrm>
            <a:prstGeom prst="rect">
              <a:avLst/>
            </a:prstGeom>
          </p:spPr>
          <p:txBody>
            <a:bodyPr anchor="ctr" rtlCol="false" tIns="0" lIns="0" bIns="0" rIns="0"/>
            <a:lstStyle/>
            <a:p>
              <a:pPr algn="l">
                <a:lnSpc>
                  <a:spcPts val="2999"/>
                </a:lnSpc>
              </a:pPr>
              <a:r>
                <a:rPr lang="en-US" sz="2499">
                  <a:solidFill>
                    <a:srgbClr val="0E3C74"/>
                  </a:solidFill>
                  <a:latin typeface="Calibri (MS)"/>
                  <a:ea typeface="Calibri (MS)"/>
                  <a:cs typeface="Calibri (MS)"/>
                  <a:sym typeface="Calibri (MS)"/>
                </a:rPr>
                <a:t>9%</a:t>
              </a:r>
            </a:p>
          </p:txBody>
        </p:sp>
      </p:grpSp>
      <p:grpSp>
        <p:nvGrpSpPr>
          <p:cNvPr name="Group 45" id="45"/>
          <p:cNvGrpSpPr/>
          <p:nvPr/>
        </p:nvGrpSpPr>
        <p:grpSpPr>
          <a:xfrm rot="0">
            <a:off x="810958" y="5360165"/>
            <a:ext cx="3081757" cy="4143375"/>
            <a:chOff x="0" y="0"/>
            <a:chExt cx="4109009" cy="5524500"/>
          </a:xfrm>
        </p:grpSpPr>
        <p:sp>
          <p:nvSpPr>
            <p:cNvPr name="Freeform 46" id="46"/>
            <p:cNvSpPr/>
            <p:nvPr/>
          </p:nvSpPr>
          <p:spPr>
            <a:xfrm flipH="false" flipV="false" rot="0">
              <a:off x="0" y="0"/>
              <a:ext cx="4108958" cy="5524500"/>
            </a:xfrm>
            <a:custGeom>
              <a:avLst/>
              <a:gdLst/>
              <a:ahLst/>
              <a:cxnLst/>
              <a:rect r="r" b="b" t="t" l="l"/>
              <a:pathLst>
                <a:path h="5524500" w="4108958">
                  <a:moveTo>
                    <a:pt x="0" y="221488"/>
                  </a:moveTo>
                  <a:cubicBezTo>
                    <a:pt x="0" y="99187"/>
                    <a:pt x="99187" y="0"/>
                    <a:pt x="221488" y="0"/>
                  </a:cubicBezTo>
                  <a:lnTo>
                    <a:pt x="3887470" y="0"/>
                  </a:lnTo>
                  <a:cubicBezTo>
                    <a:pt x="4009771" y="0"/>
                    <a:pt x="4108958" y="99187"/>
                    <a:pt x="4108958" y="221488"/>
                  </a:cubicBezTo>
                  <a:lnTo>
                    <a:pt x="4108958" y="5303012"/>
                  </a:lnTo>
                  <a:cubicBezTo>
                    <a:pt x="4108958" y="5425313"/>
                    <a:pt x="4009771" y="5524500"/>
                    <a:pt x="3887470" y="5524500"/>
                  </a:cubicBezTo>
                  <a:lnTo>
                    <a:pt x="221488" y="5524500"/>
                  </a:lnTo>
                  <a:cubicBezTo>
                    <a:pt x="99187" y="5524500"/>
                    <a:pt x="0" y="5425313"/>
                    <a:pt x="0" y="5303012"/>
                  </a:cubicBezTo>
                  <a:close/>
                </a:path>
              </a:pathLst>
            </a:custGeom>
            <a:solidFill>
              <a:srgbClr val="F1F3F8"/>
            </a:solidFill>
            <a:ln w="28575" cap="sq">
              <a:solidFill>
                <a:srgbClr val="F1F3F8"/>
              </a:solidFill>
              <a:prstDash val="solid"/>
              <a:miter/>
            </a:ln>
          </p:spPr>
        </p:sp>
      </p:grpSp>
      <p:grpSp>
        <p:nvGrpSpPr>
          <p:cNvPr name="Group 47" id="47"/>
          <p:cNvGrpSpPr/>
          <p:nvPr/>
        </p:nvGrpSpPr>
        <p:grpSpPr>
          <a:xfrm rot="0">
            <a:off x="1222438" y="5771645"/>
            <a:ext cx="714375" cy="714375"/>
            <a:chOff x="0" y="0"/>
            <a:chExt cx="952500" cy="952500"/>
          </a:xfrm>
        </p:grpSpPr>
        <p:sp>
          <p:nvSpPr>
            <p:cNvPr name="Freeform 48" id="48"/>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0D417C"/>
            </a:solidFill>
            <a:ln w="28575" cap="sq">
              <a:solidFill>
                <a:srgbClr val="0D417C"/>
              </a:solidFill>
              <a:prstDash val="solid"/>
              <a:miter/>
            </a:ln>
          </p:spPr>
        </p:sp>
        <p:sp>
          <p:nvSpPr>
            <p:cNvPr name="TextBox 49" id="49"/>
            <p:cNvSpPr txBox="true"/>
            <p:nvPr/>
          </p:nvSpPr>
          <p:spPr>
            <a:xfrm>
              <a:off x="0" y="-57150"/>
              <a:ext cx="952500" cy="1009650"/>
            </a:xfrm>
            <a:prstGeom prst="rect">
              <a:avLst/>
            </a:prstGeom>
          </p:spPr>
          <p:txBody>
            <a:bodyPr anchor="ctr" rtlCol="false" tIns="50800" lIns="50800" bIns="50800" rIns="50800"/>
            <a:lstStyle/>
            <a:p>
              <a:pPr algn="ctr">
                <a:lnSpc>
                  <a:spcPts val="2700"/>
                </a:lnSpc>
              </a:pPr>
              <a:r>
                <a:rPr lang="en-US" b="true" sz="2250">
                  <a:solidFill>
                    <a:srgbClr val="0E3C74"/>
                  </a:solidFill>
                  <a:latin typeface="Calibri (MS) Bold"/>
                  <a:ea typeface="Calibri (MS) Bold"/>
                  <a:cs typeface="Calibri (MS) Bold"/>
                  <a:sym typeface="Calibri (MS) Bold"/>
                </a:rPr>
                <a:t>1</a:t>
              </a:r>
            </a:p>
          </p:txBody>
        </p:sp>
      </p:grpSp>
      <p:sp>
        <p:nvSpPr>
          <p:cNvPr name="TextBox 50" id="50"/>
          <p:cNvSpPr txBox="true"/>
          <p:nvPr/>
        </p:nvSpPr>
        <p:spPr>
          <a:xfrm rot="0">
            <a:off x="1236726" y="6688902"/>
            <a:ext cx="2230222" cy="742950"/>
          </a:xfrm>
          <a:prstGeom prst="rect">
            <a:avLst/>
          </a:prstGeom>
        </p:spPr>
        <p:txBody>
          <a:bodyPr anchor="t" rtlCol="false" tIns="0" lIns="0" bIns="0" rIns="0">
            <a:spAutoFit/>
          </a:bodyPr>
          <a:lstStyle/>
          <a:p>
            <a:pPr algn="l">
              <a:lnSpc>
                <a:spcPts val="3240"/>
              </a:lnSpc>
            </a:pPr>
            <a:r>
              <a:rPr lang="en-US" sz="2700" b="true">
                <a:solidFill>
                  <a:srgbClr val="1B1F3B"/>
                </a:solidFill>
                <a:latin typeface="Calibri (MS) Bold"/>
                <a:ea typeface="Calibri (MS) Bold"/>
                <a:cs typeface="Calibri (MS) Bold"/>
                <a:sym typeface="Calibri (MS) Bold"/>
              </a:rPr>
              <a:t>Token</a:t>
            </a:r>
          </a:p>
        </p:txBody>
      </p:sp>
      <p:sp>
        <p:nvSpPr>
          <p:cNvPr name="TextBox 51" id="51"/>
          <p:cNvSpPr txBox="true"/>
          <p:nvPr/>
        </p:nvSpPr>
        <p:spPr>
          <a:xfrm rot="0">
            <a:off x="1236726" y="7717602"/>
            <a:ext cx="2230222" cy="1497330"/>
          </a:xfrm>
          <a:prstGeom prst="rect">
            <a:avLst/>
          </a:prstGeom>
        </p:spPr>
        <p:txBody>
          <a:bodyPr anchor="t" rtlCol="false" tIns="0" lIns="0" bIns="0" rIns="0">
            <a:spAutoFit/>
          </a:bodyPr>
          <a:lstStyle/>
          <a:p>
            <a:pPr algn="l">
              <a:lnSpc>
                <a:spcPts val="2700"/>
              </a:lnSpc>
            </a:pPr>
            <a:r>
              <a:rPr lang="en-US" sz="2250">
                <a:solidFill>
                  <a:srgbClr val="0E3C74"/>
                </a:solidFill>
                <a:latin typeface="Calibri (MS)"/>
                <a:ea typeface="Calibri (MS)"/>
                <a:cs typeface="Calibri (MS)"/>
                <a:sym typeface="Calibri (MS)"/>
              </a:rPr>
              <a:t>A chunk of text — roughly a word.</a:t>
            </a:r>
          </a:p>
        </p:txBody>
      </p:sp>
      <p:grpSp>
        <p:nvGrpSpPr>
          <p:cNvPr name="Group 52" id="52"/>
          <p:cNvGrpSpPr/>
          <p:nvPr/>
        </p:nvGrpSpPr>
        <p:grpSpPr>
          <a:xfrm rot="0">
            <a:off x="4207040" y="5360165"/>
            <a:ext cx="3081757" cy="4143375"/>
            <a:chOff x="0" y="0"/>
            <a:chExt cx="4109009" cy="5524500"/>
          </a:xfrm>
        </p:grpSpPr>
        <p:sp>
          <p:nvSpPr>
            <p:cNvPr name="Freeform 53" id="53"/>
            <p:cNvSpPr/>
            <p:nvPr/>
          </p:nvSpPr>
          <p:spPr>
            <a:xfrm flipH="false" flipV="false" rot="0">
              <a:off x="0" y="0"/>
              <a:ext cx="4108958" cy="5524500"/>
            </a:xfrm>
            <a:custGeom>
              <a:avLst/>
              <a:gdLst/>
              <a:ahLst/>
              <a:cxnLst/>
              <a:rect r="r" b="b" t="t" l="l"/>
              <a:pathLst>
                <a:path h="5524500" w="4108958">
                  <a:moveTo>
                    <a:pt x="0" y="221488"/>
                  </a:moveTo>
                  <a:cubicBezTo>
                    <a:pt x="0" y="99187"/>
                    <a:pt x="99187" y="0"/>
                    <a:pt x="221488" y="0"/>
                  </a:cubicBezTo>
                  <a:lnTo>
                    <a:pt x="3887470" y="0"/>
                  </a:lnTo>
                  <a:cubicBezTo>
                    <a:pt x="4009771" y="0"/>
                    <a:pt x="4108958" y="99187"/>
                    <a:pt x="4108958" y="221488"/>
                  </a:cubicBezTo>
                  <a:lnTo>
                    <a:pt x="4108958" y="5303012"/>
                  </a:lnTo>
                  <a:cubicBezTo>
                    <a:pt x="4108958" y="5425313"/>
                    <a:pt x="4009771" y="5524500"/>
                    <a:pt x="3887470" y="5524500"/>
                  </a:cubicBezTo>
                  <a:lnTo>
                    <a:pt x="221488" y="5524500"/>
                  </a:lnTo>
                  <a:cubicBezTo>
                    <a:pt x="99187" y="5524500"/>
                    <a:pt x="0" y="5425313"/>
                    <a:pt x="0" y="5303012"/>
                  </a:cubicBezTo>
                  <a:close/>
                </a:path>
              </a:pathLst>
            </a:custGeom>
            <a:solidFill>
              <a:srgbClr val="F1F3F8"/>
            </a:solidFill>
            <a:ln w="28575" cap="sq">
              <a:solidFill>
                <a:srgbClr val="F1F3F8"/>
              </a:solidFill>
              <a:prstDash val="solid"/>
              <a:miter/>
            </a:ln>
          </p:spPr>
        </p:sp>
      </p:grpSp>
      <p:grpSp>
        <p:nvGrpSpPr>
          <p:cNvPr name="Group 54" id="54"/>
          <p:cNvGrpSpPr/>
          <p:nvPr/>
        </p:nvGrpSpPr>
        <p:grpSpPr>
          <a:xfrm rot="0">
            <a:off x="4618520" y="5771645"/>
            <a:ext cx="714375" cy="714375"/>
            <a:chOff x="0" y="0"/>
            <a:chExt cx="952500" cy="952500"/>
          </a:xfrm>
        </p:grpSpPr>
        <p:sp>
          <p:nvSpPr>
            <p:cNvPr name="Freeform 55" id="55"/>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0D417C"/>
            </a:solidFill>
            <a:ln w="28575" cap="sq">
              <a:solidFill>
                <a:srgbClr val="0D417C"/>
              </a:solidFill>
              <a:prstDash val="solid"/>
              <a:miter/>
            </a:ln>
          </p:spPr>
        </p:sp>
        <p:sp>
          <p:nvSpPr>
            <p:cNvPr name="TextBox 56" id="56"/>
            <p:cNvSpPr txBox="true"/>
            <p:nvPr/>
          </p:nvSpPr>
          <p:spPr>
            <a:xfrm>
              <a:off x="0" y="-57150"/>
              <a:ext cx="952500" cy="1009650"/>
            </a:xfrm>
            <a:prstGeom prst="rect">
              <a:avLst/>
            </a:prstGeom>
          </p:spPr>
          <p:txBody>
            <a:bodyPr anchor="ctr" rtlCol="false" tIns="50800" lIns="50800" bIns="50800" rIns="50800"/>
            <a:lstStyle/>
            <a:p>
              <a:pPr algn="ctr">
                <a:lnSpc>
                  <a:spcPts val="2700"/>
                </a:lnSpc>
              </a:pPr>
              <a:r>
                <a:rPr lang="en-US" b="true" sz="2250">
                  <a:solidFill>
                    <a:srgbClr val="0E3C74"/>
                  </a:solidFill>
                  <a:latin typeface="Calibri (MS) Bold"/>
                  <a:ea typeface="Calibri (MS) Bold"/>
                  <a:cs typeface="Calibri (MS) Bold"/>
                  <a:sym typeface="Calibri (MS) Bold"/>
                </a:rPr>
                <a:t>2</a:t>
              </a:r>
            </a:p>
          </p:txBody>
        </p:sp>
      </p:grpSp>
      <p:sp>
        <p:nvSpPr>
          <p:cNvPr name="TextBox 57" id="57"/>
          <p:cNvSpPr txBox="true"/>
          <p:nvPr/>
        </p:nvSpPr>
        <p:spPr>
          <a:xfrm rot="0">
            <a:off x="4632808" y="6688902"/>
            <a:ext cx="2230222" cy="742950"/>
          </a:xfrm>
          <a:prstGeom prst="rect">
            <a:avLst/>
          </a:prstGeom>
        </p:spPr>
        <p:txBody>
          <a:bodyPr anchor="t" rtlCol="false" tIns="0" lIns="0" bIns="0" rIns="0">
            <a:spAutoFit/>
          </a:bodyPr>
          <a:lstStyle/>
          <a:p>
            <a:pPr algn="l">
              <a:lnSpc>
                <a:spcPts val="3240"/>
              </a:lnSpc>
            </a:pPr>
            <a:r>
              <a:rPr lang="en-US" sz="2700" b="true">
                <a:solidFill>
                  <a:srgbClr val="1B1F3B"/>
                </a:solidFill>
                <a:latin typeface="Calibri (MS) Bold"/>
                <a:ea typeface="Calibri (MS) Bold"/>
                <a:cs typeface="Calibri (MS) Bold"/>
                <a:sym typeface="Calibri (MS) Bold"/>
              </a:rPr>
              <a:t>One at a time</a:t>
            </a:r>
          </a:p>
        </p:txBody>
      </p:sp>
      <p:sp>
        <p:nvSpPr>
          <p:cNvPr name="TextBox 58" id="58"/>
          <p:cNvSpPr txBox="true"/>
          <p:nvPr/>
        </p:nvSpPr>
        <p:spPr>
          <a:xfrm rot="0">
            <a:off x="4632808" y="7717602"/>
            <a:ext cx="2230222" cy="1497330"/>
          </a:xfrm>
          <a:prstGeom prst="rect">
            <a:avLst/>
          </a:prstGeom>
        </p:spPr>
        <p:txBody>
          <a:bodyPr anchor="t" rtlCol="false" tIns="0" lIns="0" bIns="0" rIns="0">
            <a:spAutoFit/>
          </a:bodyPr>
          <a:lstStyle/>
          <a:p>
            <a:pPr algn="l">
              <a:lnSpc>
                <a:spcPts val="2700"/>
              </a:lnSpc>
            </a:pPr>
            <a:r>
              <a:rPr lang="en-US" sz="2250">
                <a:solidFill>
                  <a:srgbClr val="0E3C74"/>
                </a:solidFill>
                <a:latin typeface="Calibri (MS)"/>
                <a:ea typeface="Calibri (MS)"/>
                <a:cs typeface="Calibri (MS)"/>
                <a:sym typeface="Calibri (MS)"/>
              </a:rPr>
              <a:t>Each token is predicted from everything before it.</a:t>
            </a:r>
          </a:p>
        </p:txBody>
      </p:sp>
      <p:grpSp>
        <p:nvGrpSpPr>
          <p:cNvPr name="Group 59" id="59"/>
          <p:cNvGrpSpPr/>
          <p:nvPr/>
        </p:nvGrpSpPr>
        <p:grpSpPr>
          <a:xfrm rot="0">
            <a:off x="7603122" y="5360165"/>
            <a:ext cx="3081757" cy="4143375"/>
            <a:chOff x="0" y="0"/>
            <a:chExt cx="4109009" cy="5524500"/>
          </a:xfrm>
        </p:grpSpPr>
        <p:sp>
          <p:nvSpPr>
            <p:cNvPr name="Freeform 60" id="60"/>
            <p:cNvSpPr/>
            <p:nvPr/>
          </p:nvSpPr>
          <p:spPr>
            <a:xfrm flipH="false" flipV="false" rot="0">
              <a:off x="0" y="0"/>
              <a:ext cx="4108958" cy="5524500"/>
            </a:xfrm>
            <a:custGeom>
              <a:avLst/>
              <a:gdLst/>
              <a:ahLst/>
              <a:cxnLst/>
              <a:rect r="r" b="b" t="t" l="l"/>
              <a:pathLst>
                <a:path h="5524500" w="4108958">
                  <a:moveTo>
                    <a:pt x="0" y="221488"/>
                  </a:moveTo>
                  <a:cubicBezTo>
                    <a:pt x="0" y="99187"/>
                    <a:pt x="99187" y="0"/>
                    <a:pt x="221488" y="0"/>
                  </a:cubicBezTo>
                  <a:lnTo>
                    <a:pt x="3887470" y="0"/>
                  </a:lnTo>
                  <a:cubicBezTo>
                    <a:pt x="4009771" y="0"/>
                    <a:pt x="4108958" y="99187"/>
                    <a:pt x="4108958" y="221488"/>
                  </a:cubicBezTo>
                  <a:lnTo>
                    <a:pt x="4108958" y="5303012"/>
                  </a:lnTo>
                  <a:cubicBezTo>
                    <a:pt x="4108958" y="5425313"/>
                    <a:pt x="4009771" y="5524500"/>
                    <a:pt x="3887470" y="5524500"/>
                  </a:cubicBezTo>
                  <a:lnTo>
                    <a:pt x="221488" y="5524500"/>
                  </a:lnTo>
                  <a:cubicBezTo>
                    <a:pt x="99187" y="5524500"/>
                    <a:pt x="0" y="5425313"/>
                    <a:pt x="0" y="5303012"/>
                  </a:cubicBezTo>
                  <a:close/>
                </a:path>
              </a:pathLst>
            </a:custGeom>
            <a:solidFill>
              <a:srgbClr val="F1F3F8"/>
            </a:solidFill>
            <a:ln w="28575" cap="sq">
              <a:solidFill>
                <a:srgbClr val="F1F3F8"/>
              </a:solidFill>
              <a:prstDash val="solid"/>
              <a:miter/>
            </a:ln>
          </p:spPr>
        </p:sp>
      </p:grpSp>
      <p:grpSp>
        <p:nvGrpSpPr>
          <p:cNvPr name="Group 61" id="61"/>
          <p:cNvGrpSpPr/>
          <p:nvPr/>
        </p:nvGrpSpPr>
        <p:grpSpPr>
          <a:xfrm rot="0">
            <a:off x="8014602" y="5771645"/>
            <a:ext cx="714375" cy="714375"/>
            <a:chOff x="0" y="0"/>
            <a:chExt cx="952500" cy="952500"/>
          </a:xfrm>
        </p:grpSpPr>
        <p:sp>
          <p:nvSpPr>
            <p:cNvPr name="Freeform 62" id="62"/>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0D417C"/>
            </a:solidFill>
            <a:ln w="28575" cap="sq">
              <a:solidFill>
                <a:srgbClr val="0D417C"/>
              </a:solidFill>
              <a:prstDash val="solid"/>
              <a:miter/>
            </a:ln>
          </p:spPr>
        </p:sp>
        <p:sp>
          <p:nvSpPr>
            <p:cNvPr name="TextBox 63" id="63"/>
            <p:cNvSpPr txBox="true"/>
            <p:nvPr/>
          </p:nvSpPr>
          <p:spPr>
            <a:xfrm>
              <a:off x="0" y="-57150"/>
              <a:ext cx="952500" cy="1009650"/>
            </a:xfrm>
            <a:prstGeom prst="rect">
              <a:avLst/>
            </a:prstGeom>
          </p:spPr>
          <p:txBody>
            <a:bodyPr anchor="ctr" rtlCol="false" tIns="50800" lIns="50800" bIns="50800" rIns="50800"/>
            <a:lstStyle/>
            <a:p>
              <a:pPr algn="ctr">
                <a:lnSpc>
                  <a:spcPts val="2700"/>
                </a:lnSpc>
              </a:pPr>
              <a:r>
                <a:rPr lang="en-US" b="true" sz="2250">
                  <a:solidFill>
                    <a:srgbClr val="0E3C74"/>
                  </a:solidFill>
                  <a:latin typeface="Calibri (MS) Bold"/>
                  <a:ea typeface="Calibri (MS) Bold"/>
                  <a:cs typeface="Calibri (MS) Bold"/>
                  <a:sym typeface="Calibri (MS) Bold"/>
                </a:rPr>
                <a:t>3</a:t>
              </a:r>
            </a:p>
          </p:txBody>
        </p:sp>
      </p:grpSp>
      <p:sp>
        <p:nvSpPr>
          <p:cNvPr name="TextBox 64" id="64"/>
          <p:cNvSpPr txBox="true"/>
          <p:nvPr/>
        </p:nvSpPr>
        <p:spPr>
          <a:xfrm rot="0">
            <a:off x="8028889" y="6688902"/>
            <a:ext cx="2230222" cy="742950"/>
          </a:xfrm>
          <a:prstGeom prst="rect">
            <a:avLst/>
          </a:prstGeom>
        </p:spPr>
        <p:txBody>
          <a:bodyPr anchor="t" rtlCol="false" tIns="0" lIns="0" bIns="0" rIns="0">
            <a:spAutoFit/>
          </a:bodyPr>
          <a:lstStyle/>
          <a:p>
            <a:pPr algn="l">
              <a:lnSpc>
                <a:spcPts val="3240"/>
              </a:lnSpc>
            </a:pPr>
            <a:r>
              <a:rPr lang="en-US" sz="2700" b="true">
                <a:solidFill>
                  <a:srgbClr val="1B1F3B"/>
                </a:solidFill>
                <a:latin typeface="Calibri (MS) Bold"/>
                <a:ea typeface="Calibri (MS) Bold"/>
                <a:cs typeface="Calibri (MS) Bold"/>
                <a:sym typeface="Calibri (MS) Bold"/>
              </a:rPr>
              <a:t>Temperature</a:t>
            </a:r>
          </a:p>
        </p:txBody>
      </p:sp>
      <p:sp>
        <p:nvSpPr>
          <p:cNvPr name="TextBox 65" id="65"/>
          <p:cNvSpPr txBox="true"/>
          <p:nvPr/>
        </p:nvSpPr>
        <p:spPr>
          <a:xfrm rot="0">
            <a:off x="8028889" y="7717602"/>
            <a:ext cx="2230222" cy="1497330"/>
          </a:xfrm>
          <a:prstGeom prst="rect">
            <a:avLst/>
          </a:prstGeom>
        </p:spPr>
        <p:txBody>
          <a:bodyPr anchor="t" rtlCol="false" tIns="0" lIns="0" bIns="0" rIns="0">
            <a:spAutoFit/>
          </a:bodyPr>
          <a:lstStyle/>
          <a:p>
            <a:pPr algn="l">
              <a:lnSpc>
                <a:spcPts val="2700"/>
              </a:lnSpc>
            </a:pPr>
            <a:r>
              <a:rPr lang="en-US" sz="2250">
                <a:solidFill>
                  <a:srgbClr val="0E3C74"/>
                </a:solidFill>
                <a:latin typeface="Calibri (MS)"/>
                <a:ea typeface="Calibri (MS)"/>
                <a:cs typeface="Calibri (MS)"/>
                <a:sym typeface="Calibri (MS)"/>
              </a:rPr>
              <a:t>How random that pick is.</a:t>
            </a:r>
          </a:p>
        </p:txBody>
      </p:sp>
      <p:grpSp>
        <p:nvGrpSpPr>
          <p:cNvPr name="Group 66" id="66"/>
          <p:cNvGrpSpPr/>
          <p:nvPr/>
        </p:nvGrpSpPr>
        <p:grpSpPr>
          <a:xfrm rot="0">
            <a:off x="10999203" y="5360165"/>
            <a:ext cx="3081757" cy="4143375"/>
            <a:chOff x="0" y="0"/>
            <a:chExt cx="4109009" cy="5524500"/>
          </a:xfrm>
        </p:grpSpPr>
        <p:sp>
          <p:nvSpPr>
            <p:cNvPr name="Freeform 67" id="67"/>
            <p:cNvSpPr/>
            <p:nvPr/>
          </p:nvSpPr>
          <p:spPr>
            <a:xfrm flipH="false" flipV="false" rot="0">
              <a:off x="0" y="0"/>
              <a:ext cx="4108958" cy="5524500"/>
            </a:xfrm>
            <a:custGeom>
              <a:avLst/>
              <a:gdLst/>
              <a:ahLst/>
              <a:cxnLst/>
              <a:rect r="r" b="b" t="t" l="l"/>
              <a:pathLst>
                <a:path h="5524500" w="4108958">
                  <a:moveTo>
                    <a:pt x="0" y="221488"/>
                  </a:moveTo>
                  <a:cubicBezTo>
                    <a:pt x="0" y="99187"/>
                    <a:pt x="99187" y="0"/>
                    <a:pt x="221488" y="0"/>
                  </a:cubicBezTo>
                  <a:lnTo>
                    <a:pt x="3887470" y="0"/>
                  </a:lnTo>
                  <a:cubicBezTo>
                    <a:pt x="4009771" y="0"/>
                    <a:pt x="4108958" y="99187"/>
                    <a:pt x="4108958" y="221488"/>
                  </a:cubicBezTo>
                  <a:lnTo>
                    <a:pt x="4108958" y="5303012"/>
                  </a:lnTo>
                  <a:cubicBezTo>
                    <a:pt x="4108958" y="5425313"/>
                    <a:pt x="4009771" y="5524500"/>
                    <a:pt x="3887470" y="5524500"/>
                  </a:cubicBezTo>
                  <a:lnTo>
                    <a:pt x="221488" y="5524500"/>
                  </a:lnTo>
                  <a:cubicBezTo>
                    <a:pt x="99187" y="5524500"/>
                    <a:pt x="0" y="5425313"/>
                    <a:pt x="0" y="5303012"/>
                  </a:cubicBezTo>
                  <a:close/>
                </a:path>
              </a:pathLst>
            </a:custGeom>
            <a:solidFill>
              <a:srgbClr val="F1F3F8"/>
            </a:solidFill>
            <a:ln w="28575" cap="sq">
              <a:solidFill>
                <a:srgbClr val="F1F3F8"/>
              </a:solidFill>
              <a:prstDash val="solid"/>
              <a:miter/>
            </a:ln>
          </p:spPr>
        </p:sp>
      </p:grpSp>
      <p:grpSp>
        <p:nvGrpSpPr>
          <p:cNvPr name="Group 68" id="68"/>
          <p:cNvGrpSpPr/>
          <p:nvPr/>
        </p:nvGrpSpPr>
        <p:grpSpPr>
          <a:xfrm rot="0">
            <a:off x="11410683" y="5771645"/>
            <a:ext cx="714375" cy="714375"/>
            <a:chOff x="0" y="0"/>
            <a:chExt cx="952500" cy="952500"/>
          </a:xfrm>
        </p:grpSpPr>
        <p:sp>
          <p:nvSpPr>
            <p:cNvPr name="Freeform 69" id="69"/>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0D417C"/>
            </a:solidFill>
            <a:ln w="28575" cap="sq">
              <a:solidFill>
                <a:srgbClr val="0D417C"/>
              </a:solidFill>
              <a:prstDash val="solid"/>
              <a:miter/>
            </a:ln>
          </p:spPr>
        </p:sp>
        <p:sp>
          <p:nvSpPr>
            <p:cNvPr name="TextBox 70" id="70"/>
            <p:cNvSpPr txBox="true"/>
            <p:nvPr/>
          </p:nvSpPr>
          <p:spPr>
            <a:xfrm>
              <a:off x="0" y="-57150"/>
              <a:ext cx="952500" cy="1009650"/>
            </a:xfrm>
            <a:prstGeom prst="rect">
              <a:avLst/>
            </a:prstGeom>
          </p:spPr>
          <p:txBody>
            <a:bodyPr anchor="ctr" rtlCol="false" tIns="50800" lIns="50800" bIns="50800" rIns="50800"/>
            <a:lstStyle/>
            <a:p>
              <a:pPr algn="ctr">
                <a:lnSpc>
                  <a:spcPts val="2700"/>
                </a:lnSpc>
              </a:pPr>
              <a:r>
                <a:rPr lang="en-US" b="true" sz="2250">
                  <a:solidFill>
                    <a:srgbClr val="0E3C74"/>
                  </a:solidFill>
                  <a:latin typeface="Calibri (MS) Bold"/>
                  <a:ea typeface="Calibri (MS) Bold"/>
                  <a:cs typeface="Calibri (MS) Bold"/>
                  <a:sym typeface="Calibri (MS) Bold"/>
                </a:rPr>
                <a:t>4</a:t>
              </a:r>
            </a:p>
          </p:txBody>
        </p:sp>
      </p:grpSp>
      <p:sp>
        <p:nvSpPr>
          <p:cNvPr name="TextBox 71" id="71"/>
          <p:cNvSpPr txBox="true"/>
          <p:nvPr/>
        </p:nvSpPr>
        <p:spPr>
          <a:xfrm rot="0">
            <a:off x="11424971" y="6688902"/>
            <a:ext cx="2230222" cy="742950"/>
          </a:xfrm>
          <a:prstGeom prst="rect">
            <a:avLst/>
          </a:prstGeom>
        </p:spPr>
        <p:txBody>
          <a:bodyPr anchor="t" rtlCol="false" tIns="0" lIns="0" bIns="0" rIns="0">
            <a:spAutoFit/>
          </a:bodyPr>
          <a:lstStyle/>
          <a:p>
            <a:pPr algn="l">
              <a:lnSpc>
                <a:spcPts val="3240"/>
              </a:lnSpc>
            </a:pPr>
            <a:r>
              <a:rPr lang="en-US" sz="2700" b="true">
                <a:solidFill>
                  <a:srgbClr val="1B1F3B"/>
                </a:solidFill>
                <a:latin typeface="Calibri (MS) Bold"/>
                <a:ea typeface="Calibri (MS) Bold"/>
                <a:cs typeface="Calibri (MS) Bold"/>
                <a:sym typeface="Calibri (MS) Bold"/>
              </a:rPr>
              <a:t>Context window</a:t>
            </a:r>
          </a:p>
        </p:txBody>
      </p:sp>
      <p:sp>
        <p:nvSpPr>
          <p:cNvPr name="TextBox 72" id="72"/>
          <p:cNvSpPr txBox="true"/>
          <p:nvPr/>
        </p:nvSpPr>
        <p:spPr>
          <a:xfrm rot="0">
            <a:off x="11424971" y="7717602"/>
            <a:ext cx="2230222" cy="1497330"/>
          </a:xfrm>
          <a:prstGeom prst="rect">
            <a:avLst/>
          </a:prstGeom>
        </p:spPr>
        <p:txBody>
          <a:bodyPr anchor="t" rtlCol="false" tIns="0" lIns="0" bIns="0" rIns="0">
            <a:spAutoFit/>
          </a:bodyPr>
          <a:lstStyle/>
          <a:p>
            <a:pPr algn="l">
              <a:lnSpc>
                <a:spcPts val="2700"/>
              </a:lnSpc>
            </a:pPr>
            <a:r>
              <a:rPr lang="en-US" sz="2250">
                <a:solidFill>
                  <a:srgbClr val="0E3C74"/>
                </a:solidFill>
                <a:latin typeface="Calibri (MS)"/>
                <a:ea typeface="Calibri (MS)"/>
                <a:cs typeface="Calibri (MS)"/>
                <a:sym typeface="Calibri (MS)"/>
              </a:rPr>
              <a:t>Everything it can see right now. Nothing else exists.</a:t>
            </a:r>
          </a:p>
        </p:txBody>
      </p:sp>
      <p:grpSp>
        <p:nvGrpSpPr>
          <p:cNvPr name="Group 73" id="73"/>
          <p:cNvGrpSpPr/>
          <p:nvPr/>
        </p:nvGrpSpPr>
        <p:grpSpPr>
          <a:xfrm rot="0">
            <a:off x="14395285" y="5360165"/>
            <a:ext cx="3081757" cy="4143375"/>
            <a:chOff x="0" y="0"/>
            <a:chExt cx="4109009" cy="5524500"/>
          </a:xfrm>
        </p:grpSpPr>
        <p:sp>
          <p:nvSpPr>
            <p:cNvPr name="Freeform 74" id="74"/>
            <p:cNvSpPr/>
            <p:nvPr/>
          </p:nvSpPr>
          <p:spPr>
            <a:xfrm flipH="false" flipV="false" rot="0">
              <a:off x="0" y="0"/>
              <a:ext cx="4108958" cy="5524500"/>
            </a:xfrm>
            <a:custGeom>
              <a:avLst/>
              <a:gdLst/>
              <a:ahLst/>
              <a:cxnLst/>
              <a:rect r="r" b="b" t="t" l="l"/>
              <a:pathLst>
                <a:path h="5524500" w="4108958">
                  <a:moveTo>
                    <a:pt x="0" y="221488"/>
                  </a:moveTo>
                  <a:cubicBezTo>
                    <a:pt x="0" y="99187"/>
                    <a:pt x="99187" y="0"/>
                    <a:pt x="221488" y="0"/>
                  </a:cubicBezTo>
                  <a:lnTo>
                    <a:pt x="3887470" y="0"/>
                  </a:lnTo>
                  <a:cubicBezTo>
                    <a:pt x="4009771" y="0"/>
                    <a:pt x="4108958" y="99187"/>
                    <a:pt x="4108958" y="221488"/>
                  </a:cubicBezTo>
                  <a:lnTo>
                    <a:pt x="4108958" y="5303012"/>
                  </a:lnTo>
                  <a:cubicBezTo>
                    <a:pt x="4108958" y="5425313"/>
                    <a:pt x="4009771" y="5524500"/>
                    <a:pt x="3887470" y="5524500"/>
                  </a:cubicBezTo>
                  <a:lnTo>
                    <a:pt x="221488" y="5524500"/>
                  </a:lnTo>
                  <a:cubicBezTo>
                    <a:pt x="99187" y="5524500"/>
                    <a:pt x="0" y="5425313"/>
                    <a:pt x="0" y="5303012"/>
                  </a:cubicBezTo>
                  <a:close/>
                </a:path>
              </a:pathLst>
            </a:custGeom>
            <a:solidFill>
              <a:srgbClr val="F1F3F8"/>
            </a:solidFill>
            <a:ln w="28575" cap="sq">
              <a:solidFill>
                <a:srgbClr val="F1F3F8"/>
              </a:solidFill>
              <a:prstDash val="solid"/>
              <a:miter/>
            </a:ln>
          </p:spPr>
        </p:sp>
      </p:grpSp>
      <p:grpSp>
        <p:nvGrpSpPr>
          <p:cNvPr name="Group 75" id="75"/>
          <p:cNvGrpSpPr/>
          <p:nvPr/>
        </p:nvGrpSpPr>
        <p:grpSpPr>
          <a:xfrm rot="0">
            <a:off x="14806765" y="5771645"/>
            <a:ext cx="714375" cy="714375"/>
            <a:chOff x="0" y="0"/>
            <a:chExt cx="952500" cy="952500"/>
          </a:xfrm>
        </p:grpSpPr>
        <p:sp>
          <p:nvSpPr>
            <p:cNvPr name="Freeform 76" id="76"/>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0D417C"/>
            </a:solidFill>
            <a:ln w="28575" cap="sq">
              <a:solidFill>
                <a:srgbClr val="0D417C"/>
              </a:solidFill>
              <a:prstDash val="solid"/>
              <a:miter/>
            </a:ln>
          </p:spPr>
        </p:sp>
        <p:sp>
          <p:nvSpPr>
            <p:cNvPr name="TextBox 77" id="77"/>
            <p:cNvSpPr txBox="true"/>
            <p:nvPr/>
          </p:nvSpPr>
          <p:spPr>
            <a:xfrm>
              <a:off x="0" y="-57150"/>
              <a:ext cx="952500" cy="1009650"/>
            </a:xfrm>
            <a:prstGeom prst="rect">
              <a:avLst/>
            </a:prstGeom>
          </p:spPr>
          <p:txBody>
            <a:bodyPr anchor="ctr" rtlCol="false" tIns="50800" lIns="50800" bIns="50800" rIns="50800"/>
            <a:lstStyle/>
            <a:p>
              <a:pPr algn="ctr">
                <a:lnSpc>
                  <a:spcPts val="2700"/>
                </a:lnSpc>
              </a:pPr>
              <a:r>
                <a:rPr lang="en-US" b="true" sz="2250">
                  <a:solidFill>
                    <a:srgbClr val="0E3C74"/>
                  </a:solidFill>
                  <a:latin typeface="Calibri (MS) Bold"/>
                  <a:ea typeface="Calibri (MS) Bold"/>
                  <a:cs typeface="Calibri (MS) Bold"/>
                  <a:sym typeface="Calibri (MS) Bold"/>
                </a:rPr>
                <a:t>5</a:t>
              </a:r>
            </a:p>
          </p:txBody>
        </p:sp>
      </p:grpSp>
      <p:sp>
        <p:nvSpPr>
          <p:cNvPr name="TextBox 78" id="78"/>
          <p:cNvSpPr txBox="true"/>
          <p:nvPr/>
        </p:nvSpPr>
        <p:spPr>
          <a:xfrm rot="0">
            <a:off x="14821052" y="6688902"/>
            <a:ext cx="2230222" cy="742950"/>
          </a:xfrm>
          <a:prstGeom prst="rect">
            <a:avLst/>
          </a:prstGeom>
        </p:spPr>
        <p:txBody>
          <a:bodyPr anchor="t" rtlCol="false" tIns="0" lIns="0" bIns="0" rIns="0">
            <a:spAutoFit/>
          </a:bodyPr>
          <a:lstStyle/>
          <a:p>
            <a:pPr algn="l">
              <a:lnSpc>
                <a:spcPts val="3240"/>
              </a:lnSpc>
            </a:pPr>
            <a:r>
              <a:rPr lang="en-US" sz="2700" b="true">
                <a:solidFill>
                  <a:srgbClr val="1B1F3B"/>
                </a:solidFill>
                <a:latin typeface="Calibri (MS) Bold"/>
                <a:ea typeface="Calibri (MS) Bold"/>
                <a:cs typeface="Calibri (MS) Bold"/>
                <a:sym typeface="Calibri (MS) Bold"/>
              </a:rPr>
              <a:t>No memory</a:t>
            </a:r>
          </a:p>
        </p:txBody>
      </p:sp>
      <p:sp>
        <p:nvSpPr>
          <p:cNvPr name="TextBox 79" id="79"/>
          <p:cNvSpPr txBox="true"/>
          <p:nvPr/>
        </p:nvSpPr>
        <p:spPr>
          <a:xfrm rot="0">
            <a:off x="14821052" y="7717602"/>
            <a:ext cx="2230222" cy="1497330"/>
          </a:xfrm>
          <a:prstGeom prst="rect">
            <a:avLst/>
          </a:prstGeom>
        </p:spPr>
        <p:txBody>
          <a:bodyPr anchor="t" rtlCol="false" tIns="0" lIns="0" bIns="0" rIns="0">
            <a:spAutoFit/>
          </a:bodyPr>
          <a:lstStyle/>
          <a:p>
            <a:pPr algn="l">
              <a:lnSpc>
                <a:spcPts val="2700"/>
              </a:lnSpc>
            </a:pPr>
            <a:r>
              <a:rPr lang="en-US" sz="2250">
                <a:solidFill>
                  <a:srgbClr val="0E3C74"/>
                </a:solidFill>
                <a:latin typeface="Calibri (MS)"/>
                <a:ea typeface="Calibri (MS)"/>
                <a:cs typeface="Calibri (MS)"/>
                <a:sym typeface="Calibri (MS)"/>
              </a:rPr>
              <a:t>Forgets between calls — unless your code carries it.</a:t>
            </a:r>
          </a:p>
        </p:txBody>
      </p:sp>
      <p:grpSp>
        <p:nvGrpSpPr>
          <p:cNvPr name="Group 80" id="80"/>
          <p:cNvGrpSpPr/>
          <p:nvPr/>
        </p:nvGrpSpPr>
        <p:grpSpPr>
          <a:xfrm rot="0">
            <a:off x="1028700" y="1655765"/>
            <a:ext cx="14280935" cy="531020"/>
            <a:chOff x="0" y="0"/>
            <a:chExt cx="3630497" cy="134996"/>
          </a:xfrm>
        </p:grpSpPr>
        <p:sp>
          <p:nvSpPr>
            <p:cNvPr name="Freeform 81" id="81"/>
            <p:cNvSpPr/>
            <p:nvPr/>
          </p:nvSpPr>
          <p:spPr>
            <a:xfrm flipH="false" flipV="false" rot="0">
              <a:off x="0" y="0"/>
              <a:ext cx="3630497" cy="134996"/>
            </a:xfrm>
            <a:custGeom>
              <a:avLst/>
              <a:gdLst/>
              <a:ahLst/>
              <a:cxnLst/>
              <a:rect r="r" b="b" t="t" l="l"/>
              <a:pathLst>
                <a:path h="134996" w="3630497">
                  <a:moveTo>
                    <a:pt x="0" y="0"/>
                  </a:moveTo>
                  <a:lnTo>
                    <a:pt x="3630497" y="0"/>
                  </a:lnTo>
                  <a:lnTo>
                    <a:pt x="3630497" y="134996"/>
                  </a:lnTo>
                  <a:lnTo>
                    <a:pt x="0" y="134996"/>
                  </a:lnTo>
                  <a:close/>
                </a:path>
              </a:pathLst>
            </a:custGeom>
            <a:solidFill>
              <a:srgbClr val="0493FB"/>
            </a:solidFill>
          </p:spPr>
        </p:sp>
        <p:sp>
          <p:nvSpPr>
            <p:cNvPr name="TextBox 82" id="82"/>
            <p:cNvSpPr txBox="true"/>
            <p:nvPr/>
          </p:nvSpPr>
          <p:spPr>
            <a:xfrm>
              <a:off x="0" y="-38100"/>
              <a:ext cx="3630497" cy="173096"/>
            </a:xfrm>
            <a:prstGeom prst="rect">
              <a:avLst/>
            </a:prstGeom>
          </p:spPr>
          <p:txBody>
            <a:bodyPr anchor="ctr" rtlCol="false" tIns="50800" lIns="50800" bIns="50800" rIns="50800"/>
            <a:lstStyle/>
            <a:p>
              <a:pPr algn="ctr">
                <a:lnSpc>
                  <a:spcPts val="2659"/>
                </a:lnSpc>
                <a:spcBef>
                  <a:spcPct val="0"/>
                </a:spcBef>
              </a:pPr>
            </a:p>
          </p:txBody>
        </p:sp>
      </p:grpSp>
      <p:sp>
        <p:nvSpPr>
          <p:cNvPr name="TextBox 83" id="83"/>
          <p:cNvSpPr txBox="true"/>
          <p:nvPr/>
        </p:nvSpPr>
        <p:spPr>
          <a:xfrm rot="0">
            <a:off x="1117981" y="712397"/>
            <a:ext cx="14191655"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What does an LLM really do?</a:t>
            </a:r>
          </a:p>
        </p:txBody>
      </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4972443" y="1082992"/>
            <a:ext cx="2223135" cy="645795"/>
            <a:chOff x="0" y="0"/>
            <a:chExt cx="2964180" cy="861060"/>
          </a:xfrm>
        </p:grpSpPr>
        <p:sp>
          <p:nvSpPr>
            <p:cNvPr name="Freeform 3" id="3"/>
            <p:cNvSpPr/>
            <p:nvPr/>
          </p:nvSpPr>
          <p:spPr>
            <a:xfrm flipH="false" flipV="false" rot="0">
              <a:off x="0" y="0"/>
              <a:ext cx="2964180" cy="861187"/>
            </a:xfrm>
            <a:custGeom>
              <a:avLst/>
              <a:gdLst/>
              <a:ahLst/>
              <a:cxnLst/>
              <a:rect r="r" b="b" t="t" l="l"/>
              <a:pathLst>
                <a:path h="861187" w="2964180">
                  <a:moveTo>
                    <a:pt x="0" y="421005"/>
                  </a:moveTo>
                  <a:cubicBezTo>
                    <a:pt x="0" y="188468"/>
                    <a:pt x="188468" y="0"/>
                    <a:pt x="421005" y="0"/>
                  </a:cubicBezTo>
                  <a:lnTo>
                    <a:pt x="2543175" y="0"/>
                  </a:lnTo>
                  <a:cubicBezTo>
                    <a:pt x="2775712" y="0"/>
                    <a:pt x="2964180" y="188468"/>
                    <a:pt x="2964180" y="421005"/>
                  </a:cubicBezTo>
                  <a:lnTo>
                    <a:pt x="2964180" y="440182"/>
                  </a:lnTo>
                  <a:cubicBezTo>
                    <a:pt x="2964180" y="672719"/>
                    <a:pt x="2775712" y="861187"/>
                    <a:pt x="2543175" y="861187"/>
                  </a:cubicBezTo>
                  <a:lnTo>
                    <a:pt x="421005" y="861187"/>
                  </a:lnTo>
                  <a:cubicBezTo>
                    <a:pt x="188468" y="861060"/>
                    <a:pt x="0" y="672592"/>
                    <a:pt x="0" y="440055"/>
                  </a:cubicBezTo>
                  <a:close/>
                </a:path>
              </a:pathLst>
            </a:custGeom>
            <a:solidFill>
              <a:srgbClr val="0493FB"/>
            </a:solidFill>
            <a:ln w="28575" cap="sq">
              <a:solidFill>
                <a:srgbClr val="0D417C"/>
              </a:solidFill>
              <a:prstDash val="solid"/>
              <a:miter/>
            </a:ln>
          </p:spPr>
        </p:sp>
        <p:sp>
          <p:nvSpPr>
            <p:cNvPr name="TextBox 4" id="4"/>
            <p:cNvSpPr txBox="true"/>
            <p:nvPr/>
          </p:nvSpPr>
          <p:spPr>
            <a:xfrm>
              <a:off x="0" y="-47625"/>
              <a:ext cx="296418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LIVE DEMO</a:t>
              </a:r>
            </a:p>
          </p:txBody>
        </p:sp>
      </p:grpSp>
      <p:grpSp>
        <p:nvGrpSpPr>
          <p:cNvPr name="Group 5" id="5"/>
          <p:cNvGrpSpPr/>
          <p:nvPr/>
        </p:nvGrpSpPr>
        <p:grpSpPr>
          <a:xfrm rot="0">
            <a:off x="1763935" y="2523172"/>
            <a:ext cx="14704695" cy="2908935"/>
            <a:chOff x="0" y="0"/>
            <a:chExt cx="19606260" cy="3878580"/>
          </a:xfrm>
        </p:grpSpPr>
        <p:sp>
          <p:nvSpPr>
            <p:cNvPr name="Freeform 6" id="6"/>
            <p:cNvSpPr/>
            <p:nvPr/>
          </p:nvSpPr>
          <p:spPr>
            <a:xfrm flipH="false" flipV="false" rot="0">
              <a:off x="0" y="0"/>
              <a:ext cx="19606261" cy="4363339"/>
            </a:xfrm>
            <a:custGeom>
              <a:avLst/>
              <a:gdLst/>
              <a:ahLst/>
              <a:cxnLst/>
              <a:rect r="r" b="b" t="t" l="l"/>
              <a:pathLst>
                <a:path h="4363339" w="19606261">
                  <a:moveTo>
                    <a:pt x="0" y="646430"/>
                  </a:moveTo>
                  <a:cubicBezTo>
                    <a:pt x="0" y="289433"/>
                    <a:pt x="289433" y="0"/>
                    <a:pt x="646430" y="0"/>
                  </a:cubicBezTo>
                  <a:lnTo>
                    <a:pt x="3267710" y="0"/>
                  </a:lnTo>
                  <a:lnTo>
                    <a:pt x="8169275" y="0"/>
                  </a:lnTo>
                  <a:lnTo>
                    <a:pt x="18959830" y="0"/>
                  </a:lnTo>
                  <a:cubicBezTo>
                    <a:pt x="19316827" y="0"/>
                    <a:pt x="19606261" y="289433"/>
                    <a:pt x="19606261" y="646430"/>
                  </a:cubicBezTo>
                  <a:lnTo>
                    <a:pt x="19606261" y="2262505"/>
                  </a:lnTo>
                  <a:lnTo>
                    <a:pt x="19606261" y="3232150"/>
                  </a:lnTo>
                  <a:cubicBezTo>
                    <a:pt x="19606261" y="3589147"/>
                    <a:pt x="19316827" y="3878580"/>
                    <a:pt x="18959830" y="3878580"/>
                  </a:cubicBezTo>
                  <a:lnTo>
                    <a:pt x="8169275" y="3878580"/>
                  </a:lnTo>
                  <a:lnTo>
                    <a:pt x="5718556" y="4363339"/>
                  </a:lnTo>
                  <a:lnTo>
                    <a:pt x="3267710" y="3878580"/>
                  </a:lnTo>
                  <a:lnTo>
                    <a:pt x="646430" y="3878580"/>
                  </a:lnTo>
                  <a:cubicBezTo>
                    <a:pt x="289433" y="3878580"/>
                    <a:pt x="0" y="3589147"/>
                    <a:pt x="0" y="3232150"/>
                  </a:cubicBezTo>
                  <a:lnTo>
                    <a:pt x="0" y="2262505"/>
                  </a:lnTo>
                  <a:close/>
                </a:path>
              </a:pathLst>
            </a:custGeom>
            <a:solidFill>
              <a:srgbClr val="FFFFFF"/>
            </a:solidFill>
            <a:ln w="28575" cap="sq">
              <a:solidFill>
                <a:srgbClr val="FFFFFF"/>
              </a:solidFill>
              <a:prstDash val="solid"/>
              <a:miter/>
            </a:ln>
          </p:spPr>
        </p:sp>
        <p:sp>
          <p:nvSpPr>
            <p:cNvPr name="TextBox 7" id="7"/>
            <p:cNvSpPr txBox="true"/>
            <p:nvPr/>
          </p:nvSpPr>
          <p:spPr>
            <a:xfrm>
              <a:off x="0" y="-123825"/>
              <a:ext cx="19606260" cy="4002405"/>
            </a:xfrm>
            <a:prstGeom prst="rect">
              <a:avLst/>
            </a:prstGeom>
          </p:spPr>
          <p:txBody>
            <a:bodyPr anchor="ctr" rtlCol="false" tIns="50800" lIns="50800" bIns="50800" rIns="50800"/>
            <a:lstStyle/>
            <a:p>
              <a:pPr algn="ctr">
                <a:lnSpc>
                  <a:spcPts val="7200"/>
                </a:lnSpc>
              </a:pPr>
              <a:r>
                <a:rPr lang="en-US" sz="6000" b="true">
                  <a:solidFill>
                    <a:srgbClr val="1B1F3B"/>
                  </a:solidFill>
                  <a:latin typeface="Calibri (MS) Bold"/>
                  <a:ea typeface="Calibri (MS) Bold"/>
                  <a:cs typeface="Calibri (MS) Bold"/>
                  <a:sym typeface="Calibri (MS) Bold"/>
                </a:rPr>
                <a:t>“Book me the cheapest flight under $400.”</a:t>
              </a:r>
            </a:p>
          </p:txBody>
        </p:sp>
      </p:grpSp>
      <p:sp>
        <p:nvSpPr>
          <p:cNvPr name="TextBox 8" id="8"/>
          <p:cNvSpPr txBox="true"/>
          <p:nvPr/>
        </p:nvSpPr>
        <p:spPr>
          <a:xfrm rot="0">
            <a:off x="1092422" y="6360795"/>
            <a:ext cx="16047720" cy="908685"/>
          </a:xfrm>
          <a:prstGeom prst="rect">
            <a:avLst/>
          </a:prstGeom>
        </p:spPr>
        <p:txBody>
          <a:bodyPr anchor="t" rtlCol="false" tIns="0" lIns="0" bIns="0" rIns="0">
            <a:spAutoFit/>
          </a:bodyPr>
          <a:lstStyle/>
          <a:p>
            <a:pPr algn="ctr">
              <a:lnSpc>
                <a:spcPts val="5040"/>
              </a:lnSpc>
            </a:pPr>
            <a:r>
              <a:rPr lang="en-US" sz="4200">
                <a:solidFill>
                  <a:srgbClr val="FFFFFF"/>
                </a:solidFill>
                <a:latin typeface="Calibri (MS)"/>
                <a:ea typeface="Calibri (MS)"/>
                <a:cs typeface="Calibri (MS)"/>
                <a:sym typeface="Calibri (MS)"/>
              </a:rPr>
              <a:t>No tools.     No memory.     No way to check.</a:t>
            </a:r>
          </a:p>
        </p:txBody>
      </p:sp>
      <p:grpSp>
        <p:nvGrpSpPr>
          <p:cNvPr name="Group 9" id="9"/>
          <p:cNvGrpSpPr/>
          <p:nvPr/>
        </p:nvGrpSpPr>
        <p:grpSpPr>
          <a:xfrm rot="0">
            <a:off x="909955" y="612859"/>
            <a:ext cx="4763059" cy="1383284"/>
            <a:chOff x="0" y="0"/>
            <a:chExt cx="6350745" cy="1844379"/>
          </a:xfrm>
        </p:grpSpPr>
        <p:grpSp>
          <p:nvGrpSpPr>
            <p:cNvPr name="Group 10" id="10"/>
            <p:cNvGrpSpPr/>
            <p:nvPr/>
          </p:nvGrpSpPr>
          <p:grpSpPr>
            <a:xfrm rot="0">
              <a:off x="0" y="1092723"/>
              <a:ext cx="6279942" cy="708027"/>
              <a:chOff x="0" y="0"/>
              <a:chExt cx="1197364" cy="134996"/>
            </a:xfrm>
          </p:grpSpPr>
          <p:sp>
            <p:nvSpPr>
              <p:cNvPr name="Freeform 11" id="11"/>
              <p:cNvSpPr/>
              <p:nvPr/>
            </p:nvSpPr>
            <p:spPr>
              <a:xfrm flipH="false" flipV="false" rot="0">
                <a:off x="0" y="0"/>
                <a:ext cx="1197364" cy="134996"/>
              </a:xfrm>
              <a:custGeom>
                <a:avLst/>
                <a:gdLst/>
                <a:ahLst/>
                <a:cxnLst/>
                <a:rect r="r" b="b" t="t" l="l"/>
                <a:pathLst>
                  <a:path h="134996" w="1197364">
                    <a:moveTo>
                      <a:pt x="0" y="0"/>
                    </a:moveTo>
                    <a:lnTo>
                      <a:pt x="1197364" y="0"/>
                    </a:lnTo>
                    <a:lnTo>
                      <a:pt x="1197364" y="134996"/>
                    </a:lnTo>
                    <a:lnTo>
                      <a:pt x="0" y="134996"/>
                    </a:lnTo>
                    <a:close/>
                  </a:path>
                </a:pathLst>
              </a:custGeom>
              <a:solidFill>
                <a:srgbClr val="0493FB"/>
              </a:solidFill>
            </p:spPr>
          </p:sp>
          <p:sp>
            <p:nvSpPr>
              <p:cNvPr name="TextBox 12" id="12"/>
              <p:cNvSpPr txBox="true"/>
              <p:nvPr/>
            </p:nvSpPr>
            <p:spPr>
              <a:xfrm>
                <a:off x="0" y="-38100"/>
                <a:ext cx="1197364" cy="173096"/>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40759" y="-123825"/>
              <a:ext cx="6309986" cy="1968204"/>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Try this?</a:t>
              </a:r>
            </a:p>
          </p:txBody>
        </p:sp>
      </p:grpSp>
      <p:grpSp>
        <p:nvGrpSpPr>
          <p:cNvPr name="Group 14" id="14"/>
          <p:cNvGrpSpPr/>
          <p:nvPr/>
        </p:nvGrpSpPr>
        <p:grpSpPr>
          <a:xfrm rot="0">
            <a:off x="4884678" y="7821746"/>
            <a:ext cx="8438910" cy="587270"/>
            <a:chOff x="0" y="0"/>
            <a:chExt cx="2145338" cy="149296"/>
          </a:xfrm>
        </p:grpSpPr>
        <p:sp>
          <p:nvSpPr>
            <p:cNvPr name="Freeform 15" id="15"/>
            <p:cNvSpPr/>
            <p:nvPr/>
          </p:nvSpPr>
          <p:spPr>
            <a:xfrm flipH="false" flipV="false" rot="0">
              <a:off x="0" y="0"/>
              <a:ext cx="2145338" cy="149296"/>
            </a:xfrm>
            <a:custGeom>
              <a:avLst/>
              <a:gdLst/>
              <a:ahLst/>
              <a:cxnLst/>
              <a:rect r="r" b="b" t="t" l="l"/>
              <a:pathLst>
                <a:path h="149296" w="2145338">
                  <a:moveTo>
                    <a:pt x="0" y="0"/>
                  </a:moveTo>
                  <a:lnTo>
                    <a:pt x="2145338" y="0"/>
                  </a:lnTo>
                  <a:lnTo>
                    <a:pt x="2145338" y="149296"/>
                  </a:lnTo>
                  <a:lnTo>
                    <a:pt x="0" y="149296"/>
                  </a:lnTo>
                  <a:close/>
                </a:path>
              </a:pathLst>
            </a:custGeom>
            <a:solidFill>
              <a:srgbClr val="0493FB"/>
            </a:solidFill>
          </p:spPr>
        </p:sp>
        <p:sp>
          <p:nvSpPr>
            <p:cNvPr name="TextBox 16" id="16"/>
            <p:cNvSpPr txBox="true"/>
            <p:nvPr/>
          </p:nvSpPr>
          <p:spPr>
            <a:xfrm>
              <a:off x="0" y="-38100"/>
              <a:ext cx="2145338" cy="187396"/>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4884678" y="6845657"/>
            <a:ext cx="9469611"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What happened?</a:t>
            </a:r>
          </a:p>
        </p:txBody>
      </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3634531"/>
            <a:ext cx="16666083" cy="5103495"/>
            <a:chOff x="0" y="0"/>
            <a:chExt cx="22221444" cy="6804660"/>
          </a:xfrm>
        </p:grpSpPr>
        <p:grpSp>
          <p:nvGrpSpPr>
            <p:cNvPr name="Group 3" id="3"/>
            <p:cNvGrpSpPr/>
            <p:nvPr/>
          </p:nvGrpSpPr>
          <p:grpSpPr>
            <a:xfrm rot="0">
              <a:off x="0" y="0"/>
              <a:ext cx="6944868" cy="6804660"/>
              <a:chOff x="0" y="0"/>
              <a:chExt cx="6944868" cy="6804660"/>
            </a:xfrm>
          </p:grpSpPr>
          <p:sp>
            <p:nvSpPr>
              <p:cNvPr name="Freeform 4" id="4"/>
              <p:cNvSpPr/>
              <p:nvPr/>
            </p:nvSpPr>
            <p:spPr>
              <a:xfrm flipH="false" flipV="false" rot="0">
                <a:off x="0" y="0"/>
                <a:ext cx="6944868" cy="6804660"/>
              </a:xfrm>
              <a:custGeom>
                <a:avLst/>
                <a:gdLst/>
                <a:ahLst/>
                <a:cxnLst/>
                <a:rect r="r" b="b" t="t" l="l"/>
                <a:pathLst>
                  <a:path h="6804660" w="6944868">
                    <a:moveTo>
                      <a:pt x="0" y="220726"/>
                    </a:moveTo>
                    <a:cubicBezTo>
                      <a:pt x="0" y="98806"/>
                      <a:pt x="98806" y="0"/>
                      <a:pt x="220726" y="0"/>
                    </a:cubicBezTo>
                    <a:lnTo>
                      <a:pt x="6724142" y="0"/>
                    </a:lnTo>
                    <a:cubicBezTo>
                      <a:pt x="6846062" y="0"/>
                      <a:pt x="6944868" y="98806"/>
                      <a:pt x="6944868" y="220726"/>
                    </a:cubicBezTo>
                    <a:lnTo>
                      <a:pt x="6944868" y="6583934"/>
                    </a:lnTo>
                    <a:cubicBezTo>
                      <a:pt x="6944868" y="6705853"/>
                      <a:pt x="6846062" y="6804660"/>
                      <a:pt x="6724142" y="6804660"/>
                    </a:cubicBezTo>
                    <a:lnTo>
                      <a:pt x="220726" y="6804660"/>
                    </a:lnTo>
                    <a:cubicBezTo>
                      <a:pt x="98806" y="6804660"/>
                      <a:pt x="0" y="6705854"/>
                      <a:pt x="0" y="6583934"/>
                    </a:cubicBezTo>
                    <a:close/>
                  </a:path>
                </a:pathLst>
              </a:custGeom>
              <a:solidFill>
                <a:srgbClr val="0D417C"/>
              </a:solidFill>
              <a:ln w="28575" cap="sq">
                <a:solidFill>
                  <a:srgbClr val="F1F3F8"/>
                </a:solidFill>
                <a:prstDash val="solid"/>
                <a:miter/>
              </a:ln>
            </p:spPr>
          </p:sp>
        </p:grpSp>
        <p:grpSp>
          <p:nvGrpSpPr>
            <p:cNvPr name="Group 5" id="5"/>
            <p:cNvGrpSpPr/>
            <p:nvPr/>
          </p:nvGrpSpPr>
          <p:grpSpPr>
            <a:xfrm rot="0">
              <a:off x="731520" y="640080"/>
              <a:ext cx="1866900" cy="1866900"/>
              <a:chOff x="0" y="0"/>
              <a:chExt cx="1866900" cy="1866900"/>
            </a:xfrm>
          </p:grpSpPr>
          <p:sp>
            <p:nvSpPr>
              <p:cNvPr name="Freeform 6" id="6"/>
              <p:cNvSpPr/>
              <p:nvPr/>
            </p:nvSpPr>
            <p:spPr>
              <a:xfrm flipH="false" flipV="false" rot="0">
                <a:off x="0" y="0"/>
                <a:ext cx="1866900" cy="1866900"/>
              </a:xfrm>
              <a:custGeom>
                <a:avLst/>
                <a:gdLst/>
                <a:ahLst/>
                <a:cxnLst/>
                <a:rect r="r" b="b" t="t" l="l"/>
                <a:pathLst>
                  <a:path h="1866900" w="1866900">
                    <a:moveTo>
                      <a:pt x="0" y="933450"/>
                    </a:moveTo>
                    <a:cubicBezTo>
                      <a:pt x="0" y="417957"/>
                      <a:pt x="417957" y="0"/>
                      <a:pt x="933450" y="0"/>
                    </a:cubicBezTo>
                    <a:cubicBezTo>
                      <a:pt x="1448943" y="0"/>
                      <a:pt x="1866900" y="417957"/>
                      <a:pt x="1866900" y="933450"/>
                    </a:cubicBezTo>
                    <a:cubicBezTo>
                      <a:pt x="1866900" y="1448943"/>
                      <a:pt x="1448943" y="1866900"/>
                      <a:pt x="933450" y="1866900"/>
                    </a:cubicBezTo>
                    <a:cubicBezTo>
                      <a:pt x="417957" y="1866900"/>
                      <a:pt x="0" y="1448943"/>
                      <a:pt x="0" y="933450"/>
                    </a:cubicBezTo>
                    <a:close/>
                  </a:path>
                </a:pathLst>
              </a:custGeom>
              <a:solidFill>
                <a:srgbClr val="D62839"/>
              </a:solidFill>
              <a:ln w="28575" cap="sq">
                <a:solidFill>
                  <a:srgbClr val="D62839"/>
                </a:solidFill>
                <a:prstDash val="solid"/>
                <a:miter/>
              </a:ln>
            </p:spPr>
          </p:sp>
          <p:sp>
            <p:nvSpPr>
              <p:cNvPr name="TextBox 7" id="7"/>
              <p:cNvSpPr txBox="true"/>
              <p:nvPr/>
            </p:nvSpPr>
            <p:spPr>
              <a:xfrm>
                <a:off x="0" y="-85725"/>
                <a:ext cx="1866900" cy="1952625"/>
              </a:xfrm>
              <a:prstGeom prst="rect">
                <a:avLst/>
              </a:prstGeom>
            </p:spPr>
            <p:txBody>
              <a:bodyPr anchor="ctr" rtlCol="false" tIns="50800" lIns="50800" bIns="50800" rIns="50800"/>
              <a:lstStyle/>
              <a:p>
                <a:pPr algn="ctr">
                  <a:lnSpc>
                    <a:spcPts val="5759"/>
                  </a:lnSpc>
                </a:pPr>
                <a:r>
                  <a:rPr lang="en-US" sz="4800" b="true">
                    <a:solidFill>
                      <a:srgbClr val="FFFFFF"/>
                    </a:solidFill>
                    <a:latin typeface="Calibri (MS) Bold"/>
                    <a:ea typeface="Calibri (MS) Bold"/>
                    <a:cs typeface="Calibri (MS) Bold"/>
                    <a:sym typeface="Calibri (MS) Bold"/>
                  </a:rPr>
                  <a:t>✕</a:t>
                </a:r>
              </a:p>
            </p:txBody>
          </p:sp>
        </p:grpSp>
        <p:sp>
          <p:nvSpPr>
            <p:cNvPr name="TextBox 8" id="8"/>
            <p:cNvSpPr txBox="true"/>
            <p:nvPr/>
          </p:nvSpPr>
          <p:spPr>
            <a:xfrm rot="0">
              <a:off x="750570" y="2969895"/>
              <a:ext cx="5443728" cy="1163955"/>
            </a:xfrm>
            <a:prstGeom prst="rect">
              <a:avLst/>
            </a:prstGeom>
          </p:spPr>
          <p:txBody>
            <a:bodyPr anchor="t" rtlCol="false" tIns="0" lIns="0" bIns="0" rIns="0">
              <a:spAutoFit/>
            </a:bodyPr>
            <a:lstStyle/>
            <a:p>
              <a:pPr algn="l">
                <a:lnSpc>
                  <a:spcPts val="4320"/>
                </a:lnSpc>
              </a:pPr>
              <a:r>
                <a:rPr lang="en-US" b="true" sz="3600">
                  <a:solidFill>
                    <a:srgbClr val="FFFFFF"/>
                  </a:solidFill>
                  <a:latin typeface="Calibri (MS) Bold"/>
                  <a:ea typeface="Calibri (MS) Bold"/>
                  <a:cs typeface="Calibri (MS) Bold"/>
                  <a:sym typeface="Calibri (MS) Bold"/>
                </a:rPr>
                <a:t>No memory</a:t>
              </a:r>
            </a:p>
          </p:txBody>
        </p:sp>
        <p:sp>
          <p:nvSpPr>
            <p:cNvPr name="TextBox 9" id="9"/>
            <p:cNvSpPr txBox="true"/>
            <p:nvPr/>
          </p:nvSpPr>
          <p:spPr>
            <a:xfrm rot="0">
              <a:off x="750570" y="4177665"/>
              <a:ext cx="5443728" cy="2242185"/>
            </a:xfrm>
            <a:prstGeom prst="rect">
              <a:avLst/>
            </a:prstGeom>
          </p:spPr>
          <p:txBody>
            <a:bodyPr anchor="t" rtlCol="false" tIns="0" lIns="0" bIns="0" rIns="0">
              <a:spAutoFit/>
            </a:bodyPr>
            <a:lstStyle/>
            <a:p>
              <a:pPr algn="l">
                <a:lnSpc>
                  <a:spcPts val="3060"/>
                </a:lnSpc>
              </a:pPr>
              <a:r>
                <a:rPr lang="en-US" sz="2550">
                  <a:solidFill>
                    <a:srgbClr val="FFFFFF"/>
                  </a:solidFill>
                  <a:latin typeface="Calibri (MS)"/>
                  <a:ea typeface="Calibri (MS)"/>
                  <a:cs typeface="Calibri (MS)"/>
                  <a:sym typeface="Calibri (MS)"/>
                </a:rPr>
                <a:t>Can’t recall anything beyond what’s in front of it.</a:t>
              </a:r>
            </a:p>
          </p:txBody>
        </p:sp>
        <p:grpSp>
          <p:nvGrpSpPr>
            <p:cNvPr name="Group 10" id="10"/>
            <p:cNvGrpSpPr/>
            <p:nvPr/>
          </p:nvGrpSpPr>
          <p:grpSpPr>
            <a:xfrm rot="0">
              <a:off x="7638288" y="0"/>
              <a:ext cx="6944868" cy="6804660"/>
              <a:chOff x="0" y="0"/>
              <a:chExt cx="6944868" cy="6804660"/>
            </a:xfrm>
          </p:grpSpPr>
          <p:sp>
            <p:nvSpPr>
              <p:cNvPr name="Freeform 11" id="11"/>
              <p:cNvSpPr/>
              <p:nvPr/>
            </p:nvSpPr>
            <p:spPr>
              <a:xfrm flipH="false" flipV="false" rot="0">
                <a:off x="0" y="0"/>
                <a:ext cx="6944868" cy="6804660"/>
              </a:xfrm>
              <a:custGeom>
                <a:avLst/>
                <a:gdLst/>
                <a:ahLst/>
                <a:cxnLst/>
                <a:rect r="r" b="b" t="t" l="l"/>
                <a:pathLst>
                  <a:path h="6804660" w="6944868">
                    <a:moveTo>
                      <a:pt x="0" y="220726"/>
                    </a:moveTo>
                    <a:cubicBezTo>
                      <a:pt x="0" y="98806"/>
                      <a:pt x="98806" y="0"/>
                      <a:pt x="220726" y="0"/>
                    </a:cubicBezTo>
                    <a:lnTo>
                      <a:pt x="6724142" y="0"/>
                    </a:lnTo>
                    <a:cubicBezTo>
                      <a:pt x="6846062" y="0"/>
                      <a:pt x="6944868" y="98806"/>
                      <a:pt x="6944868" y="220726"/>
                    </a:cubicBezTo>
                    <a:lnTo>
                      <a:pt x="6944868" y="6583934"/>
                    </a:lnTo>
                    <a:cubicBezTo>
                      <a:pt x="6944868" y="6705853"/>
                      <a:pt x="6846062" y="6804660"/>
                      <a:pt x="6724142" y="6804660"/>
                    </a:cubicBezTo>
                    <a:lnTo>
                      <a:pt x="220726" y="6804660"/>
                    </a:lnTo>
                    <a:cubicBezTo>
                      <a:pt x="98806" y="6804660"/>
                      <a:pt x="0" y="6705854"/>
                      <a:pt x="0" y="6583934"/>
                    </a:cubicBezTo>
                    <a:close/>
                  </a:path>
                </a:pathLst>
              </a:custGeom>
              <a:solidFill>
                <a:srgbClr val="0D417C"/>
              </a:solidFill>
              <a:ln w="28575" cap="sq">
                <a:solidFill>
                  <a:srgbClr val="F1F3F8"/>
                </a:solidFill>
                <a:prstDash val="solid"/>
                <a:miter/>
              </a:ln>
            </p:spPr>
          </p:sp>
        </p:grpSp>
        <p:grpSp>
          <p:nvGrpSpPr>
            <p:cNvPr name="Group 12" id="12"/>
            <p:cNvGrpSpPr/>
            <p:nvPr/>
          </p:nvGrpSpPr>
          <p:grpSpPr>
            <a:xfrm rot="0">
              <a:off x="8369808" y="640080"/>
              <a:ext cx="1866900" cy="1866900"/>
              <a:chOff x="0" y="0"/>
              <a:chExt cx="1866900" cy="1866900"/>
            </a:xfrm>
          </p:grpSpPr>
          <p:sp>
            <p:nvSpPr>
              <p:cNvPr name="Freeform 13" id="13"/>
              <p:cNvSpPr/>
              <p:nvPr/>
            </p:nvSpPr>
            <p:spPr>
              <a:xfrm flipH="false" flipV="false" rot="0">
                <a:off x="0" y="0"/>
                <a:ext cx="1866900" cy="1866900"/>
              </a:xfrm>
              <a:custGeom>
                <a:avLst/>
                <a:gdLst/>
                <a:ahLst/>
                <a:cxnLst/>
                <a:rect r="r" b="b" t="t" l="l"/>
                <a:pathLst>
                  <a:path h="1866900" w="1866900">
                    <a:moveTo>
                      <a:pt x="0" y="933450"/>
                    </a:moveTo>
                    <a:cubicBezTo>
                      <a:pt x="0" y="417957"/>
                      <a:pt x="417957" y="0"/>
                      <a:pt x="933450" y="0"/>
                    </a:cubicBezTo>
                    <a:cubicBezTo>
                      <a:pt x="1448943" y="0"/>
                      <a:pt x="1866900" y="417957"/>
                      <a:pt x="1866900" y="933450"/>
                    </a:cubicBezTo>
                    <a:cubicBezTo>
                      <a:pt x="1866900" y="1448943"/>
                      <a:pt x="1448943" y="1866900"/>
                      <a:pt x="933450" y="1866900"/>
                    </a:cubicBezTo>
                    <a:cubicBezTo>
                      <a:pt x="417957" y="1866900"/>
                      <a:pt x="0" y="1448943"/>
                      <a:pt x="0" y="933450"/>
                    </a:cubicBezTo>
                    <a:close/>
                  </a:path>
                </a:pathLst>
              </a:custGeom>
              <a:solidFill>
                <a:srgbClr val="D62839"/>
              </a:solidFill>
              <a:ln w="28575" cap="sq">
                <a:solidFill>
                  <a:srgbClr val="D62839"/>
                </a:solidFill>
                <a:prstDash val="solid"/>
                <a:miter/>
              </a:ln>
            </p:spPr>
          </p:sp>
          <p:sp>
            <p:nvSpPr>
              <p:cNvPr name="TextBox 14" id="14"/>
              <p:cNvSpPr txBox="true"/>
              <p:nvPr/>
            </p:nvSpPr>
            <p:spPr>
              <a:xfrm>
                <a:off x="0" y="-85725"/>
                <a:ext cx="1866900" cy="1952625"/>
              </a:xfrm>
              <a:prstGeom prst="rect">
                <a:avLst/>
              </a:prstGeom>
            </p:spPr>
            <p:txBody>
              <a:bodyPr anchor="ctr" rtlCol="false" tIns="50800" lIns="50800" bIns="50800" rIns="50800"/>
              <a:lstStyle/>
              <a:p>
                <a:pPr algn="ctr">
                  <a:lnSpc>
                    <a:spcPts val="5759"/>
                  </a:lnSpc>
                </a:pPr>
                <a:r>
                  <a:rPr lang="en-US" sz="4800" b="true">
                    <a:solidFill>
                      <a:srgbClr val="FFFFFF"/>
                    </a:solidFill>
                    <a:latin typeface="Calibri (MS) Bold"/>
                    <a:ea typeface="Calibri (MS) Bold"/>
                    <a:cs typeface="Calibri (MS) Bold"/>
                    <a:sym typeface="Calibri (MS) Bold"/>
                  </a:rPr>
                  <a:t>✕</a:t>
                </a:r>
              </a:p>
            </p:txBody>
          </p:sp>
        </p:grpSp>
        <p:sp>
          <p:nvSpPr>
            <p:cNvPr name="TextBox 15" id="15"/>
            <p:cNvSpPr txBox="true"/>
            <p:nvPr/>
          </p:nvSpPr>
          <p:spPr>
            <a:xfrm rot="0">
              <a:off x="8388858" y="2969895"/>
              <a:ext cx="5443728" cy="1163955"/>
            </a:xfrm>
            <a:prstGeom prst="rect">
              <a:avLst/>
            </a:prstGeom>
          </p:spPr>
          <p:txBody>
            <a:bodyPr anchor="t" rtlCol="false" tIns="0" lIns="0" bIns="0" rIns="0">
              <a:spAutoFit/>
            </a:bodyPr>
            <a:lstStyle/>
            <a:p>
              <a:pPr algn="l">
                <a:lnSpc>
                  <a:spcPts val="4320"/>
                </a:lnSpc>
              </a:pPr>
              <a:r>
                <a:rPr lang="en-US" b="true" sz="3600">
                  <a:solidFill>
                    <a:srgbClr val="FFFFFF"/>
                  </a:solidFill>
                  <a:latin typeface="Calibri (MS) Bold"/>
                  <a:ea typeface="Calibri (MS) Bold"/>
                  <a:cs typeface="Calibri (MS) Bold"/>
                  <a:sym typeface="Calibri (MS) Bold"/>
                </a:rPr>
                <a:t>No goals</a:t>
              </a:r>
            </a:p>
          </p:txBody>
        </p:sp>
        <p:sp>
          <p:nvSpPr>
            <p:cNvPr name="TextBox 16" id="16"/>
            <p:cNvSpPr txBox="true"/>
            <p:nvPr/>
          </p:nvSpPr>
          <p:spPr>
            <a:xfrm rot="0">
              <a:off x="8388858" y="4177665"/>
              <a:ext cx="5443728" cy="2242185"/>
            </a:xfrm>
            <a:prstGeom prst="rect">
              <a:avLst/>
            </a:prstGeom>
          </p:spPr>
          <p:txBody>
            <a:bodyPr anchor="t" rtlCol="false" tIns="0" lIns="0" bIns="0" rIns="0">
              <a:spAutoFit/>
            </a:bodyPr>
            <a:lstStyle/>
            <a:p>
              <a:pPr algn="l">
                <a:lnSpc>
                  <a:spcPts val="3060"/>
                </a:lnSpc>
              </a:pPr>
              <a:r>
                <a:rPr lang="en-US" sz="2550">
                  <a:solidFill>
                    <a:srgbClr val="FFFFFF"/>
                  </a:solidFill>
                  <a:latin typeface="Calibri (MS)"/>
                  <a:ea typeface="Calibri (MS)"/>
                  <a:cs typeface="Calibri (MS)"/>
                  <a:sym typeface="Calibri (MS)"/>
                </a:rPr>
                <a:t>Answers once, then stops. No plan, no follow-through.</a:t>
              </a:r>
            </a:p>
          </p:txBody>
        </p:sp>
        <p:grpSp>
          <p:nvGrpSpPr>
            <p:cNvPr name="Group 17" id="17"/>
            <p:cNvGrpSpPr/>
            <p:nvPr/>
          </p:nvGrpSpPr>
          <p:grpSpPr>
            <a:xfrm rot="0">
              <a:off x="15276576" y="0"/>
              <a:ext cx="6944868" cy="6804660"/>
              <a:chOff x="0" y="0"/>
              <a:chExt cx="6944868" cy="6804660"/>
            </a:xfrm>
          </p:grpSpPr>
          <p:sp>
            <p:nvSpPr>
              <p:cNvPr name="Freeform 18" id="18"/>
              <p:cNvSpPr/>
              <p:nvPr/>
            </p:nvSpPr>
            <p:spPr>
              <a:xfrm flipH="false" flipV="false" rot="0">
                <a:off x="0" y="0"/>
                <a:ext cx="6944868" cy="6804660"/>
              </a:xfrm>
              <a:custGeom>
                <a:avLst/>
                <a:gdLst/>
                <a:ahLst/>
                <a:cxnLst/>
                <a:rect r="r" b="b" t="t" l="l"/>
                <a:pathLst>
                  <a:path h="6804660" w="6944868">
                    <a:moveTo>
                      <a:pt x="0" y="220726"/>
                    </a:moveTo>
                    <a:cubicBezTo>
                      <a:pt x="0" y="98806"/>
                      <a:pt x="98806" y="0"/>
                      <a:pt x="220726" y="0"/>
                    </a:cubicBezTo>
                    <a:lnTo>
                      <a:pt x="6724142" y="0"/>
                    </a:lnTo>
                    <a:cubicBezTo>
                      <a:pt x="6846062" y="0"/>
                      <a:pt x="6944868" y="98806"/>
                      <a:pt x="6944868" y="220726"/>
                    </a:cubicBezTo>
                    <a:lnTo>
                      <a:pt x="6944868" y="6583934"/>
                    </a:lnTo>
                    <a:cubicBezTo>
                      <a:pt x="6944868" y="6705853"/>
                      <a:pt x="6846062" y="6804660"/>
                      <a:pt x="6724142" y="6804660"/>
                    </a:cubicBezTo>
                    <a:lnTo>
                      <a:pt x="220726" y="6804660"/>
                    </a:lnTo>
                    <a:cubicBezTo>
                      <a:pt x="98806" y="6804660"/>
                      <a:pt x="0" y="6705854"/>
                      <a:pt x="0" y="6583934"/>
                    </a:cubicBezTo>
                    <a:close/>
                  </a:path>
                </a:pathLst>
              </a:custGeom>
              <a:solidFill>
                <a:srgbClr val="0D417C"/>
              </a:solidFill>
              <a:ln w="28575" cap="sq">
                <a:solidFill>
                  <a:srgbClr val="F1F3F8"/>
                </a:solidFill>
                <a:prstDash val="solid"/>
                <a:miter/>
              </a:ln>
            </p:spPr>
          </p:sp>
        </p:grpSp>
        <p:sp>
          <p:nvSpPr>
            <p:cNvPr name="TextBox 19" id="19"/>
            <p:cNvSpPr txBox="true"/>
            <p:nvPr/>
          </p:nvSpPr>
          <p:spPr>
            <a:xfrm rot="0">
              <a:off x="16027146" y="2969895"/>
              <a:ext cx="5443728" cy="1163955"/>
            </a:xfrm>
            <a:prstGeom prst="rect">
              <a:avLst/>
            </a:prstGeom>
          </p:spPr>
          <p:txBody>
            <a:bodyPr anchor="t" rtlCol="false" tIns="0" lIns="0" bIns="0" rIns="0">
              <a:spAutoFit/>
            </a:bodyPr>
            <a:lstStyle/>
            <a:p>
              <a:pPr algn="l">
                <a:lnSpc>
                  <a:spcPts val="4320"/>
                </a:lnSpc>
              </a:pPr>
              <a:r>
                <a:rPr lang="en-US" b="true" sz="3600">
                  <a:solidFill>
                    <a:srgbClr val="FFFFFF"/>
                  </a:solidFill>
                  <a:latin typeface="Calibri (MS) Bold"/>
                  <a:ea typeface="Calibri (MS) Bold"/>
                  <a:cs typeface="Calibri (MS) Bold"/>
                  <a:sym typeface="Calibri (MS) Bold"/>
                </a:rPr>
                <a:t>No ability to act</a:t>
              </a:r>
            </a:p>
          </p:txBody>
        </p:sp>
        <p:sp>
          <p:nvSpPr>
            <p:cNvPr name="TextBox 20" id="20"/>
            <p:cNvSpPr txBox="true"/>
            <p:nvPr/>
          </p:nvSpPr>
          <p:spPr>
            <a:xfrm rot="0">
              <a:off x="16027146" y="4177665"/>
              <a:ext cx="5443728" cy="2242185"/>
            </a:xfrm>
            <a:prstGeom prst="rect">
              <a:avLst/>
            </a:prstGeom>
          </p:spPr>
          <p:txBody>
            <a:bodyPr anchor="t" rtlCol="false" tIns="0" lIns="0" bIns="0" rIns="0">
              <a:spAutoFit/>
            </a:bodyPr>
            <a:lstStyle/>
            <a:p>
              <a:pPr algn="l">
                <a:lnSpc>
                  <a:spcPts val="3060"/>
                </a:lnSpc>
              </a:pPr>
              <a:r>
                <a:rPr lang="en-US" sz="2550">
                  <a:solidFill>
                    <a:srgbClr val="FFFFFF"/>
                  </a:solidFill>
                  <a:latin typeface="Calibri (MS)"/>
                  <a:ea typeface="Calibri (MS)"/>
                  <a:cs typeface="Calibri (MS)"/>
                  <a:sym typeface="Calibri (MS)"/>
                </a:rPr>
                <a:t>Can’t search, check prices, or book anything.</a:t>
              </a:r>
            </a:p>
          </p:txBody>
        </p:sp>
      </p:grpSp>
      <p:grpSp>
        <p:nvGrpSpPr>
          <p:cNvPr name="Group 21" id="21"/>
          <p:cNvGrpSpPr/>
          <p:nvPr/>
        </p:nvGrpSpPr>
        <p:grpSpPr>
          <a:xfrm rot="0">
            <a:off x="12817030" y="4114591"/>
            <a:ext cx="1400175" cy="1400175"/>
            <a:chOff x="0" y="0"/>
            <a:chExt cx="1866900" cy="1866900"/>
          </a:xfrm>
        </p:grpSpPr>
        <p:sp>
          <p:nvSpPr>
            <p:cNvPr name="Freeform 22" id="22"/>
            <p:cNvSpPr/>
            <p:nvPr/>
          </p:nvSpPr>
          <p:spPr>
            <a:xfrm flipH="false" flipV="false" rot="0">
              <a:off x="0" y="0"/>
              <a:ext cx="1866900" cy="1866900"/>
            </a:xfrm>
            <a:custGeom>
              <a:avLst/>
              <a:gdLst/>
              <a:ahLst/>
              <a:cxnLst/>
              <a:rect r="r" b="b" t="t" l="l"/>
              <a:pathLst>
                <a:path h="1866900" w="1866900">
                  <a:moveTo>
                    <a:pt x="0" y="933450"/>
                  </a:moveTo>
                  <a:cubicBezTo>
                    <a:pt x="0" y="417957"/>
                    <a:pt x="417957" y="0"/>
                    <a:pt x="933450" y="0"/>
                  </a:cubicBezTo>
                  <a:cubicBezTo>
                    <a:pt x="1448943" y="0"/>
                    <a:pt x="1866900" y="417957"/>
                    <a:pt x="1866900" y="933450"/>
                  </a:cubicBezTo>
                  <a:cubicBezTo>
                    <a:pt x="1866900" y="1448943"/>
                    <a:pt x="1448943" y="1866900"/>
                    <a:pt x="933450" y="1866900"/>
                  </a:cubicBezTo>
                  <a:cubicBezTo>
                    <a:pt x="417957" y="1866900"/>
                    <a:pt x="0" y="1448943"/>
                    <a:pt x="0" y="933450"/>
                  </a:cubicBezTo>
                  <a:close/>
                </a:path>
              </a:pathLst>
            </a:custGeom>
            <a:solidFill>
              <a:srgbClr val="D62839"/>
            </a:solidFill>
            <a:ln w="28575" cap="sq">
              <a:solidFill>
                <a:srgbClr val="D62839"/>
              </a:solidFill>
              <a:prstDash val="solid"/>
              <a:miter/>
            </a:ln>
          </p:spPr>
        </p:sp>
        <p:sp>
          <p:nvSpPr>
            <p:cNvPr name="TextBox 23" id="23"/>
            <p:cNvSpPr txBox="true"/>
            <p:nvPr/>
          </p:nvSpPr>
          <p:spPr>
            <a:xfrm>
              <a:off x="0" y="-85725"/>
              <a:ext cx="1866900" cy="1952625"/>
            </a:xfrm>
            <a:prstGeom prst="rect">
              <a:avLst/>
            </a:prstGeom>
          </p:spPr>
          <p:txBody>
            <a:bodyPr anchor="ctr" rtlCol="false" tIns="50800" lIns="50800" bIns="50800" rIns="50800"/>
            <a:lstStyle/>
            <a:p>
              <a:pPr algn="ctr">
                <a:lnSpc>
                  <a:spcPts val="5759"/>
                </a:lnSpc>
              </a:pPr>
              <a:r>
                <a:rPr lang="en-US" sz="4800" b="true">
                  <a:solidFill>
                    <a:srgbClr val="FFFFFF"/>
                  </a:solidFill>
                  <a:latin typeface="Calibri (MS) Bold"/>
                  <a:ea typeface="Calibri (MS) Bold"/>
                  <a:cs typeface="Calibri (MS) Bold"/>
                  <a:sym typeface="Calibri (MS) Bold"/>
                </a:rPr>
                <a:t>✕</a:t>
              </a:r>
            </a:p>
          </p:txBody>
        </p:sp>
      </p:grpSp>
      <p:grpSp>
        <p:nvGrpSpPr>
          <p:cNvPr name="Group 24" id="24"/>
          <p:cNvGrpSpPr/>
          <p:nvPr/>
        </p:nvGrpSpPr>
        <p:grpSpPr>
          <a:xfrm rot="0">
            <a:off x="810958" y="1720342"/>
            <a:ext cx="7347788" cy="787661"/>
            <a:chOff x="0" y="0"/>
            <a:chExt cx="1935220" cy="207450"/>
          </a:xfrm>
        </p:grpSpPr>
        <p:sp>
          <p:nvSpPr>
            <p:cNvPr name="Freeform 25" id="25"/>
            <p:cNvSpPr/>
            <p:nvPr/>
          </p:nvSpPr>
          <p:spPr>
            <a:xfrm flipH="false" flipV="false" rot="0">
              <a:off x="0" y="0"/>
              <a:ext cx="1935220" cy="207450"/>
            </a:xfrm>
            <a:custGeom>
              <a:avLst/>
              <a:gdLst/>
              <a:ahLst/>
              <a:cxnLst/>
              <a:rect r="r" b="b" t="t" l="l"/>
              <a:pathLst>
                <a:path h="207450" w="1935220">
                  <a:moveTo>
                    <a:pt x="0" y="0"/>
                  </a:moveTo>
                  <a:lnTo>
                    <a:pt x="1935220" y="0"/>
                  </a:lnTo>
                  <a:lnTo>
                    <a:pt x="1935220" y="207450"/>
                  </a:lnTo>
                  <a:lnTo>
                    <a:pt x="0" y="207450"/>
                  </a:lnTo>
                  <a:close/>
                </a:path>
              </a:pathLst>
            </a:custGeom>
            <a:solidFill>
              <a:srgbClr val="0493FB"/>
            </a:solidFill>
          </p:spPr>
        </p:sp>
        <p:sp>
          <p:nvSpPr>
            <p:cNvPr name="TextBox 26" id="26"/>
            <p:cNvSpPr txBox="true"/>
            <p:nvPr/>
          </p:nvSpPr>
          <p:spPr>
            <a:xfrm>
              <a:off x="0" y="-57150"/>
              <a:ext cx="1935220" cy="264600"/>
            </a:xfrm>
            <a:prstGeom prst="rect">
              <a:avLst/>
            </a:prstGeom>
          </p:spPr>
          <p:txBody>
            <a:bodyPr anchor="ctr" rtlCol="false" tIns="50800" lIns="50800" bIns="50800" rIns="50800"/>
            <a:lstStyle/>
            <a:p>
              <a:pPr algn="ctr">
                <a:lnSpc>
                  <a:spcPts val="2700"/>
                </a:lnSpc>
              </a:pPr>
            </a:p>
          </p:txBody>
        </p:sp>
      </p:grpSp>
      <p:sp>
        <p:nvSpPr>
          <p:cNvPr name="TextBox 27" id="27"/>
          <p:cNvSpPr txBox="true"/>
          <p:nvPr/>
        </p:nvSpPr>
        <p:spPr>
          <a:xfrm rot="0">
            <a:off x="1028700" y="904875"/>
            <a:ext cx="7930344"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Why it Failed?</a:t>
            </a:r>
          </a:p>
        </p:txBody>
      </p:sp>
      <p:sp>
        <p:nvSpPr>
          <p:cNvPr name="TextBox 28" id="28"/>
          <p:cNvSpPr txBox="true"/>
          <p:nvPr/>
        </p:nvSpPr>
        <p:spPr>
          <a:xfrm rot="0">
            <a:off x="689011" y="8877300"/>
            <a:ext cx="16909978" cy="1219200"/>
          </a:xfrm>
          <a:prstGeom prst="rect">
            <a:avLst/>
          </a:prstGeom>
        </p:spPr>
        <p:txBody>
          <a:bodyPr anchor="t" rtlCol="false" tIns="0" lIns="0" bIns="0" rIns="0">
            <a:spAutoFit/>
          </a:bodyPr>
          <a:lstStyle/>
          <a:p>
            <a:pPr algn="ctr">
              <a:lnSpc>
                <a:spcPts val="4552"/>
              </a:lnSpc>
              <a:spcBef>
                <a:spcPct val="0"/>
              </a:spcBef>
            </a:pPr>
            <a:r>
              <a:rPr lang="en-US" b="true" sz="3793">
                <a:solidFill>
                  <a:srgbClr val="FFFFFF"/>
                </a:solidFill>
                <a:latin typeface="Calibri (MS) Bold"/>
                <a:ea typeface="Calibri (MS) Bold"/>
                <a:cs typeface="Calibri (MS) Bold"/>
                <a:sym typeface="Calibri (MS) Bold"/>
              </a:rPr>
              <a:t>Real case, 2024: </a:t>
            </a:r>
            <a:r>
              <a:rPr lang="en-US" sz="3793">
                <a:solidFill>
                  <a:srgbClr val="FFFFFF"/>
                </a:solidFill>
                <a:latin typeface="Calibri (MS)"/>
                <a:ea typeface="Calibri (MS)"/>
                <a:cs typeface="Calibri (MS)"/>
                <a:sym typeface="Calibri (MS)"/>
              </a:rPr>
              <a:t>Air Canada’s chatbot invented a refund policy. A tribunal ruled that the airline had to pay.</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1720342"/>
            <a:ext cx="13726391" cy="787661"/>
            <a:chOff x="0" y="0"/>
            <a:chExt cx="3615181" cy="207450"/>
          </a:xfrm>
        </p:grpSpPr>
        <p:sp>
          <p:nvSpPr>
            <p:cNvPr name="Freeform 3" id="3"/>
            <p:cNvSpPr/>
            <p:nvPr/>
          </p:nvSpPr>
          <p:spPr>
            <a:xfrm flipH="false" flipV="false" rot="0">
              <a:off x="0" y="0"/>
              <a:ext cx="3615181" cy="207450"/>
            </a:xfrm>
            <a:custGeom>
              <a:avLst/>
              <a:gdLst/>
              <a:ahLst/>
              <a:cxnLst/>
              <a:rect r="r" b="b" t="t" l="l"/>
              <a:pathLst>
                <a:path h="207450" w="3615181">
                  <a:moveTo>
                    <a:pt x="0" y="0"/>
                  </a:moveTo>
                  <a:lnTo>
                    <a:pt x="3615181" y="0"/>
                  </a:lnTo>
                  <a:lnTo>
                    <a:pt x="3615181" y="207450"/>
                  </a:lnTo>
                  <a:lnTo>
                    <a:pt x="0" y="207450"/>
                  </a:lnTo>
                  <a:close/>
                </a:path>
              </a:pathLst>
            </a:custGeom>
            <a:solidFill>
              <a:srgbClr val="0493FB"/>
            </a:solidFill>
          </p:spPr>
        </p:sp>
        <p:sp>
          <p:nvSpPr>
            <p:cNvPr name="TextBox 4" id="4"/>
            <p:cNvSpPr txBox="true"/>
            <p:nvPr/>
          </p:nvSpPr>
          <p:spPr>
            <a:xfrm>
              <a:off x="0" y="-57150"/>
              <a:ext cx="3615181" cy="264600"/>
            </a:xfrm>
            <a:prstGeom prst="rect">
              <a:avLst/>
            </a:prstGeom>
          </p:spPr>
          <p:txBody>
            <a:bodyPr anchor="ctr" rtlCol="false" tIns="50800" lIns="50800" bIns="50800" rIns="50800"/>
            <a:lstStyle/>
            <a:p>
              <a:pPr algn="ctr">
                <a:lnSpc>
                  <a:spcPts val="2700"/>
                </a:lnSpc>
              </a:pPr>
            </a:p>
          </p:txBody>
        </p:sp>
      </p:grpSp>
      <p:grpSp>
        <p:nvGrpSpPr>
          <p:cNvPr name="Group 5" id="5"/>
          <p:cNvGrpSpPr/>
          <p:nvPr/>
        </p:nvGrpSpPr>
        <p:grpSpPr>
          <a:xfrm rot="0">
            <a:off x="1162906" y="3518535"/>
            <a:ext cx="8126349" cy="5739765"/>
            <a:chOff x="0" y="0"/>
            <a:chExt cx="10835132" cy="7653020"/>
          </a:xfrm>
        </p:grpSpPr>
        <p:sp>
          <p:nvSpPr>
            <p:cNvPr name="Freeform 6" id="6"/>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7" id="7"/>
          <p:cNvGrpSpPr/>
          <p:nvPr/>
        </p:nvGrpSpPr>
        <p:grpSpPr>
          <a:xfrm rot="0">
            <a:off x="1486550" y="4010363"/>
            <a:ext cx="5305015" cy="906678"/>
            <a:chOff x="0" y="0"/>
            <a:chExt cx="1397205" cy="238796"/>
          </a:xfrm>
        </p:grpSpPr>
        <p:sp>
          <p:nvSpPr>
            <p:cNvPr name="Freeform 8" id="8"/>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493FB"/>
            </a:solidFill>
          </p:spPr>
        </p:sp>
        <p:sp>
          <p:nvSpPr>
            <p:cNvPr name="TextBox 9" id="9"/>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Your manager asks?</a:t>
              </a:r>
            </a:p>
          </p:txBody>
        </p:sp>
      </p:grpSp>
      <p:sp>
        <p:nvSpPr>
          <p:cNvPr name="TextBox 10" id="10"/>
          <p:cNvSpPr txBox="true"/>
          <p:nvPr/>
        </p:nvSpPr>
        <p:spPr>
          <a:xfrm rot="0">
            <a:off x="1028700" y="904875"/>
            <a:ext cx="15356902"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At Work: LLM Foundations</a:t>
            </a:r>
          </a:p>
        </p:txBody>
      </p:sp>
      <p:sp>
        <p:nvSpPr>
          <p:cNvPr name="TextBox 11" id="11"/>
          <p:cNvSpPr txBox="true"/>
          <p:nvPr/>
        </p:nvSpPr>
        <p:spPr>
          <a:xfrm rot="0">
            <a:off x="1162906" y="5336858"/>
            <a:ext cx="8284229" cy="3176890"/>
          </a:xfrm>
          <a:prstGeom prst="rect">
            <a:avLst/>
          </a:prstGeom>
        </p:spPr>
        <p:txBody>
          <a:bodyPr anchor="t" rtlCol="false" tIns="0" lIns="0" bIns="0" rIns="0">
            <a:spAutoFit/>
          </a:bodyPr>
          <a:lstStyle/>
          <a:p>
            <a:pPr algn="ctr">
              <a:lnSpc>
                <a:spcPts val="3114"/>
              </a:lnSpc>
            </a:pPr>
            <a:r>
              <a:rPr lang="en-US" sz="2595" b="true">
                <a:solidFill>
                  <a:srgbClr val="0D1B34"/>
                </a:solidFill>
                <a:latin typeface="Calibri (MS) Bold"/>
                <a:ea typeface="Calibri (MS) Bold"/>
                <a:cs typeface="Calibri (MS) Bold"/>
                <a:sym typeface="Calibri (MS) Bold"/>
              </a:rPr>
              <a:t>“Can we just let the bot answer the refund questions?”</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It predicts text; not the refund policy.</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Ground it and then put the real policy in context.</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If not in policy, send the money matters to humans</a:t>
            </a:r>
            <a:r>
              <a:rPr lang="en-US" b="true" sz="2595">
                <a:solidFill>
                  <a:srgbClr val="0D1B34"/>
                </a:solidFill>
                <a:latin typeface="Calibri (MS) Bold"/>
                <a:ea typeface="Calibri (MS) Bold"/>
                <a:cs typeface="Calibri (MS) Bold"/>
                <a:sym typeface="Calibri (MS) Bold"/>
              </a:rPr>
              <a:t>.</a:t>
            </a:r>
          </a:p>
        </p:txBody>
      </p:sp>
      <p:grpSp>
        <p:nvGrpSpPr>
          <p:cNvPr name="Group 12" id="12"/>
          <p:cNvGrpSpPr/>
          <p:nvPr/>
        </p:nvGrpSpPr>
        <p:grpSpPr>
          <a:xfrm rot="0">
            <a:off x="9447135" y="3518535"/>
            <a:ext cx="8126349" cy="5739765"/>
            <a:chOff x="0" y="0"/>
            <a:chExt cx="10835132" cy="7653020"/>
          </a:xfrm>
        </p:grpSpPr>
        <p:sp>
          <p:nvSpPr>
            <p:cNvPr name="Freeform 13" id="13"/>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14" id="14"/>
          <p:cNvGrpSpPr/>
          <p:nvPr/>
        </p:nvGrpSpPr>
        <p:grpSpPr>
          <a:xfrm rot="0">
            <a:off x="9770779" y="4010363"/>
            <a:ext cx="5305015" cy="906678"/>
            <a:chOff x="0" y="0"/>
            <a:chExt cx="1397205" cy="238796"/>
          </a:xfrm>
        </p:grpSpPr>
        <p:sp>
          <p:nvSpPr>
            <p:cNvPr name="Freeform 15" id="15"/>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E3C74"/>
            </a:solidFill>
          </p:spPr>
        </p:sp>
        <p:sp>
          <p:nvSpPr>
            <p:cNvPr name="TextBox 16" id="16"/>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The interviewer asks?</a:t>
              </a:r>
            </a:p>
          </p:txBody>
        </p:sp>
      </p:grpSp>
      <p:sp>
        <p:nvSpPr>
          <p:cNvPr name="TextBox 17" id="17"/>
          <p:cNvSpPr txBox="true"/>
          <p:nvPr/>
        </p:nvSpPr>
        <p:spPr>
          <a:xfrm rot="0">
            <a:off x="9447135" y="5336858"/>
            <a:ext cx="8284229" cy="3181350"/>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“Why do LLMs hallucinate?”</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It predicts likely tokens, not facts.</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No source to check so plausible wins.</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Fix? Ground it. Constrain it. Verify it.</a:t>
            </a:r>
          </a:p>
        </p:txBody>
      </p:sp>
      <p:sp>
        <p:nvSpPr>
          <p:cNvPr name="TextBox 18" id="18"/>
          <p:cNvSpPr txBox="true"/>
          <p:nvPr/>
        </p:nvSpPr>
        <p:spPr>
          <a:xfrm rot="0">
            <a:off x="811657" y="9440185"/>
            <a:ext cx="15790988" cy="1144234"/>
          </a:xfrm>
          <a:prstGeom prst="rect">
            <a:avLst/>
          </a:prstGeom>
        </p:spPr>
        <p:txBody>
          <a:bodyPr anchor="t" rtlCol="false" tIns="0" lIns="0" bIns="0" rIns="0">
            <a:spAutoFit/>
          </a:bodyPr>
          <a:lstStyle/>
          <a:p>
            <a:pPr algn="ctr">
              <a:lnSpc>
                <a:spcPts val="4263"/>
              </a:lnSpc>
              <a:spcBef>
                <a:spcPct val="0"/>
              </a:spcBef>
            </a:pPr>
            <a:r>
              <a:rPr lang="en-US" b="true" sz="3553">
                <a:solidFill>
                  <a:srgbClr val="FFFFFF"/>
                </a:solidFill>
                <a:latin typeface="Calibri (MS) Bold"/>
                <a:ea typeface="Calibri (MS) Bold"/>
                <a:cs typeface="Calibri (MS) Bold"/>
                <a:sym typeface="Calibri (MS) Bold"/>
              </a:rPr>
              <a:t>Remember Ai</a:t>
            </a:r>
            <a:r>
              <a:rPr lang="en-US" b="true" sz="3553">
                <a:solidFill>
                  <a:srgbClr val="FFFFFF"/>
                </a:solidFill>
                <a:latin typeface="Calibri (MS) Bold"/>
                <a:ea typeface="Calibri (MS) Bold"/>
                <a:cs typeface="Calibri (MS) Bold"/>
                <a:sym typeface="Calibri (MS) Bold"/>
              </a:rPr>
              <a:t>r Canada, </a:t>
            </a:r>
            <a:r>
              <a:rPr lang="en-US" sz="3553">
                <a:solidFill>
                  <a:srgbClr val="C9D1E3"/>
                </a:solidFill>
                <a:latin typeface="Calibri (MS)"/>
                <a:ea typeface="Calibri (MS)"/>
                <a:cs typeface="Calibri (MS)"/>
                <a:sym typeface="Calibri (MS)"/>
              </a:rPr>
              <a:t>Every chapter today is a fix for something on this slide.</a:t>
            </a:r>
          </a:p>
          <a:p>
            <a:pPr algn="ctr">
              <a:lnSpc>
                <a:spcPts val="4263"/>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06196" y="4037840"/>
            <a:ext cx="3879342" cy="4486275"/>
            <a:chOff x="0" y="0"/>
            <a:chExt cx="5172456" cy="5981700"/>
          </a:xfrm>
        </p:grpSpPr>
        <p:sp>
          <p:nvSpPr>
            <p:cNvPr name="Freeform 3" id="3"/>
            <p:cNvSpPr/>
            <p:nvPr/>
          </p:nvSpPr>
          <p:spPr>
            <a:xfrm flipH="false" flipV="false" rot="0">
              <a:off x="0" y="0"/>
              <a:ext cx="5172456" cy="5981700"/>
            </a:xfrm>
            <a:custGeom>
              <a:avLst/>
              <a:gdLst/>
              <a:ahLst/>
              <a:cxnLst/>
              <a:rect r="r" b="b" t="t" l="l"/>
              <a:pathLst>
                <a:path h="5981700" w="5172456">
                  <a:moveTo>
                    <a:pt x="0" y="221107"/>
                  </a:moveTo>
                  <a:cubicBezTo>
                    <a:pt x="0" y="98933"/>
                    <a:pt x="98933" y="0"/>
                    <a:pt x="221107" y="0"/>
                  </a:cubicBezTo>
                  <a:lnTo>
                    <a:pt x="4951349" y="0"/>
                  </a:lnTo>
                  <a:cubicBezTo>
                    <a:pt x="5073396" y="0"/>
                    <a:pt x="5172456" y="98933"/>
                    <a:pt x="5172456" y="221107"/>
                  </a:cubicBezTo>
                  <a:lnTo>
                    <a:pt x="5172456" y="5760593"/>
                  </a:lnTo>
                  <a:cubicBezTo>
                    <a:pt x="5172456" y="5882640"/>
                    <a:pt x="5073523" y="5981700"/>
                    <a:pt x="4951349" y="5981700"/>
                  </a:cubicBezTo>
                  <a:lnTo>
                    <a:pt x="221107" y="5981700"/>
                  </a:lnTo>
                  <a:cubicBezTo>
                    <a:pt x="98933" y="5981700"/>
                    <a:pt x="0" y="5882767"/>
                    <a:pt x="0" y="5760593"/>
                  </a:cubicBezTo>
                  <a:close/>
                </a:path>
              </a:pathLst>
            </a:custGeom>
            <a:solidFill>
              <a:srgbClr val="0D417C"/>
            </a:solidFill>
            <a:ln w="28575" cap="sq">
              <a:solidFill>
                <a:srgbClr val="F1F3F8"/>
              </a:solidFill>
              <a:prstDash val="solid"/>
              <a:miter/>
            </a:ln>
          </p:spPr>
        </p:sp>
      </p:grpSp>
      <p:grpSp>
        <p:nvGrpSpPr>
          <p:cNvPr name="Group 4" id="4"/>
          <p:cNvGrpSpPr/>
          <p:nvPr/>
        </p:nvGrpSpPr>
        <p:grpSpPr>
          <a:xfrm rot="0">
            <a:off x="1217676" y="4449320"/>
            <a:ext cx="2497455" cy="645795"/>
            <a:chOff x="0" y="0"/>
            <a:chExt cx="3329940" cy="861060"/>
          </a:xfrm>
        </p:grpSpPr>
        <p:sp>
          <p:nvSpPr>
            <p:cNvPr name="Freeform 5" id="5"/>
            <p:cNvSpPr/>
            <p:nvPr/>
          </p:nvSpPr>
          <p:spPr>
            <a:xfrm flipH="false" flipV="false" rot="0">
              <a:off x="0" y="0"/>
              <a:ext cx="3329940" cy="861187"/>
            </a:xfrm>
            <a:custGeom>
              <a:avLst/>
              <a:gdLst/>
              <a:ahLst/>
              <a:cxnLst/>
              <a:rect r="r" b="b" t="t" l="l"/>
              <a:pathLst>
                <a:path h="861187" w="3329940">
                  <a:moveTo>
                    <a:pt x="0" y="421005"/>
                  </a:moveTo>
                  <a:cubicBezTo>
                    <a:pt x="0" y="188468"/>
                    <a:pt x="188468" y="0"/>
                    <a:pt x="421005" y="0"/>
                  </a:cubicBezTo>
                  <a:lnTo>
                    <a:pt x="2908935" y="0"/>
                  </a:lnTo>
                  <a:cubicBezTo>
                    <a:pt x="3141472" y="0"/>
                    <a:pt x="3329940" y="188468"/>
                    <a:pt x="3329940" y="421005"/>
                  </a:cubicBezTo>
                  <a:lnTo>
                    <a:pt x="3329940" y="440182"/>
                  </a:lnTo>
                  <a:cubicBezTo>
                    <a:pt x="3329940" y="672719"/>
                    <a:pt x="3141472" y="861187"/>
                    <a:pt x="2908935" y="861187"/>
                  </a:cubicBezTo>
                  <a:lnTo>
                    <a:pt x="421005" y="861187"/>
                  </a:lnTo>
                  <a:cubicBezTo>
                    <a:pt x="188468" y="861060"/>
                    <a:pt x="0" y="672592"/>
                    <a:pt x="0" y="440055"/>
                  </a:cubicBezTo>
                  <a:close/>
                </a:path>
              </a:pathLst>
            </a:custGeom>
            <a:solidFill>
              <a:srgbClr val="0D417C"/>
            </a:solidFill>
            <a:ln w="28575" cap="sq">
              <a:solidFill>
                <a:srgbClr val="8D99AE"/>
              </a:solidFill>
              <a:prstDash val="solid"/>
              <a:miter/>
            </a:ln>
          </p:spPr>
        </p:sp>
        <p:sp>
          <p:nvSpPr>
            <p:cNvPr name="TextBox 6" id="6"/>
            <p:cNvSpPr txBox="true"/>
            <p:nvPr/>
          </p:nvSpPr>
          <p:spPr>
            <a:xfrm>
              <a:off x="0" y="-47625"/>
              <a:ext cx="3329940" cy="908685"/>
            </a:xfrm>
            <a:prstGeom prst="rect">
              <a:avLst/>
            </a:prstGeom>
          </p:spPr>
          <p:txBody>
            <a:bodyPr anchor="ctr" rtlCol="false" tIns="50800" lIns="50800" bIns="50800" rIns="50800"/>
            <a:lstStyle/>
            <a:p>
              <a:pPr algn="ctr">
                <a:lnSpc>
                  <a:spcPts val="2520"/>
                </a:lnSpc>
              </a:pPr>
              <a:r>
                <a:rPr lang="en-US" b="true" sz="2100">
                  <a:solidFill>
                    <a:srgbClr val="FFFFFF"/>
                  </a:solidFill>
                  <a:latin typeface="Calibri (MS) Bold"/>
                  <a:ea typeface="Calibri (MS) Bold"/>
                  <a:cs typeface="Calibri (MS) Bold"/>
                  <a:sym typeface="Calibri (MS) Bold"/>
                </a:rPr>
                <a:t>✕  NOT TODAY</a:t>
              </a:r>
            </a:p>
          </p:txBody>
        </p:sp>
      </p:grpSp>
      <p:sp>
        <p:nvSpPr>
          <p:cNvPr name="TextBox 7" id="7"/>
          <p:cNvSpPr txBox="true"/>
          <p:nvPr/>
        </p:nvSpPr>
        <p:spPr>
          <a:xfrm rot="0">
            <a:off x="1231963" y="5425633"/>
            <a:ext cx="3027807" cy="1163955"/>
          </a:xfrm>
          <a:prstGeom prst="rect">
            <a:avLst/>
          </a:prstGeom>
        </p:spPr>
        <p:txBody>
          <a:bodyPr anchor="t" rtlCol="false" tIns="0" lIns="0" bIns="0" rIns="0">
            <a:spAutoFit/>
          </a:bodyPr>
          <a:lstStyle/>
          <a:p>
            <a:pPr algn="l">
              <a:lnSpc>
                <a:spcPts val="3779"/>
              </a:lnSpc>
            </a:pPr>
            <a:r>
              <a:rPr lang="en-US" b="true" sz="3150">
                <a:solidFill>
                  <a:srgbClr val="FFFFFF"/>
                </a:solidFill>
                <a:latin typeface="Calibri (MS) Bold"/>
                <a:ea typeface="Calibri (MS) Bold"/>
                <a:cs typeface="Calibri (MS) Bold"/>
                <a:sym typeface="Calibri (MS) Bold"/>
              </a:rPr>
              <a:t>Chatbot</a:t>
            </a:r>
          </a:p>
        </p:txBody>
      </p:sp>
      <p:sp>
        <p:nvSpPr>
          <p:cNvPr name="TextBox 8" id="8"/>
          <p:cNvSpPr txBox="true"/>
          <p:nvPr/>
        </p:nvSpPr>
        <p:spPr>
          <a:xfrm rot="0">
            <a:off x="1231963" y="6620068"/>
            <a:ext cx="3027807" cy="168402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Just responds to text. No logic, no branching.</a:t>
            </a:r>
          </a:p>
        </p:txBody>
      </p:sp>
      <p:grpSp>
        <p:nvGrpSpPr>
          <p:cNvPr name="Group 9" id="9"/>
          <p:cNvGrpSpPr/>
          <p:nvPr/>
        </p:nvGrpSpPr>
        <p:grpSpPr>
          <a:xfrm rot="0">
            <a:off x="5068443" y="4037840"/>
            <a:ext cx="3879342" cy="4486275"/>
            <a:chOff x="0" y="0"/>
            <a:chExt cx="5172456" cy="5981700"/>
          </a:xfrm>
        </p:grpSpPr>
        <p:sp>
          <p:nvSpPr>
            <p:cNvPr name="Freeform 10" id="10"/>
            <p:cNvSpPr/>
            <p:nvPr/>
          </p:nvSpPr>
          <p:spPr>
            <a:xfrm flipH="false" flipV="false" rot="0">
              <a:off x="0" y="0"/>
              <a:ext cx="5172456" cy="5981700"/>
            </a:xfrm>
            <a:custGeom>
              <a:avLst/>
              <a:gdLst/>
              <a:ahLst/>
              <a:cxnLst/>
              <a:rect r="r" b="b" t="t" l="l"/>
              <a:pathLst>
                <a:path h="5981700" w="5172456">
                  <a:moveTo>
                    <a:pt x="0" y="221107"/>
                  </a:moveTo>
                  <a:cubicBezTo>
                    <a:pt x="0" y="98933"/>
                    <a:pt x="98933" y="0"/>
                    <a:pt x="221107" y="0"/>
                  </a:cubicBezTo>
                  <a:lnTo>
                    <a:pt x="4951349" y="0"/>
                  </a:lnTo>
                  <a:cubicBezTo>
                    <a:pt x="5073396" y="0"/>
                    <a:pt x="5172456" y="98933"/>
                    <a:pt x="5172456" y="221107"/>
                  </a:cubicBezTo>
                  <a:lnTo>
                    <a:pt x="5172456" y="5760593"/>
                  </a:lnTo>
                  <a:cubicBezTo>
                    <a:pt x="5172456" y="5882640"/>
                    <a:pt x="5073523" y="5981700"/>
                    <a:pt x="4951349" y="5981700"/>
                  </a:cubicBezTo>
                  <a:lnTo>
                    <a:pt x="221107" y="5981700"/>
                  </a:lnTo>
                  <a:cubicBezTo>
                    <a:pt x="98933" y="5981700"/>
                    <a:pt x="0" y="5882767"/>
                    <a:pt x="0" y="5760593"/>
                  </a:cubicBezTo>
                  <a:close/>
                </a:path>
              </a:pathLst>
            </a:custGeom>
            <a:solidFill>
              <a:srgbClr val="0D417C"/>
            </a:solidFill>
            <a:ln w="28575" cap="sq">
              <a:solidFill>
                <a:srgbClr val="F1F3F8"/>
              </a:solidFill>
              <a:prstDash val="solid"/>
              <a:miter/>
            </a:ln>
          </p:spPr>
        </p:sp>
      </p:grpSp>
      <p:grpSp>
        <p:nvGrpSpPr>
          <p:cNvPr name="Group 11" id="11"/>
          <p:cNvGrpSpPr/>
          <p:nvPr/>
        </p:nvGrpSpPr>
        <p:grpSpPr>
          <a:xfrm rot="0">
            <a:off x="5479923" y="4449320"/>
            <a:ext cx="2497455" cy="645795"/>
            <a:chOff x="0" y="0"/>
            <a:chExt cx="3329940" cy="861060"/>
          </a:xfrm>
        </p:grpSpPr>
        <p:sp>
          <p:nvSpPr>
            <p:cNvPr name="Freeform 12" id="12"/>
            <p:cNvSpPr/>
            <p:nvPr/>
          </p:nvSpPr>
          <p:spPr>
            <a:xfrm flipH="false" flipV="false" rot="0">
              <a:off x="0" y="0"/>
              <a:ext cx="3329940" cy="861187"/>
            </a:xfrm>
            <a:custGeom>
              <a:avLst/>
              <a:gdLst/>
              <a:ahLst/>
              <a:cxnLst/>
              <a:rect r="r" b="b" t="t" l="l"/>
              <a:pathLst>
                <a:path h="861187" w="3329940">
                  <a:moveTo>
                    <a:pt x="0" y="421005"/>
                  </a:moveTo>
                  <a:cubicBezTo>
                    <a:pt x="0" y="188468"/>
                    <a:pt x="188468" y="0"/>
                    <a:pt x="421005" y="0"/>
                  </a:cubicBezTo>
                  <a:lnTo>
                    <a:pt x="2908935" y="0"/>
                  </a:lnTo>
                  <a:cubicBezTo>
                    <a:pt x="3141472" y="0"/>
                    <a:pt x="3329940" y="188468"/>
                    <a:pt x="3329940" y="421005"/>
                  </a:cubicBezTo>
                  <a:lnTo>
                    <a:pt x="3329940" y="440182"/>
                  </a:lnTo>
                  <a:cubicBezTo>
                    <a:pt x="3329940" y="672719"/>
                    <a:pt x="3141472" y="861187"/>
                    <a:pt x="2908935" y="861187"/>
                  </a:cubicBezTo>
                  <a:lnTo>
                    <a:pt x="421005" y="861187"/>
                  </a:lnTo>
                  <a:cubicBezTo>
                    <a:pt x="188468" y="861060"/>
                    <a:pt x="0" y="672592"/>
                    <a:pt x="0" y="440055"/>
                  </a:cubicBezTo>
                  <a:close/>
                </a:path>
              </a:pathLst>
            </a:custGeom>
            <a:solidFill>
              <a:srgbClr val="0D417C"/>
            </a:solidFill>
            <a:ln w="28575" cap="sq">
              <a:solidFill>
                <a:srgbClr val="8D99AE"/>
              </a:solidFill>
              <a:prstDash val="solid"/>
              <a:miter/>
            </a:ln>
          </p:spPr>
        </p:sp>
        <p:sp>
          <p:nvSpPr>
            <p:cNvPr name="TextBox 13" id="13"/>
            <p:cNvSpPr txBox="true"/>
            <p:nvPr/>
          </p:nvSpPr>
          <p:spPr>
            <a:xfrm>
              <a:off x="0" y="-47625"/>
              <a:ext cx="3329940" cy="908685"/>
            </a:xfrm>
            <a:prstGeom prst="rect">
              <a:avLst/>
            </a:prstGeom>
          </p:spPr>
          <p:txBody>
            <a:bodyPr anchor="ctr" rtlCol="false" tIns="50800" lIns="50800" bIns="50800" rIns="50800"/>
            <a:lstStyle/>
            <a:p>
              <a:pPr algn="ctr">
                <a:lnSpc>
                  <a:spcPts val="2520"/>
                </a:lnSpc>
              </a:pPr>
              <a:r>
                <a:rPr lang="en-US" b="true" sz="2100">
                  <a:solidFill>
                    <a:srgbClr val="FFFFFF"/>
                  </a:solidFill>
                  <a:latin typeface="Calibri (MS) Bold"/>
                  <a:ea typeface="Calibri (MS) Bold"/>
                  <a:cs typeface="Calibri (MS) Bold"/>
                  <a:sym typeface="Calibri (MS) Bold"/>
                </a:rPr>
                <a:t>✕  NOT TODAY</a:t>
              </a:r>
            </a:p>
          </p:txBody>
        </p:sp>
      </p:grpSp>
      <p:sp>
        <p:nvSpPr>
          <p:cNvPr name="TextBox 14" id="14"/>
          <p:cNvSpPr txBox="true"/>
          <p:nvPr/>
        </p:nvSpPr>
        <p:spPr>
          <a:xfrm rot="0">
            <a:off x="5494210" y="5425633"/>
            <a:ext cx="3027807" cy="1163955"/>
          </a:xfrm>
          <a:prstGeom prst="rect">
            <a:avLst/>
          </a:prstGeom>
        </p:spPr>
        <p:txBody>
          <a:bodyPr anchor="t" rtlCol="false" tIns="0" lIns="0" bIns="0" rIns="0">
            <a:spAutoFit/>
          </a:bodyPr>
          <a:lstStyle/>
          <a:p>
            <a:pPr algn="l">
              <a:lnSpc>
                <a:spcPts val="3779"/>
              </a:lnSpc>
            </a:pPr>
            <a:r>
              <a:rPr lang="en-US" b="true" sz="3150">
                <a:solidFill>
                  <a:srgbClr val="FFFFFF"/>
                </a:solidFill>
                <a:latin typeface="Calibri (MS) Bold"/>
                <a:ea typeface="Calibri (MS) Bold"/>
                <a:cs typeface="Calibri (MS) Bold"/>
                <a:sym typeface="Calibri (MS) Bold"/>
              </a:rPr>
              <a:t>Pipeline</a:t>
            </a:r>
          </a:p>
        </p:txBody>
      </p:sp>
      <p:sp>
        <p:nvSpPr>
          <p:cNvPr name="TextBox 15" id="15"/>
          <p:cNvSpPr txBox="true"/>
          <p:nvPr/>
        </p:nvSpPr>
        <p:spPr>
          <a:xfrm rot="0">
            <a:off x="5494210" y="6620068"/>
            <a:ext cx="3027807" cy="168402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Fixed steps, A → B → C. Reliable, but rigid.</a:t>
            </a:r>
          </a:p>
        </p:txBody>
      </p:sp>
      <p:grpSp>
        <p:nvGrpSpPr>
          <p:cNvPr name="Group 16" id="16"/>
          <p:cNvGrpSpPr/>
          <p:nvPr/>
        </p:nvGrpSpPr>
        <p:grpSpPr>
          <a:xfrm rot="0">
            <a:off x="9330690" y="4037840"/>
            <a:ext cx="3879342" cy="4486275"/>
            <a:chOff x="0" y="0"/>
            <a:chExt cx="5172456" cy="5981700"/>
          </a:xfrm>
        </p:grpSpPr>
        <p:sp>
          <p:nvSpPr>
            <p:cNvPr name="Freeform 17" id="17"/>
            <p:cNvSpPr/>
            <p:nvPr/>
          </p:nvSpPr>
          <p:spPr>
            <a:xfrm flipH="false" flipV="false" rot="0">
              <a:off x="0" y="0"/>
              <a:ext cx="5172456" cy="5981700"/>
            </a:xfrm>
            <a:custGeom>
              <a:avLst/>
              <a:gdLst/>
              <a:ahLst/>
              <a:cxnLst/>
              <a:rect r="r" b="b" t="t" l="l"/>
              <a:pathLst>
                <a:path h="5981700" w="5172456">
                  <a:moveTo>
                    <a:pt x="0" y="221107"/>
                  </a:moveTo>
                  <a:cubicBezTo>
                    <a:pt x="0" y="98933"/>
                    <a:pt x="98933" y="0"/>
                    <a:pt x="221107" y="0"/>
                  </a:cubicBezTo>
                  <a:lnTo>
                    <a:pt x="4951349" y="0"/>
                  </a:lnTo>
                  <a:cubicBezTo>
                    <a:pt x="5073396" y="0"/>
                    <a:pt x="5172456" y="98933"/>
                    <a:pt x="5172456" y="221107"/>
                  </a:cubicBezTo>
                  <a:lnTo>
                    <a:pt x="5172456" y="5760593"/>
                  </a:lnTo>
                  <a:cubicBezTo>
                    <a:pt x="5172456" y="5882640"/>
                    <a:pt x="5073523" y="5981700"/>
                    <a:pt x="4951349" y="5981700"/>
                  </a:cubicBezTo>
                  <a:lnTo>
                    <a:pt x="221107" y="5981700"/>
                  </a:lnTo>
                  <a:cubicBezTo>
                    <a:pt x="98933" y="5981700"/>
                    <a:pt x="0" y="5882767"/>
                    <a:pt x="0" y="5760593"/>
                  </a:cubicBezTo>
                  <a:close/>
                </a:path>
              </a:pathLst>
            </a:custGeom>
            <a:solidFill>
              <a:srgbClr val="0D417C"/>
            </a:solidFill>
            <a:ln w="28575" cap="sq">
              <a:solidFill>
                <a:srgbClr val="F1F3F8"/>
              </a:solidFill>
              <a:prstDash val="solid"/>
              <a:miter/>
            </a:ln>
          </p:spPr>
        </p:sp>
      </p:grpSp>
      <p:grpSp>
        <p:nvGrpSpPr>
          <p:cNvPr name="Group 18" id="18"/>
          <p:cNvGrpSpPr/>
          <p:nvPr/>
        </p:nvGrpSpPr>
        <p:grpSpPr>
          <a:xfrm rot="0">
            <a:off x="9742170" y="4449320"/>
            <a:ext cx="2497455" cy="645795"/>
            <a:chOff x="0" y="0"/>
            <a:chExt cx="3329940" cy="861060"/>
          </a:xfrm>
        </p:grpSpPr>
        <p:sp>
          <p:nvSpPr>
            <p:cNvPr name="Freeform 19" id="19"/>
            <p:cNvSpPr/>
            <p:nvPr/>
          </p:nvSpPr>
          <p:spPr>
            <a:xfrm flipH="false" flipV="false" rot="0">
              <a:off x="0" y="0"/>
              <a:ext cx="3329940" cy="861187"/>
            </a:xfrm>
            <a:custGeom>
              <a:avLst/>
              <a:gdLst/>
              <a:ahLst/>
              <a:cxnLst/>
              <a:rect r="r" b="b" t="t" l="l"/>
              <a:pathLst>
                <a:path h="861187" w="3329940">
                  <a:moveTo>
                    <a:pt x="0" y="421005"/>
                  </a:moveTo>
                  <a:cubicBezTo>
                    <a:pt x="0" y="188468"/>
                    <a:pt x="188468" y="0"/>
                    <a:pt x="421005" y="0"/>
                  </a:cubicBezTo>
                  <a:lnTo>
                    <a:pt x="2908935" y="0"/>
                  </a:lnTo>
                  <a:cubicBezTo>
                    <a:pt x="3141472" y="0"/>
                    <a:pt x="3329940" y="188468"/>
                    <a:pt x="3329940" y="421005"/>
                  </a:cubicBezTo>
                  <a:lnTo>
                    <a:pt x="3329940" y="440182"/>
                  </a:lnTo>
                  <a:cubicBezTo>
                    <a:pt x="3329940" y="672719"/>
                    <a:pt x="3141472" y="861187"/>
                    <a:pt x="2908935" y="861187"/>
                  </a:cubicBezTo>
                  <a:lnTo>
                    <a:pt x="421005" y="861187"/>
                  </a:lnTo>
                  <a:cubicBezTo>
                    <a:pt x="188468" y="861060"/>
                    <a:pt x="0" y="672592"/>
                    <a:pt x="0" y="440055"/>
                  </a:cubicBezTo>
                  <a:close/>
                </a:path>
              </a:pathLst>
            </a:custGeom>
            <a:solidFill>
              <a:srgbClr val="0D417C"/>
            </a:solidFill>
            <a:ln w="28575" cap="sq">
              <a:solidFill>
                <a:srgbClr val="8D99AE"/>
              </a:solidFill>
              <a:prstDash val="solid"/>
              <a:miter/>
            </a:ln>
          </p:spPr>
        </p:sp>
        <p:sp>
          <p:nvSpPr>
            <p:cNvPr name="TextBox 20" id="20"/>
            <p:cNvSpPr txBox="true"/>
            <p:nvPr/>
          </p:nvSpPr>
          <p:spPr>
            <a:xfrm>
              <a:off x="0" y="-47625"/>
              <a:ext cx="3329940" cy="908685"/>
            </a:xfrm>
            <a:prstGeom prst="rect">
              <a:avLst/>
            </a:prstGeom>
          </p:spPr>
          <p:txBody>
            <a:bodyPr anchor="ctr" rtlCol="false" tIns="50800" lIns="50800" bIns="50800" rIns="50800"/>
            <a:lstStyle/>
            <a:p>
              <a:pPr algn="ctr">
                <a:lnSpc>
                  <a:spcPts val="2520"/>
                </a:lnSpc>
              </a:pPr>
              <a:r>
                <a:rPr lang="en-US" b="true" sz="2100">
                  <a:solidFill>
                    <a:srgbClr val="FFFFFF"/>
                  </a:solidFill>
                  <a:latin typeface="Calibri (MS) Bold"/>
                  <a:ea typeface="Calibri (MS) Bold"/>
                  <a:cs typeface="Calibri (MS) Bold"/>
                  <a:sym typeface="Calibri (MS) Bold"/>
                </a:rPr>
                <a:t>✕  NOT TODAY</a:t>
              </a:r>
            </a:p>
          </p:txBody>
        </p:sp>
      </p:grpSp>
      <p:sp>
        <p:nvSpPr>
          <p:cNvPr name="TextBox 21" id="21"/>
          <p:cNvSpPr txBox="true"/>
          <p:nvPr/>
        </p:nvSpPr>
        <p:spPr>
          <a:xfrm rot="0">
            <a:off x="9756457" y="5425633"/>
            <a:ext cx="3027807" cy="1163955"/>
          </a:xfrm>
          <a:prstGeom prst="rect">
            <a:avLst/>
          </a:prstGeom>
        </p:spPr>
        <p:txBody>
          <a:bodyPr anchor="t" rtlCol="false" tIns="0" lIns="0" bIns="0" rIns="0">
            <a:spAutoFit/>
          </a:bodyPr>
          <a:lstStyle/>
          <a:p>
            <a:pPr algn="l">
              <a:lnSpc>
                <a:spcPts val="3779"/>
              </a:lnSpc>
            </a:pPr>
            <a:r>
              <a:rPr lang="en-US" b="true" sz="3150">
                <a:solidFill>
                  <a:srgbClr val="FFFFFF"/>
                </a:solidFill>
                <a:latin typeface="Calibri (MS) Bold"/>
                <a:ea typeface="Calibri (MS) Bold"/>
                <a:cs typeface="Calibri (MS) Bold"/>
                <a:sym typeface="Calibri (MS) Bold"/>
              </a:rPr>
              <a:t>Workflow automation</a:t>
            </a:r>
          </a:p>
        </p:txBody>
      </p:sp>
      <p:sp>
        <p:nvSpPr>
          <p:cNvPr name="TextBox 22" id="22"/>
          <p:cNvSpPr txBox="true"/>
          <p:nvPr/>
        </p:nvSpPr>
        <p:spPr>
          <a:xfrm rot="0">
            <a:off x="9756457" y="6620068"/>
            <a:ext cx="3027807" cy="168402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Event-triggered rules (think Zapier). No LLM reasoning.</a:t>
            </a:r>
          </a:p>
        </p:txBody>
      </p:sp>
      <p:grpSp>
        <p:nvGrpSpPr>
          <p:cNvPr name="Group 23" id="23"/>
          <p:cNvGrpSpPr/>
          <p:nvPr/>
        </p:nvGrpSpPr>
        <p:grpSpPr>
          <a:xfrm rot="0">
            <a:off x="13583412" y="4028315"/>
            <a:ext cx="3898392" cy="4505325"/>
            <a:chOff x="0" y="0"/>
            <a:chExt cx="5197856" cy="6007100"/>
          </a:xfrm>
        </p:grpSpPr>
        <p:sp>
          <p:nvSpPr>
            <p:cNvPr name="Freeform 24" id="24"/>
            <p:cNvSpPr/>
            <p:nvPr/>
          </p:nvSpPr>
          <p:spPr>
            <a:xfrm flipH="false" flipV="false" rot="0">
              <a:off x="0" y="0"/>
              <a:ext cx="5197856" cy="6007100"/>
            </a:xfrm>
            <a:custGeom>
              <a:avLst/>
              <a:gdLst/>
              <a:ahLst/>
              <a:cxnLst/>
              <a:rect r="r" b="b" t="t" l="l"/>
              <a:pathLst>
                <a:path h="6007100" w="5197856">
                  <a:moveTo>
                    <a:pt x="0" y="222123"/>
                  </a:moveTo>
                  <a:cubicBezTo>
                    <a:pt x="0" y="99441"/>
                    <a:pt x="99441" y="0"/>
                    <a:pt x="222123" y="0"/>
                  </a:cubicBezTo>
                  <a:lnTo>
                    <a:pt x="4975733" y="0"/>
                  </a:lnTo>
                  <a:cubicBezTo>
                    <a:pt x="5098415" y="0"/>
                    <a:pt x="5197856" y="99441"/>
                    <a:pt x="5197856" y="222123"/>
                  </a:cubicBezTo>
                  <a:lnTo>
                    <a:pt x="5197856" y="5784977"/>
                  </a:lnTo>
                  <a:cubicBezTo>
                    <a:pt x="5197856" y="5907659"/>
                    <a:pt x="5098415" y="6007100"/>
                    <a:pt x="4975733" y="6007100"/>
                  </a:cubicBezTo>
                  <a:lnTo>
                    <a:pt x="222123" y="6007100"/>
                  </a:lnTo>
                  <a:cubicBezTo>
                    <a:pt x="99441" y="6007100"/>
                    <a:pt x="0" y="5907659"/>
                    <a:pt x="0" y="5784977"/>
                  </a:cubicBezTo>
                  <a:close/>
                </a:path>
              </a:pathLst>
            </a:custGeom>
            <a:solidFill>
              <a:srgbClr val="FFFFFF"/>
            </a:solidFill>
            <a:ln w="47625" cap="sq">
              <a:solidFill>
                <a:srgbClr val="0D417C"/>
              </a:solidFill>
              <a:prstDash val="solid"/>
              <a:miter/>
            </a:ln>
          </p:spPr>
        </p:sp>
      </p:grpSp>
      <p:grpSp>
        <p:nvGrpSpPr>
          <p:cNvPr name="Group 25" id="25"/>
          <p:cNvGrpSpPr/>
          <p:nvPr/>
        </p:nvGrpSpPr>
        <p:grpSpPr>
          <a:xfrm rot="0">
            <a:off x="14004417" y="4449320"/>
            <a:ext cx="2017395" cy="645795"/>
            <a:chOff x="0" y="0"/>
            <a:chExt cx="2689860" cy="861060"/>
          </a:xfrm>
        </p:grpSpPr>
        <p:sp>
          <p:nvSpPr>
            <p:cNvPr name="Freeform 26" id="26"/>
            <p:cNvSpPr/>
            <p:nvPr/>
          </p:nvSpPr>
          <p:spPr>
            <a:xfrm flipH="false" flipV="false" rot="0">
              <a:off x="0" y="0"/>
              <a:ext cx="2689860" cy="861187"/>
            </a:xfrm>
            <a:custGeom>
              <a:avLst/>
              <a:gdLst/>
              <a:ahLst/>
              <a:cxnLst/>
              <a:rect r="r" b="b" t="t" l="l"/>
              <a:pathLst>
                <a:path h="861187" w="2689860">
                  <a:moveTo>
                    <a:pt x="0" y="421005"/>
                  </a:moveTo>
                  <a:cubicBezTo>
                    <a:pt x="0" y="188468"/>
                    <a:pt x="188468" y="0"/>
                    <a:pt x="421005" y="0"/>
                  </a:cubicBezTo>
                  <a:lnTo>
                    <a:pt x="2268855" y="0"/>
                  </a:lnTo>
                  <a:cubicBezTo>
                    <a:pt x="2501392" y="0"/>
                    <a:pt x="2689860" y="188468"/>
                    <a:pt x="2689860" y="421005"/>
                  </a:cubicBezTo>
                  <a:lnTo>
                    <a:pt x="2689860" y="440182"/>
                  </a:lnTo>
                  <a:cubicBezTo>
                    <a:pt x="2689860" y="672719"/>
                    <a:pt x="2501392" y="861187"/>
                    <a:pt x="2268855" y="861187"/>
                  </a:cubicBezTo>
                  <a:lnTo>
                    <a:pt x="421005" y="861187"/>
                  </a:lnTo>
                  <a:cubicBezTo>
                    <a:pt x="188468" y="861060"/>
                    <a:pt x="0" y="672592"/>
                    <a:pt x="0" y="440055"/>
                  </a:cubicBezTo>
                  <a:close/>
                </a:path>
              </a:pathLst>
            </a:custGeom>
            <a:solidFill>
              <a:srgbClr val="FFFFFF"/>
            </a:solidFill>
            <a:ln w="28575" cap="sq">
              <a:solidFill>
                <a:srgbClr val="0E3C74"/>
              </a:solidFill>
              <a:prstDash val="solid"/>
              <a:miter/>
            </a:ln>
          </p:spPr>
        </p:sp>
        <p:sp>
          <p:nvSpPr>
            <p:cNvPr name="TextBox 27" id="27"/>
            <p:cNvSpPr txBox="true"/>
            <p:nvPr/>
          </p:nvSpPr>
          <p:spPr>
            <a:xfrm>
              <a:off x="0" y="-47625"/>
              <a:ext cx="2689860" cy="908685"/>
            </a:xfrm>
            <a:prstGeom prst="rect">
              <a:avLst/>
            </a:prstGeom>
          </p:spPr>
          <p:txBody>
            <a:bodyPr anchor="ctr" rtlCol="false" tIns="50800" lIns="50800" bIns="50800" rIns="50800"/>
            <a:lstStyle/>
            <a:p>
              <a:pPr algn="ctr">
                <a:lnSpc>
                  <a:spcPts val="2520"/>
                </a:lnSpc>
              </a:pPr>
              <a:r>
                <a:rPr lang="en-US" sz="2100" b="true">
                  <a:solidFill>
                    <a:srgbClr val="0D1B34"/>
                  </a:solidFill>
                  <a:latin typeface="Calibri (MS) Bold"/>
                  <a:ea typeface="Calibri (MS) Bold"/>
                  <a:cs typeface="Calibri (MS) Bold"/>
                  <a:sym typeface="Calibri (MS) Bold"/>
                </a:rPr>
                <a:t>✓  TODAY</a:t>
              </a:r>
            </a:p>
          </p:txBody>
        </p:sp>
      </p:grpSp>
      <p:sp>
        <p:nvSpPr>
          <p:cNvPr name="TextBox 28" id="28"/>
          <p:cNvSpPr txBox="true"/>
          <p:nvPr/>
        </p:nvSpPr>
        <p:spPr>
          <a:xfrm rot="0">
            <a:off x="14018704" y="5425633"/>
            <a:ext cx="3027807" cy="1163955"/>
          </a:xfrm>
          <a:prstGeom prst="rect">
            <a:avLst/>
          </a:prstGeom>
        </p:spPr>
        <p:txBody>
          <a:bodyPr anchor="t" rtlCol="false" tIns="0" lIns="0" bIns="0" rIns="0">
            <a:spAutoFit/>
          </a:bodyPr>
          <a:lstStyle/>
          <a:p>
            <a:pPr algn="l">
              <a:lnSpc>
                <a:spcPts val="3779"/>
              </a:lnSpc>
            </a:pPr>
            <a:r>
              <a:rPr lang="en-US" b="true" sz="3150">
                <a:solidFill>
                  <a:srgbClr val="0D1B34"/>
                </a:solidFill>
                <a:latin typeface="Calibri (MS) Bold"/>
                <a:ea typeface="Calibri (MS) Bold"/>
                <a:cs typeface="Calibri (MS) Bold"/>
                <a:sym typeface="Calibri (MS) Bold"/>
              </a:rPr>
              <a:t>Agent</a:t>
            </a:r>
          </a:p>
        </p:txBody>
      </p:sp>
      <p:sp>
        <p:nvSpPr>
          <p:cNvPr name="TextBox 29" id="29"/>
          <p:cNvSpPr txBox="true"/>
          <p:nvPr/>
        </p:nvSpPr>
        <p:spPr>
          <a:xfrm rot="0">
            <a:off x="14018704" y="6620068"/>
            <a:ext cx="3027807" cy="1123950"/>
          </a:xfrm>
          <a:prstGeom prst="rect">
            <a:avLst/>
          </a:prstGeom>
        </p:spPr>
        <p:txBody>
          <a:bodyPr anchor="t" rtlCol="false" tIns="0" lIns="0" bIns="0" rIns="0">
            <a:spAutoFit/>
          </a:bodyPr>
          <a:lstStyle/>
          <a:p>
            <a:pPr algn="l">
              <a:lnSpc>
                <a:spcPts val="2879"/>
              </a:lnSpc>
            </a:pPr>
            <a:r>
              <a:rPr lang="en-US" sz="2400">
                <a:solidFill>
                  <a:srgbClr val="0D1B34"/>
                </a:solidFill>
                <a:latin typeface="Calibri (MS)"/>
                <a:ea typeface="Calibri (MS)"/>
                <a:cs typeface="Calibri (MS)"/>
                <a:sym typeface="Calibri (MS)"/>
              </a:rPr>
              <a:t>Routing + state, the reliable kind companies hire for.</a:t>
            </a:r>
          </a:p>
        </p:txBody>
      </p:sp>
      <p:grpSp>
        <p:nvGrpSpPr>
          <p:cNvPr name="Group 30" id="30"/>
          <p:cNvGrpSpPr/>
          <p:nvPr/>
        </p:nvGrpSpPr>
        <p:grpSpPr>
          <a:xfrm rot="0">
            <a:off x="810958" y="1720342"/>
            <a:ext cx="7347788" cy="787661"/>
            <a:chOff x="0" y="0"/>
            <a:chExt cx="1935220" cy="207450"/>
          </a:xfrm>
        </p:grpSpPr>
        <p:sp>
          <p:nvSpPr>
            <p:cNvPr name="Freeform 31" id="31"/>
            <p:cNvSpPr/>
            <p:nvPr/>
          </p:nvSpPr>
          <p:spPr>
            <a:xfrm flipH="false" flipV="false" rot="0">
              <a:off x="0" y="0"/>
              <a:ext cx="1935220" cy="207450"/>
            </a:xfrm>
            <a:custGeom>
              <a:avLst/>
              <a:gdLst/>
              <a:ahLst/>
              <a:cxnLst/>
              <a:rect r="r" b="b" t="t" l="l"/>
              <a:pathLst>
                <a:path h="207450" w="1935220">
                  <a:moveTo>
                    <a:pt x="0" y="0"/>
                  </a:moveTo>
                  <a:lnTo>
                    <a:pt x="1935220" y="0"/>
                  </a:lnTo>
                  <a:lnTo>
                    <a:pt x="1935220" y="207450"/>
                  </a:lnTo>
                  <a:lnTo>
                    <a:pt x="0" y="207450"/>
                  </a:lnTo>
                  <a:close/>
                </a:path>
              </a:pathLst>
            </a:custGeom>
            <a:solidFill>
              <a:srgbClr val="0493FB"/>
            </a:solidFill>
          </p:spPr>
        </p:sp>
        <p:sp>
          <p:nvSpPr>
            <p:cNvPr name="TextBox 32" id="32"/>
            <p:cNvSpPr txBox="true"/>
            <p:nvPr/>
          </p:nvSpPr>
          <p:spPr>
            <a:xfrm>
              <a:off x="0" y="-57150"/>
              <a:ext cx="1935220" cy="264600"/>
            </a:xfrm>
            <a:prstGeom prst="rect">
              <a:avLst/>
            </a:prstGeom>
          </p:spPr>
          <p:txBody>
            <a:bodyPr anchor="ctr" rtlCol="false" tIns="50800" lIns="50800" bIns="50800" rIns="50800"/>
            <a:lstStyle/>
            <a:p>
              <a:pPr algn="ctr">
                <a:lnSpc>
                  <a:spcPts val="2700"/>
                </a:lnSpc>
              </a:pPr>
            </a:p>
          </p:txBody>
        </p:sp>
      </p:grpSp>
      <p:sp>
        <p:nvSpPr>
          <p:cNvPr name="TextBox 33" id="33"/>
          <p:cNvSpPr txBox="true"/>
          <p:nvPr/>
        </p:nvSpPr>
        <p:spPr>
          <a:xfrm rot="0">
            <a:off x="1028700" y="904875"/>
            <a:ext cx="7930344"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Scope Check?</a:t>
            </a:r>
          </a:p>
        </p:txBody>
      </p:sp>
    </p:spTree>
  </p:cSld>
  <p:clrMapOvr>
    <a:masterClrMapping/>
  </p:clrMapOvr>
</p:sld>
</file>

<file path=ppt/slides/slide15.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028700" y="3373089"/>
            <a:ext cx="3879342" cy="5762620"/>
            <a:chOff x="0" y="0"/>
            <a:chExt cx="5172456" cy="7683494"/>
          </a:xfrm>
        </p:grpSpPr>
        <p:sp>
          <p:nvSpPr>
            <p:cNvPr name="Freeform 3" id="3"/>
            <p:cNvSpPr/>
            <p:nvPr/>
          </p:nvSpPr>
          <p:spPr>
            <a:xfrm flipH="false" flipV="false" rot="0">
              <a:off x="0" y="0"/>
              <a:ext cx="5172456" cy="7683494"/>
            </a:xfrm>
            <a:custGeom>
              <a:avLst/>
              <a:gdLst/>
              <a:ahLst/>
              <a:cxnLst/>
              <a:rect r="r" b="b" t="t" l="l"/>
              <a:pathLst>
                <a:path h="7683494" w="5172456">
                  <a:moveTo>
                    <a:pt x="0" y="284012"/>
                  </a:moveTo>
                  <a:cubicBezTo>
                    <a:pt x="0" y="127079"/>
                    <a:pt x="98933" y="0"/>
                    <a:pt x="221107" y="0"/>
                  </a:cubicBezTo>
                  <a:lnTo>
                    <a:pt x="4951349" y="0"/>
                  </a:lnTo>
                  <a:cubicBezTo>
                    <a:pt x="5073396" y="0"/>
                    <a:pt x="5172456" y="127079"/>
                    <a:pt x="5172456" y="284012"/>
                  </a:cubicBezTo>
                  <a:lnTo>
                    <a:pt x="5172456" y="7399482"/>
                  </a:lnTo>
                  <a:cubicBezTo>
                    <a:pt x="5172456" y="7556251"/>
                    <a:pt x="5073523" y="7683494"/>
                    <a:pt x="4951349" y="7683494"/>
                  </a:cubicBezTo>
                  <a:lnTo>
                    <a:pt x="221107" y="7683494"/>
                  </a:lnTo>
                  <a:cubicBezTo>
                    <a:pt x="98933" y="7683494"/>
                    <a:pt x="0" y="7556415"/>
                    <a:pt x="0" y="7399482"/>
                  </a:cubicBezTo>
                  <a:close/>
                </a:path>
              </a:pathLst>
            </a:custGeom>
            <a:solidFill>
              <a:srgbClr val="0D417C"/>
            </a:solidFill>
            <a:ln w="28575" cap="sq">
              <a:solidFill>
                <a:srgbClr val="F1F3F8"/>
              </a:solidFill>
              <a:prstDash val="solid"/>
              <a:miter/>
            </a:ln>
          </p:spPr>
        </p:sp>
      </p:grpSp>
      <p:grpSp>
        <p:nvGrpSpPr>
          <p:cNvPr name="Group 4" id="4"/>
          <p:cNvGrpSpPr/>
          <p:nvPr/>
        </p:nvGrpSpPr>
        <p:grpSpPr>
          <a:xfrm rot="0">
            <a:off x="1440180" y="3784569"/>
            <a:ext cx="2497455" cy="645795"/>
            <a:chOff x="0" y="0"/>
            <a:chExt cx="3329940" cy="861060"/>
          </a:xfrm>
        </p:grpSpPr>
        <p:sp>
          <p:nvSpPr>
            <p:cNvPr name="Freeform 5" id="5"/>
            <p:cNvSpPr/>
            <p:nvPr/>
          </p:nvSpPr>
          <p:spPr>
            <a:xfrm flipH="false" flipV="false" rot="0">
              <a:off x="0" y="0"/>
              <a:ext cx="3329940" cy="861187"/>
            </a:xfrm>
            <a:custGeom>
              <a:avLst/>
              <a:gdLst/>
              <a:ahLst/>
              <a:cxnLst/>
              <a:rect r="r" b="b" t="t" l="l"/>
              <a:pathLst>
                <a:path h="861187" w="3329940">
                  <a:moveTo>
                    <a:pt x="0" y="421005"/>
                  </a:moveTo>
                  <a:cubicBezTo>
                    <a:pt x="0" y="188468"/>
                    <a:pt x="188468" y="0"/>
                    <a:pt x="421005" y="0"/>
                  </a:cubicBezTo>
                  <a:lnTo>
                    <a:pt x="2908935" y="0"/>
                  </a:lnTo>
                  <a:cubicBezTo>
                    <a:pt x="3141472" y="0"/>
                    <a:pt x="3329940" y="188468"/>
                    <a:pt x="3329940" y="421005"/>
                  </a:cubicBezTo>
                  <a:lnTo>
                    <a:pt x="3329940" y="440182"/>
                  </a:lnTo>
                  <a:cubicBezTo>
                    <a:pt x="3329940" y="672719"/>
                    <a:pt x="3141472" y="861187"/>
                    <a:pt x="2908935" y="861187"/>
                  </a:cubicBezTo>
                  <a:lnTo>
                    <a:pt x="421005" y="861187"/>
                  </a:lnTo>
                  <a:cubicBezTo>
                    <a:pt x="188468" y="861060"/>
                    <a:pt x="0" y="672592"/>
                    <a:pt x="0" y="440055"/>
                  </a:cubicBezTo>
                  <a:close/>
                </a:path>
              </a:pathLst>
            </a:custGeom>
            <a:solidFill>
              <a:srgbClr val="0D417C"/>
            </a:solidFill>
            <a:ln w="28575" cap="sq">
              <a:solidFill>
                <a:srgbClr val="8D99AE"/>
              </a:solidFill>
              <a:prstDash val="solid"/>
              <a:miter/>
            </a:ln>
          </p:spPr>
        </p:sp>
        <p:sp>
          <p:nvSpPr>
            <p:cNvPr name="TextBox 6" id="6"/>
            <p:cNvSpPr txBox="true"/>
            <p:nvPr/>
          </p:nvSpPr>
          <p:spPr>
            <a:xfrm>
              <a:off x="0" y="-47625"/>
              <a:ext cx="332994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TEXT OUT</a:t>
              </a:r>
            </a:p>
          </p:txBody>
        </p:sp>
      </p:grpSp>
      <p:sp>
        <p:nvSpPr>
          <p:cNvPr name="TextBox 7" id="7"/>
          <p:cNvSpPr txBox="true"/>
          <p:nvPr/>
        </p:nvSpPr>
        <p:spPr>
          <a:xfrm rot="0">
            <a:off x="1454467" y="4770406"/>
            <a:ext cx="1731002" cy="466725"/>
          </a:xfrm>
          <a:prstGeom prst="rect">
            <a:avLst/>
          </a:prstGeom>
        </p:spPr>
        <p:txBody>
          <a:bodyPr anchor="t" rtlCol="false" tIns="0" lIns="0" bIns="0" rIns="0">
            <a:spAutoFit/>
          </a:bodyPr>
          <a:lstStyle/>
          <a:p>
            <a:pPr algn="l">
              <a:lnSpc>
                <a:spcPts val="3241"/>
              </a:lnSpc>
            </a:pPr>
            <a:r>
              <a:rPr lang="en-US" b="true" sz="2700">
                <a:solidFill>
                  <a:srgbClr val="FFFFFF"/>
                </a:solidFill>
                <a:latin typeface="Calibri (MS) Bold"/>
                <a:ea typeface="Calibri (MS) Bold"/>
                <a:cs typeface="Calibri (MS) Bold"/>
                <a:sym typeface="Calibri (MS) Bold"/>
              </a:rPr>
              <a:t>Chatbot</a:t>
            </a:r>
          </a:p>
        </p:txBody>
      </p:sp>
      <p:sp>
        <p:nvSpPr>
          <p:cNvPr name="TextBox 8" id="8"/>
          <p:cNvSpPr txBox="true"/>
          <p:nvPr/>
        </p:nvSpPr>
        <p:spPr>
          <a:xfrm rot="0">
            <a:off x="1454467" y="5328571"/>
            <a:ext cx="3153966" cy="3190875"/>
          </a:xfrm>
          <a:prstGeom prst="rect">
            <a:avLst/>
          </a:prstGeom>
        </p:spPr>
        <p:txBody>
          <a:bodyPr anchor="t" rtlCol="false" tIns="0" lIns="0" bIns="0" rIns="0">
            <a:spAutoFit/>
          </a:bodyPr>
          <a:lstStyle/>
          <a:p>
            <a:pPr algn="l">
              <a:lnSpc>
                <a:spcPts val="2520"/>
              </a:lnSpc>
            </a:pPr>
            <a:r>
              <a:rPr lang="en-US" sz="2100">
                <a:solidFill>
                  <a:srgbClr val="A8D4FF"/>
                </a:solidFill>
                <a:latin typeface="Calibri (MS)"/>
                <a:ea typeface="Calibri (MS)"/>
                <a:cs typeface="Calibri (MS)"/>
                <a:sym typeface="Calibri (MS)"/>
              </a:rPr>
              <a:t>What it does</a:t>
            </a:r>
          </a:p>
          <a:p>
            <a:pPr algn="l">
              <a:lnSpc>
                <a:spcPts val="2520"/>
              </a:lnSpc>
            </a:pPr>
            <a:r>
              <a:rPr lang="en-US" sz="2100">
                <a:solidFill>
                  <a:srgbClr val="FFFFFF"/>
                </a:solidFill>
                <a:latin typeface="Calibri (MS)"/>
                <a:ea typeface="Calibri (MS)"/>
                <a:cs typeface="Calibri (MS)"/>
                <a:sym typeface="Calibri (MS)"/>
              </a:rPr>
              <a:t>Answers in text. A person reads it and decides.</a:t>
            </a:r>
          </a:p>
          <a:p>
            <a:pPr algn="l">
              <a:lnSpc>
                <a:spcPts val="2520"/>
              </a:lnSpc>
            </a:pPr>
          </a:p>
          <a:p>
            <a:pPr algn="l">
              <a:lnSpc>
                <a:spcPts val="2520"/>
              </a:lnSpc>
            </a:pPr>
            <a:r>
              <a:rPr lang="en-US" sz="2100">
                <a:solidFill>
                  <a:srgbClr val="A8D4FF"/>
                </a:solidFill>
                <a:latin typeface="Calibri (MS)"/>
                <a:ea typeface="Calibri (MS)"/>
                <a:cs typeface="Calibri (MS)"/>
                <a:sym typeface="Calibri (MS)"/>
              </a:rPr>
              <a:t>Use it when</a:t>
            </a:r>
          </a:p>
          <a:p>
            <a:pPr algn="l">
              <a:lnSpc>
                <a:spcPts val="2520"/>
              </a:lnSpc>
            </a:pPr>
            <a:r>
              <a:rPr lang="en-US" sz="2100">
                <a:solidFill>
                  <a:srgbClr val="FFFFFF"/>
                </a:solidFill>
                <a:latin typeface="Calibri (MS)"/>
                <a:ea typeface="Calibri (MS)"/>
                <a:cs typeface="Calibri (MS)"/>
                <a:sym typeface="Calibri (MS)"/>
              </a:rPr>
              <a:t>Someone just needs an answer or a draft</a:t>
            </a:r>
          </a:p>
          <a:p>
            <a:pPr algn="l">
              <a:lnSpc>
                <a:spcPts val="2520"/>
              </a:lnSpc>
            </a:pPr>
          </a:p>
          <a:p>
            <a:pPr algn="l">
              <a:lnSpc>
                <a:spcPts val="2520"/>
              </a:lnSpc>
            </a:pPr>
            <a:r>
              <a:rPr lang="en-US" sz="2100">
                <a:solidFill>
                  <a:srgbClr val="A8D4FF"/>
                </a:solidFill>
                <a:latin typeface="Calibri (MS)"/>
                <a:ea typeface="Calibri (MS)"/>
                <a:cs typeface="Calibri (MS)"/>
                <a:sym typeface="Calibri (MS)"/>
              </a:rPr>
              <a:t>Example:</a:t>
            </a:r>
          </a:p>
          <a:p>
            <a:pPr algn="l">
              <a:lnSpc>
                <a:spcPts val="2520"/>
              </a:lnSpc>
            </a:pPr>
            <a:r>
              <a:rPr lang="en-US" sz="2100">
                <a:solidFill>
                  <a:srgbClr val="FFFFFF"/>
                </a:solidFill>
                <a:latin typeface="Calibri (MS)"/>
                <a:ea typeface="Calibri (MS)"/>
                <a:cs typeface="Calibri (MS)"/>
                <a:sym typeface="Calibri (MS)"/>
              </a:rPr>
              <a:t>Help-center chat, FAQ bot</a:t>
            </a:r>
          </a:p>
        </p:txBody>
      </p:sp>
      <p:grpSp>
        <p:nvGrpSpPr>
          <p:cNvPr name="Group 9" id="9"/>
          <p:cNvGrpSpPr/>
          <p:nvPr/>
        </p:nvGrpSpPr>
        <p:grpSpPr>
          <a:xfrm rot="0">
            <a:off x="810958" y="1720342"/>
            <a:ext cx="9499229" cy="787661"/>
            <a:chOff x="0" y="0"/>
            <a:chExt cx="2501855" cy="207450"/>
          </a:xfrm>
        </p:grpSpPr>
        <p:sp>
          <p:nvSpPr>
            <p:cNvPr name="Freeform 10" id="10"/>
            <p:cNvSpPr/>
            <p:nvPr/>
          </p:nvSpPr>
          <p:spPr>
            <a:xfrm flipH="false" flipV="false" rot="0">
              <a:off x="0" y="0"/>
              <a:ext cx="2501855" cy="207450"/>
            </a:xfrm>
            <a:custGeom>
              <a:avLst/>
              <a:gdLst/>
              <a:ahLst/>
              <a:cxnLst/>
              <a:rect r="r" b="b" t="t" l="l"/>
              <a:pathLst>
                <a:path h="207450" w="2501855">
                  <a:moveTo>
                    <a:pt x="0" y="0"/>
                  </a:moveTo>
                  <a:lnTo>
                    <a:pt x="2501855" y="0"/>
                  </a:lnTo>
                  <a:lnTo>
                    <a:pt x="2501855" y="207450"/>
                  </a:lnTo>
                  <a:lnTo>
                    <a:pt x="0" y="207450"/>
                  </a:lnTo>
                  <a:close/>
                </a:path>
              </a:pathLst>
            </a:custGeom>
            <a:solidFill>
              <a:srgbClr val="0493FB"/>
            </a:solidFill>
          </p:spPr>
        </p:sp>
        <p:sp>
          <p:nvSpPr>
            <p:cNvPr name="TextBox 11" id="11"/>
            <p:cNvSpPr txBox="true"/>
            <p:nvPr/>
          </p:nvSpPr>
          <p:spPr>
            <a:xfrm>
              <a:off x="0" y="-57150"/>
              <a:ext cx="2501855" cy="264600"/>
            </a:xfrm>
            <a:prstGeom prst="rect">
              <a:avLst/>
            </a:prstGeom>
          </p:spPr>
          <p:txBody>
            <a:bodyPr anchor="ctr" rtlCol="false" tIns="50800" lIns="50800" bIns="50800" rIns="50800"/>
            <a:lstStyle/>
            <a:p>
              <a:pPr algn="ctr">
                <a:lnSpc>
                  <a:spcPts val="2700"/>
                </a:lnSpc>
              </a:pPr>
            </a:p>
          </p:txBody>
        </p:sp>
      </p:grpSp>
      <p:sp>
        <p:nvSpPr>
          <p:cNvPr name="TextBox 12" id="12"/>
          <p:cNvSpPr txBox="true"/>
          <p:nvPr/>
        </p:nvSpPr>
        <p:spPr>
          <a:xfrm rot="0">
            <a:off x="1028700" y="904875"/>
            <a:ext cx="9281488"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Which one, When?</a:t>
            </a:r>
          </a:p>
        </p:txBody>
      </p:sp>
      <p:grpSp>
        <p:nvGrpSpPr>
          <p:cNvPr name="Group 13" id="13"/>
          <p:cNvGrpSpPr/>
          <p:nvPr/>
        </p:nvGrpSpPr>
        <p:grpSpPr>
          <a:xfrm rot="0">
            <a:off x="14172494" y="3373089"/>
            <a:ext cx="3879342" cy="5762620"/>
            <a:chOff x="0" y="0"/>
            <a:chExt cx="5172456" cy="7683494"/>
          </a:xfrm>
        </p:grpSpPr>
        <p:sp>
          <p:nvSpPr>
            <p:cNvPr name="Freeform 14" id="14"/>
            <p:cNvSpPr/>
            <p:nvPr/>
          </p:nvSpPr>
          <p:spPr>
            <a:xfrm flipH="false" flipV="false" rot="0">
              <a:off x="0" y="0"/>
              <a:ext cx="5172456" cy="7683494"/>
            </a:xfrm>
            <a:custGeom>
              <a:avLst/>
              <a:gdLst/>
              <a:ahLst/>
              <a:cxnLst/>
              <a:rect r="r" b="b" t="t" l="l"/>
              <a:pathLst>
                <a:path h="7683494" w="5172456">
                  <a:moveTo>
                    <a:pt x="0" y="284012"/>
                  </a:moveTo>
                  <a:cubicBezTo>
                    <a:pt x="0" y="127079"/>
                    <a:pt x="98933" y="0"/>
                    <a:pt x="221107" y="0"/>
                  </a:cubicBezTo>
                  <a:lnTo>
                    <a:pt x="4951349" y="0"/>
                  </a:lnTo>
                  <a:cubicBezTo>
                    <a:pt x="5073396" y="0"/>
                    <a:pt x="5172456" y="127079"/>
                    <a:pt x="5172456" y="284012"/>
                  </a:cubicBezTo>
                  <a:lnTo>
                    <a:pt x="5172456" y="7399482"/>
                  </a:lnTo>
                  <a:cubicBezTo>
                    <a:pt x="5172456" y="7556251"/>
                    <a:pt x="5073523" y="7683494"/>
                    <a:pt x="4951349" y="7683494"/>
                  </a:cubicBezTo>
                  <a:lnTo>
                    <a:pt x="221107" y="7683494"/>
                  </a:lnTo>
                  <a:cubicBezTo>
                    <a:pt x="98933" y="7683494"/>
                    <a:pt x="0" y="7556415"/>
                    <a:pt x="0" y="7399482"/>
                  </a:cubicBezTo>
                  <a:close/>
                </a:path>
              </a:pathLst>
            </a:custGeom>
            <a:solidFill>
              <a:srgbClr val="F1F3F8"/>
            </a:solidFill>
            <a:ln w="28575" cap="sq">
              <a:solidFill>
                <a:srgbClr val="F1F3F8"/>
              </a:solidFill>
              <a:prstDash val="solid"/>
              <a:miter/>
            </a:ln>
          </p:spPr>
        </p:sp>
      </p:grpSp>
      <p:grpSp>
        <p:nvGrpSpPr>
          <p:cNvPr name="Group 15" id="15"/>
          <p:cNvGrpSpPr/>
          <p:nvPr/>
        </p:nvGrpSpPr>
        <p:grpSpPr>
          <a:xfrm rot="0">
            <a:off x="14535182" y="3784569"/>
            <a:ext cx="2497455" cy="645795"/>
            <a:chOff x="0" y="0"/>
            <a:chExt cx="3329940" cy="861060"/>
          </a:xfrm>
        </p:grpSpPr>
        <p:sp>
          <p:nvSpPr>
            <p:cNvPr name="Freeform 16" id="16"/>
            <p:cNvSpPr/>
            <p:nvPr/>
          </p:nvSpPr>
          <p:spPr>
            <a:xfrm flipH="false" flipV="false" rot="0">
              <a:off x="0" y="0"/>
              <a:ext cx="3329940" cy="861187"/>
            </a:xfrm>
            <a:custGeom>
              <a:avLst/>
              <a:gdLst/>
              <a:ahLst/>
              <a:cxnLst/>
              <a:rect r="r" b="b" t="t" l="l"/>
              <a:pathLst>
                <a:path h="861187" w="3329940">
                  <a:moveTo>
                    <a:pt x="0" y="421005"/>
                  </a:moveTo>
                  <a:cubicBezTo>
                    <a:pt x="0" y="188468"/>
                    <a:pt x="188468" y="0"/>
                    <a:pt x="421005" y="0"/>
                  </a:cubicBezTo>
                  <a:lnTo>
                    <a:pt x="2908935" y="0"/>
                  </a:lnTo>
                  <a:cubicBezTo>
                    <a:pt x="3141472" y="0"/>
                    <a:pt x="3329940" y="188468"/>
                    <a:pt x="3329940" y="421005"/>
                  </a:cubicBezTo>
                  <a:lnTo>
                    <a:pt x="3329940" y="440182"/>
                  </a:lnTo>
                  <a:cubicBezTo>
                    <a:pt x="3329940" y="672719"/>
                    <a:pt x="3141472" y="861187"/>
                    <a:pt x="2908935" y="861187"/>
                  </a:cubicBezTo>
                  <a:lnTo>
                    <a:pt x="421005" y="861187"/>
                  </a:lnTo>
                  <a:cubicBezTo>
                    <a:pt x="188468" y="861060"/>
                    <a:pt x="0" y="672592"/>
                    <a:pt x="0" y="440055"/>
                  </a:cubicBezTo>
                  <a:close/>
                </a:path>
              </a:pathLst>
            </a:custGeom>
            <a:solidFill>
              <a:srgbClr val="0D417C"/>
            </a:solidFill>
            <a:ln w="28575" cap="sq">
              <a:solidFill>
                <a:srgbClr val="8D99AE"/>
              </a:solidFill>
              <a:prstDash val="solid"/>
              <a:miter/>
            </a:ln>
          </p:spPr>
        </p:sp>
        <p:sp>
          <p:nvSpPr>
            <p:cNvPr name="TextBox 17" id="17"/>
            <p:cNvSpPr txBox="true"/>
            <p:nvPr/>
          </p:nvSpPr>
          <p:spPr>
            <a:xfrm>
              <a:off x="0" y="-47625"/>
              <a:ext cx="332994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DECISION OUT</a:t>
              </a:r>
            </a:p>
          </p:txBody>
        </p:sp>
      </p:grpSp>
      <p:sp>
        <p:nvSpPr>
          <p:cNvPr name="TextBox 18" id="18"/>
          <p:cNvSpPr txBox="true"/>
          <p:nvPr/>
        </p:nvSpPr>
        <p:spPr>
          <a:xfrm rot="0">
            <a:off x="14535182" y="4770406"/>
            <a:ext cx="1731002" cy="466725"/>
          </a:xfrm>
          <a:prstGeom prst="rect">
            <a:avLst/>
          </a:prstGeom>
        </p:spPr>
        <p:txBody>
          <a:bodyPr anchor="t" rtlCol="false" tIns="0" lIns="0" bIns="0" rIns="0">
            <a:spAutoFit/>
          </a:bodyPr>
          <a:lstStyle/>
          <a:p>
            <a:pPr algn="l">
              <a:lnSpc>
                <a:spcPts val="3241"/>
              </a:lnSpc>
            </a:pPr>
            <a:r>
              <a:rPr lang="en-US" sz="2700" b="true">
                <a:solidFill>
                  <a:srgbClr val="000000"/>
                </a:solidFill>
                <a:latin typeface="Calibri (MS) Bold"/>
                <a:ea typeface="Calibri (MS) Bold"/>
                <a:cs typeface="Calibri (MS) Bold"/>
                <a:sym typeface="Calibri (MS) Bold"/>
              </a:rPr>
              <a:t>Agent</a:t>
            </a:r>
          </a:p>
        </p:txBody>
      </p:sp>
      <p:sp>
        <p:nvSpPr>
          <p:cNvPr name="TextBox 19" id="19"/>
          <p:cNvSpPr txBox="true"/>
          <p:nvPr/>
        </p:nvSpPr>
        <p:spPr>
          <a:xfrm rot="0">
            <a:off x="14535182" y="5328571"/>
            <a:ext cx="3153966" cy="3190875"/>
          </a:xfrm>
          <a:prstGeom prst="rect">
            <a:avLst/>
          </a:prstGeom>
        </p:spPr>
        <p:txBody>
          <a:bodyPr anchor="t" rtlCol="false" tIns="0" lIns="0" bIns="0" rIns="0">
            <a:spAutoFit/>
          </a:bodyPr>
          <a:lstStyle/>
          <a:p>
            <a:pPr algn="l">
              <a:lnSpc>
                <a:spcPts val="2520"/>
              </a:lnSpc>
            </a:pPr>
            <a:r>
              <a:rPr lang="en-US" sz="2100">
                <a:solidFill>
                  <a:srgbClr val="0E3C74"/>
                </a:solidFill>
                <a:latin typeface="Calibri (MS)"/>
                <a:ea typeface="Calibri (MS)"/>
                <a:cs typeface="Calibri (MS)"/>
                <a:sym typeface="Calibri (MS)"/>
              </a:rPr>
              <a:t>What it does</a:t>
            </a:r>
          </a:p>
          <a:p>
            <a:pPr algn="l">
              <a:lnSpc>
                <a:spcPts val="2520"/>
              </a:lnSpc>
            </a:pPr>
            <a:r>
              <a:rPr lang="en-US" sz="2100">
                <a:solidFill>
                  <a:srgbClr val="000000"/>
                </a:solidFill>
                <a:latin typeface="Calibri (MS)"/>
                <a:ea typeface="Calibri (MS)"/>
                <a:cs typeface="Calibri (MS)"/>
                <a:sym typeface="Calibri (MS)"/>
              </a:rPr>
              <a:t>The LLM judges the case; the code acts on it.</a:t>
            </a:r>
          </a:p>
          <a:p>
            <a:pPr algn="l">
              <a:lnSpc>
                <a:spcPts val="2520"/>
              </a:lnSpc>
            </a:pPr>
          </a:p>
          <a:p>
            <a:pPr algn="l">
              <a:lnSpc>
                <a:spcPts val="2520"/>
              </a:lnSpc>
            </a:pPr>
            <a:r>
              <a:rPr lang="en-US" sz="2100">
                <a:solidFill>
                  <a:srgbClr val="0E3C74"/>
                </a:solidFill>
                <a:latin typeface="Calibri (MS)"/>
                <a:ea typeface="Calibri (MS)"/>
                <a:cs typeface="Calibri (MS)"/>
                <a:sym typeface="Calibri (MS)"/>
              </a:rPr>
              <a:t>Use it when</a:t>
            </a:r>
          </a:p>
          <a:p>
            <a:pPr algn="l">
              <a:lnSpc>
                <a:spcPts val="2520"/>
              </a:lnSpc>
            </a:pPr>
            <a:r>
              <a:rPr lang="en-US" sz="2100">
                <a:solidFill>
                  <a:srgbClr val="FFFFFF"/>
                </a:solidFill>
                <a:latin typeface="Calibri (MS)"/>
                <a:ea typeface="Calibri (MS)"/>
                <a:cs typeface="Calibri (MS)"/>
                <a:sym typeface="Calibri (MS)"/>
              </a:rPr>
              <a:t>I</a:t>
            </a:r>
            <a:r>
              <a:rPr lang="en-US" sz="2100">
                <a:solidFill>
                  <a:srgbClr val="000000"/>
                </a:solidFill>
                <a:latin typeface="Calibri (MS)"/>
                <a:ea typeface="Calibri (MS)"/>
                <a:cs typeface="Calibri (MS)"/>
                <a:sym typeface="Calibri (MS)"/>
              </a:rPr>
              <a:t>nput is messy text and the next step depends on it.</a:t>
            </a:r>
          </a:p>
          <a:p>
            <a:pPr algn="l">
              <a:lnSpc>
                <a:spcPts val="2520"/>
              </a:lnSpc>
            </a:pPr>
          </a:p>
          <a:p>
            <a:pPr algn="l">
              <a:lnSpc>
                <a:spcPts val="2520"/>
              </a:lnSpc>
            </a:pPr>
            <a:r>
              <a:rPr lang="en-US" sz="2100">
                <a:solidFill>
                  <a:srgbClr val="0E3C74"/>
                </a:solidFill>
                <a:latin typeface="Calibri (MS)"/>
                <a:ea typeface="Calibri (MS)"/>
                <a:cs typeface="Calibri (MS)"/>
                <a:sym typeface="Calibri (MS)"/>
              </a:rPr>
              <a:t>Example</a:t>
            </a:r>
            <a:r>
              <a:rPr lang="en-US" sz="2100">
                <a:solidFill>
                  <a:srgbClr val="A8D4FF"/>
                </a:solidFill>
                <a:latin typeface="Calibri (MS)"/>
                <a:ea typeface="Calibri (MS)"/>
                <a:cs typeface="Calibri (MS)"/>
                <a:sym typeface="Calibri (MS)"/>
              </a:rPr>
              <a:t>:</a:t>
            </a:r>
          </a:p>
          <a:p>
            <a:pPr algn="l">
              <a:lnSpc>
                <a:spcPts val="2520"/>
              </a:lnSpc>
            </a:pPr>
            <a:r>
              <a:rPr lang="en-US" sz="2100">
                <a:solidFill>
                  <a:srgbClr val="000000"/>
                </a:solidFill>
                <a:latin typeface="Calibri (MS)"/>
                <a:ea typeface="Calibri (MS)"/>
                <a:cs typeface="Calibri (MS)"/>
                <a:sym typeface="Calibri (MS)"/>
              </a:rPr>
              <a:t>Today’s ticket triage</a:t>
            </a:r>
          </a:p>
        </p:txBody>
      </p:sp>
      <p:grpSp>
        <p:nvGrpSpPr>
          <p:cNvPr name="Group 20" id="20"/>
          <p:cNvGrpSpPr/>
          <p:nvPr/>
        </p:nvGrpSpPr>
        <p:grpSpPr>
          <a:xfrm rot="0">
            <a:off x="9864527" y="3341652"/>
            <a:ext cx="3879342" cy="5762620"/>
            <a:chOff x="0" y="0"/>
            <a:chExt cx="5172456" cy="7683494"/>
          </a:xfrm>
        </p:grpSpPr>
        <p:sp>
          <p:nvSpPr>
            <p:cNvPr name="Freeform 21" id="21"/>
            <p:cNvSpPr/>
            <p:nvPr/>
          </p:nvSpPr>
          <p:spPr>
            <a:xfrm flipH="false" flipV="false" rot="0">
              <a:off x="0" y="0"/>
              <a:ext cx="5172456" cy="7683494"/>
            </a:xfrm>
            <a:custGeom>
              <a:avLst/>
              <a:gdLst/>
              <a:ahLst/>
              <a:cxnLst/>
              <a:rect r="r" b="b" t="t" l="l"/>
              <a:pathLst>
                <a:path h="7683494" w="5172456">
                  <a:moveTo>
                    <a:pt x="0" y="284012"/>
                  </a:moveTo>
                  <a:cubicBezTo>
                    <a:pt x="0" y="127079"/>
                    <a:pt x="98933" y="0"/>
                    <a:pt x="221107" y="0"/>
                  </a:cubicBezTo>
                  <a:lnTo>
                    <a:pt x="4951349" y="0"/>
                  </a:lnTo>
                  <a:cubicBezTo>
                    <a:pt x="5073396" y="0"/>
                    <a:pt x="5172456" y="127079"/>
                    <a:pt x="5172456" y="284012"/>
                  </a:cubicBezTo>
                  <a:lnTo>
                    <a:pt x="5172456" y="7399482"/>
                  </a:lnTo>
                  <a:cubicBezTo>
                    <a:pt x="5172456" y="7556251"/>
                    <a:pt x="5073523" y="7683494"/>
                    <a:pt x="4951349" y="7683494"/>
                  </a:cubicBezTo>
                  <a:lnTo>
                    <a:pt x="221107" y="7683494"/>
                  </a:lnTo>
                  <a:cubicBezTo>
                    <a:pt x="98933" y="7683494"/>
                    <a:pt x="0" y="7556415"/>
                    <a:pt x="0" y="7399482"/>
                  </a:cubicBezTo>
                  <a:close/>
                </a:path>
              </a:pathLst>
            </a:custGeom>
            <a:solidFill>
              <a:srgbClr val="0D417C"/>
            </a:solidFill>
            <a:ln w="28575" cap="sq">
              <a:solidFill>
                <a:srgbClr val="F1F3F8"/>
              </a:solidFill>
              <a:prstDash val="solid"/>
              <a:miter/>
            </a:ln>
          </p:spPr>
        </p:sp>
      </p:grpSp>
      <p:grpSp>
        <p:nvGrpSpPr>
          <p:cNvPr name="Group 22" id="22"/>
          <p:cNvGrpSpPr/>
          <p:nvPr/>
        </p:nvGrpSpPr>
        <p:grpSpPr>
          <a:xfrm rot="0">
            <a:off x="10266503" y="3784569"/>
            <a:ext cx="2497455" cy="645795"/>
            <a:chOff x="0" y="0"/>
            <a:chExt cx="3329940" cy="861060"/>
          </a:xfrm>
        </p:grpSpPr>
        <p:sp>
          <p:nvSpPr>
            <p:cNvPr name="Freeform 23" id="23"/>
            <p:cNvSpPr/>
            <p:nvPr/>
          </p:nvSpPr>
          <p:spPr>
            <a:xfrm flipH="false" flipV="false" rot="0">
              <a:off x="0" y="0"/>
              <a:ext cx="3329940" cy="861187"/>
            </a:xfrm>
            <a:custGeom>
              <a:avLst/>
              <a:gdLst/>
              <a:ahLst/>
              <a:cxnLst/>
              <a:rect r="r" b="b" t="t" l="l"/>
              <a:pathLst>
                <a:path h="861187" w="3329940">
                  <a:moveTo>
                    <a:pt x="0" y="421005"/>
                  </a:moveTo>
                  <a:cubicBezTo>
                    <a:pt x="0" y="188468"/>
                    <a:pt x="188468" y="0"/>
                    <a:pt x="421005" y="0"/>
                  </a:cubicBezTo>
                  <a:lnTo>
                    <a:pt x="2908935" y="0"/>
                  </a:lnTo>
                  <a:cubicBezTo>
                    <a:pt x="3141472" y="0"/>
                    <a:pt x="3329940" y="188468"/>
                    <a:pt x="3329940" y="421005"/>
                  </a:cubicBezTo>
                  <a:lnTo>
                    <a:pt x="3329940" y="440182"/>
                  </a:lnTo>
                  <a:cubicBezTo>
                    <a:pt x="3329940" y="672719"/>
                    <a:pt x="3141472" y="861187"/>
                    <a:pt x="2908935" y="861187"/>
                  </a:cubicBezTo>
                  <a:lnTo>
                    <a:pt x="421005" y="861187"/>
                  </a:lnTo>
                  <a:cubicBezTo>
                    <a:pt x="188468" y="861060"/>
                    <a:pt x="0" y="672592"/>
                    <a:pt x="0" y="440055"/>
                  </a:cubicBezTo>
                  <a:close/>
                </a:path>
              </a:pathLst>
            </a:custGeom>
            <a:solidFill>
              <a:srgbClr val="0D417C"/>
            </a:solidFill>
            <a:ln w="28575" cap="sq">
              <a:solidFill>
                <a:srgbClr val="8D99AE"/>
              </a:solidFill>
              <a:prstDash val="solid"/>
              <a:miter/>
            </a:ln>
          </p:spPr>
        </p:sp>
        <p:sp>
          <p:nvSpPr>
            <p:cNvPr name="TextBox 24" id="24"/>
            <p:cNvSpPr txBox="true"/>
            <p:nvPr/>
          </p:nvSpPr>
          <p:spPr>
            <a:xfrm>
              <a:off x="0" y="-47625"/>
              <a:ext cx="332994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IF / THEN</a:t>
              </a:r>
            </a:p>
          </p:txBody>
        </p:sp>
      </p:grpSp>
      <p:sp>
        <p:nvSpPr>
          <p:cNvPr name="TextBox 25" id="25"/>
          <p:cNvSpPr txBox="true"/>
          <p:nvPr/>
        </p:nvSpPr>
        <p:spPr>
          <a:xfrm rot="0">
            <a:off x="10266503" y="4770406"/>
            <a:ext cx="3477365" cy="466725"/>
          </a:xfrm>
          <a:prstGeom prst="rect">
            <a:avLst/>
          </a:prstGeom>
        </p:spPr>
        <p:txBody>
          <a:bodyPr anchor="t" rtlCol="false" tIns="0" lIns="0" bIns="0" rIns="0">
            <a:spAutoFit/>
          </a:bodyPr>
          <a:lstStyle/>
          <a:p>
            <a:pPr algn="l">
              <a:lnSpc>
                <a:spcPts val="3241"/>
              </a:lnSpc>
            </a:pPr>
            <a:r>
              <a:rPr lang="en-US" sz="2700" b="true">
                <a:solidFill>
                  <a:srgbClr val="FFFFFF"/>
                </a:solidFill>
                <a:latin typeface="Calibri (MS) Bold"/>
                <a:ea typeface="Calibri (MS) Bold"/>
                <a:cs typeface="Calibri (MS) Bold"/>
                <a:sym typeface="Calibri (MS) Bold"/>
              </a:rPr>
              <a:t>Workflow Automation</a:t>
            </a:r>
          </a:p>
        </p:txBody>
      </p:sp>
      <p:sp>
        <p:nvSpPr>
          <p:cNvPr name="TextBox 26" id="26"/>
          <p:cNvSpPr txBox="true"/>
          <p:nvPr/>
        </p:nvSpPr>
        <p:spPr>
          <a:xfrm rot="0">
            <a:off x="10229222" y="5328571"/>
            <a:ext cx="3153966" cy="3505200"/>
          </a:xfrm>
          <a:prstGeom prst="rect">
            <a:avLst/>
          </a:prstGeom>
        </p:spPr>
        <p:txBody>
          <a:bodyPr anchor="t" rtlCol="false" tIns="0" lIns="0" bIns="0" rIns="0">
            <a:spAutoFit/>
          </a:bodyPr>
          <a:lstStyle/>
          <a:p>
            <a:pPr algn="l">
              <a:lnSpc>
                <a:spcPts val="2520"/>
              </a:lnSpc>
            </a:pPr>
            <a:r>
              <a:rPr lang="en-US" sz="2100">
                <a:solidFill>
                  <a:srgbClr val="A8D4FF"/>
                </a:solidFill>
                <a:latin typeface="Calibri (MS)"/>
                <a:ea typeface="Calibri (MS)"/>
                <a:cs typeface="Calibri (MS)"/>
                <a:sym typeface="Calibri (MS)"/>
              </a:rPr>
              <a:t>What it does</a:t>
            </a:r>
          </a:p>
          <a:p>
            <a:pPr algn="l">
              <a:lnSpc>
                <a:spcPts val="2520"/>
              </a:lnSpc>
            </a:pPr>
            <a:r>
              <a:rPr lang="en-US" sz="2100">
                <a:solidFill>
                  <a:srgbClr val="FFFFFF"/>
                </a:solidFill>
                <a:latin typeface="Calibri (MS)"/>
                <a:ea typeface="Calibri (MS)"/>
                <a:cs typeface="Calibri (MS)"/>
                <a:sym typeface="Calibri (MS)"/>
              </a:rPr>
              <a:t>When an event fires fixed if/then rules. No Judgement.</a:t>
            </a:r>
          </a:p>
          <a:p>
            <a:pPr algn="l">
              <a:lnSpc>
                <a:spcPts val="2520"/>
              </a:lnSpc>
            </a:pPr>
          </a:p>
          <a:p>
            <a:pPr algn="l">
              <a:lnSpc>
                <a:spcPts val="2520"/>
              </a:lnSpc>
            </a:pPr>
            <a:r>
              <a:rPr lang="en-US" sz="2100">
                <a:solidFill>
                  <a:srgbClr val="A8D4FF"/>
                </a:solidFill>
                <a:latin typeface="Calibri (MS)"/>
                <a:ea typeface="Calibri (MS)"/>
                <a:cs typeface="Calibri (MS)"/>
                <a:sym typeface="Calibri (MS)"/>
              </a:rPr>
              <a:t>Use it when</a:t>
            </a:r>
          </a:p>
          <a:p>
            <a:pPr algn="l">
              <a:lnSpc>
                <a:spcPts val="2520"/>
              </a:lnSpc>
            </a:pPr>
            <a:r>
              <a:rPr lang="en-US" sz="2100">
                <a:solidFill>
                  <a:srgbClr val="FFFFFF"/>
                </a:solidFill>
                <a:latin typeface="Calibri (MS)"/>
                <a:ea typeface="Calibri (MS)"/>
                <a:cs typeface="Calibri (MS)"/>
                <a:sym typeface="Calibri (MS)"/>
              </a:rPr>
              <a:t>The decision fits a simple rule.</a:t>
            </a:r>
          </a:p>
          <a:p>
            <a:pPr algn="l">
              <a:lnSpc>
                <a:spcPts val="2520"/>
              </a:lnSpc>
            </a:pPr>
          </a:p>
          <a:p>
            <a:pPr algn="l">
              <a:lnSpc>
                <a:spcPts val="2520"/>
              </a:lnSpc>
            </a:pPr>
            <a:r>
              <a:rPr lang="en-US" sz="2100">
                <a:solidFill>
                  <a:srgbClr val="A8D4FF"/>
                </a:solidFill>
                <a:latin typeface="Calibri (MS)"/>
                <a:ea typeface="Calibri (MS)"/>
                <a:cs typeface="Calibri (MS)"/>
                <a:sym typeface="Calibri (MS)"/>
              </a:rPr>
              <a:t>Example:</a:t>
            </a:r>
          </a:p>
          <a:p>
            <a:pPr algn="l">
              <a:lnSpc>
                <a:spcPts val="2520"/>
              </a:lnSpc>
            </a:pPr>
            <a:r>
              <a:rPr lang="en-US" sz="2100">
                <a:solidFill>
                  <a:srgbClr val="FFFFFF"/>
                </a:solidFill>
                <a:latin typeface="Calibri (MS)"/>
                <a:ea typeface="Calibri (MS)"/>
                <a:cs typeface="Calibri (MS)"/>
                <a:sym typeface="Calibri (MS)"/>
              </a:rPr>
              <a:t>Form submitted → add a row → Slack ping</a:t>
            </a:r>
          </a:p>
        </p:txBody>
      </p:sp>
      <p:grpSp>
        <p:nvGrpSpPr>
          <p:cNvPr name="Group 27" id="27"/>
          <p:cNvGrpSpPr/>
          <p:nvPr/>
        </p:nvGrpSpPr>
        <p:grpSpPr>
          <a:xfrm rot="0">
            <a:off x="5560573" y="3373089"/>
            <a:ext cx="3879342" cy="5762620"/>
            <a:chOff x="0" y="0"/>
            <a:chExt cx="5172456" cy="7683494"/>
          </a:xfrm>
        </p:grpSpPr>
        <p:sp>
          <p:nvSpPr>
            <p:cNvPr name="Freeform 28" id="28"/>
            <p:cNvSpPr/>
            <p:nvPr/>
          </p:nvSpPr>
          <p:spPr>
            <a:xfrm flipH="false" flipV="false" rot="0">
              <a:off x="0" y="0"/>
              <a:ext cx="5172456" cy="7683494"/>
            </a:xfrm>
            <a:custGeom>
              <a:avLst/>
              <a:gdLst/>
              <a:ahLst/>
              <a:cxnLst/>
              <a:rect r="r" b="b" t="t" l="l"/>
              <a:pathLst>
                <a:path h="7683494" w="5172456">
                  <a:moveTo>
                    <a:pt x="0" y="284012"/>
                  </a:moveTo>
                  <a:cubicBezTo>
                    <a:pt x="0" y="127079"/>
                    <a:pt x="98933" y="0"/>
                    <a:pt x="221107" y="0"/>
                  </a:cubicBezTo>
                  <a:lnTo>
                    <a:pt x="4951349" y="0"/>
                  </a:lnTo>
                  <a:cubicBezTo>
                    <a:pt x="5073396" y="0"/>
                    <a:pt x="5172456" y="127079"/>
                    <a:pt x="5172456" y="284012"/>
                  </a:cubicBezTo>
                  <a:lnTo>
                    <a:pt x="5172456" y="7399482"/>
                  </a:lnTo>
                  <a:cubicBezTo>
                    <a:pt x="5172456" y="7556251"/>
                    <a:pt x="5073523" y="7683494"/>
                    <a:pt x="4951349" y="7683494"/>
                  </a:cubicBezTo>
                  <a:lnTo>
                    <a:pt x="221107" y="7683494"/>
                  </a:lnTo>
                  <a:cubicBezTo>
                    <a:pt x="98933" y="7683494"/>
                    <a:pt x="0" y="7556415"/>
                    <a:pt x="0" y="7399482"/>
                  </a:cubicBezTo>
                  <a:close/>
                </a:path>
              </a:pathLst>
            </a:custGeom>
            <a:solidFill>
              <a:srgbClr val="0D417C"/>
            </a:solidFill>
            <a:ln w="28575" cap="sq">
              <a:solidFill>
                <a:srgbClr val="F1F3F8"/>
              </a:solidFill>
              <a:prstDash val="solid"/>
              <a:miter/>
            </a:ln>
          </p:spPr>
        </p:sp>
      </p:grpSp>
      <p:grpSp>
        <p:nvGrpSpPr>
          <p:cNvPr name="Group 29" id="29"/>
          <p:cNvGrpSpPr/>
          <p:nvPr/>
        </p:nvGrpSpPr>
        <p:grpSpPr>
          <a:xfrm rot="0">
            <a:off x="5997825" y="3784569"/>
            <a:ext cx="2497455" cy="645795"/>
            <a:chOff x="0" y="0"/>
            <a:chExt cx="3329940" cy="861060"/>
          </a:xfrm>
        </p:grpSpPr>
        <p:sp>
          <p:nvSpPr>
            <p:cNvPr name="Freeform 30" id="30"/>
            <p:cNvSpPr/>
            <p:nvPr/>
          </p:nvSpPr>
          <p:spPr>
            <a:xfrm flipH="false" flipV="false" rot="0">
              <a:off x="0" y="0"/>
              <a:ext cx="3329940" cy="861187"/>
            </a:xfrm>
            <a:custGeom>
              <a:avLst/>
              <a:gdLst/>
              <a:ahLst/>
              <a:cxnLst/>
              <a:rect r="r" b="b" t="t" l="l"/>
              <a:pathLst>
                <a:path h="861187" w="3329940">
                  <a:moveTo>
                    <a:pt x="0" y="421005"/>
                  </a:moveTo>
                  <a:cubicBezTo>
                    <a:pt x="0" y="188468"/>
                    <a:pt x="188468" y="0"/>
                    <a:pt x="421005" y="0"/>
                  </a:cubicBezTo>
                  <a:lnTo>
                    <a:pt x="2908935" y="0"/>
                  </a:lnTo>
                  <a:cubicBezTo>
                    <a:pt x="3141472" y="0"/>
                    <a:pt x="3329940" y="188468"/>
                    <a:pt x="3329940" y="421005"/>
                  </a:cubicBezTo>
                  <a:lnTo>
                    <a:pt x="3329940" y="440182"/>
                  </a:lnTo>
                  <a:cubicBezTo>
                    <a:pt x="3329940" y="672719"/>
                    <a:pt x="3141472" y="861187"/>
                    <a:pt x="2908935" y="861187"/>
                  </a:cubicBezTo>
                  <a:lnTo>
                    <a:pt x="421005" y="861187"/>
                  </a:lnTo>
                  <a:cubicBezTo>
                    <a:pt x="188468" y="861060"/>
                    <a:pt x="0" y="672592"/>
                    <a:pt x="0" y="440055"/>
                  </a:cubicBezTo>
                  <a:close/>
                </a:path>
              </a:pathLst>
            </a:custGeom>
            <a:solidFill>
              <a:srgbClr val="0D417C"/>
            </a:solidFill>
            <a:ln w="28575" cap="sq">
              <a:solidFill>
                <a:srgbClr val="8D99AE"/>
              </a:solidFill>
              <a:prstDash val="solid"/>
              <a:miter/>
            </a:ln>
          </p:spPr>
        </p:sp>
        <p:sp>
          <p:nvSpPr>
            <p:cNvPr name="TextBox 31" id="31"/>
            <p:cNvSpPr txBox="true"/>
            <p:nvPr/>
          </p:nvSpPr>
          <p:spPr>
            <a:xfrm>
              <a:off x="0" y="-47625"/>
              <a:ext cx="332994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FIXED PATH</a:t>
              </a:r>
            </a:p>
          </p:txBody>
        </p:sp>
      </p:grpSp>
      <p:sp>
        <p:nvSpPr>
          <p:cNvPr name="TextBox 32" id="32"/>
          <p:cNvSpPr txBox="true"/>
          <p:nvPr/>
        </p:nvSpPr>
        <p:spPr>
          <a:xfrm rot="0">
            <a:off x="5923261" y="4770406"/>
            <a:ext cx="1731002" cy="466725"/>
          </a:xfrm>
          <a:prstGeom prst="rect">
            <a:avLst/>
          </a:prstGeom>
        </p:spPr>
        <p:txBody>
          <a:bodyPr anchor="t" rtlCol="false" tIns="0" lIns="0" bIns="0" rIns="0">
            <a:spAutoFit/>
          </a:bodyPr>
          <a:lstStyle/>
          <a:p>
            <a:pPr algn="l">
              <a:lnSpc>
                <a:spcPts val="3241"/>
              </a:lnSpc>
            </a:pPr>
            <a:r>
              <a:rPr lang="en-US" sz="2700" b="true">
                <a:solidFill>
                  <a:srgbClr val="FFFFFF"/>
                </a:solidFill>
                <a:latin typeface="Calibri (MS) Bold"/>
                <a:ea typeface="Calibri (MS) Bold"/>
                <a:cs typeface="Calibri (MS) Bold"/>
                <a:sym typeface="Calibri (MS) Bold"/>
              </a:rPr>
              <a:t>Pipeline</a:t>
            </a:r>
          </a:p>
        </p:txBody>
      </p:sp>
      <p:sp>
        <p:nvSpPr>
          <p:cNvPr name="TextBox 33" id="33"/>
          <p:cNvSpPr txBox="true"/>
          <p:nvPr/>
        </p:nvSpPr>
        <p:spPr>
          <a:xfrm rot="0">
            <a:off x="5923261" y="5328571"/>
            <a:ext cx="3153966" cy="3505200"/>
          </a:xfrm>
          <a:prstGeom prst="rect">
            <a:avLst/>
          </a:prstGeom>
        </p:spPr>
        <p:txBody>
          <a:bodyPr anchor="t" rtlCol="false" tIns="0" lIns="0" bIns="0" rIns="0">
            <a:spAutoFit/>
          </a:bodyPr>
          <a:lstStyle/>
          <a:p>
            <a:pPr algn="l">
              <a:lnSpc>
                <a:spcPts val="2520"/>
              </a:lnSpc>
            </a:pPr>
            <a:r>
              <a:rPr lang="en-US" sz="2100">
                <a:solidFill>
                  <a:srgbClr val="A8D4FF"/>
                </a:solidFill>
                <a:latin typeface="Calibri (MS)"/>
                <a:ea typeface="Calibri (MS)"/>
                <a:cs typeface="Calibri (MS)"/>
                <a:sym typeface="Calibri (MS)"/>
              </a:rPr>
              <a:t>What it does</a:t>
            </a:r>
          </a:p>
          <a:p>
            <a:pPr algn="l">
              <a:lnSpc>
                <a:spcPts val="2520"/>
              </a:lnSpc>
            </a:pPr>
            <a:r>
              <a:rPr lang="en-US" sz="2100">
                <a:solidFill>
                  <a:srgbClr val="FFFFFF"/>
                </a:solidFill>
                <a:latin typeface="Calibri (MS)"/>
                <a:ea typeface="Calibri (MS)"/>
                <a:cs typeface="Calibri (MS)"/>
                <a:sym typeface="Calibri (MS)"/>
              </a:rPr>
              <a:t>Same steps, same order, every time.</a:t>
            </a:r>
          </a:p>
          <a:p>
            <a:pPr algn="l">
              <a:lnSpc>
                <a:spcPts val="2520"/>
              </a:lnSpc>
            </a:pPr>
          </a:p>
          <a:p>
            <a:pPr algn="l">
              <a:lnSpc>
                <a:spcPts val="2520"/>
              </a:lnSpc>
            </a:pPr>
            <a:r>
              <a:rPr lang="en-US" sz="2100">
                <a:solidFill>
                  <a:srgbClr val="A8D4FF"/>
                </a:solidFill>
                <a:latin typeface="Calibri (MS)"/>
                <a:ea typeface="Calibri (MS)"/>
                <a:cs typeface="Calibri (MS)"/>
                <a:sym typeface="Calibri (MS)"/>
              </a:rPr>
              <a:t>Use it when</a:t>
            </a:r>
          </a:p>
          <a:p>
            <a:pPr algn="l">
              <a:lnSpc>
                <a:spcPts val="2520"/>
              </a:lnSpc>
            </a:pPr>
            <a:r>
              <a:rPr lang="en-US" sz="2100">
                <a:solidFill>
                  <a:srgbClr val="FFFFFF"/>
                </a:solidFill>
                <a:latin typeface="Calibri (MS)"/>
                <a:ea typeface="Calibri (MS)"/>
                <a:cs typeface="Calibri (MS)"/>
                <a:sym typeface="Calibri (MS)"/>
              </a:rPr>
              <a:t>Inputs are predictable and the steps never change.</a:t>
            </a:r>
          </a:p>
          <a:p>
            <a:pPr algn="l">
              <a:lnSpc>
                <a:spcPts val="2520"/>
              </a:lnSpc>
            </a:pPr>
          </a:p>
          <a:p>
            <a:pPr algn="l">
              <a:lnSpc>
                <a:spcPts val="2520"/>
              </a:lnSpc>
            </a:pPr>
            <a:r>
              <a:rPr lang="en-US" sz="2100">
                <a:solidFill>
                  <a:srgbClr val="A8D4FF"/>
                </a:solidFill>
                <a:latin typeface="Calibri (MS)"/>
                <a:ea typeface="Calibri (MS)"/>
                <a:cs typeface="Calibri (MS)"/>
                <a:sym typeface="Calibri (MS)"/>
              </a:rPr>
              <a:t>Example:</a:t>
            </a:r>
          </a:p>
          <a:p>
            <a:pPr algn="l">
              <a:lnSpc>
                <a:spcPts val="2520"/>
              </a:lnSpc>
            </a:pPr>
            <a:r>
              <a:rPr lang="en-US" sz="2100">
                <a:solidFill>
                  <a:srgbClr val="FFFFFF"/>
                </a:solidFill>
                <a:latin typeface="Calibri (MS)"/>
                <a:ea typeface="Calibri (MS)"/>
                <a:cs typeface="Calibri (MS)"/>
                <a:sym typeface="Calibri (MS)"/>
              </a:rPr>
              <a:t>Nightly job: pull data → clean → email report</a:t>
            </a:r>
          </a:p>
        </p:txBody>
      </p:sp>
      <p:sp>
        <p:nvSpPr>
          <p:cNvPr name="TextBox 34" id="34"/>
          <p:cNvSpPr txBox="true"/>
          <p:nvPr/>
        </p:nvSpPr>
        <p:spPr>
          <a:xfrm rot="0">
            <a:off x="1028700" y="9488134"/>
            <a:ext cx="12086987" cy="390525"/>
          </a:xfrm>
          <a:prstGeom prst="rect">
            <a:avLst/>
          </a:prstGeom>
        </p:spPr>
        <p:txBody>
          <a:bodyPr anchor="t" rtlCol="false" tIns="0" lIns="0" bIns="0" rIns="0">
            <a:spAutoFit/>
          </a:bodyPr>
          <a:lstStyle/>
          <a:p>
            <a:pPr algn="ctr">
              <a:lnSpc>
                <a:spcPts val="2760"/>
              </a:lnSpc>
              <a:spcBef>
                <a:spcPct val="0"/>
              </a:spcBef>
            </a:pPr>
            <a:r>
              <a:rPr lang="en-US" b="true" sz="2300">
                <a:solidFill>
                  <a:srgbClr val="FFFFFF"/>
                </a:solidFill>
                <a:latin typeface="Calibri (MS) Bold"/>
                <a:ea typeface="Calibri (MS) Bold"/>
                <a:cs typeface="Calibri (MS) Bold"/>
                <a:sym typeface="Calibri (MS) Bold"/>
              </a:rPr>
              <a:t>Rule of thumb: </a:t>
            </a:r>
            <a:r>
              <a:rPr lang="en-US" sz="2300">
                <a:solidFill>
                  <a:srgbClr val="FFFFFF"/>
                </a:solidFill>
                <a:latin typeface="Calibri (MS)"/>
                <a:ea typeface="Calibri (MS)"/>
                <a:cs typeface="Calibri (MS)"/>
                <a:sym typeface="Calibri (MS)"/>
              </a:rPr>
              <a:t>Pick the simplest onesthat works. Move right only when the rules can’t read the input.</a:t>
            </a:r>
          </a:p>
        </p:txBody>
      </p:sp>
    </p:spTree>
  </p:cSld>
  <p:clrMapOvr>
    <a:masterClrMapping/>
  </p:clrMapOvr>
</p:sld>
</file>

<file path=ppt/slides/slide16.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825246" y="3774079"/>
            <a:ext cx="6309360" cy="2554605"/>
          </a:xfrm>
          <a:prstGeom prst="rect">
            <a:avLst/>
          </a:prstGeom>
        </p:spPr>
        <p:txBody>
          <a:bodyPr anchor="t" rtlCol="false" tIns="0" lIns="0" bIns="0" rIns="0">
            <a:spAutoFit/>
          </a:bodyPr>
          <a:lstStyle/>
          <a:p>
            <a:pPr algn="l">
              <a:lnSpc>
                <a:spcPts val="5759"/>
              </a:lnSpc>
            </a:pPr>
            <a:r>
              <a:rPr lang="en-US" b="true" sz="4800">
                <a:solidFill>
                  <a:srgbClr val="FFFFFF"/>
                </a:solidFill>
                <a:latin typeface="Calibri (MS) Bold"/>
                <a:ea typeface="Calibri (MS) Bold"/>
                <a:cs typeface="Calibri (MS) Bold"/>
                <a:sym typeface="Calibri (MS) Bold"/>
              </a:rPr>
              <a:t>An agent is an LLM given agency.</a:t>
            </a:r>
          </a:p>
        </p:txBody>
      </p:sp>
      <p:sp>
        <p:nvSpPr>
          <p:cNvPr name="TextBox 3" id="3"/>
          <p:cNvSpPr txBox="true"/>
          <p:nvPr/>
        </p:nvSpPr>
        <p:spPr>
          <a:xfrm rot="0">
            <a:off x="825246" y="6477274"/>
            <a:ext cx="6035040" cy="1840230"/>
          </a:xfrm>
          <a:prstGeom prst="rect">
            <a:avLst/>
          </a:prstGeom>
        </p:spPr>
        <p:txBody>
          <a:bodyPr anchor="t" rtlCol="false" tIns="0" lIns="0" bIns="0" rIns="0">
            <a:spAutoFit/>
          </a:bodyPr>
          <a:lstStyle/>
          <a:p>
            <a:pPr algn="l">
              <a:lnSpc>
                <a:spcPts val="3240"/>
              </a:lnSpc>
            </a:pPr>
            <a:r>
              <a:rPr lang="en-US" sz="2700">
                <a:solidFill>
                  <a:srgbClr val="FFFFFF"/>
                </a:solidFill>
                <a:latin typeface="Calibri (MS)"/>
                <a:ea typeface="Calibri (MS)"/>
                <a:cs typeface="Calibri (MS)"/>
                <a:sym typeface="Calibri (MS)"/>
              </a:rPr>
              <a:t>Instead of an answer for you, the LLM makes a decision for the system.</a:t>
            </a:r>
          </a:p>
        </p:txBody>
      </p:sp>
      <p:sp>
        <p:nvSpPr>
          <p:cNvPr name="TextBox 4" id="4"/>
          <p:cNvSpPr txBox="true"/>
          <p:nvPr/>
        </p:nvSpPr>
        <p:spPr>
          <a:xfrm rot="0">
            <a:off x="8231886" y="3675019"/>
            <a:ext cx="4114800" cy="527685"/>
          </a:xfrm>
          <a:prstGeom prst="rect">
            <a:avLst/>
          </a:prstGeom>
        </p:spPr>
        <p:txBody>
          <a:bodyPr anchor="t" rtlCol="false" tIns="0" lIns="0" bIns="0" rIns="0">
            <a:spAutoFit/>
          </a:bodyPr>
          <a:lstStyle/>
          <a:p>
            <a:pPr algn="l">
              <a:lnSpc>
                <a:spcPts val="2520"/>
              </a:lnSpc>
            </a:pPr>
            <a:r>
              <a:rPr lang="en-US" b="true" sz="2100" spc="150">
                <a:solidFill>
                  <a:srgbClr val="FFFFFF"/>
                </a:solidFill>
                <a:latin typeface="Calibri (MS) Bold"/>
                <a:ea typeface="Calibri (MS) Bold"/>
                <a:cs typeface="Calibri (MS) Bold"/>
                <a:sym typeface="Calibri (MS) Bold"/>
              </a:rPr>
              <a:t>PLAIN LLM</a:t>
            </a:r>
          </a:p>
        </p:txBody>
      </p:sp>
      <p:grpSp>
        <p:nvGrpSpPr>
          <p:cNvPr name="Group 5" id="5"/>
          <p:cNvGrpSpPr/>
          <p:nvPr/>
        </p:nvGrpSpPr>
        <p:grpSpPr>
          <a:xfrm rot="0">
            <a:off x="8217599" y="4325576"/>
            <a:ext cx="2360295" cy="1125855"/>
            <a:chOff x="0" y="0"/>
            <a:chExt cx="3147060" cy="1501140"/>
          </a:xfrm>
        </p:grpSpPr>
        <p:sp>
          <p:nvSpPr>
            <p:cNvPr name="Freeform 6" id="6"/>
            <p:cNvSpPr/>
            <p:nvPr/>
          </p:nvSpPr>
          <p:spPr>
            <a:xfrm flipH="false" flipV="false" rot="0">
              <a:off x="0" y="0"/>
              <a:ext cx="3147060" cy="1501140"/>
            </a:xfrm>
            <a:custGeom>
              <a:avLst/>
              <a:gdLst/>
              <a:ahLst/>
              <a:cxnLst/>
              <a:rect r="r" b="b" t="t" l="l"/>
              <a:pathLst>
                <a:path h="1501140" w="3147060">
                  <a:moveTo>
                    <a:pt x="0" y="225171"/>
                  </a:moveTo>
                  <a:cubicBezTo>
                    <a:pt x="0" y="100838"/>
                    <a:pt x="100838" y="0"/>
                    <a:pt x="225171" y="0"/>
                  </a:cubicBezTo>
                  <a:lnTo>
                    <a:pt x="2921889" y="0"/>
                  </a:lnTo>
                  <a:cubicBezTo>
                    <a:pt x="3046222" y="0"/>
                    <a:pt x="3147060" y="100838"/>
                    <a:pt x="3147060" y="225171"/>
                  </a:cubicBezTo>
                  <a:lnTo>
                    <a:pt x="3147060" y="1275969"/>
                  </a:lnTo>
                  <a:cubicBezTo>
                    <a:pt x="3147060" y="1400302"/>
                    <a:pt x="3046222" y="1501140"/>
                    <a:pt x="2921889" y="1501140"/>
                  </a:cubicBezTo>
                  <a:lnTo>
                    <a:pt x="225171" y="1501140"/>
                  </a:lnTo>
                  <a:cubicBezTo>
                    <a:pt x="100838" y="1501140"/>
                    <a:pt x="0" y="1400302"/>
                    <a:pt x="0" y="1275969"/>
                  </a:cubicBezTo>
                  <a:close/>
                </a:path>
              </a:pathLst>
            </a:custGeom>
            <a:solidFill>
              <a:srgbClr val="0493FB"/>
            </a:solidFill>
            <a:ln w="28575" cap="sq">
              <a:solidFill>
                <a:srgbClr val="0D417C"/>
              </a:solidFill>
              <a:prstDash val="solid"/>
              <a:miter/>
            </a:ln>
          </p:spPr>
        </p:sp>
        <p:sp>
          <p:nvSpPr>
            <p:cNvPr name="TextBox 7" id="7"/>
            <p:cNvSpPr txBox="true"/>
            <p:nvPr/>
          </p:nvSpPr>
          <p:spPr>
            <a:xfrm>
              <a:off x="0" y="-57150"/>
              <a:ext cx="3147060" cy="155829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LLM</a:t>
              </a:r>
            </a:p>
          </p:txBody>
        </p:sp>
      </p:grpSp>
      <p:sp>
        <p:nvSpPr>
          <p:cNvPr name="AutoShape 8" id="8"/>
          <p:cNvSpPr/>
          <p:nvPr/>
        </p:nvSpPr>
        <p:spPr>
          <a:xfrm flipV="true">
            <a:off x="10681719" y="4869451"/>
            <a:ext cx="2233285" cy="0"/>
          </a:xfrm>
          <a:prstGeom prst="line">
            <a:avLst/>
          </a:prstGeom>
          <a:ln cap="rnd" w="19050">
            <a:solidFill>
              <a:srgbClr val="8D99AE"/>
            </a:solidFill>
            <a:prstDash val="solid"/>
            <a:headEnd type="none" len="sm" w="sm"/>
            <a:tailEnd type="triangle" len="med" w="lg"/>
          </a:ln>
        </p:spPr>
      </p:sp>
      <p:sp>
        <p:nvSpPr>
          <p:cNvPr name="TextBox 9" id="9"/>
          <p:cNvSpPr txBox="true"/>
          <p:nvPr/>
        </p:nvSpPr>
        <p:spPr>
          <a:xfrm rot="0">
            <a:off x="10700766" y="4223659"/>
            <a:ext cx="2194560" cy="527685"/>
          </a:xfrm>
          <a:prstGeom prst="rect">
            <a:avLst/>
          </a:prstGeom>
        </p:spPr>
        <p:txBody>
          <a:bodyPr anchor="t" rtlCol="false" tIns="0" lIns="0" bIns="0" rIns="0">
            <a:spAutoFit/>
          </a:bodyPr>
          <a:lstStyle/>
          <a:p>
            <a:pPr algn="ctr">
              <a:lnSpc>
                <a:spcPts val="2520"/>
              </a:lnSpc>
            </a:pPr>
            <a:r>
              <a:rPr lang="en-US" sz="2100" i="true">
                <a:solidFill>
                  <a:srgbClr val="FFFFFF"/>
                </a:solidFill>
                <a:latin typeface="Calibri (MS) Italics"/>
                <a:ea typeface="Calibri (MS) Italics"/>
                <a:cs typeface="Calibri (MS) Italics"/>
                <a:sym typeface="Calibri (MS) Italics"/>
              </a:rPr>
              <a:t>answer</a:t>
            </a:r>
          </a:p>
        </p:txBody>
      </p:sp>
      <p:grpSp>
        <p:nvGrpSpPr>
          <p:cNvPr name="Group 10" id="10"/>
          <p:cNvGrpSpPr/>
          <p:nvPr/>
        </p:nvGrpSpPr>
        <p:grpSpPr>
          <a:xfrm rot="0">
            <a:off x="13018198" y="4325576"/>
            <a:ext cx="2771775" cy="1125855"/>
            <a:chOff x="0" y="0"/>
            <a:chExt cx="3695700" cy="1501140"/>
          </a:xfrm>
        </p:grpSpPr>
        <p:sp>
          <p:nvSpPr>
            <p:cNvPr name="Freeform 11" id="11"/>
            <p:cNvSpPr/>
            <p:nvPr/>
          </p:nvSpPr>
          <p:spPr>
            <a:xfrm flipH="false" flipV="false" rot="0">
              <a:off x="0" y="0"/>
              <a:ext cx="3695700" cy="1501140"/>
            </a:xfrm>
            <a:custGeom>
              <a:avLst/>
              <a:gdLst/>
              <a:ahLst/>
              <a:cxnLst/>
              <a:rect r="r" b="b" t="t" l="l"/>
              <a:pathLst>
                <a:path h="1501140" w="3695700">
                  <a:moveTo>
                    <a:pt x="0" y="225171"/>
                  </a:moveTo>
                  <a:cubicBezTo>
                    <a:pt x="0" y="100838"/>
                    <a:pt x="100838" y="0"/>
                    <a:pt x="225171" y="0"/>
                  </a:cubicBezTo>
                  <a:lnTo>
                    <a:pt x="3470529" y="0"/>
                  </a:lnTo>
                  <a:cubicBezTo>
                    <a:pt x="3594862" y="0"/>
                    <a:pt x="3695700" y="100838"/>
                    <a:pt x="3695700" y="225171"/>
                  </a:cubicBezTo>
                  <a:lnTo>
                    <a:pt x="3695700" y="1275969"/>
                  </a:lnTo>
                  <a:cubicBezTo>
                    <a:pt x="3695700" y="1400302"/>
                    <a:pt x="3594862" y="1501140"/>
                    <a:pt x="3470529" y="1501140"/>
                  </a:cubicBezTo>
                  <a:lnTo>
                    <a:pt x="225171" y="1501140"/>
                  </a:lnTo>
                  <a:cubicBezTo>
                    <a:pt x="100838" y="1501140"/>
                    <a:pt x="0" y="1400302"/>
                    <a:pt x="0" y="1275969"/>
                  </a:cubicBezTo>
                  <a:close/>
                </a:path>
              </a:pathLst>
            </a:custGeom>
            <a:solidFill>
              <a:srgbClr val="F1F3F8"/>
            </a:solidFill>
            <a:ln w="28575" cap="sq">
              <a:solidFill>
                <a:srgbClr val="F1F3F8"/>
              </a:solidFill>
              <a:prstDash val="solid"/>
              <a:miter/>
            </a:ln>
          </p:spPr>
        </p:sp>
        <p:sp>
          <p:nvSpPr>
            <p:cNvPr name="TextBox 12" id="12"/>
            <p:cNvSpPr txBox="true"/>
            <p:nvPr/>
          </p:nvSpPr>
          <p:spPr>
            <a:xfrm>
              <a:off x="0" y="-57150"/>
              <a:ext cx="3695700" cy="1558290"/>
            </a:xfrm>
            <a:prstGeom prst="rect">
              <a:avLst/>
            </a:prstGeom>
          </p:spPr>
          <p:txBody>
            <a:bodyPr anchor="ctr" rtlCol="false" tIns="50800" lIns="50800" bIns="50800" rIns="50800"/>
            <a:lstStyle/>
            <a:p>
              <a:pPr algn="ctr">
                <a:lnSpc>
                  <a:spcPts val="3240"/>
                </a:lnSpc>
              </a:pPr>
              <a:r>
                <a:rPr lang="en-US" sz="2700">
                  <a:solidFill>
                    <a:srgbClr val="1B1F3B"/>
                  </a:solidFill>
                  <a:latin typeface="Calibri (MS)"/>
                  <a:ea typeface="Calibri (MS)"/>
                  <a:cs typeface="Calibri (MS)"/>
                  <a:sym typeface="Calibri (MS)"/>
                </a:rPr>
                <a:t>You</a:t>
              </a:r>
            </a:p>
          </p:txBody>
        </p:sp>
      </p:grpSp>
      <p:sp>
        <p:nvSpPr>
          <p:cNvPr name="TextBox 13" id="13"/>
          <p:cNvSpPr txBox="true"/>
          <p:nvPr/>
        </p:nvSpPr>
        <p:spPr>
          <a:xfrm rot="0">
            <a:off x="8231886" y="5938159"/>
            <a:ext cx="4114800" cy="527685"/>
          </a:xfrm>
          <a:prstGeom prst="rect">
            <a:avLst/>
          </a:prstGeom>
        </p:spPr>
        <p:txBody>
          <a:bodyPr anchor="t" rtlCol="false" tIns="0" lIns="0" bIns="0" rIns="0">
            <a:spAutoFit/>
          </a:bodyPr>
          <a:lstStyle/>
          <a:p>
            <a:pPr algn="l">
              <a:lnSpc>
                <a:spcPts val="2520"/>
              </a:lnSpc>
            </a:pPr>
            <a:r>
              <a:rPr lang="en-US" b="true" sz="2100" spc="150">
                <a:solidFill>
                  <a:srgbClr val="FFFFFF"/>
                </a:solidFill>
                <a:latin typeface="Calibri (MS) Bold"/>
                <a:ea typeface="Calibri (MS) Bold"/>
                <a:cs typeface="Calibri (MS) Bold"/>
                <a:sym typeface="Calibri (MS) Bold"/>
              </a:rPr>
              <a:t>AGENT</a:t>
            </a:r>
          </a:p>
        </p:txBody>
      </p:sp>
      <p:grpSp>
        <p:nvGrpSpPr>
          <p:cNvPr name="Group 14" id="14"/>
          <p:cNvGrpSpPr/>
          <p:nvPr/>
        </p:nvGrpSpPr>
        <p:grpSpPr>
          <a:xfrm rot="0">
            <a:off x="8217599" y="6588716"/>
            <a:ext cx="2360295" cy="1125855"/>
            <a:chOff x="0" y="0"/>
            <a:chExt cx="3147060" cy="1501140"/>
          </a:xfrm>
        </p:grpSpPr>
        <p:sp>
          <p:nvSpPr>
            <p:cNvPr name="Freeform 15" id="15"/>
            <p:cNvSpPr/>
            <p:nvPr/>
          </p:nvSpPr>
          <p:spPr>
            <a:xfrm flipH="false" flipV="false" rot="0">
              <a:off x="0" y="0"/>
              <a:ext cx="3147060" cy="1501140"/>
            </a:xfrm>
            <a:custGeom>
              <a:avLst/>
              <a:gdLst/>
              <a:ahLst/>
              <a:cxnLst/>
              <a:rect r="r" b="b" t="t" l="l"/>
              <a:pathLst>
                <a:path h="1501140" w="3147060">
                  <a:moveTo>
                    <a:pt x="0" y="225171"/>
                  </a:moveTo>
                  <a:cubicBezTo>
                    <a:pt x="0" y="100838"/>
                    <a:pt x="100838" y="0"/>
                    <a:pt x="225171" y="0"/>
                  </a:cubicBezTo>
                  <a:lnTo>
                    <a:pt x="2921889" y="0"/>
                  </a:lnTo>
                  <a:cubicBezTo>
                    <a:pt x="3046222" y="0"/>
                    <a:pt x="3147060" y="100838"/>
                    <a:pt x="3147060" y="225171"/>
                  </a:cubicBezTo>
                  <a:lnTo>
                    <a:pt x="3147060" y="1275969"/>
                  </a:lnTo>
                  <a:cubicBezTo>
                    <a:pt x="3147060" y="1400302"/>
                    <a:pt x="3046222" y="1501140"/>
                    <a:pt x="2921889" y="1501140"/>
                  </a:cubicBezTo>
                  <a:lnTo>
                    <a:pt x="225171" y="1501140"/>
                  </a:lnTo>
                  <a:cubicBezTo>
                    <a:pt x="100838" y="1501140"/>
                    <a:pt x="0" y="1400302"/>
                    <a:pt x="0" y="1275969"/>
                  </a:cubicBezTo>
                  <a:close/>
                </a:path>
              </a:pathLst>
            </a:custGeom>
            <a:solidFill>
              <a:srgbClr val="0493FB"/>
            </a:solidFill>
            <a:ln w="28575" cap="sq">
              <a:solidFill>
                <a:srgbClr val="0D417C"/>
              </a:solidFill>
              <a:prstDash val="solid"/>
              <a:miter/>
            </a:ln>
          </p:spPr>
        </p:sp>
        <p:sp>
          <p:nvSpPr>
            <p:cNvPr name="TextBox 16" id="16"/>
            <p:cNvSpPr txBox="true"/>
            <p:nvPr/>
          </p:nvSpPr>
          <p:spPr>
            <a:xfrm>
              <a:off x="0" y="-57150"/>
              <a:ext cx="3147060" cy="155829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LLM</a:t>
              </a:r>
            </a:p>
          </p:txBody>
        </p:sp>
      </p:grpSp>
      <p:sp>
        <p:nvSpPr>
          <p:cNvPr name="AutoShape 17" id="17"/>
          <p:cNvSpPr/>
          <p:nvPr/>
        </p:nvSpPr>
        <p:spPr>
          <a:xfrm>
            <a:off x="10681719" y="7132591"/>
            <a:ext cx="2233285" cy="0"/>
          </a:xfrm>
          <a:prstGeom prst="line">
            <a:avLst/>
          </a:prstGeom>
          <a:ln cap="rnd" w="19050">
            <a:solidFill>
              <a:srgbClr val="8D99AE"/>
            </a:solidFill>
            <a:prstDash val="solid"/>
            <a:headEnd type="none" len="sm" w="sm"/>
            <a:tailEnd type="triangle" len="med" w="lg"/>
          </a:ln>
        </p:spPr>
      </p:sp>
      <p:sp>
        <p:nvSpPr>
          <p:cNvPr name="TextBox 18" id="18"/>
          <p:cNvSpPr txBox="true"/>
          <p:nvPr/>
        </p:nvSpPr>
        <p:spPr>
          <a:xfrm rot="0">
            <a:off x="10700766" y="6486799"/>
            <a:ext cx="2194560" cy="527685"/>
          </a:xfrm>
          <a:prstGeom prst="rect">
            <a:avLst/>
          </a:prstGeom>
        </p:spPr>
        <p:txBody>
          <a:bodyPr anchor="t" rtlCol="false" tIns="0" lIns="0" bIns="0" rIns="0">
            <a:spAutoFit/>
          </a:bodyPr>
          <a:lstStyle/>
          <a:p>
            <a:pPr algn="ctr">
              <a:lnSpc>
                <a:spcPts val="2520"/>
              </a:lnSpc>
            </a:pPr>
            <a:r>
              <a:rPr lang="en-US" sz="2100" i="true">
                <a:solidFill>
                  <a:srgbClr val="FFFFFF"/>
                </a:solidFill>
                <a:latin typeface="Calibri (MS) Italics"/>
                <a:ea typeface="Calibri (MS) Italics"/>
                <a:cs typeface="Calibri (MS) Italics"/>
                <a:sym typeface="Calibri (MS) Italics"/>
              </a:rPr>
              <a:t>decision</a:t>
            </a:r>
          </a:p>
        </p:txBody>
      </p:sp>
      <p:grpSp>
        <p:nvGrpSpPr>
          <p:cNvPr name="Group 19" id="19"/>
          <p:cNvGrpSpPr/>
          <p:nvPr/>
        </p:nvGrpSpPr>
        <p:grpSpPr>
          <a:xfrm rot="0">
            <a:off x="13018198" y="6588716"/>
            <a:ext cx="2771775" cy="1125855"/>
            <a:chOff x="0" y="0"/>
            <a:chExt cx="3695700" cy="1501140"/>
          </a:xfrm>
        </p:grpSpPr>
        <p:sp>
          <p:nvSpPr>
            <p:cNvPr name="Freeform 20" id="20"/>
            <p:cNvSpPr/>
            <p:nvPr/>
          </p:nvSpPr>
          <p:spPr>
            <a:xfrm flipH="false" flipV="false" rot="0">
              <a:off x="0" y="0"/>
              <a:ext cx="3695700" cy="1501140"/>
            </a:xfrm>
            <a:custGeom>
              <a:avLst/>
              <a:gdLst/>
              <a:ahLst/>
              <a:cxnLst/>
              <a:rect r="r" b="b" t="t" l="l"/>
              <a:pathLst>
                <a:path h="1501140" w="3695700">
                  <a:moveTo>
                    <a:pt x="0" y="225171"/>
                  </a:moveTo>
                  <a:cubicBezTo>
                    <a:pt x="0" y="100838"/>
                    <a:pt x="100838" y="0"/>
                    <a:pt x="225171" y="0"/>
                  </a:cubicBezTo>
                  <a:lnTo>
                    <a:pt x="3470529" y="0"/>
                  </a:lnTo>
                  <a:cubicBezTo>
                    <a:pt x="3594862" y="0"/>
                    <a:pt x="3695700" y="100838"/>
                    <a:pt x="3695700" y="225171"/>
                  </a:cubicBezTo>
                  <a:lnTo>
                    <a:pt x="3695700" y="1275969"/>
                  </a:lnTo>
                  <a:cubicBezTo>
                    <a:pt x="3695700" y="1400302"/>
                    <a:pt x="3594862" y="1501140"/>
                    <a:pt x="3470529" y="1501140"/>
                  </a:cubicBezTo>
                  <a:lnTo>
                    <a:pt x="225171" y="1501140"/>
                  </a:lnTo>
                  <a:cubicBezTo>
                    <a:pt x="100838" y="1501140"/>
                    <a:pt x="0" y="1400302"/>
                    <a:pt x="0" y="1275969"/>
                  </a:cubicBezTo>
                  <a:close/>
                </a:path>
              </a:pathLst>
            </a:custGeom>
            <a:solidFill>
              <a:srgbClr val="3D5A80"/>
            </a:solidFill>
            <a:ln w="28575" cap="sq">
              <a:solidFill>
                <a:srgbClr val="3D5A80"/>
              </a:solidFill>
              <a:prstDash val="solid"/>
              <a:miter/>
            </a:ln>
          </p:spPr>
        </p:sp>
        <p:sp>
          <p:nvSpPr>
            <p:cNvPr name="TextBox 21" id="21"/>
            <p:cNvSpPr txBox="true"/>
            <p:nvPr/>
          </p:nvSpPr>
          <p:spPr>
            <a:xfrm>
              <a:off x="0" y="-57150"/>
              <a:ext cx="3695700" cy="155829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Your code</a:t>
              </a:r>
            </a:p>
          </p:txBody>
        </p:sp>
      </p:grpSp>
      <p:sp>
        <p:nvSpPr>
          <p:cNvPr name="AutoShape 22" id="22"/>
          <p:cNvSpPr/>
          <p:nvPr/>
        </p:nvSpPr>
        <p:spPr>
          <a:xfrm>
            <a:off x="14424515" y="7749814"/>
            <a:ext cx="0" cy="822974"/>
          </a:xfrm>
          <a:prstGeom prst="line">
            <a:avLst/>
          </a:prstGeom>
          <a:ln cap="rnd" w="19050">
            <a:solidFill>
              <a:srgbClr val="8D99AE"/>
            </a:solidFill>
            <a:prstDash val="solid"/>
            <a:headEnd type="none" len="sm" w="sm"/>
            <a:tailEnd type="none" len="sm" w="sm"/>
          </a:ln>
        </p:spPr>
      </p:sp>
      <p:sp>
        <p:nvSpPr>
          <p:cNvPr name="AutoShape 23" id="23"/>
          <p:cNvSpPr/>
          <p:nvPr/>
        </p:nvSpPr>
        <p:spPr>
          <a:xfrm flipH="true">
            <a:off x="9418175" y="8572788"/>
            <a:ext cx="5004960" cy="0"/>
          </a:xfrm>
          <a:prstGeom prst="line">
            <a:avLst/>
          </a:prstGeom>
          <a:ln cap="rnd" w="19050">
            <a:solidFill>
              <a:srgbClr val="8D99AE"/>
            </a:solidFill>
            <a:prstDash val="solid"/>
            <a:headEnd type="none" len="sm" w="sm"/>
            <a:tailEnd type="none" len="sm" w="sm"/>
          </a:ln>
        </p:spPr>
      </p:sp>
      <p:sp>
        <p:nvSpPr>
          <p:cNvPr name="AutoShape 24" id="24"/>
          <p:cNvSpPr/>
          <p:nvPr/>
        </p:nvSpPr>
        <p:spPr>
          <a:xfrm flipV="true">
            <a:off x="9418175" y="7749814"/>
            <a:ext cx="0" cy="822974"/>
          </a:xfrm>
          <a:prstGeom prst="line">
            <a:avLst/>
          </a:prstGeom>
          <a:ln cap="rnd" w="19050">
            <a:solidFill>
              <a:srgbClr val="8D99AE"/>
            </a:solidFill>
            <a:prstDash val="solid"/>
            <a:headEnd type="none" len="sm" w="sm"/>
            <a:tailEnd type="triangle" len="med" w="lg"/>
          </a:ln>
        </p:spPr>
      </p:sp>
      <p:grpSp>
        <p:nvGrpSpPr>
          <p:cNvPr name="Group 25" id="25"/>
          <p:cNvGrpSpPr/>
          <p:nvPr/>
        </p:nvGrpSpPr>
        <p:grpSpPr>
          <a:xfrm rot="0">
            <a:off x="810958" y="1720342"/>
            <a:ext cx="9478328" cy="802497"/>
            <a:chOff x="0" y="0"/>
            <a:chExt cx="2496350" cy="211357"/>
          </a:xfrm>
        </p:grpSpPr>
        <p:sp>
          <p:nvSpPr>
            <p:cNvPr name="Freeform 26" id="26"/>
            <p:cNvSpPr/>
            <p:nvPr/>
          </p:nvSpPr>
          <p:spPr>
            <a:xfrm flipH="false" flipV="false" rot="0">
              <a:off x="0" y="0"/>
              <a:ext cx="2496350" cy="211357"/>
            </a:xfrm>
            <a:custGeom>
              <a:avLst/>
              <a:gdLst/>
              <a:ahLst/>
              <a:cxnLst/>
              <a:rect r="r" b="b" t="t" l="l"/>
              <a:pathLst>
                <a:path h="211357" w="2496350">
                  <a:moveTo>
                    <a:pt x="0" y="0"/>
                  </a:moveTo>
                  <a:lnTo>
                    <a:pt x="2496350" y="0"/>
                  </a:lnTo>
                  <a:lnTo>
                    <a:pt x="2496350" y="211357"/>
                  </a:lnTo>
                  <a:lnTo>
                    <a:pt x="0" y="211357"/>
                  </a:lnTo>
                  <a:close/>
                </a:path>
              </a:pathLst>
            </a:custGeom>
            <a:solidFill>
              <a:srgbClr val="0493FB"/>
            </a:solidFill>
          </p:spPr>
        </p:sp>
        <p:sp>
          <p:nvSpPr>
            <p:cNvPr name="TextBox 27" id="27"/>
            <p:cNvSpPr txBox="true"/>
            <p:nvPr/>
          </p:nvSpPr>
          <p:spPr>
            <a:xfrm>
              <a:off x="0" y="-57150"/>
              <a:ext cx="2496350" cy="268507"/>
            </a:xfrm>
            <a:prstGeom prst="rect">
              <a:avLst/>
            </a:prstGeom>
          </p:spPr>
          <p:txBody>
            <a:bodyPr anchor="ctr" rtlCol="false" tIns="50800" lIns="50800" bIns="50800" rIns="50800"/>
            <a:lstStyle/>
            <a:p>
              <a:pPr algn="ctr">
                <a:lnSpc>
                  <a:spcPts val="2700"/>
                </a:lnSpc>
              </a:pPr>
            </a:p>
          </p:txBody>
        </p:sp>
      </p:grpSp>
      <p:sp>
        <p:nvSpPr>
          <p:cNvPr name="TextBox 28" id="28"/>
          <p:cNvSpPr txBox="true"/>
          <p:nvPr/>
        </p:nvSpPr>
        <p:spPr>
          <a:xfrm rot="0">
            <a:off x="1028700" y="904875"/>
            <a:ext cx="9260586"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What is an Agent?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3689032" y="2523172"/>
            <a:ext cx="2497455" cy="2497455"/>
            <a:chOff x="0" y="0"/>
            <a:chExt cx="3329940" cy="3329940"/>
          </a:xfrm>
        </p:grpSpPr>
        <p:sp>
          <p:nvSpPr>
            <p:cNvPr name="Freeform 3" id="3"/>
            <p:cNvSpPr/>
            <p:nvPr/>
          </p:nvSpPr>
          <p:spPr>
            <a:xfrm flipH="false" flipV="false" rot="0">
              <a:off x="0" y="0"/>
              <a:ext cx="3329940" cy="3329940"/>
            </a:xfrm>
            <a:custGeom>
              <a:avLst/>
              <a:gdLst/>
              <a:ahLst/>
              <a:cxnLst/>
              <a:rect r="r" b="b" t="t" l="l"/>
              <a:pathLst>
                <a:path h="3329940" w="3329940">
                  <a:moveTo>
                    <a:pt x="0" y="1664970"/>
                  </a:moveTo>
                  <a:cubicBezTo>
                    <a:pt x="0" y="745490"/>
                    <a:pt x="745490" y="0"/>
                    <a:pt x="1664970" y="0"/>
                  </a:cubicBezTo>
                  <a:cubicBezTo>
                    <a:pt x="2584450" y="0"/>
                    <a:pt x="3329940" y="745490"/>
                    <a:pt x="3329940" y="1664970"/>
                  </a:cubicBezTo>
                  <a:cubicBezTo>
                    <a:pt x="3329940" y="2584450"/>
                    <a:pt x="2584450" y="3329940"/>
                    <a:pt x="1664970" y="3329940"/>
                  </a:cubicBezTo>
                  <a:cubicBezTo>
                    <a:pt x="745490" y="3329940"/>
                    <a:pt x="0" y="2584450"/>
                    <a:pt x="0" y="1664970"/>
                  </a:cubicBezTo>
                  <a:close/>
                </a:path>
              </a:pathLst>
            </a:custGeom>
            <a:solidFill>
              <a:srgbClr val="A8D4FF"/>
            </a:solidFill>
            <a:ln w="28575" cap="sq">
              <a:solidFill>
                <a:srgbClr val="0D417C"/>
              </a:solidFill>
              <a:prstDash val="solid"/>
              <a:miter/>
            </a:ln>
          </p:spPr>
        </p:sp>
        <p:sp>
          <p:nvSpPr>
            <p:cNvPr name="TextBox 4" id="4"/>
            <p:cNvSpPr txBox="true"/>
            <p:nvPr/>
          </p:nvSpPr>
          <p:spPr>
            <a:xfrm>
              <a:off x="0" y="-66675"/>
              <a:ext cx="3329940" cy="3396615"/>
            </a:xfrm>
            <a:prstGeom prst="rect">
              <a:avLst/>
            </a:prstGeom>
          </p:spPr>
          <p:txBody>
            <a:bodyPr anchor="ctr" rtlCol="false" tIns="50800" lIns="50800" bIns="50800" rIns="50800"/>
            <a:lstStyle/>
            <a:p>
              <a:pPr algn="ctr">
                <a:lnSpc>
                  <a:spcPts val="3600"/>
                </a:lnSpc>
              </a:pPr>
              <a:r>
                <a:rPr lang="en-US" sz="3000" b="true">
                  <a:solidFill>
                    <a:srgbClr val="FFFFFF"/>
                  </a:solidFill>
                  <a:latin typeface="Calibri (MS) Bold"/>
                  <a:ea typeface="Calibri (MS) Bold"/>
                  <a:cs typeface="Calibri (MS) Bold"/>
                  <a:sym typeface="Calibri (MS) Bold"/>
                </a:rPr>
                <a:t>Think</a:t>
              </a:r>
            </a:p>
          </p:txBody>
        </p:sp>
      </p:grpSp>
      <p:grpSp>
        <p:nvGrpSpPr>
          <p:cNvPr name="Group 5" id="5"/>
          <p:cNvGrpSpPr/>
          <p:nvPr/>
        </p:nvGrpSpPr>
        <p:grpSpPr>
          <a:xfrm rot="0">
            <a:off x="1288732" y="5952172"/>
            <a:ext cx="2497455" cy="2497455"/>
            <a:chOff x="0" y="0"/>
            <a:chExt cx="3329940" cy="3329940"/>
          </a:xfrm>
        </p:grpSpPr>
        <p:sp>
          <p:nvSpPr>
            <p:cNvPr name="Freeform 6" id="6"/>
            <p:cNvSpPr/>
            <p:nvPr/>
          </p:nvSpPr>
          <p:spPr>
            <a:xfrm flipH="false" flipV="false" rot="0">
              <a:off x="0" y="0"/>
              <a:ext cx="3329940" cy="3329940"/>
            </a:xfrm>
            <a:custGeom>
              <a:avLst/>
              <a:gdLst/>
              <a:ahLst/>
              <a:cxnLst/>
              <a:rect r="r" b="b" t="t" l="l"/>
              <a:pathLst>
                <a:path h="3329940" w="3329940">
                  <a:moveTo>
                    <a:pt x="0" y="1664970"/>
                  </a:moveTo>
                  <a:cubicBezTo>
                    <a:pt x="0" y="745490"/>
                    <a:pt x="745490" y="0"/>
                    <a:pt x="1664970" y="0"/>
                  </a:cubicBezTo>
                  <a:cubicBezTo>
                    <a:pt x="2584450" y="0"/>
                    <a:pt x="3329940" y="745490"/>
                    <a:pt x="3329940" y="1664970"/>
                  </a:cubicBezTo>
                  <a:cubicBezTo>
                    <a:pt x="3329940" y="2584450"/>
                    <a:pt x="2584450" y="3329940"/>
                    <a:pt x="1664970" y="3329940"/>
                  </a:cubicBezTo>
                  <a:cubicBezTo>
                    <a:pt x="745490" y="3329940"/>
                    <a:pt x="0" y="2584450"/>
                    <a:pt x="0" y="1664970"/>
                  </a:cubicBezTo>
                  <a:close/>
                </a:path>
              </a:pathLst>
            </a:custGeom>
            <a:solidFill>
              <a:srgbClr val="0493FB"/>
            </a:solidFill>
            <a:ln w="28575" cap="sq">
              <a:solidFill>
                <a:srgbClr val="0D417C"/>
              </a:solidFill>
              <a:prstDash val="solid"/>
              <a:miter/>
            </a:ln>
          </p:spPr>
        </p:sp>
        <p:sp>
          <p:nvSpPr>
            <p:cNvPr name="TextBox 7" id="7"/>
            <p:cNvSpPr txBox="true"/>
            <p:nvPr/>
          </p:nvSpPr>
          <p:spPr>
            <a:xfrm>
              <a:off x="0" y="-66675"/>
              <a:ext cx="3329940" cy="3396615"/>
            </a:xfrm>
            <a:prstGeom prst="rect">
              <a:avLst/>
            </a:prstGeom>
          </p:spPr>
          <p:txBody>
            <a:bodyPr anchor="ctr" rtlCol="false" tIns="50800" lIns="50800" bIns="50800" rIns="50800"/>
            <a:lstStyle/>
            <a:p>
              <a:pPr algn="ctr">
                <a:lnSpc>
                  <a:spcPts val="3600"/>
                </a:lnSpc>
              </a:pPr>
              <a:r>
                <a:rPr lang="en-US" sz="3000" b="true">
                  <a:solidFill>
                    <a:srgbClr val="FFFFFF"/>
                  </a:solidFill>
                  <a:latin typeface="Calibri (MS) Bold"/>
                  <a:ea typeface="Calibri (MS) Bold"/>
                  <a:cs typeface="Calibri (MS) Bold"/>
                  <a:sym typeface="Calibri (MS) Bold"/>
                </a:rPr>
                <a:t>Observe</a:t>
              </a:r>
            </a:p>
          </p:txBody>
        </p:sp>
      </p:grpSp>
      <p:grpSp>
        <p:nvGrpSpPr>
          <p:cNvPr name="Group 8" id="8"/>
          <p:cNvGrpSpPr/>
          <p:nvPr/>
        </p:nvGrpSpPr>
        <p:grpSpPr>
          <a:xfrm rot="0">
            <a:off x="6089332" y="5952172"/>
            <a:ext cx="2497455" cy="2497455"/>
            <a:chOff x="0" y="0"/>
            <a:chExt cx="3329940" cy="3329940"/>
          </a:xfrm>
        </p:grpSpPr>
        <p:sp>
          <p:nvSpPr>
            <p:cNvPr name="Freeform 9" id="9"/>
            <p:cNvSpPr/>
            <p:nvPr/>
          </p:nvSpPr>
          <p:spPr>
            <a:xfrm flipH="false" flipV="false" rot="0">
              <a:off x="0" y="0"/>
              <a:ext cx="3329940" cy="3329940"/>
            </a:xfrm>
            <a:custGeom>
              <a:avLst/>
              <a:gdLst/>
              <a:ahLst/>
              <a:cxnLst/>
              <a:rect r="r" b="b" t="t" l="l"/>
              <a:pathLst>
                <a:path h="3329940" w="3329940">
                  <a:moveTo>
                    <a:pt x="0" y="1664970"/>
                  </a:moveTo>
                  <a:cubicBezTo>
                    <a:pt x="0" y="745490"/>
                    <a:pt x="745490" y="0"/>
                    <a:pt x="1664970" y="0"/>
                  </a:cubicBezTo>
                  <a:cubicBezTo>
                    <a:pt x="2584450" y="0"/>
                    <a:pt x="3329940" y="745490"/>
                    <a:pt x="3329940" y="1664970"/>
                  </a:cubicBezTo>
                  <a:cubicBezTo>
                    <a:pt x="3329940" y="2584450"/>
                    <a:pt x="2584450" y="3329940"/>
                    <a:pt x="1664970" y="3329940"/>
                  </a:cubicBezTo>
                  <a:cubicBezTo>
                    <a:pt x="745490" y="3329940"/>
                    <a:pt x="0" y="2584450"/>
                    <a:pt x="0" y="1664970"/>
                  </a:cubicBezTo>
                  <a:close/>
                </a:path>
              </a:pathLst>
            </a:custGeom>
            <a:solidFill>
              <a:srgbClr val="0A91F4"/>
            </a:solidFill>
            <a:ln w="28575" cap="sq">
              <a:solidFill>
                <a:srgbClr val="0D417C"/>
              </a:solidFill>
              <a:prstDash val="solid"/>
              <a:miter/>
            </a:ln>
          </p:spPr>
        </p:sp>
        <p:sp>
          <p:nvSpPr>
            <p:cNvPr name="TextBox 10" id="10"/>
            <p:cNvSpPr txBox="true"/>
            <p:nvPr/>
          </p:nvSpPr>
          <p:spPr>
            <a:xfrm>
              <a:off x="0" y="-66675"/>
              <a:ext cx="3329940" cy="3396615"/>
            </a:xfrm>
            <a:prstGeom prst="rect">
              <a:avLst/>
            </a:prstGeom>
          </p:spPr>
          <p:txBody>
            <a:bodyPr anchor="ctr" rtlCol="false" tIns="50800" lIns="50800" bIns="50800" rIns="50800"/>
            <a:lstStyle/>
            <a:p>
              <a:pPr algn="ctr">
                <a:lnSpc>
                  <a:spcPts val="3600"/>
                </a:lnSpc>
              </a:pPr>
              <a:r>
                <a:rPr lang="en-US" sz="3000" b="true">
                  <a:solidFill>
                    <a:srgbClr val="FFFFFF"/>
                  </a:solidFill>
                  <a:latin typeface="Calibri (MS) Bold"/>
                  <a:ea typeface="Calibri (MS) Bold"/>
                  <a:cs typeface="Calibri (MS) Bold"/>
                  <a:sym typeface="Calibri (MS) Bold"/>
                </a:rPr>
                <a:t>Act</a:t>
              </a:r>
            </a:p>
          </p:txBody>
        </p:sp>
      </p:grpSp>
      <p:sp>
        <p:nvSpPr>
          <p:cNvPr name="AutoShape 11" id="11"/>
          <p:cNvSpPr/>
          <p:nvPr/>
        </p:nvSpPr>
        <p:spPr>
          <a:xfrm rot="-3273840">
            <a:off x="2983211" y="5472112"/>
            <a:ext cx="1508798" cy="0"/>
          </a:xfrm>
          <a:prstGeom prst="line">
            <a:avLst/>
          </a:prstGeom>
          <a:ln cap="rnd" w="28575">
            <a:solidFill>
              <a:srgbClr val="FFFFFF"/>
            </a:solidFill>
            <a:prstDash val="solid"/>
            <a:headEnd type="none" len="sm" w="sm"/>
            <a:tailEnd type="triangle" len="med" w="lg"/>
          </a:ln>
        </p:spPr>
      </p:sp>
      <p:sp>
        <p:nvSpPr>
          <p:cNvPr name="AutoShape 12" id="12"/>
          <p:cNvSpPr/>
          <p:nvPr/>
        </p:nvSpPr>
        <p:spPr>
          <a:xfrm rot="3273839">
            <a:off x="5383511" y="5472112"/>
            <a:ext cx="1508798" cy="0"/>
          </a:xfrm>
          <a:prstGeom prst="line">
            <a:avLst/>
          </a:prstGeom>
          <a:ln cap="rnd" w="28575">
            <a:solidFill>
              <a:srgbClr val="FFFFFF"/>
            </a:solidFill>
            <a:prstDash val="solid"/>
            <a:headEnd type="none" len="sm" w="sm"/>
            <a:tailEnd type="triangle" len="med" w="lg"/>
          </a:ln>
        </p:spPr>
      </p:sp>
      <p:sp>
        <p:nvSpPr>
          <p:cNvPr name="AutoShape 13" id="13"/>
          <p:cNvSpPr/>
          <p:nvPr/>
        </p:nvSpPr>
        <p:spPr>
          <a:xfrm flipH="true" flipV="true">
            <a:off x="3885247" y="7226077"/>
            <a:ext cx="2204086" cy="0"/>
          </a:xfrm>
          <a:prstGeom prst="line">
            <a:avLst/>
          </a:prstGeom>
          <a:ln cap="rnd" w="28575">
            <a:solidFill>
              <a:srgbClr val="FFFFFF"/>
            </a:solidFill>
            <a:prstDash val="solid"/>
            <a:headEnd type="none" len="sm" w="sm"/>
            <a:tailEnd type="triangle" len="med" w="lg"/>
          </a:ln>
        </p:spPr>
      </p:sp>
      <p:sp>
        <p:nvSpPr>
          <p:cNvPr name="TextBox 14" id="14"/>
          <p:cNvSpPr txBox="true"/>
          <p:nvPr/>
        </p:nvSpPr>
        <p:spPr>
          <a:xfrm rot="0">
            <a:off x="3566160" y="5644515"/>
            <a:ext cx="2743200" cy="596265"/>
          </a:xfrm>
          <a:prstGeom prst="rect">
            <a:avLst/>
          </a:prstGeom>
        </p:spPr>
        <p:txBody>
          <a:bodyPr anchor="t" rtlCol="false" tIns="0" lIns="0" bIns="0" rIns="0">
            <a:spAutoFit/>
          </a:bodyPr>
          <a:lstStyle/>
          <a:p>
            <a:pPr algn="ctr">
              <a:lnSpc>
                <a:spcPts val="2520"/>
              </a:lnSpc>
            </a:pPr>
            <a:r>
              <a:rPr lang="en-US" sz="2100" i="true">
                <a:solidFill>
                  <a:srgbClr val="FFFFFF"/>
                </a:solidFill>
                <a:latin typeface="Calibri (MS) Italics"/>
                <a:ea typeface="Calibri (MS) Italics"/>
                <a:cs typeface="Calibri (MS) Italics"/>
                <a:sym typeface="Calibri (MS) Italics"/>
              </a:rPr>
              <a:t>repeat until done</a:t>
            </a:r>
          </a:p>
        </p:txBody>
      </p:sp>
      <p:grpSp>
        <p:nvGrpSpPr>
          <p:cNvPr name="Group 15" id="15"/>
          <p:cNvGrpSpPr/>
          <p:nvPr/>
        </p:nvGrpSpPr>
        <p:grpSpPr>
          <a:xfrm rot="0">
            <a:off x="9861232" y="2838640"/>
            <a:ext cx="467487" cy="467487"/>
            <a:chOff x="0" y="0"/>
            <a:chExt cx="623316" cy="623316"/>
          </a:xfrm>
        </p:grpSpPr>
        <p:sp>
          <p:nvSpPr>
            <p:cNvPr name="Freeform 16" id="16"/>
            <p:cNvSpPr/>
            <p:nvPr/>
          </p:nvSpPr>
          <p:spPr>
            <a:xfrm flipH="false" flipV="false" rot="0">
              <a:off x="0" y="0"/>
              <a:ext cx="623316" cy="623316"/>
            </a:xfrm>
            <a:custGeom>
              <a:avLst/>
              <a:gdLst/>
              <a:ahLst/>
              <a:cxnLst/>
              <a:rect r="r" b="b" t="t" l="l"/>
              <a:pathLst>
                <a:path h="623316" w="623316">
                  <a:moveTo>
                    <a:pt x="0" y="311658"/>
                  </a:moveTo>
                  <a:cubicBezTo>
                    <a:pt x="0" y="139573"/>
                    <a:pt x="139573" y="0"/>
                    <a:pt x="311658" y="0"/>
                  </a:cubicBezTo>
                  <a:cubicBezTo>
                    <a:pt x="483743" y="0"/>
                    <a:pt x="623316" y="139573"/>
                    <a:pt x="623316" y="311658"/>
                  </a:cubicBezTo>
                  <a:cubicBezTo>
                    <a:pt x="623316" y="483743"/>
                    <a:pt x="483743" y="623316"/>
                    <a:pt x="311658" y="623316"/>
                  </a:cubicBezTo>
                  <a:cubicBezTo>
                    <a:pt x="139573" y="623316"/>
                    <a:pt x="0" y="483743"/>
                    <a:pt x="0" y="311658"/>
                  </a:cubicBezTo>
                  <a:close/>
                </a:path>
              </a:pathLst>
            </a:custGeom>
            <a:solidFill>
              <a:srgbClr val="0493FB"/>
            </a:solidFill>
            <a:ln w="28575" cap="sq">
              <a:solidFill>
                <a:srgbClr val="0D417C"/>
              </a:solidFill>
              <a:prstDash val="solid"/>
              <a:miter/>
            </a:ln>
          </p:spPr>
        </p:sp>
      </p:grpSp>
      <p:sp>
        <p:nvSpPr>
          <p:cNvPr name="TextBox 17" id="17"/>
          <p:cNvSpPr txBox="true"/>
          <p:nvPr/>
        </p:nvSpPr>
        <p:spPr>
          <a:xfrm rot="0">
            <a:off x="10629900" y="2676525"/>
            <a:ext cx="6858000" cy="752475"/>
          </a:xfrm>
          <a:prstGeom prst="rect">
            <a:avLst/>
          </a:prstGeom>
        </p:spPr>
        <p:txBody>
          <a:bodyPr anchor="t" rtlCol="false" tIns="0" lIns="0" bIns="0" rIns="0">
            <a:spAutoFit/>
          </a:bodyPr>
          <a:lstStyle/>
          <a:p>
            <a:pPr algn="l">
              <a:lnSpc>
                <a:spcPts val="3960"/>
              </a:lnSpc>
            </a:pPr>
            <a:r>
              <a:rPr lang="en-US" b="true" sz="3300">
                <a:solidFill>
                  <a:srgbClr val="FFFFFF"/>
                </a:solidFill>
                <a:latin typeface="Calibri (MS) Bold"/>
                <a:ea typeface="Calibri (MS) Bold"/>
                <a:cs typeface="Calibri (MS) Bold"/>
                <a:sym typeface="Calibri (MS) Bold"/>
              </a:rPr>
              <a:t>Observe</a:t>
            </a:r>
          </a:p>
        </p:txBody>
      </p:sp>
      <p:sp>
        <p:nvSpPr>
          <p:cNvPr name="TextBox 18" id="18"/>
          <p:cNvSpPr txBox="true"/>
          <p:nvPr/>
        </p:nvSpPr>
        <p:spPr>
          <a:xfrm rot="0">
            <a:off x="10629900" y="3381375"/>
            <a:ext cx="6858000" cy="870585"/>
          </a:xfrm>
          <a:prstGeom prst="rect">
            <a:avLst/>
          </a:prstGeom>
        </p:spPr>
        <p:txBody>
          <a:bodyPr anchor="t" rtlCol="false" tIns="0" lIns="0" bIns="0" rIns="0">
            <a:spAutoFit/>
          </a:bodyPr>
          <a:lstStyle/>
          <a:p>
            <a:pPr algn="l">
              <a:lnSpc>
                <a:spcPts val="3060"/>
              </a:lnSpc>
            </a:pPr>
            <a:r>
              <a:rPr lang="en-US" sz="2550">
                <a:solidFill>
                  <a:srgbClr val="FFFFFF"/>
                </a:solidFill>
                <a:latin typeface="Calibri (MS)"/>
                <a:ea typeface="Calibri (MS)"/>
                <a:cs typeface="Calibri (MS)"/>
                <a:sym typeface="Calibri (MS)"/>
              </a:rPr>
              <a:t>What’s the state? What just happened?</a:t>
            </a:r>
          </a:p>
        </p:txBody>
      </p:sp>
      <p:grpSp>
        <p:nvGrpSpPr>
          <p:cNvPr name="Group 19" id="19"/>
          <p:cNvGrpSpPr/>
          <p:nvPr/>
        </p:nvGrpSpPr>
        <p:grpSpPr>
          <a:xfrm rot="0">
            <a:off x="9861232" y="4621720"/>
            <a:ext cx="467487" cy="467487"/>
            <a:chOff x="0" y="0"/>
            <a:chExt cx="623316" cy="623316"/>
          </a:xfrm>
        </p:grpSpPr>
        <p:sp>
          <p:nvSpPr>
            <p:cNvPr name="Freeform 20" id="20"/>
            <p:cNvSpPr/>
            <p:nvPr/>
          </p:nvSpPr>
          <p:spPr>
            <a:xfrm flipH="false" flipV="false" rot="0">
              <a:off x="0" y="0"/>
              <a:ext cx="623316" cy="623316"/>
            </a:xfrm>
            <a:custGeom>
              <a:avLst/>
              <a:gdLst/>
              <a:ahLst/>
              <a:cxnLst/>
              <a:rect r="r" b="b" t="t" l="l"/>
              <a:pathLst>
                <a:path h="623316" w="623316">
                  <a:moveTo>
                    <a:pt x="0" y="311658"/>
                  </a:moveTo>
                  <a:cubicBezTo>
                    <a:pt x="0" y="139573"/>
                    <a:pt x="139573" y="0"/>
                    <a:pt x="311658" y="0"/>
                  </a:cubicBezTo>
                  <a:cubicBezTo>
                    <a:pt x="483743" y="0"/>
                    <a:pt x="623316" y="139573"/>
                    <a:pt x="623316" y="311658"/>
                  </a:cubicBezTo>
                  <a:cubicBezTo>
                    <a:pt x="623316" y="483743"/>
                    <a:pt x="483743" y="623316"/>
                    <a:pt x="311658" y="623316"/>
                  </a:cubicBezTo>
                  <a:cubicBezTo>
                    <a:pt x="139573" y="623316"/>
                    <a:pt x="0" y="483743"/>
                    <a:pt x="0" y="311658"/>
                  </a:cubicBezTo>
                  <a:close/>
                </a:path>
              </a:pathLst>
            </a:custGeom>
            <a:solidFill>
              <a:srgbClr val="C8E5FF"/>
            </a:solidFill>
            <a:ln w="28575" cap="sq">
              <a:solidFill>
                <a:srgbClr val="0D417C"/>
              </a:solidFill>
              <a:prstDash val="solid"/>
              <a:miter/>
            </a:ln>
          </p:spPr>
        </p:sp>
      </p:grpSp>
      <p:sp>
        <p:nvSpPr>
          <p:cNvPr name="TextBox 21" id="21"/>
          <p:cNvSpPr txBox="true"/>
          <p:nvPr/>
        </p:nvSpPr>
        <p:spPr>
          <a:xfrm rot="0">
            <a:off x="10629900" y="4459605"/>
            <a:ext cx="6858000" cy="752475"/>
          </a:xfrm>
          <a:prstGeom prst="rect">
            <a:avLst/>
          </a:prstGeom>
        </p:spPr>
        <p:txBody>
          <a:bodyPr anchor="t" rtlCol="false" tIns="0" lIns="0" bIns="0" rIns="0">
            <a:spAutoFit/>
          </a:bodyPr>
          <a:lstStyle/>
          <a:p>
            <a:pPr algn="l">
              <a:lnSpc>
                <a:spcPts val="3960"/>
              </a:lnSpc>
            </a:pPr>
            <a:r>
              <a:rPr lang="en-US" b="true" sz="3300">
                <a:solidFill>
                  <a:srgbClr val="FFFFFF"/>
                </a:solidFill>
                <a:latin typeface="Calibri (MS) Bold"/>
                <a:ea typeface="Calibri (MS) Bold"/>
                <a:cs typeface="Calibri (MS) Bold"/>
                <a:sym typeface="Calibri (MS) Bold"/>
              </a:rPr>
              <a:t>Think</a:t>
            </a:r>
          </a:p>
        </p:txBody>
      </p:sp>
      <p:sp>
        <p:nvSpPr>
          <p:cNvPr name="TextBox 22" id="22"/>
          <p:cNvSpPr txBox="true"/>
          <p:nvPr/>
        </p:nvSpPr>
        <p:spPr>
          <a:xfrm rot="0">
            <a:off x="10629900" y="5164455"/>
            <a:ext cx="6858000" cy="870585"/>
          </a:xfrm>
          <a:prstGeom prst="rect">
            <a:avLst/>
          </a:prstGeom>
        </p:spPr>
        <p:txBody>
          <a:bodyPr anchor="t" rtlCol="false" tIns="0" lIns="0" bIns="0" rIns="0">
            <a:spAutoFit/>
          </a:bodyPr>
          <a:lstStyle/>
          <a:p>
            <a:pPr algn="l">
              <a:lnSpc>
                <a:spcPts val="3060"/>
              </a:lnSpc>
            </a:pPr>
            <a:r>
              <a:rPr lang="en-US" sz="2550">
                <a:solidFill>
                  <a:srgbClr val="FFFFFF"/>
                </a:solidFill>
                <a:latin typeface="Calibri (MS)"/>
                <a:ea typeface="Calibri (MS)"/>
                <a:cs typeface="Calibri (MS)"/>
                <a:sym typeface="Calibri (MS)"/>
              </a:rPr>
              <a:t>Decide what to do next — the LLM’s job.</a:t>
            </a:r>
          </a:p>
        </p:txBody>
      </p:sp>
      <p:grpSp>
        <p:nvGrpSpPr>
          <p:cNvPr name="Group 23" id="23"/>
          <p:cNvGrpSpPr/>
          <p:nvPr/>
        </p:nvGrpSpPr>
        <p:grpSpPr>
          <a:xfrm rot="0">
            <a:off x="9861232" y="6404800"/>
            <a:ext cx="467487" cy="467487"/>
            <a:chOff x="0" y="0"/>
            <a:chExt cx="623316" cy="623316"/>
          </a:xfrm>
        </p:grpSpPr>
        <p:sp>
          <p:nvSpPr>
            <p:cNvPr name="Freeform 24" id="24"/>
            <p:cNvSpPr/>
            <p:nvPr/>
          </p:nvSpPr>
          <p:spPr>
            <a:xfrm flipH="false" flipV="false" rot="0">
              <a:off x="0" y="0"/>
              <a:ext cx="623316" cy="623316"/>
            </a:xfrm>
            <a:custGeom>
              <a:avLst/>
              <a:gdLst/>
              <a:ahLst/>
              <a:cxnLst/>
              <a:rect r="r" b="b" t="t" l="l"/>
              <a:pathLst>
                <a:path h="623316" w="623316">
                  <a:moveTo>
                    <a:pt x="0" y="311658"/>
                  </a:moveTo>
                  <a:cubicBezTo>
                    <a:pt x="0" y="139573"/>
                    <a:pt x="139573" y="0"/>
                    <a:pt x="311658" y="0"/>
                  </a:cubicBezTo>
                  <a:cubicBezTo>
                    <a:pt x="483743" y="0"/>
                    <a:pt x="623316" y="139573"/>
                    <a:pt x="623316" y="311658"/>
                  </a:cubicBezTo>
                  <a:cubicBezTo>
                    <a:pt x="623316" y="483743"/>
                    <a:pt x="483743" y="623316"/>
                    <a:pt x="311658" y="623316"/>
                  </a:cubicBezTo>
                  <a:cubicBezTo>
                    <a:pt x="139573" y="623316"/>
                    <a:pt x="0" y="483743"/>
                    <a:pt x="0" y="311658"/>
                  </a:cubicBezTo>
                  <a:close/>
                </a:path>
              </a:pathLst>
            </a:custGeom>
            <a:solidFill>
              <a:srgbClr val="0493FB"/>
            </a:solidFill>
            <a:ln w="28575" cap="sq">
              <a:solidFill>
                <a:srgbClr val="0D417C"/>
              </a:solidFill>
              <a:prstDash val="solid"/>
              <a:miter/>
            </a:ln>
          </p:spPr>
        </p:sp>
      </p:grpSp>
      <p:sp>
        <p:nvSpPr>
          <p:cNvPr name="TextBox 25" id="25"/>
          <p:cNvSpPr txBox="true"/>
          <p:nvPr/>
        </p:nvSpPr>
        <p:spPr>
          <a:xfrm rot="0">
            <a:off x="10629900" y="6242685"/>
            <a:ext cx="6858000" cy="752475"/>
          </a:xfrm>
          <a:prstGeom prst="rect">
            <a:avLst/>
          </a:prstGeom>
        </p:spPr>
        <p:txBody>
          <a:bodyPr anchor="t" rtlCol="false" tIns="0" lIns="0" bIns="0" rIns="0">
            <a:spAutoFit/>
          </a:bodyPr>
          <a:lstStyle/>
          <a:p>
            <a:pPr algn="l">
              <a:lnSpc>
                <a:spcPts val="3960"/>
              </a:lnSpc>
            </a:pPr>
            <a:r>
              <a:rPr lang="en-US" b="true" sz="3300">
                <a:solidFill>
                  <a:srgbClr val="FFFFFF"/>
                </a:solidFill>
                <a:latin typeface="Calibri (MS) Bold"/>
                <a:ea typeface="Calibri (MS) Bold"/>
                <a:cs typeface="Calibri (MS) Bold"/>
                <a:sym typeface="Calibri (MS) Bold"/>
              </a:rPr>
              <a:t>Act</a:t>
            </a:r>
          </a:p>
        </p:txBody>
      </p:sp>
      <p:sp>
        <p:nvSpPr>
          <p:cNvPr name="TextBox 26" id="26"/>
          <p:cNvSpPr txBox="true"/>
          <p:nvPr/>
        </p:nvSpPr>
        <p:spPr>
          <a:xfrm rot="0">
            <a:off x="10629900" y="6947535"/>
            <a:ext cx="6858000" cy="870585"/>
          </a:xfrm>
          <a:prstGeom prst="rect">
            <a:avLst/>
          </a:prstGeom>
        </p:spPr>
        <p:txBody>
          <a:bodyPr anchor="t" rtlCol="false" tIns="0" lIns="0" bIns="0" rIns="0">
            <a:spAutoFit/>
          </a:bodyPr>
          <a:lstStyle/>
          <a:p>
            <a:pPr algn="l">
              <a:lnSpc>
                <a:spcPts val="3060"/>
              </a:lnSpc>
            </a:pPr>
            <a:r>
              <a:rPr lang="en-US" sz="2550">
                <a:solidFill>
                  <a:srgbClr val="FFFFFF"/>
                </a:solidFill>
                <a:latin typeface="Calibri (MS)"/>
                <a:ea typeface="Calibri (MS)"/>
                <a:cs typeface="Calibri (MS)"/>
                <a:sym typeface="Calibri (MS)"/>
              </a:rPr>
              <a:t>Do it, then observe the result.</a:t>
            </a:r>
          </a:p>
        </p:txBody>
      </p:sp>
      <p:grpSp>
        <p:nvGrpSpPr>
          <p:cNvPr name="Group 27" id="27"/>
          <p:cNvGrpSpPr/>
          <p:nvPr/>
        </p:nvGrpSpPr>
        <p:grpSpPr>
          <a:xfrm rot="0">
            <a:off x="9861232" y="8174164"/>
            <a:ext cx="440055" cy="330327"/>
            <a:chOff x="0" y="0"/>
            <a:chExt cx="586740" cy="440436"/>
          </a:xfrm>
        </p:grpSpPr>
        <p:sp>
          <p:nvSpPr>
            <p:cNvPr name="Freeform 28" id="28"/>
            <p:cNvSpPr/>
            <p:nvPr/>
          </p:nvSpPr>
          <p:spPr>
            <a:xfrm flipH="false" flipV="false" rot="0">
              <a:off x="0" y="0"/>
              <a:ext cx="586740" cy="440436"/>
            </a:xfrm>
            <a:custGeom>
              <a:avLst/>
              <a:gdLst/>
              <a:ahLst/>
              <a:cxnLst/>
              <a:rect r="r" b="b" t="t" l="l"/>
              <a:pathLst>
                <a:path h="440436" w="586740">
                  <a:moveTo>
                    <a:pt x="0" y="100076"/>
                  </a:moveTo>
                  <a:cubicBezTo>
                    <a:pt x="0" y="44831"/>
                    <a:pt x="44831" y="0"/>
                    <a:pt x="100076" y="0"/>
                  </a:cubicBezTo>
                  <a:lnTo>
                    <a:pt x="486664" y="0"/>
                  </a:lnTo>
                  <a:cubicBezTo>
                    <a:pt x="541909" y="0"/>
                    <a:pt x="586740" y="44831"/>
                    <a:pt x="586740" y="100076"/>
                  </a:cubicBezTo>
                  <a:lnTo>
                    <a:pt x="586740" y="340360"/>
                  </a:lnTo>
                  <a:cubicBezTo>
                    <a:pt x="586740" y="395605"/>
                    <a:pt x="541909" y="440436"/>
                    <a:pt x="486664" y="440436"/>
                  </a:cubicBezTo>
                  <a:lnTo>
                    <a:pt x="100076" y="440436"/>
                  </a:lnTo>
                  <a:cubicBezTo>
                    <a:pt x="44831" y="440436"/>
                    <a:pt x="0" y="395605"/>
                    <a:pt x="0" y="340360"/>
                  </a:cubicBezTo>
                  <a:close/>
                </a:path>
              </a:pathLst>
            </a:custGeom>
            <a:solidFill>
              <a:srgbClr val="A8D4FF"/>
            </a:solidFill>
            <a:ln w="28575" cap="sq">
              <a:solidFill>
                <a:srgbClr val="0D417C"/>
              </a:solidFill>
              <a:prstDash val="solid"/>
              <a:miter/>
            </a:ln>
          </p:spPr>
        </p:sp>
      </p:grpSp>
      <p:grpSp>
        <p:nvGrpSpPr>
          <p:cNvPr name="Group 29" id="29"/>
          <p:cNvGrpSpPr/>
          <p:nvPr/>
        </p:nvGrpSpPr>
        <p:grpSpPr>
          <a:xfrm rot="0">
            <a:off x="10424160" y="8092440"/>
            <a:ext cx="1645920" cy="493776"/>
            <a:chOff x="0" y="0"/>
            <a:chExt cx="2194560" cy="658368"/>
          </a:xfrm>
        </p:grpSpPr>
        <p:sp>
          <p:nvSpPr>
            <p:cNvPr name="Freeform 30" id="30"/>
            <p:cNvSpPr/>
            <p:nvPr/>
          </p:nvSpPr>
          <p:spPr>
            <a:xfrm flipH="false" flipV="false" rot="0">
              <a:off x="0" y="0"/>
              <a:ext cx="2194560" cy="658368"/>
            </a:xfrm>
            <a:custGeom>
              <a:avLst/>
              <a:gdLst/>
              <a:ahLst/>
              <a:cxnLst/>
              <a:rect r="r" b="b" t="t" l="l"/>
              <a:pathLst>
                <a:path h="658368" w="2194560">
                  <a:moveTo>
                    <a:pt x="0" y="0"/>
                  </a:moveTo>
                  <a:lnTo>
                    <a:pt x="2194560" y="0"/>
                  </a:lnTo>
                  <a:lnTo>
                    <a:pt x="2194560" y="658368"/>
                  </a:lnTo>
                  <a:lnTo>
                    <a:pt x="0" y="658368"/>
                  </a:lnTo>
                  <a:close/>
                </a:path>
              </a:pathLst>
            </a:custGeom>
            <a:blipFill>
              <a:blip r:embed="rId2">
                <a:alphaModFix amt="0"/>
              </a:blip>
              <a:stretch>
                <a:fillRect l="0" t="-14950" r="0" b="-14950"/>
              </a:stretch>
            </a:blipFill>
          </p:spPr>
        </p:sp>
        <p:sp>
          <p:nvSpPr>
            <p:cNvPr name="TextBox 31" id="31"/>
            <p:cNvSpPr txBox="true"/>
            <p:nvPr/>
          </p:nvSpPr>
          <p:spPr>
            <a:xfrm>
              <a:off x="0" y="-47625"/>
              <a:ext cx="2194560" cy="705993"/>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LLM call</a:t>
              </a:r>
            </a:p>
          </p:txBody>
        </p:sp>
      </p:grpSp>
      <p:grpSp>
        <p:nvGrpSpPr>
          <p:cNvPr name="Group 32" id="32"/>
          <p:cNvGrpSpPr/>
          <p:nvPr/>
        </p:nvGrpSpPr>
        <p:grpSpPr>
          <a:xfrm rot="0">
            <a:off x="11987212" y="8174164"/>
            <a:ext cx="440055" cy="330327"/>
            <a:chOff x="0" y="0"/>
            <a:chExt cx="586740" cy="440436"/>
          </a:xfrm>
        </p:grpSpPr>
        <p:sp>
          <p:nvSpPr>
            <p:cNvPr name="Freeform 33" id="33"/>
            <p:cNvSpPr/>
            <p:nvPr/>
          </p:nvSpPr>
          <p:spPr>
            <a:xfrm flipH="false" flipV="false" rot="0">
              <a:off x="0" y="0"/>
              <a:ext cx="586740" cy="440436"/>
            </a:xfrm>
            <a:custGeom>
              <a:avLst/>
              <a:gdLst/>
              <a:ahLst/>
              <a:cxnLst/>
              <a:rect r="r" b="b" t="t" l="l"/>
              <a:pathLst>
                <a:path h="440436" w="586740">
                  <a:moveTo>
                    <a:pt x="0" y="100076"/>
                  </a:moveTo>
                  <a:cubicBezTo>
                    <a:pt x="0" y="44831"/>
                    <a:pt x="44831" y="0"/>
                    <a:pt x="100076" y="0"/>
                  </a:cubicBezTo>
                  <a:lnTo>
                    <a:pt x="486664" y="0"/>
                  </a:lnTo>
                  <a:cubicBezTo>
                    <a:pt x="541909" y="0"/>
                    <a:pt x="586740" y="44831"/>
                    <a:pt x="586740" y="100076"/>
                  </a:cubicBezTo>
                  <a:lnTo>
                    <a:pt x="586740" y="340360"/>
                  </a:lnTo>
                  <a:cubicBezTo>
                    <a:pt x="586740" y="395605"/>
                    <a:pt x="541909" y="440436"/>
                    <a:pt x="486664" y="440436"/>
                  </a:cubicBezTo>
                  <a:lnTo>
                    <a:pt x="100076" y="440436"/>
                  </a:lnTo>
                  <a:cubicBezTo>
                    <a:pt x="44831" y="440436"/>
                    <a:pt x="0" y="395605"/>
                    <a:pt x="0" y="340360"/>
                  </a:cubicBezTo>
                  <a:close/>
                </a:path>
              </a:pathLst>
            </a:custGeom>
            <a:solidFill>
              <a:srgbClr val="0493FB"/>
            </a:solidFill>
            <a:ln w="28575" cap="sq">
              <a:solidFill>
                <a:srgbClr val="0D417C"/>
              </a:solidFill>
              <a:prstDash val="solid"/>
              <a:miter/>
            </a:ln>
          </p:spPr>
        </p:sp>
      </p:grpSp>
      <p:grpSp>
        <p:nvGrpSpPr>
          <p:cNvPr name="Group 34" id="34"/>
          <p:cNvGrpSpPr/>
          <p:nvPr/>
        </p:nvGrpSpPr>
        <p:grpSpPr>
          <a:xfrm rot="0">
            <a:off x="12550140" y="8092440"/>
            <a:ext cx="1920240" cy="493776"/>
            <a:chOff x="0" y="0"/>
            <a:chExt cx="2560320" cy="658368"/>
          </a:xfrm>
        </p:grpSpPr>
        <p:sp>
          <p:nvSpPr>
            <p:cNvPr name="Freeform 35" id="35"/>
            <p:cNvSpPr/>
            <p:nvPr/>
          </p:nvSpPr>
          <p:spPr>
            <a:xfrm flipH="false" flipV="false" rot="0">
              <a:off x="0" y="0"/>
              <a:ext cx="2560320" cy="658368"/>
            </a:xfrm>
            <a:custGeom>
              <a:avLst/>
              <a:gdLst/>
              <a:ahLst/>
              <a:cxnLst/>
              <a:rect r="r" b="b" t="t" l="l"/>
              <a:pathLst>
                <a:path h="658368" w="2560320">
                  <a:moveTo>
                    <a:pt x="0" y="0"/>
                  </a:moveTo>
                  <a:lnTo>
                    <a:pt x="2560320" y="0"/>
                  </a:lnTo>
                  <a:lnTo>
                    <a:pt x="2560320" y="658368"/>
                  </a:lnTo>
                  <a:lnTo>
                    <a:pt x="0" y="658368"/>
                  </a:lnTo>
                  <a:close/>
                </a:path>
              </a:pathLst>
            </a:custGeom>
            <a:blipFill>
              <a:blip r:embed="rId2">
                <a:alphaModFix amt="0"/>
              </a:blip>
              <a:stretch>
                <a:fillRect l="0" t="-25775" r="0" b="-25775"/>
              </a:stretch>
            </a:blipFill>
          </p:spPr>
        </p:sp>
        <p:sp>
          <p:nvSpPr>
            <p:cNvPr name="TextBox 36" id="36"/>
            <p:cNvSpPr txBox="true"/>
            <p:nvPr/>
          </p:nvSpPr>
          <p:spPr>
            <a:xfrm>
              <a:off x="0" y="-47625"/>
              <a:ext cx="2560320" cy="705993"/>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plain code</a:t>
              </a:r>
            </a:p>
          </p:txBody>
        </p:sp>
      </p:grpSp>
      <p:grpSp>
        <p:nvGrpSpPr>
          <p:cNvPr name="Group 37" id="37"/>
          <p:cNvGrpSpPr/>
          <p:nvPr/>
        </p:nvGrpSpPr>
        <p:grpSpPr>
          <a:xfrm rot="0">
            <a:off x="850392" y="1345721"/>
            <a:ext cx="6016459" cy="834551"/>
            <a:chOff x="0" y="0"/>
            <a:chExt cx="1584582" cy="219800"/>
          </a:xfrm>
        </p:grpSpPr>
        <p:sp>
          <p:nvSpPr>
            <p:cNvPr name="Freeform 38" id="38"/>
            <p:cNvSpPr/>
            <p:nvPr/>
          </p:nvSpPr>
          <p:spPr>
            <a:xfrm flipH="false" flipV="false" rot="0">
              <a:off x="0" y="0"/>
              <a:ext cx="1584582" cy="219800"/>
            </a:xfrm>
            <a:custGeom>
              <a:avLst/>
              <a:gdLst/>
              <a:ahLst/>
              <a:cxnLst/>
              <a:rect r="r" b="b" t="t" l="l"/>
              <a:pathLst>
                <a:path h="219800" w="1584582">
                  <a:moveTo>
                    <a:pt x="0" y="0"/>
                  </a:moveTo>
                  <a:lnTo>
                    <a:pt x="1584582" y="0"/>
                  </a:lnTo>
                  <a:lnTo>
                    <a:pt x="1584582" y="219800"/>
                  </a:lnTo>
                  <a:lnTo>
                    <a:pt x="0" y="219800"/>
                  </a:lnTo>
                  <a:close/>
                </a:path>
              </a:pathLst>
            </a:custGeom>
            <a:solidFill>
              <a:srgbClr val="0493FB"/>
            </a:solidFill>
          </p:spPr>
        </p:sp>
        <p:sp>
          <p:nvSpPr>
            <p:cNvPr name="TextBox 39" id="39"/>
            <p:cNvSpPr txBox="true"/>
            <p:nvPr/>
          </p:nvSpPr>
          <p:spPr>
            <a:xfrm>
              <a:off x="0" y="-57150"/>
              <a:ext cx="1584582" cy="276950"/>
            </a:xfrm>
            <a:prstGeom prst="rect">
              <a:avLst/>
            </a:prstGeom>
          </p:spPr>
          <p:txBody>
            <a:bodyPr anchor="ctr" rtlCol="false" tIns="50800" lIns="50800" bIns="50800" rIns="50800"/>
            <a:lstStyle/>
            <a:p>
              <a:pPr algn="ctr">
                <a:lnSpc>
                  <a:spcPts val="2700"/>
                </a:lnSpc>
              </a:pPr>
            </a:p>
          </p:txBody>
        </p:sp>
      </p:grpSp>
      <p:sp>
        <p:nvSpPr>
          <p:cNvPr name="TextBox 40" id="40"/>
          <p:cNvSpPr txBox="true"/>
          <p:nvPr/>
        </p:nvSpPr>
        <p:spPr>
          <a:xfrm rot="0">
            <a:off x="1068133" y="530254"/>
            <a:ext cx="9260586"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Agent Loop</a:t>
            </a:r>
          </a:p>
        </p:txBody>
      </p:sp>
    </p:spTree>
  </p:cSld>
  <p:clrMapOvr>
    <a:masterClrMapping/>
  </p:clrMapOvr>
</p:sld>
</file>

<file path=ppt/slides/slide18.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4759452" y="2866072"/>
            <a:ext cx="2360295" cy="988695"/>
            <a:chOff x="0" y="0"/>
            <a:chExt cx="3147060" cy="1318260"/>
          </a:xfrm>
        </p:grpSpPr>
        <p:sp>
          <p:nvSpPr>
            <p:cNvPr name="Freeform 3" id="3"/>
            <p:cNvSpPr/>
            <p:nvPr/>
          </p:nvSpPr>
          <p:spPr>
            <a:xfrm flipH="false" flipV="false" rot="0">
              <a:off x="0" y="0"/>
              <a:ext cx="3147060" cy="1318260"/>
            </a:xfrm>
            <a:custGeom>
              <a:avLst/>
              <a:gdLst/>
              <a:ahLst/>
              <a:cxnLst/>
              <a:rect r="r" b="b" t="t" l="l"/>
              <a:pathLst>
                <a:path h="1318260" w="3147060">
                  <a:moveTo>
                    <a:pt x="0" y="225933"/>
                  </a:moveTo>
                  <a:cubicBezTo>
                    <a:pt x="0" y="101219"/>
                    <a:pt x="101219" y="0"/>
                    <a:pt x="225933" y="0"/>
                  </a:cubicBezTo>
                  <a:lnTo>
                    <a:pt x="2921127" y="0"/>
                  </a:lnTo>
                  <a:cubicBezTo>
                    <a:pt x="3045968" y="0"/>
                    <a:pt x="3147060" y="101219"/>
                    <a:pt x="3147060" y="225933"/>
                  </a:cubicBezTo>
                  <a:lnTo>
                    <a:pt x="3147060" y="1092327"/>
                  </a:lnTo>
                  <a:cubicBezTo>
                    <a:pt x="3147060" y="1217168"/>
                    <a:pt x="3045841" y="1318260"/>
                    <a:pt x="2921127" y="1318260"/>
                  </a:cubicBezTo>
                  <a:lnTo>
                    <a:pt x="225933" y="1318260"/>
                  </a:lnTo>
                  <a:cubicBezTo>
                    <a:pt x="101219" y="1318260"/>
                    <a:pt x="0" y="1217041"/>
                    <a:pt x="0" y="1092327"/>
                  </a:cubicBezTo>
                  <a:close/>
                </a:path>
              </a:pathLst>
            </a:custGeom>
            <a:solidFill>
              <a:srgbClr val="FFFFFF"/>
            </a:solidFill>
            <a:ln w="28575" cap="sq">
              <a:solidFill>
                <a:srgbClr val="FFFFFF"/>
              </a:solidFill>
              <a:prstDash val="solid"/>
              <a:miter/>
            </a:ln>
          </p:spPr>
        </p:sp>
        <p:sp>
          <p:nvSpPr>
            <p:cNvPr name="TextBox 4" id="4"/>
            <p:cNvSpPr txBox="true"/>
            <p:nvPr/>
          </p:nvSpPr>
          <p:spPr>
            <a:xfrm>
              <a:off x="0" y="-38100"/>
              <a:ext cx="3147060" cy="1356360"/>
            </a:xfrm>
            <a:prstGeom prst="rect">
              <a:avLst/>
            </a:prstGeom>
          </p:spPr>
          <p:txBody>
            <a:bodyPr anchor="ctr" rtlCol="false" tIns="50800" lIns="50800" bIns="50800" rIns="50800"/>
            <a:lstStyle/>
            <a:p>
              <a:pPr algn="ctr">
                <a:lnSpc>
                  <a:spcPts val="2879"/>
                </a:lnSpc>
              </a:pPr>
              <a:r>
                <a:rPr lang="en-US" sz="2400">
                  <a:solidFill>
                    <a:srgbClr val="1B1F3B"/>
                  </a:solidFill>
                  <a:latin typeface="Calibri (MS)"/>
                  <a:ea typeface="Calibri (MS)"/>
                  <a:cs typeface="Calibri (MS)"/>
                  <a:sym typeface="Calibri (MS)"/>
                </a:rPr>
                <a:t>Ticket</a:t>
              </a:r>
            </a:p>
          </p:txBody>
        </p:sp>
      </p:grpSp>
      <p:sp>
        <p:nvSpPr>
          <p:cNvPr name="AutoShape 5" id="5"/>
          <p:cNvSpPr/>
          <p:nvPr/>
        </p:nvSpPr>
        <p:spPr>
          <a:xfrm>
            <a:off x="5960020" y="3854767"/>
            <a:ext cx="0" cy="1170622"/>
          </a:xfrm>
          <a:prstGeom prst="line">
            <a:avLst/>
          </a:prstGeom>
          <a:ln cap="rnd" w="19050">
            <a:solidFill>
              <a:srgbClr val="8D99AE"/>
            </a:solidFill>
            <a:prstDash val="solid"/>
            <a:headEnd type="none" len="sm" w="sm"/>
            <a:tailEnd type="triangle" len="med" w="lg"/>
          </a:ln>
        </p:spPr>
      </p:sp>
      <p:grpSp>
        <p:nvGrpSpPr>
          <p:cNvPr name="Group 6" id="6"/>
          <p:cNvGrpSpPr/>
          <p:nvPr/>
        </p:nvGrpSpPr>
        <p:grpSpPr>
          <a:xfrm rot="0">
            <a:off x="4142232" y="5129212"/>
            <a:ext cx="3594735" cy="1400175"/>
            <a:chOff x="0" y="0"/>
            <a:chExt cx="4792980" cy="1866900"/>
          </a:xfrm>
        </p:grpSpPr>
        <p:sp>
          <p:nvSpPr>
            <p:cNvPr name="Freeform 7" id="7"/>
            <p:cNvSpPr/>
            <p:nvPr/>
          </p:nvSpPr>
          <p:spPr>
            <a:xfrm flipH="false" flipV="false" rot="0">
              <a:off x="0" y="0"/>
              <a:ext cx="4792980" cy="1866900"/>
            </a:xfrm>
            <a:custGeom>
              <a:avLst/>
              <a:gdLst/>
              <a:ahLst/>
              <a:cxnLst/>
              <a:rect r="r" b="b" t="t" l="l"/>
              <a:pathLst>
                <a:path h="1866900" w="4792980">
                  <a:moveTo>
                    <a:pt x="0" y="224028"/>
                  </a:moveTo>
                  <a:cubicBezTo>
                    <a:pt x="0" y="100330"/>
                    <a:pt x="100330" y="0"/>
                    <a:pt x="224028" y="0"/>
                  </a:cubicBezTo>
                  <a:lnTo>
                    <a:pt x="4568952" y="0"/>
                  </a:lnTo>
                  <a:cubicBezTo>
                    <a:pt x="4692650" y="0"/>
                    <a:pt x="4792980" y="100330"/>
                    <a:pt x="4792980" y="224028"/>
                  </a:cubicBezTo>
                  <a:lnTo>
                    <a:pt x="4792980" y="1642872"/>
                  </a:lnTo>
                  <a:cubicBezTo>
                    <a:pt x="4792980" y="1766570"/>
                    <a:pt x="4692650" y="1866900"/>
                    <a:pt x="4568952" y="1866900"/>
                  </a:cubicBezTo>
                  <a:lnTo>
                    <a:pt x="224028" y="1866900"/>
                  </a:lnTo>
                  <a:cubicBezTo>
                    <a:pt x="100330" y="1866900"/>
                    <a:pt x="0" y="1766570"/>
                    <a:pt x="0" y="1642872"/>
                  </a:cubicBezTo>
                  <a:close/>
                </a:path>
              </a:pathLst>
            </a:custGeom>
            <a:solidFill>
              <a:srgbClr val="1B1F3B"/>
            </a:solidFill>
            <a:ln w="28575" cap="sq">
              <a:solidFill>
                <a:srgbClr val="1B1F3B"/>
              </a:solidFill>
              <a:prstDash val="solid"/>
              <a:miter/>
            </a:ln>
          </p:spPr>
        </p:sp>
        <p:sp>
          <p:nvSpPr>
            <p:cNvPr name="TextBox 8" id="8"/>
            <p:cNvSpPr txBox="true"/>
            <p:nvPr/>
          </p:nvSpPr>
          <p:spPr>
            <a:xfrm>
              <a:off x="0" y="-66675"/>
              <a:ext cx="4792980" cy="1933575"/>
            </a:xfrm>
            <a:prstGeom prst="rect">
              <a:avLst/>
            </a:prstGeom>
          </p:spPr>
          <p:txBody>
            <a:bodyPr anchor="ctr" rtlCol="false" tIns="50800" lIns="50800" bIns="50800" rIns="50800"/>
            <a:lstStyle/>
            <a:p>
              <a:pPr algn="ctr">
                <a:lnSpc>
                  <a:spcPts val="3600"/>
                </a:lnSpc>
              </a:pPr>
              <a:r>
                <a:rPr lang="en-US" sz="3000" b="true">
                  <a:solidFill>
                    <a:srgbClr val="FFFFFF"/>
                  </a:solidFill>
                  <a:latin typeface="Calibri (MS) Bold"/>
                  <a:ea typeface="Calibri (MS) Bold"/>
                  <a:cs typeface="Calibri (MS) Bold"/>
                  <a:sym typeface="Calibri (MS) Bold"/>
                </a:rPr>
                <a:t>Controller</a:t>
              </a:r>
            </a:p>
          </p:txBody>
        </p:sp>
      </p:grpSp>
      <p:grpSp>
        <p:nvGrpSpPr>
          <p:cNvPr name="Group 9" id="9"/>
          <p:cNvGrpSpPr/>
          <p:nvPr/>
        </p:nvGrpSpPr>
        <p:grpSpPr>
          <a:xfrm rot="0">
            <a:off x="850392" y="5266372"/>
            <a:ext cx="2360295" cy="1125855"/>
            <a:chOff x="0" y="0"/>
            <a:chExt cx="3147060" cy="1501140"/>
          </a:xfrm>
        </p:grpSpPr>
        <p:sp>
          <p:nvSpPr>
            <p:cNvPr name="Freeform 10" id="10"/>
            <p:cNvSpPr/>
            <p:nvPr/>
          </p:nvSpPr>
          <p:spPr>
            <a:xfrm flipH="false" flipV="false" rot="0">
              <a:off x="0" y="0"/>
              <a:ext cx="3147060" cy="1501140"/>
            </a:xfrm>
            <a:custGeom>
              <a:avLst/>
              <a:gdLst/>
              <a:ahLst/>
              <a:cxnLst/>
              <a:rect r="r" b="b" t="t" l="l"/>
              <a:pathLst>
                <a:path h="1501140" w="3147060">
                  <a:moveTo>
                    <a:pt x="0" y="225171"/>
                  </a:moveTo>
                  <a:cubicBezTo>
                    <a:pt x="0" y="100838"/>
                    <a:pt x="100838" y="0"/>
                    <a:pt x="225171" y="0"/>
                  </a:cubicBezTo>
                  <a:lnTo>
                    <a:pt x="2921889" y="0"/>
                  </a:lnTo>
                  <a:cubicBezTo>
                    <a:pt x="3046222" y="0"/>
                    <a:pt x="3147060" y="100838"/>
                    <a:pt x="3147060" y="225171"/>
                  </a:cubicBezTo>
                  <a:lnTo>
                    <a:pt x="3147060" y="1275969"/>
                  </a:lnTo>
                  <a:cubicBezTo>
                    <a:pt x="3147060" y="1400302"/>
                    <a:pt x="3046222" y="1501140"/>
                    <a:pt x="2921889" y="1501140"/>
                  </a:cubicBezTo>
                  <a:lnTo>
                    <a:pt x="225171" y="1501140"/>
                  </a:lnTo>
                  <a:cubicBezTo>
                    <a:pt x="100838" y="1501140"/>
                    <a:pt x="0" y="1400302"/>
                    <a:pt x="0" y="1275969"/>
                  </a:cubicBezTo>
                  <a:close/>
                </a:path>
              </a:pathLst>
            </a:custGeom>
            <a:solidFill>
              <a:srgbClr val="0493FB"/>
            </a:solidFill>
            <a:ln w="28575" cap="sq">
              <a:solidFill>
                <a:srgbClr val="0493FB"/>
              </a:solidFill>
              <a:prstDash val="solid"/>
              <a:miter/>
            </a:ln>
          </p:spPr>
        </p:sp>
        <p:sp>
          <p:nvSpPr>
            <p:cNvPr name="TextBox 11" id="11"/>
            <p:cNvSpPr txBox="true"/>
            <p:nvPr/>
          </p:nvSpPr>
          <p:spPr>
            <a:xfrm>
              <a:off x="0" y="-57150"/>
              <a:ext cx="3147060" cy="155829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Model</a:t>
              </a:r>
            </a:p>
          </p:txBody>
        </p:sp>
      </p:grpSp>
      <p:sp>
        <p:nvSpPr>
          <p:cNvPr name="AutoShape 12" id="12"/>
          <p:cNvSpPr/>
          <p:nvPr/>
        </p:nvSpPr>
        <p:spPr>
          <a:xfrm>
            <a:off x="3210687" y="5849725"/>
            <a:ext cx="855159" cy="0"/>
          </a:xfrm>
          <a:prstGeom prst="line">
            <a:avLst/>
          </a:prstGeom>
          <a:ln cap="rnd" w="19050">
            <a:solidFill>
              <a:srgbClr val="8D99AE"/>
            </a:solidFill>
            <a:prstDash val="solid"/>
            <a:headEnd type="triangle" len="med" w="lg"/>
            <a:tailEnd type="triangle" len="med" w="lg"/>
          </a:ln>
        </p:spPr>
      </p:sp>
      <p:grpSp>
        <p:nvGrpSpPr>
          <p:cNvPr name="Group 13" id="13"/>
          <p:cNvGrpSpPr/>
          <p:nvPr/>
        </p:nvGrpSpPr>
        <p:grpSpPr>
          <a:xfrm rot="0">
            <a:off x="8668512" y="5266372"/>
            <a:ext cx="2360295" cy="1125855"/>
            <a:chOff x="0" y="0"/>
            <a:chExt cx="3147060" cy="1501140"/>
          </a:xfrm>
        </p:grpSpPr>
        <p:sp>
          <p:nvSpPr>
            <p:cNvPr name="Freeform 14" id="14"/>
            <p:cNvSpPr/>
            <p:nvPr/>
          </p:nvSpPr>
          <p:spPr>
            <a:xfrm flipH="false" flipV="false" rot="0">
              <a:off x="0" y="0"/>
              <a:ext cx="3147060" cy="1501140"/>
            </a:xfrm>
            <a:custGeom>
              <a:avLst/>
              <a:gdLst/>
              <a:ahLst/>
              <a:cxnLst/>
              <a:rect r="r" b="b" t="t" l="l"/>
              <a:pathLst>
                <a:path h="1501140" w="3147060">
                  <a:moveTo>
                    <a:pt x="0" y="225171"/>
                  </a:moveTo>
                  <a:cubicBezTo>
                    <a:pt x="0" y="100838"/>
                    <a:pt x="100838" y="0"/>
                    <a:pt x="225171" y="0"/>
                  </a:cubicBezTo>
                  <a:lnTo>
                    <a:pt x="2921889" y="0"/>
                  </a:lnTo>
                  <a:cubicBezTo>
                    <a:pt x="3046222" y="0"/>
                    <a:pt x="3147060" y="100838"/>
                    <a:pt x="3147060" y="225171"/>
                  </a:cubicBezTo>
                  <a:lnTo>
                    <a:pt x="3147060" y="1275969"/>
                  </a:lnTo>
                  <a:cubicBezTo>
                    <a:pt x="3147060" y="1400302"/>
                    <a:pt x="3046222" y="1501140"/>
                    <a:pt x="2921889" y="1501140"/>
                  </a:cubicBezTo>
                  <a:lnTo>
                    <a:pt x="225171" y="1501140"/>
                  </a:lnTo>
                  <a:cubicBezTo>
                    <a:pt x="100838" y="1501140"/>
                    <a:pt x="0" y="1400302"/>
                    <a:pt x="0" y="1275969"/>
                  </a:cubicBezTo>
                  <a:close/>
                </a:path>
              </a:pathLst>
            </a:custGeom>
            <a:solidFill>
              <a:srgbClr val="FFFFFF"/>
            </a:solidFill>
            <a:ln w="28575" cap="sq">
              <a:solidFill>
                <a:srgbClr val="8D99AE"/>
              </a:solidFill>
              <a:prstDash val="dash"/>
              <a:miter/>
            </a:ln>
          </p:spPr>
        </p:sp>
        <p:sp>
          <p:nvSpPr>
            <p:cNvPr name="TextBox 15" id="15"/>
            <p:cNvSpPr txBox="true"/>
            <p:nvPr/>
          </p:nvSpPr>
          <p:spPr>
            <a:xfrm>
              <a:off x="0" y="-57150"/>
              <a:ext cx="3147060" cy="1558290"/>
            </a:xfrm>
            <a:prstGeom prst="rect">
              <a:avLst/>
            </a:prstGeom>
          </p:spPr>
          <p:txBody>
            <a:bodyPr anchor="ctr" rtlCol="false" tIns="50800" lIns="50800" bIns="50800" rIns="50800"/>
            <a:lstStyle/>
            <a:p>
              <a:pPr algn="ctr">
                <a:lnSpc>
                  <a:spcPts val="3240"/>
                </a:lnSpc>
              </a:pPr>
              <a:r>
                <a:rPr lang="en-US" sz="2700">
                  <a:solidFill>
                    <a:srgbClr val="0D1B34"/>
                  </a:solidFill>
                  <a:latin typeface="Calibri (MS)"/>
                  <a:ea typeface="Calibri (MS)"/>
                  <a:cs typeface="Calibri (MS)"/>
                  <a:sym typeface="Calibri (MS)"/>
                </a:rPr>
                <a:t>Tools</a:t>
              </a:r>
            </a:p>
          </p:txBody>
        </p:sp>
      </p:grpSp>
      <p:sp>
        <p:nvSpPr>
          <p:cNvPr name="AutoShape 16" id="16"/>
          <p:cNvSpPr/>
          <p:nvPr/>
        </p:nvSpPr>
        <p:spPr>
          <a:xfrm>
            <a:off x="7736967" y="5849725"/>
            <a:ext cx="855159" cy="0"/>
          </a:xfrm>
          <a:prstGeom prst="line">
            <a:avLst/>
          </a:prstGeom>
          <a:ln cap="rnd" w="19050">
            <a:solidFill>
              <a:srgbClr val="8D99AE"/>
            </a:solidFill>
            <a:prstDash val="solid"/>
            <a:headEnd type="triangle" len="med" w="lg"/>
            <a:tailEnd type="triangle" len="med" w="lg"/>
          </a:ln>
        </p:spPr>
      </p:sp>
      <p:grpSp>
        <p:nvGrpSpPr>
          <p:cNvPr name="Group 17" id="17"/>
          <p:cNvGrpSpPr/>
          <p:nvPr/>
        </p:nvGrpSpPr>
        <p:grpSpPr>
          <a:xfrm rot="0">
            <a:off x="4759452" y="7666672"/>
            <a:ext cx="2360295" cy="1125855"/>
            <a:chOff x="0" y="0"/>
            <a:chExt cx="3147060" cy="1501140"/>
          </a:xfrm>
        </p:grpSpPr>
        <p:sp>
          <p:nvSpPr>
            <p:cNvPr name="Freeform 18" id="18"/>
            <p:cNvSpPr/>
            <p:nvPr/>
          </p:nvSpPr>
          <p:spPr>
            <a:xfrm flipH="false" flipV="false" rot="0">
              <a:off x="0" y="0"/>
              <a:ext cx="3147060" cy="1501140"/>
            </a:xfrm>
            <a:custGeom>
              <a:avLst/>
              <a:gdLst/>
              <a:ahLst/>
              <a:cxnLst/>
              <a:rect r="r" b="b" t="t" l="l"/>
              <a:pathLst>
                <a:path h="1501140" w="3147060">
                  <a:moveTo>
                    <a:pt x="0" y="225171"/>
                  </a:moveTo>
                  <a:cubicBezTo>
                    <a:pt x="0" y="100838"/>
                    <a:pt x="100838" y="0"/>
                    <a:pt x="225171" y="0"/>
                  </a:cubicBezTo>
                  <a:lnTo>
                    <a:pt x="2921889" y="0"/>
                  </a:lnTo>
                  <a:cubicBezTo>
                    <a:pt x="3046222" y="0"/>
                    <a:pt x="3147060" y="100838"/>
                    <a:pt x="3147060" y="225171"/>
                  </a:cubicBezTo>
                  <a:lnTo>
                    <a:pt x="3147060" y="1275969"/>
                  </a:lnTo>
                  <a:cubicBezTo>
                    <a:pt x="3147060" y="1400302"/>
                    <a:pt x="3046222" y="1501140"/>
                    <a:pt x="2921889" y="1501140"/>
                  </a:cubicBezTo>
                  <a:lnTo>
                    <a:pt x="225171" y="1501140"/>
                  </a:lnTo>
                  <a:cubicBezTo>
                    <a:pt x="100838" y="1501140"/>
                    <a:pt x="0" y="1400302"/>
                    <a:pt x="0" y="1275969"/>
                  </a:cubicBezTo>
                  <a:close/>
                </a:path>
              </a:pathLst>
            </a:custGeom>
            <a:solidFill>
              <a:srgbClr val="3D5A80"/>
            </a:solidFill>
            <a:ln w="28575" cap="sq">
              <a:solidFill>
                <a:srgbClr val="3D5A80"/>
              </a:solidFill>
              <a:prstDash val="solid"/>
              <a:miter/>
            </a:ln>
          </p:spPr>
        </p:sp>
        <p:sp>
          <p:nvSpPr>
            <p:cNvPr name="TextBox 19" id="19"/>
            <p:cNvSpPr txBox="true"/>
            <p:nvPr/>
          </p:nvSpPr>
          <p:spPr>
            <a:xfrm>
              <a:off x="0" y="-57150"/>
              <a:ext cx="3147060" cy="155829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Memory</a:t>
              </a:r>
            </a:p>
          </p:txBody>
        </p:sp>
      </p:grpSp>
      <p:sp>
        <p:nvSpPr>
          <p:cNvPr name="AutoShape 20" id="20"/>
          <p:cNvSpPr/>
          <p:nvPr/>
        </p:nvSpPr>
        <p:spPr>
          <a:xfrm>
            <a:off x="5920544" y="6605778"/>
            <a:ext cx="0" cy="1060894"/>
          </a:xfrm>
          <a:prstGeom prst="line">
            <a:avLst/>
          </a:prstGeom>
          <a:ln cap="rnd" w="19050">
            <a:solidFill>
              <a:srgbClr val="8D99AE"/>
            </a:solidFill>
            <a:prstDash val="solid"/>
            <a:headEnd type="triangle" len="med" w="lg"/>
            <a:tailEnd type="triangle" len="med" w="lg"/>
          </a:ln>
        </p:spPr>
      </p:sp>
      <p:sp>
        <p:nvSpPr>
          <p:cNvPr name="TextBox 21" id="21"/>
          <p:cNvSpPr txBox="true"/>
          <p:nvPr/>
        </p:nvSpPr>
        <p:spPr>
          <a:xfrm rot="0">
            <a:off x="11795760" y="2607945"/>
            <a:ext cx="5623560" cy="615315"/>
          </a:xfrm>
          <a:prstGeom prst="rect">
            <a:avLst/>
          </a:prstGeom>
        </p:spPr>
        <p:txBody>
          <a:bodyPr anchor="t" rtlCol="false" tIns="0" lIns="0" bIns="0" rIns="0">
            <a:spAutoFit/>
          </a:bodyPr>
          <a:lstStyle/>
          <a:p>
            <a:pPr algn="l">
              <a:lnSpc>
                <a:spcPts val="3600"/>
              </a:lnSpc>
            </a:pPr>
            <a:r>
              <a:rPr lang="en-US" b="true" sz="3000">
                <a:solidFill>
                  <a:srgbClr val="0493FB"/>
                </a:solidFill>
                <a:latin typeface="Calibri (MS) Bold"/>
                <a:ea typeface="Calibri (MS) Bold"/>
                <a:cs typeface="Calibri (MS) Bold"/>
                <a:sym typeface="Calibri (MS) Bold"/>
              </a:rPr>
              <a:t>Model</a:t>
            </a:r>
          </a:p>
        </p:txBody>
      </p:sp>
      <p:sp>
        <p:nvSpPr>
          <p:cNvPr name="TextBox 22" id="22"/>
          <p:cNvSpPr txBox="true"/>
          <p:nvPr/>
        </p:nvSpPr>
        <p:spPr>
          <a:xfrm rot="0">
            <a:off x="11795760" y="3212592"/>
            <a:ext cx="5623560" cy="72390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the reasoning engine</a:t>
            </a:r>
          </a:p>
        </p:txBody>
      </p:sp>
      <p:sp>
        <p:nvSpPr>
          <p:cNvPr name="TextBox 23" id="23"/>
          <p:cNvSpPr txBox="true"/>
          <p:nvPr/>
        </p:nvSpPr>
        <p:spPr>
          <a:xfrm rot="0">
            <a:off x="11795760" y="4048125"/>
            <a:ext cx="5623560" cy="615315"/>
          </a:xfrm>
          <a:prstGeom prst="rect">
            <a:avLst/>
          </a:prstGeom>
        </p:spPr>
        <p:txBody>
          <a:bodyPr anchor="t" rtlCol="false" tIns="0" lIns="0" bIns="0" rIns="0">
            <a:spAutoFit/>
          </a:bodyPr>
          <a:lstStyle/>
          <a:p>
            <a:pPr algn="l">
              <a:lnSpc>
                <a:spcPts val="3600"/>
              </a:lnSpc>
            </a:pPr>
            <a:r>
              <a:rPr lang="en-US" b="true" sz="3000">
                <a:solidFill>
                  <a:srgbClr val="0493FB"/>
                </a:solidFill>
                <a:latin typeface="Calibri (MS) Bold"/>
                <a:ea typeface="Calibri (MS) Bold"/>
                <a:cs typeface="Calibri (MS) Bold"/>
                <a:sym typeface="Calibri (MS) Bold"/>
              </a:rPr>
              <a:t>Tools</a:t>
            </a:r>
          </a:p>
        </p:txBody>
      </p:sp>
      <p:sp>
        <p:nvSpPr>
          <p:cNvPr name="TextBox 24" id="24"/>
          <p:cNvSpPr txBox="true"/>
          <p:nvPr/>
        </p:nvSpPr>
        <p:spPr>
          <a:xfrm rot="0">
            <a:off x="11795760" y="4652772"/>
            <a:ext cx="5623560" cy="72390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the hands — not built today</a:t>
            </a:r>
          </a:p>
        </p:txBody>
      </p:sp>
      <p:sp>
        <p:nvSpPr>
          <p:cNvPr name="TextBox 25" id="25"/>
          <p:cNvSpPr txBox="true"/>
          <p:nvPr/>
        </p:nvSpPr>
        <p:spPr>
          <a:xfrm rot="0">
            <a:off x="11795760" y="5488305"/>
            <a:ext cx="5623560" cy="615315"/>
          </a:xfrm>
          <a:prstGeom prst="rect">
            <a:avLst/>
          </a:prstGeom>
        </p:spPr>
        <p:txBody>
          <a:bodyPr anchor="t" rtlCol="false" tIns="0" lIns="0" bIns="0" rIns="0">
            <a:spAutoFit/>
          </a:bodyPr>
          <a:lstStyle/>
          <a:p>
            <a:pPr algn="l">
              <a:lnSpc>
                <a:spcPts val="3600"/>
              </a:lnSpc>
            </a:pPr>
            <a:r>
              <a:rPr lang="en-US" b="true" sz="3000">
                <a:solidFill>
                  <a:srgbClr val="0493FB"/>
                </a:solidFill>
                <a:latin typeface="Calibri (MS) Bold"/>
                <a:ea typeface="Calibri (MS) Bold"/>
                <a:cs typeface="Calibri (MS) Bold"/>
                <a:sym typeface="Calibri (MS) Bold"/>
              </a:rPr>
              <a:t>Memory</a:t>
            </a:r>
          </a:p>
        </p:txBody>
      </p:sp>
      <p:sp>
        <p:nvSpPr>
          <p:cNvPr name="TextBox 26" id="26"/>
          <p:cNvSpPr txBox="true"/>
          <p:nvPr/>
        </p:nvSpPr>
        <p:spPr>
          <a:xfrm rot="0">
            <a:off x="11795760" y="6092952"/>
            <a:ext cx="5623560" cy="72390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today: the state object</a:t>
            </a:r>
          </a:p>
        </p:txBody>
      </p:sp>
      <p:sp>
        <p:nvSpPr>
          <p:cNvPr name="TextBox 27" id="27"/>
          <p:cNvSpPr txBox="true"/>
          <p:nvPr/>
        </p:nvSpPr>
        <p:spPr>
          <a:xfrm rot="0">
            <a:off x="11795760" y="6928485"/>
            <a:ext cx="5623560" cy="615315"/>
          </a:xfrm>
          <a:prstGeom prst="rect">
            <a:avLst/>
          </a:prstGeom>
        </p:spPr>
        <p:txBody>
          <a:bodyPr anchor="t" rtlCol="false" tIns="0" lIns="0" bIns="0" rIns="0">
            <a:spAutoFit/>
          </a:bodyPr>
          <a:lstStyle/>
          <a:p>
            <a:pPr algn="l">
              <a:lnSpc>
                <a:spcPts val="3600"/>
              </a:lnSpc>
            </a:pPr>
            <a:r>
              <a:rPr lang="en-US" b="true" sz="3000">
                <a:solidFill>
                  <a:srgbClr val="0493FB"/>
                </a:solidFill>
                <a:latin typeface="Calibri (MS) Bold"/>
                <a:ea typeface="Calibri (MS) Bold"/>
                <a:cs typeface="Calibri (MS) Bold"/>
                <a:sym typeface="Calibri (MS) Bold"/>
              </a:rPr>
              <a:t>Controller</a:t>
            </a:r>
          </a:p>
        </p:txBody>
      </p:sp>
      <p:sp>
        <p:nvSpPr>
          <p:cNvPr name="TextBox 28" id="28"/>
          <p:cNvSpPr txBox="true"/>
          <p:nvPr/>
        </p:nvSpPr>
        <p:spPr>
          <a:xfrm rot="0">
            <a:off x="11795760" y="7533132"/>
            <a:ext cx="5623560" cy="72390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the code deciding what’s next — you build this</a:t>
            </a:r>
          </a:p>
        </p:txBody>
      </p:sp>
      <p:grpSp>
        <p:nvGrpSpPr>
          <p:cNvPr name="Group 29" id="29"/>
          <p:cNvGrpSpPr/>
          <p:nvPr/>
        </p:nvGrpSpPr>
        <p:grpSpPr>
          <a:xfrm rot="0">
            <a:off x="850392" y="1345721"/>
            <a:ext cx="8956548" cy="785825"/>
            <a:chOff x="0" y="0"/>
            <a:chExt cx="2358926" cy="206966"/>
          </a:xfrm>
        </p:grpSpPr>
        <p:sp>
          <p:nvSpPr>
            <p:cNvPr name="Freeform 30" id="30"/>
            <p:cNvSpPr/>
            <p:nvPr/>
          </p:nvSpPr>
          <p:spPr>
            <a:xfrm flipH="false" flipV="false" rot="0">
              <a:off x="0" y="0"/>
              <a:ext cx="2358926" cy="206966"/>
            </a:xfrm>
            <a:custGeom>
              <a:avLst/>
              <a:gdLst/>
              <a:ahLst/>
              <a:cxnLst/>
              <a:rect r="r" b="b" t="t" l="l"/>
              <a:pathLst>
                <a:path h="206966" w="2358926">
                  <a:moveTo>
                    <a:pt x="0" y="0"/>
                  </a:moveTo>
                  <a:lnTo>
                    <a:pt x="2358926" y="0"/>
                  </a:lnTo>
                  <a:lnTo>
                    <a:pt x="2358926" y="206966"/>
                  </a:lnTo>
                  <a:lnTo>
                    <a:pt x="0" y="206966"/>
                  </a:lnTo>
                  <a:close/>
                </a:path>
              </a:pathLst>
            </a:custGeom>
            <a:solidFill>
              <a:srgbClr val="0493FB"/>
            </a:solidFill>
          </p:spPr>
        </p:sp>
        <p:sp>
          <p:nvSpPr>
            <p:cNvPr name="TextBox 31" id="31"/>
            <p:cNvSpPr txBox="true"/>
            <p:nvPr/>
          </p:nvSpPr>
          <p:spPr>
            <a:xfrm>
              <a:off x="0" y="-57150"/>
              <a:ext cx="2358926" cy="264116"/>
            </a:xfrm>
            <a:prstGeom prst="rect">
              <a:avLst/>
            </a:prstGeom>
          </p:spPr>
          <p:txBody>
            <a:bodyPr anchor="ctr" rtlCol="false" tIns="50800" lIns="50800" bIns="50800" rIns="50800"/>
            <a:lstStyle/>
            <a:p>
              <a:pPr algn="ctr">
                <a:lnSpc>
                  <a:spcPts val="2700"/>
                </a:lnSpc>
              </a:pPr>
            </a:p>
          </p:txBody>
        </p:sp>
      </p:grpSp>
      <p:sp>
        <p:nvSpPr>
          <p:cNvPr name="TextBox 32" id="32"/>
          <p:cNvSpPr txBox="true"/>
          <p:nvPr/>
        </p:nvSpPr>
        <p:spPr>
          <a:xfrm rot="0">
            <a:off x="1068133" y="530254"/>
            <a:ext cx="9260586"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Core Components</a:t>
            </a:r>
          </a:p>
        </p:txBody>
      </p:sp>
    </p:spTree>
  </p:cSld>
  <p:clrMapOvr>
    <a:masterClrMapping/>
  </p:clrMapOvr>
</p:sld>
</file>

<file path=ppt/slides/slide19.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06196" y="3459480"/>
            <a:ext cx="8107299" cy="5789295"/>
            <a:chOff x="0" y="0"/>
            <a:chExt cx="10809732" cy="7719060"/>
          </a:xfrm>
        </p:grpSpPr>
        <p:sp>
          <p:nvSpPr>
            <p:cNvPr name="Freeform 3" id="3"/>
            <p:cNvSpPr/>
            <p:nvPr/>
          </p:nvSpPr>
          <p:spPr>
            <a:xfrm flipH="false" flipV="false" rot="0">
              <a:off x="0" y="0"/>
              <a:ext cx="10809732" cy="7719060"/>
            </a:xfrm>
            <a:custGeom>
              <a:avLst/>
              <a:gdLst/>
              <a:ahLst/>
              <a:cxnLst/>
              <a:rect r="r" b="b" t="t" l="l"/>
              <a:pathLst>
                <a:path h="7719060" w="10809732">
                  <a:moveTo>
                    <a:pt x="0" y="220472"/>
                  </a:moveTo>
                  <a:cubicBezTo>
                    <a:pt x="0" y="98679"/>
                    <a:pt x="98679" y="0"/>
                    <a:pt x="220472" y="0"/>
                  </a:cubicBezTo>
                  <a:lnTo>
                    <a:pt x="10589260" y="0"/>
                  </a:lnTo>
                  <a:cubicBezTo>
                    <a:pt x="10711053" y="0"/>
                    <a:pt x="10809732" y="98679"/>
                    <a:pt x="10809732" y="220472"/>
                  </a:cubicBezTo>
                  <a:lnTo>
                    <a:pt x="10809732" y="7498588"/>
                  </a:lnTo>
                  <a:cubicBezTo>
                    <a:pt x="10809732" y="7620381"/>
                    <a:pt x="10711053" y="7719060"/>
                    <a:pt x="10589260" y="7719060"/>
                  </a:cubicBezTo>
                  <a:lnTo>
                    <a:pt x="220472" y="7719060"/>
                  </a:lnTo>
                  <a:cubicBezTo>
                    <a:pt x="98679" y="7719060"/>
                    <a:pt x="0" y="7620381"/>
                    <a:pt x="0" y="7498588"/>
                  </a:cubicBezTo>
                  <a:close/>
                </a:path>
              </a:pathLst>
            </a:custGeom>
            <a:solidFill>
              <a:srgbClr val="F1F3F8"/>
            </a:solidFill>
            <a:ln w="28575" cap="sq">
              <a:solidFill>
                <a:srgbClr val="F1F3F8"/>
              </a:solidFill>
              <a:prstDash val="solid"/>
              <a:miter/>
            </a:ln>
          </p:spPr>
        </p:sp>
      </p:grpSp>
      <p:sp>
        <p:nvSpPr>
          <p:cNvPr name="TextBox 4" id="4"/>
          <p:cNvSpPr txBox="true"/>
          <p:nvPr/>
        </p:nvSpPr>
        <p:spPr>
          <a:xfrm rot="0">
            <a:off x="1231964" y="3681412"/>
            <a:ext cx="7255764" cy="561975"/>
          </a:xfrm>
          <a:prstGeom prst="rect">
            <a:avLst/>
          </a:prstGeom>
        </p:spPr>
        <p:txBody>
          <a:bodyPr anchor="t" rtlCol="false" tIns="0" lIns="0" bIns="0" rIns="0">
            <a:spAutoFit/>
          </a:bodyPr>
          <a:lstStyle/>
          <a:p>
            <a:pPr algn="l">
              <a:lnSpc>
                <a:spcPts val="3960"/>
              </a:lnSpc>
            </a:pPr>
            <a:r>
              <a:rPr lang="en-US" sz="3300" b="true">
                <a:solidFill>
                  <a:srgbClr val="1B1F3B"/>
                </a:solidFill>
                <a:latin typeface="Calibri (MS) Bold"/>
                <a:ea typeface="Calibri (MS) Bold"/>
                <a:cs typeface="Calibri (MS) Bold"/>
                <a:sym typeface="Calibri (MS) Bold"/>
              </a:rPr>
              <a:t>Autonomous agent</a:t>
            </a:r>
          </a:p>
        </p:txBody>
      </p:sp>
      <p:sp>
        <p:nvSpPr>
          <p:cNvPr name="TextBox 5" id="5"/>
          <p:cNvSpPr txBox="true"/>
          <p:nvPr/>
        </p:nvSpPr>
        <p:spPr>
          <a:xfrm rot="0">
            <a:off x="1231964" y="4308158"/>
            <a:ext cx="7255764" cy="537210"/>
          </a:xfrm>
          <a:prstGeom prst="rect">
            <a:avLst/>
          </a:prstGeom>
        </p:spPr>
        <p:txBody>
          <a:bodyPr anchor="t" rtlCol="false" tIns="0" lIns="0" bIns="0" rIns="0">
            <a:spAutoFit/>
          </a:bodyPr>
          <a:lstStyle/>
          <a:p>
            <a:pPr algn="l">
              <a:lnSpc>
                <a:spcPts val="2700"/>
              </a:lnSpc>
            </a:pPr>
            <a:r>
              <a:rPr lang="en-US" sz="2250" i="true">
                <a:solidFill>
                  <a:srgbClr val="0E3C74"/>
                </a:solidFill>
                <a:latin typeface="Calibri (MS) Italics"/>
                <a:ea typeface="Calibri (MS) Italics"/>
                <a:cs typeface="Calibri (MS) Italics"/>
                <a:sym typeface="Calibri (MS) Italics"/>
              </a:rPr>
              <a:t>The LLM loops freely</a:t>
            </a:r>
          </a:p>
        </p:txBody>
      </p:sp>
      <p:sp>
        <p:nvSpPr>
          <p:cNvPr name="AutoShape 6" id="6"/>
          <p:cNvSpPr/>
          <p:nvPr/>
        </p:nvSpPr>
        <p:spPr>
          <a:xfrm flipV="true">
            <a:off x="3082436" y="5267207"/>
            <a:ext cx="3157055" cy="185020"/>
          </a:xfrm>
          <a:prstGeom prst="line">
            <a:avLst/>
          </a:prstGeom>
          <a:ln cap="rnd" w="19050">
            <a:solidFill>
              <a:srgbClr val="8D99AE"/>
            </a:solidFill>
            <a:prstDash val="solid"/>
            <a:headEnd type="none" len="sm" w="sm"/>
            <a:tailEnd type="triangle" len="med" w="lg"/>
          </a:ln>
        </p:spPr>
      </p:sp>
      <p:sp>
        <p:nvSpPr>
          <p:cNvPr name="AutoShape 7" id="7"/>
          <p:cNvSpPr/>
          <p:nvPr/>
        </p:nvSpPr>
        <p:spPr>
          <a:xfrm flipH="true">
            <a:off x="4111667" y="5493753"/>
            <a:ext cx="2195883" cy="1309268"/>
          </a:xfrm>
          <a:prstGeom prst="line">
            <a:avLst/>
          </a:prstGeom>
          <a:ln cap="rnd" w="19050">
            <a:solidFill>
              <a:srgbClr val="8D99AE"/>
            </a:solidFill>
            <a:prstDash val="solid"/>
            <a:headEnd type="none" len="sm" w="sm"/>
            <a:tailEnd type="triangle" len="med" w="lg"/>
          </a:ln>
        </p:spPr>
      </p:sp>
      <p:sp>
        <p:nvSpPr>
          <p:cNvPr name="AutoShape 8" id="8"/>
          <p:cNvSpPr/>
          <p:nvPr/>
        </p:nvSpPr>
        <p:spPr>
          <a:xfrm flipH="true" flipV="true">
            <a:off x="2871247" y="5853646"/>
            <a:ext cx="561904" cy="795223"/>
          </a:xfrm>
          <a:prstGeom prst="line">
            <a:avLst/>
          </a:prstGeom>
          <a:ln cap="rnd" w="19050">
            <a:solidFill>
              <a:srgbClr val="8D99AE"/>
            </a:solidFill>
            <a:prstDash val="solid"/>
            <a:headEnd type="none" len="sm" w="sm"/>
            <a:tailEnd type="triangle" len="med" w="lg"/>
          </a:ln>
        </p:spPr>
      </p:sp>
      <p:sp>
        <p:nvSpPr>
          <p:cNvPr name="AutoShape 9" id="9"/>
          <p:cNvSpPr/>
          <p:nvPr/>
        </p:nvSpPr>
        <p:spPr>
          <a:xfrm>
            <a:off x="6887461" y="5701021"/>
            <a:ext cx="347605" cy="826153"/>
          </a:xfrm>
          <a:prstGeom prst="line">
            <a:avLst/>
          </a:prstGeom>
          <a:ln cap="rnd" w="19050">
            <a:solidFill>
              <a:srgbClr val="8D99AE"/>
            </a:solidFill>
            <a:prstDash val="solid"/>
            <a:headEnd type="none" len="sm" w="sm"/>
            <a:tailEnd type="triangle" len="med" w="lg"/>
          </a:ln>
        </p:spPr>
      </p:sp>
      <p:sp>
        <p:nvSpPr>
          <p:cNvPr name="AutoShape 10" id="10"/>
          <p:cNvSpPr/>
          <p:nvPr/>
        </p:nvSpPr>
        <p:spPr>
          <a:xfrm flipH="true">
            <a:off x="4180251" y="6966204"/>
            <a:ext cx="2744515" cy="78866"/>
          </a:xfrm>
          <a:prstGeom prst="line">
            <a:avLst/>
          </a:prstGeom>
          <a:ln cap="rnd" w="19050">
            <a:solidFill>
              <a:srgbClr val="8D99AE"/>
            </a:solidFill>
            <a:prstDash val="solid"/>
            <a:headEnd type="none" len="sm" w="sm"/>
            <a:tailEnd type="triangle" len="med" w="lg"/>
          </a:ln>
        </p:spPr>
      </p:sp>
      <p:sp>
        <p:nvSpPr>
          <p:cNvPr name="AutoShape 11" id="11"/>
          <p:cNvSpPr/>
          <p:nvPr/>
        </p:nvSpPr>
        <p:spPr>
          <a:xfrm>
            <a:off x="3060336" y="5596336"/>
            <a:ext cx="3887046" cy="1241262"/>
          </a:xfrm>
          <a:prstGeom prst="line">
            <a:avLst/>
          </a:prstGeom>
          <a:ln cap="rnd" w="19050">
            <a:solidFill>
              <a:srgbClr val="8D99AE"/>
            </a:solidFill>
            <a:prstDash val="solid"/>
            <a:headEnd type="none" len="sm" w="sm"/>
            <a:tailEnd type="triangle" len="med" w="lg"/>
          </a:ln>
        </p:spPr>
      </p:sp>
      <p:sp>
        <p:nvSpPr>
          <p:cNvPr name="AutoShape 12" id="12"/>
          <p:cNvSpPr/>
          <p:nvPr/>
        </p:nvSpPr>
        <p:spPr>
          <a:xfrm flipV="true">
            <a:off x="5484669" y="5491360"/>
            <a:ext cx="821470" cy="491095"/>
          </a:xfrm>
          <a:prstGeom prst="line">
            <a:avLst/>
          </a:prstGeom>
          <a:ln cap="rnd" w="19050">
            <a:solidFill>
              <a:srgbClr val="8D99AE"/>
            </a:solidFill>
            <a:prstDash val="solid"/>
            <a:headEnd type="none" len="sm" w="sm"/>
            <a:tailEnd type="triangle" len="med" w="lg"/>
          </a:ln>
        </p:spPr>
      </p:sp>
      <p:sp>
        <p:nvSpPr>
          <p:cNvPr name="AutoShape 13" id="13"/>
          <p:cNvSpPr/>
          <p:nvPr/>
        </p:nvSpPr>
        <p:spPr>
          <a:xfrm flipV="true">
            <a:off x="4109961" y="6456726"/>
            <a:ext cx="553355" cy="343443"/>
          </a:xfrm>
          <a:prstGeom prst="line">
            <a:avLst/>
          </a:prstGeom>
          <a:ln cap="rnd" w="19050">
            <a:solidFill>
              <a:srgbClr val="8D99AE"/>
            </a:solidFill>
            <a:prstDash val="solid"/>
            <a:headEnd type="none" len="sm" w="sm"/>
            <a:tailEnd type="triangle" len="med" w="lg"/>
          </a:ln>
        </p:spPr>
      </p:sp>
      <p:sp>
        <p:nvSpPr>
          <p:cNvPr name="AutoShape 14" id="14"/>
          <p:cNvSpPr/>
          <p:nvPr/>
        </p:nvSpPr>
        <p:spPr>
          <a:xfrm>
            <a:off x="5527960" y="6354671"/>
            <a:ext cx="1420696" cy="478973"/>
          </a:xfrm>
          <a:prstGeom prst="line">
            <a:avLst/>
          </a:prstGeom>
          <a:ln cap="rnd" w="19050">
            <a:solidFill>
              <a:srgbClr val="8D99AE"/>
            </a:solidFill>
            <a:prstDash val="solid"/>
            <a:headEnd type="none" len="sm" w="sm"/>
            <a:tailEnd type="triangle" len="med" w="lg"/>
          </a:ln>
        </p:spPr>
      </p:sp>
      <p:grpSp>
        <p:nvGrpSpPr>
          <p:cNvPr name="Group 15" id="15"/>
          <p:cNvGrpSpPr/>
          <p:nvPr/>
        </p:nvGrpSpPr>
        <p:grpSpPr>
          <a:xfrm rot="0">
            <a:off x="2205228" y="5064252"/>
            <a:ext cx="796671" cy="796671"/>
            <a:chOff x="0" y="0"/>
            <a:chExt cx="1062228" cy="1062228"/>
          </a:xfrm>
        </p:grpSpPr>
        <p:sp>
          <p:nvSpPr>
            <p:cNvPr name="Freeform 16" id="16"/>
            <p:cNvSpPr/>
            <p:nvPr/>
          </p:nvSpPr>
          <p:spPr>
            <a:xfrm flipH="false" flipV="false" rot="0">
              <a:off x="0" y="0"/>
              <a:ext cx="1062228" cy="1062228"/>
            </a:xfrm>
            <a:custGeom>
              <a:avLst/>
              <a:gdLst/>
              <a:ahLst/>
              <a:cxnLst/>
              <a:rect r="r" b="b" t="t" l="l"/>
              <a:pathLst>
                <a:path h="1062228" w="1062228">
                  <a:moveTo>
                    <a:pt x="0" y="531114"/>
                  </a:moveTo>
                  <a:cubicBezTo>
                    <a:pt x="0" y="237744"/>
                    <a:pt x="237744" y="0"/>
                    <a:pt x="531114" y="0"/>
                  </a:cubicBezTo>
                  <a:cubicBezTo>
                    <a:pt x="824484" y="0"/>
                    <a:pt x="1062228" y="237744"/>
                    <a:pt x="1062228" y="531114"/>
                  </a:cubicBezTo>
                  <a:cubicBezTo>
                    <a:pt x="1062228" y="824484"/>
                    <a:pt x="824484" y="1062228"/>
                    <a:pt x="531114" y="1062228"/>
                  </a:cubicBezTo>
                  <a:cubicBezTo>
                    <a:pt x="237744" y="1062228"/>
                    <a:pt x="0" y="824484"/>
                    <a:pt x="0" y="531114"/>
                  </a:cubicBezTo>
                  <a:close/>
                </a:path>
              </a:pathLst>
            </a:custGeom>
            <a:solidFill>
              <a:srgbClr val="0D417C"/>
            </a:solidFill>
            <a:ln w="28575" cap="sq">
              <a:solidFill>
                <a:srgbClr val="0D417C"/>
              </a:solidFill>
              <a:prstDash val="solid"/>
              <a:miter/>
            </a:ln>
          </p:spPr>
        </p:sp>
      </p:grpSp>
      <p:grpSp>
        <p:nvGrpSpPr>
          <p:cNvPr name="Group 17" id="17"/>
          <p:cNvGrpSpPr/>
          <p:nvPr/>
        </p:nvGrpSpPr>
        <p:grpSpPr>
          <a:xfrm rot="0">
            <a:off x="6320028" y="4858512"/>
            <a:ext cx="796671" cy="796671"/>
            <a:chOff x="0" y="0"/>
            <a:chExt cx="1062228" cy="1062228"/>
          </a:xfrm>
        </p:grpSpPr>
        <p:sp>
          <p:nvSpPr>
            <p:cNvPr name="Freeform 18" id="18"/>
            <p:cNvSpPr/>
            <p:nvPr/>
          </p:nvSpPr>
          <p:spPr>
            <a:xfrm flipH="false" flipV="false" rot="0">
              <a:off x="0" y="0"/>
              <a:ext cx="1062228" cy="1062228"/>
            </a:xfrm>
            <a:custGeom>
              <a:avLst/>
              <a:gdLst/>
              <a:ahLst/>
              <a:cxnLst/>
              <a:rect r="r" b="b" t="t" l="l"/>
              <a:pathLst>
                <a:path h="1062228" w="1062228">
                  <a:moveTo>
                    <a:pt x="0" y="531114"/>
                  </a:moveTo>
                  <a:cubicBezTo>
                    <a:pt x="0" y="237744"/>
                    <a:pt x="237744" y="0"/>
                    <a:pt x="531114" y="0"/>
                  </a:cubicBezTo>
                  <a:cubicBezTo>
                    <a:pt x="824484" y="0"/>
                    <a:pt x="1062228" y="237744"/>
                    <a:pt x="1062228" y="531114"/>
                  </a:cubicBezTo>
                  <a:cubicBezTo>
                    <a:pt x="1062228" y="824484"/>
                    <a:pt x="824484" y="1062228"/>
                    <a:pt x="531114" y="1062228"/>
                  </a:cubicBezTo>
                  <a:cubicBezTo>
                    <a:pt x="237744" y="1062228"/>
                    <a:pt x="0" y="824484"/>
                    <a:pt x="0" y="531114"/>
                  </a:cubicBezTo>
                  <a:close/>
                </a:path>
              </a:pathLst>
            </a:custGeom>
            <a:solidFill>
              <a:srgbClr val="0D417C"/>
            </a:solidFill>
            <a:ln w="28575" cap="sq">
              <a:solidFill>
                <a:srgbClr val="0D417C"/>
              </a:solidFill>
              <a:prstDash val="solid"/>
              <a:miter/>
            </a:ln>
          </p:spPr>
        </p:sp>
      </p:grpSp>
      <p:grpSp>
        <p:nvGrpSpPr>
          <p:cNvPr name="Group 19" id="19"/>
          <p:cNvGrpSpPr/>
          <p:nvPr/>
        </p:nvGrpSpPr>
        <p:grpSpPr>
          <a:xfrm rot="0">
            <a:off x="3302508" y="6641592"/>
            <a:ext cx="796671" cy="796671"/>
            <a:chOff x="0" y="0"/>
            <a:chExt cx="1062228" cy="1062228"/>
          </a:xfrm>
        </p:grpSpPr>
        <p:sp>
          <p:nvSpPr>
            <p:cNvPr name="Freeform 20" id="20"/>
            <p:cNvSpPr/>
            <p:nvPr/>
          </p:nvSpPr>
          <p:spPr>
            <a:xfrm flipH="false" flipV="false" rot="0">
              <a:off x="0" y="0"/>
              <a:ext cx="1062228" cy="1062228"/>
            </a:xfrm>
            <a:custGeom>
              <a:avLst/>
              <a:gdLst/>
              <a:ahLst/>
              <a:cxnLst/>
              <a:rect r="r" b="b" t="t" l="l"/>
              <a:pathLst>
                <a:path h="1062228" w="1062228">
                  <a:moveTo>
                    <a:pt x="0" y="531114"/>
                  </a:moveTo>
                  <a:cubicBezTo>
                    <a:pt x="0" y="237744"/>
                    <a:pt x="237744" y="0"/>
                    <a:pt x="531114" y="0"/>
                  </a:cubicBezTo>
                  <a:cubicBezTo>
                    <a:pt x="824484" y="0"/>
                    <a:pt x="1062228" y="237744"/>
                    <a:pt x="1062228" y="531114"/>
                  </a:cubicBezTo>
                  <a:cubicBezTo>
                    <a:pt x="1062228" y="824484"/>
                    <a:pt x="824484" y="1062228"/>
                    <a:pt x="531114" y="1062228"/>
                  </a:cubicBezTo>
                  <a:cubicBezTo>
                    <a:pt x="237744" y="1062228"/>
                    <a:pt x="0" y="824484"/>
                    <a:pt x="0" y="531114"/>
                  </a:cubicBezTo>
                  <a:close/>
                </a:path>
              </a:pathLst>
            </a:custGeom>
            <a:solidFill>
              <a:srgbClr val="0D417C"/>
            </a:solidFill>
            <a:ln w="28575" cap="sq">
              <a:solidFill>
                <a:srgbClr val="0D417C"/>
              </a:solidFill>
              <a:prstDash val="solid"/>
              <a:miter/>
            </a:ln>
          </p:spPr>
        </p:sp>
      </p:grpSp>
      <p:grpSp>
        <p:nvGrpSpPr>
          <p:cNvPr name="Group 21" id="21"/>
          <p:cNvGrpSpPr/>
          <p:nvPr/>
        </p:nvGrpSpPr>
        <p:grpSpPr>
          <a:xfrm rot="0">
            <a:off x="7005828" y="6573012"/>
            <a:ext cx="796671" cy="796671"/>
            <a:chOff x="0" y="0"/>
            <a:chExt cx="1062228" cy="1062228"/>
          </a:xfrm>
        </p:grpSpPr>
        <p:sp>
          <p:nvSpPr>
            <p:cNvPr name="Freeform 22" id="22"/>
            <p:cNvSpPr/>
            <p:nvPr/>
          </p:nvSpPr>
          <p:spPr>
            <a:xfrm flipH="false" flipV="false" rot="0">
              <a:off x="0" y="0"/>
              <a:ext cx="1062228" cy="1062228"/>
            </a:xfrm>
            <a:custGeom>
              <a:avLst/>
              <a:gdLst/>
              <a:ahLst/>
              <a:cxnLst/>
              <a:rect r="r" b="b" t="t" l="l"/>
              <a:pathLst>
                <a:path h="1062228" w="1062228">
                  <a:moveTo>
                    <a:pt x="0" y="531114"/>
                  </a:moveTo>
                  <a:cubicBezTo>
                    <a:pt x="0" y="237744"/>
                    <a:pt x="237744" y="0"/>
                    <a:pt x="531114" y="0"/>
                  </a:cubicBezTo>
                  <a:cubicBezTo>
                    <a:pt x="824484" y="0"/>
                    <a:pt x="1062228" y="237744"/>
                    <a:pt x="1062228" y="531114"/>
                  </a:cubicBezTo>
                  <a:cubicBezTo>
                    <a:pt x="1062228" y="824484"/>
                    <a:pt x="824484" y="1062228"/>
                    <a:pt x="531114" y="1062228"/>
                  </a:cubicBezTo>
                  <a:cubicBezTo>
                    <a:pt x="237744" y="1062228"/>
                    <a:pt x="0" y="824484"/>
                    <a:pt x="0" y="531114"/>
                  </a:cubicBezTo>
                  <a:close/>
                </a:path>
              </a:pathLst>
            </a:custGeom>
            <a:solidFill>
              <a:srgbClr val="0D417C"/>
            </a:solidFill>
            <a:ln w="28575" cap="sq">
              <a:solidFill>
                <a:srgbClr val="0D417C"/>
              </a:solidFill>
              <a:prstDash val="solid"/>
              <a:miter/>
            </a:ln>
          </p:spPr>
        </p:sp>
      </p:grpSp>
      <p:grpSp>
        <p:nvGrpSpPr>
          <p:cNvPr name="Group 23" id="23"/>
          <p:cNvGrpSpPr/>
          <p:nvPr/>
        </p:nvGrpSpPr>
        <p:grpSpPr>
          <a:xfrm rot="0">
            <a:off x="4674108" y="5818632"/>
            <a:ext cx="796671" cy="796671"/>
            <a:chOff x="0" y="0"/>
            <a:chExt cx="1062228" cy="1062228"/>
          </a:xfrm>
        </p:grpSpPr>
        <p:sp>
          <p:nvSpPr>
            <p:cNvPr name="Freeform 24" id="24"/>
            <p:cNvSpPr/>
            <p:nvPr/>
          </p:nvSpPr>
          <p:spPr>
            <a:xfrm flipH="false" flipV="false" rot="0">
              <a:off x="0" y="0"/>
              <a:ext cx="1062228" cy="1062228"/>
            </a:xfrm>
            <a:custGeom>
              <a:avLst/>
              <a:gdLst/>
              <a:ahLst/>
              <a:cxnLst/>
              <a:rect r="r" b="b" t="t" l="l"/>
              <a:pathLst>
                <a:path h="1062228" w="1062228">
                  <a:moveTo>
                    <a:pt x="0" y="531114"/>
                  </a:moveTo>
                  <a:cubicBezTo>
                    <a:pt x="0" y="237744"/>
                    <a:pt x="237744" y="0"/>
                    <a:pt x="531114" y="0"/>
                  </a:cubicBezTo>
                  <a:cubicBezTo>
                    <a:pt x="824484" y="0"/>
                    <a:pt x="1062228" y="237744"/>
                    <a:pt x="1062228" y="531114"/>
                  </a:cubicBezTo>
                  <a:cubicBezTo>
                    <a:pt x="1062228" y="824484"/>
                    <a:pt x="824484" y="1062228"/>
                    <a:pt x="531114" y="1062228"/>
                  </a:cubicBezTo>
                  <a:cubicBezTo>
                    <a:pt x="237744" y="1062228"/>
                    <a:pt x="0" y="824484"/>
                    <a:pt x="0" y="531114"/>
                  </a:cubicBezTo>
                  <a:close/>
                </a:path>
              </a:pathLst>
            </a:custGeom>
            <a:solidFill>
              <a:srgbClr val="0D417C"/>
            </a:solidFill>
            <a:ln w="28575" cap="sq">
              <a:solidFill>
                <a:srgbClr val="0D417C"/>
              </a:solidFill>
              <a:prstDash val="solid"/>
              <a:miter/>
            </a:ln>
          </p:spPr>
        </p:sp>
        <p:sp>
          <p:nvSpPr>
            <p:cNvPr name="TextBox 25" id="25"/>
            <p:cNvSpPr txBox="true"/>
            <p:nvPr/>
          </p:nvSpPr>
          <p:spPr>
            <a:xfrm>
              <a:off x="0" y="-57150"/>
              <a:ext cx="1062228" cy="1119378"/>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a:t>
              </a:r>
            </a:p>
          </p:txBody>
        </p:sp>
      </p:grpSp>
      <p:sp>
        <p:nvSpPr>
          <p:cNvPr name="TextBox 26" id="26"/>
          <p:cNvSpPr txBox="true"/>
          <p:nvPr/>
        </p:nvSpPr>
        <p:spPr>
          <a:xfrm rot="0">
            <a:off x="1231964" y="7961947"/>
            <a:ext cx="7255764" cy="861060"/>
          </a:xfrm>
          <a:prstGeom prst="rect">
            <a:avLst/>
          </a:prstGeom>
        </p:spPr>
        <p:txBody>
          <a:bodyPr anchor="t" rtlCol="false" tIns="0" lIns="0" bIns="0" rIns="0">
            <a:spAutoFit/>
          </a:bodyPr>
          <a:lstStyle/>
          <a:p>
            <a:pPr algn="l">
              <a:lnSpc>
                <a:spcPts val="2879"/>
              </a:lnSpc>
            </a:pPr>
            <a:r>
              <a:rPr lang="en-US" sz="2400">
                <a:solidFill>
                  <a:srgbClr val="0E3C74"/>
                </a:solidFill>
                <a:latin typeface="Calibri (MS)"/>
                <a:ea typeface="Calibri (MS)"/>
                <a:cs typeface="Calibri (MS)"/>
                <a:sym typeface="Calibri (MS)"/>
              </a:rPr>
              <a:t>Flexible  ·  Unpredictable  ·  Hard to debug  ·  Costly</a:t>
            </a:r>
          </a:p>
        </p:txBody>
      </p:sp>
      <p:grpSp>
        <p:nvGrpSpPr>
          <p:cNvPr name="Group 27" id="27"/>
          <p:cNvGrpSpPr/>
          <p:nvPr/>
        </p:nvGrpSpPr>
        <p:grpSpPr>
          <a:xfrm rot="0">
            <a:off x="9355455" y="3449955"/>
            <a:ext cx="8126349" cy="5808345"/>
            <a:chOff x="0" y="0"/>
            <a:chExt cx="10835132" cy="7744460"/>
          </a:xfrm>
        </p:grpSpPr>
        <p:sp>
          <p:nvSpPr>
            <p:cNvPr name="Freeform 28" id="28"/>
            <p:cNvSpPr/>
            <p:nvPr/>
          </p:nvSpPr>
          <p:spPr>
            <a:xfrm flipH="false" flipV="false" rot="0">
              <a:off x="0" y="0"/>
              <a:ext cx="10835132" cy="7744460"/>
            </a:xfrm>
            <a:custGeom>
              <a:avLst/>
              <a:gdLst/>
              <a:ahLst/>
              <a:cxnLst/>
              <a:rect r="r" b="b" t="t" l="l"/>
              <a:pathLst>
                <a:path h="7744460" w="10835132">
                  <a:moveTo>
                    <a:pt x="0" y="221234"/>
                  </a:moveTo>
                  <a:cubicBezTo>
                    <a:pt x="0" y="99060"/>
                    <a:pt x="99060" y="0"/>
                    <a:pt x="221234" y="0"/>
                  </a:cubicBezTo>
                  <a:lnTo>
                    <a:pt x="10613898" y="0"/>
                  </a:lnTo>
                  <a:cubicBezTo>
                    <a:pt x="10736072" y="0"/>
                    <a:pt x="10835132" y="99060"/>
                    <a:pt x="10835132" y="221234"/>
                  </a:cubicBezTo>
                  <a:lnTo>
                    <a:pt x="10835132" y="7523226"/>
                  </a:lnTo>
                  <a:cubicBezTo>
                    <a:pt x="10835132" y="7645400"/>
                    <a:pt x="10736072" y="7744460"/>
                    <a:pt x="10613898" y="7744460"/>
                  </a:cubicBezTo>
                  <a:lnTo>
                    <a:pt x="221234" y="7744460"/>
                  </a:lnTo>
                  <a:cubicBezTo>
                    <a:pt x="99060" y="7744460"/>
                    <a:pt x="0" y="7645400"/>
                    <a:pt x="0" y="7523226"/>
                  </a:cubicBezTo>
                  <a:close/>
                </a:path>
              </a:pathLst>
            </a:custGeom>
            <a:solidFill>
              <a:srgbClr val="FFFFFF"/>
            </a:solidFill>
            <a:ln w="47625" cap="sq">
              <a:solidFill>
                <a:srgbClr val="0D417C"/>
              </a:solidFill>
              <a:prstDash val="solid"/>
              <a:miter/>
            </a:ln>
          </p:spPr>
        </p:sp>
      </p:grpSp>
      <p:sp>
        <p:nvSpPr>
          <p:cNvPr name="TextBox 29" id="29"/>
          <p:cNvSpPr txBox="true"/>
          <p:nvPr/>
        </p:nvSpPr>
        <p:spPr>
          <a:xfrm rot="0">
            <a:off x="9790748" y="3681412"/>
            <a:ext cx="4786884" cy="683895"/>
          </a:xfrm>
          <a:prstGeom prst="rect">
            <a:avLst/>
          </a:prstGeom>
        </p:spPr>
        <p:txBody>
          <a:bodyPr anchor="t" rtlCol="false" tIns="0" lIns="0" bIns="0" rIns="0">
            <a:spAutoFit/>
          </a:bodyPr>
          <a:lstStyle/>
          <a:p>
            <a:pPr algn="l">
              <a:lnSpc>
                <a:spcPts val="3960"/>
              </a:lnSpc>
            </a:pPr>
            <a:r>
              <a:rPr lang="en-US" sz="3300" b="true">
                <a:solidFill>
                  <a:srgbClr val="1B1F3B"/>
                </a:solidFill>
                <a:latin typeface="Calibri (MS) Bold"/>
                <a:ea typeface="Calibri (MS) Bold"/>
                <a:cs typeface="Calibri (MS) Bold"/>
                <a:sym typeface="Calibri (MS) Bold"/>
              </a:rPr>
              <a:t>State machine + LLM nodes</a:t>
            </a:r>
          </a:p>
        </p:txBody>
      </p:sp>
      <p:sp>
        <p:nvSpPr>
          <p:cNvPr name="TextBox 30" id="30"/>
          <p:cNvSpPr txBox="true"/>
          <p:nvPr/>
        </p:nvSpPr>
        <p:spPr>
          <a:xfrm rot="0">
            <a:off x="9790748" y="4308158"/>
            <a:ext cx="7255764" cy="537210"/>
          </a:xfrm>
          <a:prstGeom prst="rect">
            <a:avLst/>
          </a:prstGeom>
        </p:spPr>
        <p:txBody>
          <a:bodyPr anchor="t" rtlCol="false" tIns="0" lIns="0" bIns="0" rIns="0">
            <a:spAutoFit/>
          </a:bodyPr>
          <a:lstStyle/>
          <a:p>
            <a:pPr algn="l">
              <a:lnSpc>
                <a:spcPts val="2700"/>
              </a:lnSpc>
            </a:pPr>
            <a:r>
              <a:rPr lang="en-US" sz="2250" i="true">
                <a:solidFill>
                  <a:srgbClr val="0E3C74"/>
                </a:solidFill>
                <a:latin typeface="Calibri (MS) Italics"/>
                <a:ea typeface="Calibri (MS) Italics"/>
                <a:cs typeface="Calibri (MS) Italics"/>
                <a:sym typeface="Calibri (MS) Italics"/>
              </a:rPr>
              <a:t>The LLM only where it’s needed</a:t>
            </a:r>
          </a:p>
        </p:txBody>
      </p:sp>
      <p:grpSp>
        <p:nvGrpSpPr>
          <p:cNvPr name="Group 31" id="31"/>
          <p:cNvGrpSpPr/>
          <p:nvPr/>
        </p:nvGrpSpPr>
        <p:grpSpPr>
          <a:xfrm rot="0">
            <a:off x="9845040" y="5791200"/>
            <a:ext cx="1400175" cy="851535"/>
            <a:chOff x="0" y="0"/>
            <a:chExt cx="1866900" cy="1135380"/>
          </a:xfrm>
        </p:grpSpPr>
        <p:sp>
          <p:nvSpPr>
            <p:cNvPr name="Freeform 32" id="32"/>
            <p:cNvSpPr/>
            <p:nvPr/>
          </p:nvSpPr>
          <p:spPr>
            <a:xfrm flipH="false" flipV="false" rot="0">
              <a:off x="0" y="0"/>
              <a:ext cx="1866900" cy="1135380"/>
            </a:xfrm>
            <a:custGeom>
              <a:avLst/>
              <a:gdLst/>
              <a:ahLst/>
              <a:cxnLst/>
              <a:rect r="r" b="b" t="t" l="l"/>
              <a:pathLst>
                <a:path h="1135380" w="1866900">
                  <a:moveTo>
                    <a:pt x="0" y="227076"/>
                  </a:moveTo>
                  <a:cubicBezTo>
                    <a:pt x="0" y="101727"/>
                    <a:pt x="101727" y="0"/>
                    <a:pt x="227076" y="0"/>
                  </a:cubicBezTo>
                  <a:lnTo>
                    <a:pt x="1639824" y="0"/>
                  </a:lnTo>
                  <a:cubicBezTo>
                    <a:pt x="1765173" y="0"/>
                    <a:pt x="1866900" y="101727"/>
                    <a:pt x="1866900" y="227076"/>
                  </a:cubicBezTo>
                  <a:lnTo>
                    <a:pt x="1866900" y="908304"/>
                  </a:lnTo>
                  <a:cubicBezTo>
                    <a:pt x="1866900" y="1033653"/>
                    <a:pt x="1765173" y="1135380"/>
                    <a:pt x="1639824" y="1135380"/>
                  </a:cubicBezTo>
                  <a:lnTo>
                    <a:pt x="227076" y="1135380"/>
                  </a:lnTo>
                  <a:cubicBezTo>
                    <a:pt x="101727" y="1135380"/>
                    <a:pt x="0" y="1033653"/>
                    <a:pt x="0" y="908304"/>
                  </a:cubicBezTo>
                  <a:close/>
                </a:path>
              </a:pathLst>
            </a:custGeom>
            <a:solidFill>
              <a:srgbClr val="3D5A80"/>
            </a:solidFill>
            <a:ln w="28575" cap="sq">
              <a:solidFill>
                <a:srgbClr val="3D5A80"/>
              </a:solidFill>
              <a:prstDash val="solid"/>
              <a:miter/>
            </a:ln>
          </p:spPr>
        </p:sp>
      </p:grpSp>
      <p:sp>
        <p:nvSpPr>
          <p:cNvPr name="AutoShape 33" id="33"/>
          <p:cNvSpPr/>
          <p:nvPr/>
        </p:nvSpPr>
        <p:spPr>
          <a:xfrm flipV="true">
            <a:off x="11266740" y="6197917"/>
            <a:ext cx="429960" cy="0"/>
          </a:xfrm>
          <a:prstGeom prst="line">
            <a:avLst/>
          </a:prstGeom>
          <a:ln cap="rnd" w="19050">
            <a:solidFill>
              <a:srgbClr val="1B1F3B"/>
            </a:solidFill>
            <a:prstDash val="solid"/>
            <a:headEnd type="none" len="sm" w="sm"/>
            <a:tailEnd type="triangle" len="med" w="lg"/>
          </a:ln>
        </p:spPr>
      </p:sp>
      <p:grpSp>
        <p:nvGrpSpPr>
          <p:cNvPr name="Group 34" id="34"/>
          <p:cNvGrpSpPr/>
          <p:nvPr/>
        </p:nvGrpSpPr>
        <p:grpSpPr>
          <a:xfrm rot="0">
            <a:off x="11696700" y="5791200"/>
            <a:ext cx="1400175" cy="851535"/>
            <a:chOff x="0" y="0"/>
            <a:chExt cx="1866900" cy="1135380"/>
          </a:xfrm>
        </p:grpSpPr>
        <p:sp>
          <p:nvSpPr>
            <p:cNvPr name="Freeform 35" id="35"/>
            <p:cNvSpPr/>
            <p:nvPr/>
          </p:nvSpPr>
          <p:spPr>
            <a:xfrm flipH="false" flipV="false" rot="0">
              <a:off x="0" y="0"/>
              <a:ext cx="1866900" cy="1135380"/>
            </a:xfrm>
            <a:custGeom>
              <a:avLst/>
              <a:gdLst/>
              <a:ahLst/>
              <a:cxnLst/>
              <a:rect r="r" b="b" t="t" l="l"/>
              <a:pathLst>
                <a:path h="1135380" w="1866900">
                  <a:moveTo>
                    <a:pt x="0" y="227076"/>
                  </a:moveTo>
                  <a:cubicBezTo>
                    <a:pt x="0" y="101727"/>
                    <a:pt x="101727" y="0"/>
                    <a:pt x="227076" y="0"/>
                  </a:cubicBezTo>
                  <a:lnTo>
                    <a:pt x="1639824" y="0"/>
                  </a:lnTo>
                  <a:cubicBezTo>
                    <a:pt x="1765173" y="0"/>
                    <a:pt x="1866900" y="101727"/>
                    <a:pt x="1866900" y="227076"/>
                  </a:cubicBezTo>
                  <a:lnTo>
                    <a:pt x="1866900" y="908304"/>
                  </a:lnTo>
                  <a:cubicBezTo>
                    <a:pt x="1866900" y="1033653"/>
                    <a:pt x="1765173" y="1135380"/>
                    <a:pt x="1639824" y="1135380"/>
                  </a:cubicBezTo>
                  <a:lnTo>
                    <a:pt x="227076" y="1135380"/>
                  </a:lnTo>
                  <a:cubicBezTo>
                    <a:pt x="101727" y="1135380"/>
                    <a:pt x="0" y="1033653"/>
                    <a:pt x="0" y="908304"/>
                  </a:cubicBezTo>
                  <a:close/>
                </a:path>
              </a:pathLst>
            </a:custGeom>
            <a:solidFill>
              <a:srgbClr val="0D417C"/>
            </a:solidFill>
            <a:ln w="28575" cap="sq">
              <a:solidFill>
                <a:srgbClr val="0D417C"/>
              </a:solidFill>
              <a:prstDash val="solid"/>
              <a:miter/>
            </a:ln>
          </p:spPr>
        </p:sp>
        <p:sp>
          <p:nvSpPr>
            <p:cNvPr name="TextBox 36" id="36"/>
            <p:cNvSpPr txBox="true"/>
            <p:nvPr/>
          </p:nvSpPr>
          <p:spPr>
            <a:xfrm>
              <a:off x="0" y="-47625"/>
              <a:ext cx="1866900" cy="118300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LLM</a:t>
              </a:r>
            </a:p>
          </p:txBody>
        </p:sp>
      </p:grpSp>
      <p:sp>
        <p:nvSpPr>
          <p:cNvPr name="AutoShape 37" id="37"/>
          <p:cNvSpPr/>
          <p:nvPr/>
        </p:nvSpPr>
        <p:spPr>
          <a:xfrm>
            <a:off x="13118400" y="6197917"/>
            <a:ext cx="429960" cy="0"/>
          </a:xfrm>
          <a:prstGeom prst="line">
            <a:avLst/>
          </a:prstGeom>
          <a:ln cap="rnd" w="19050">
            <a:solidFill>
              <a:srgbClr val="1B1F3B"/>
            </a:solidFill>
            <a:prstDash val="solid"/>
            <a:headEnd type="none" len="sm" w="sm"/>
            <a:tailEnd type="triangle" len="med" w="lg"/>
          </a:ln>
        </p:spPr>
      </p:sp>
      <p:grpSp>
        <p:nvGrpSpPr>
          <p:cNvPr name="Group 38" id="38"/>
          <p:cNvGrpSpPr/>
          <p:nvPr/>
        </p:nvGrpSpPr>
        <p:grpSpPr>
          <a:xfrm rot="0">
            <a:off x="13548360" y="5791200"/>
            <a:ext cx="1400175" cy="851535"/>
            <a:chOff x="0" y="0"/>
            <a:chExt cx="1866900" cy="1135380"/>
          </a:xfrm>
        </p:grpSpPr>
        <p:sp>
          <p:nvSpPr>
            <p:cNvPr name="Freeform 39" id="39"/>
            <p:cNvSpPr/>
            <p:nvPr/>
          </p:nvSpPr>
          <p:spPr>
            <a:xfrm flipH="false" flipV="false" rot="0">
              <a:off x="0" y="0"/>
              <a:ext cx="1866900" cy="1135380"/>
            </a:xfrm>
            <a:custGeom>
              <a:avLst/>
              <a:gdLst/>
              <a:ahLst/>
              <a:cxnLst/>
              <a:rect r="r" b="b" t="t" l="l"/>
              <a:pathLst>
                <a:path h="1135380" w="1866900">
                  <a:moveTo>
                    <a:pt x="0" y="227076"/>
                  </a:moveTo>
                  <a:cubicBezTo>
                    <a:pt x="0" y="101727"/>
                    <a:pt x="101727" y="0"/>
                    <a:pt x="227076" y="0"/>
                  </a:cubicBezTo>
                  <a:lnTo>
                    <a:pt x="1639824" y="0"/>
                  </a:lnTo>
                  <a:cubicBezTo>
                    <a:pt x="1765173" y="0"/>
                    <a:pt x="1866900" y="101727"/>
                    <a:pt x="1866900" y="227076"/>
                  </a:cubicBezTo>
                  <a:lnTo>
                    <a:pt x="1866900" y="908304"/>
                  </a:lnTo>
                  <a:cubicBezTo>
                    <a:pt x="1866900" y="1033653"/>
                    <a:pt x="1765173" y="1135380"/>
                    <a:pt x="1639824" y="1135380"/>
                  </a:cubicBezTo>
                  <a:lnTo>
                    <a:pt x="227076" y="1135380"/>
                  </a:lnTo>
                  <a:cubicBezTo>
                    <a:pt x="101727" y="1135380"/>
                    <a:pt x="0" y="1033653"/>
                    <a:pt x="0" y="908304"/>
                  </a:cubicBezTo>
                  <a:close/>
                </a:path>
              </a:pathLst>
            </a:custGeom>
            <a:solidFill>
              <a:srgbClr val="3D5A80"/>
            </a:solidFill>
            <a:ln w="28575" cap="sq">
              <a:solidFill>
                <a:srgbClr val="3D5A80"/>
              </a:solidFill>
              <a:prstDash val="solid"/>
              <a:miter/>
            </a:ln>
          </p:spPr>
        </p:sp>
      </p:grpSp>
      <p:sp>
        <p:nvSpPr>
          <p:cNvPr name="TextBox 40" id="40"/>
          <p:cNvSpPr txBox="true"/>
          <p:nvPr/>
        </p:nvSpPr>
        <p:spPr>
          <a:xfrm rot="0">
            <a:off x="9790748" y="7961947"/>
            <a:ext cx="7255764" cy="861060"/>
          </a:xfrm>
          <a:prstGeom prst="rect">
            <a:avLst/>
          </a:prstGeom>
        </p:spPr>
        <p:txBody>
          <a:bodyPr anchor="t" rtlCol="false" tIns="0" lIns="0" bIns="0" rIns="0">
            <a:spAutoFit/>
          </a:bodyPr>
          <a:lstStyle/>
          <a:p>
            <a:pPr algn="l">
              <a:lnSpc>
                <a:spcPts val="2879"/>
              </a:lnSpc>
            </a:pPr>
            <a:r>
              <a:rPr lang="en-US" sz="2400">
                <a:solidFill>
                  <a:srgbClr val="0E3C74"/>
                </a:solidFill>
                <a:latin typeface="Calibri (MS)"/>
                <a:ea typeface="Calibri (MS)"/>
                <a:cs typeface="Calibri (MS)"/>
                <a:sym typeface="Calibri (MS)"/>
              </a:rPr>
              <a:t>Predictable  ·  Auditable  ·  Testable  ·  What ships</a:t>
            </a:r>
          </a:p>
        </p:txBody>
      </p:sp>
      <p:grpSp>
        <p:nvGrpSpPr>
          <p:cNvPr name="Group 41" id="41"/>
          <p:cNvGrpSpPr/>
          <p:nvPr/>
        </p:nvGrpSpPr>
        <p:grpSpPr>
          <a:xfrm rot="0">
            <a:off x="850392" y="1345721"/>
            <a:ext cx="14098143" cy="761209"/>
            <a:chOff x="0" y="0"/>
            <a:chExt cx="3713091" cy="200483"/>
          </a:xfrm>
        </p:grpSpPr>
        <p:sp>
          <p:nvSpPr>
            <p:cNvPr name="Freeform 42" id="42"/>
            <p:cNvSpPr/>
            <p:nvPr/>
          </p:nvSpPr>
          <p:spPr>
            <a:xfrm flipH="false" flipV="false" rot="0">
              <a:off x="0" y="0"/>
              <a:ext cx="3713091" cy="200483"/>
            </a:xfrm>
            <a:custGeom>
              <a:avLst/>
              <a:gdLst/>
              <a:ahLst/>
              <a:cxnLst/>
              <a:rect r="r" b="b" t="t" l="l"/>
              <a:pathLst>
                <a:path h="200483" w="3713091">
                  <a:moveTo>
                    <a:pt x="0" y="0"/>
                  </a:moveTo>
                  <a:lnTo>
                    <a:pt x="3713091" y="0"/>
                  </a:lnTo>
                  <a:lnTo>
                    <a:pt x="3713091" y="200483"/>
                  </a:lnTo>
                  <a:lnTo>
                    <a:pt x="0" y="200483"/>
                  </a:lnTo>
                  <a:close/>
                </a:path>
              </a:pathLst>
            </a:custGeom>
            <a:solidFill>
              <a:srgbClr val="0493FB"/>
            </a:solidFill>
          </p:spPr>
        </p:sp>
        <p:sp>
          <p:nvSpPr>
            <p:cNvPr name="TextBox 43" id="43"/>
            <p:cNvSpPr txBox="true"/>
            <p:nvPr/>
          </p:nvSpPr>
          <p:spPr>
            <a:xfrm>
              <a:off x="0" y="-57150"/>
              <a:ext cx="3713091" cy="257633"/>
            </a:xfrm>
            <a:prstGeom prst="rect">
              <a:avLst/>
            </a:prstGeom>
          </p:spPr>
          <p:txBody>
            <a:bodyPr anchor="ctr" rtlCol="false" tIns="50800" lIns="50800" bIns="50800" rIns="50800"/>
            <a:lstStyle/>
            <a:p>
              <a:pPr algn="ctr">
                <a:lnSpc>
                  <a:spcPts val="2700"/>
                </a:lnSpc>
              </a:pPr>
            </a:p>
          </p:txBody>
        </p:sp>
      </p:grpSp>
      <p:sp>
        <p:nvSpPr>
          <p:cNvPr name="TextBox 44" id="44"/>
          <p:cNvSpPr txBox="true"/>
          <p:nvPr/>
        </p:nvSpPr>
        <p:spPr>
          <a:xfrm rot="0">
            <a:off x="1068133" y="530254"/>
            <a:ext cx="15204569"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The Split nobody talks about</a:t>
            </a:r>
          </a:p>
        </p:txBody>
      </p:sp>
    </p:spTree>
  </p:cSld>
  <p:clrMapOvr>
    <a:masterClrMapping/>
  </p:clrMapOvr>
</p:sld>
</file>

<file path=ppt/slides/slide20.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08672" y="4169092"/>
            <a:ext cx="3457575" cy="1811655"/>
            <a:chOff x="0" y="0"/>
            <a:chExt cx="4610100" cy="2415540"/>
          </a:xfrm>
        </p:grpSpPr>
        <p:sp>
          <p:nvSpPr>
            <p:cNvPr name="Freeform 3" id="3"/>
            <p:cNvSpPr/>
            <p:nvPr/>
          </p:nvSpPr>
          <p:spPr>
            <a:xfrm flipH="false" flipV="false" rot="0">
              <a:off x="0" y="0"/>
              <a:ext cx="4610100" cy="2415540"/>
            </a:xfrm>
            <a:custGeom>
              <a:avLst/>
              <a:gdLst/>
              <a:ahLst/>
              <a:cxnLst/>
              <a:rect r="r" b="b" t="t" l="l"/>
              <a:pathLst>
                <a:path h="2415540" w="4610100">
                  <a:moveTo>
                    <a:pt x="0" y="223012"/>
                  </a:moveTo>
                  <a:cubicBezTo>
                    <a:pt x="0" y="99822"/>
                    <a:pt x="99822" y="0"/>
                    <a:pt x="223012" y="0"/>
                  </a:cubicBezTo>
                  <a:lnTo>
                    <a:pt x="4387088" y="0"/>
                  </a:lnTo>
                  <a:cubicBezTo>
                    <a:pt x="4510278" y="0"/>
                    <a:pt x="4610100" y="99822"/>
                    <a:pt x="4610100" y="223012"/>
                  </a:cubicBezTo>
                  <a:lnTo>
                    <a:pt x="4610100" y="2192528"/>
                  </a:lnTo>
                  <a:cubicBezTo>
                    <a:pt x="4610100" y="2315718"/>
                    <a:pt x="4510278" y="2415540"/>
                    <a:pt x="4387088" y="2415540"/>
                  </a:cubicBezTo>
                  <a:lnTo>
                    <a:pt x="223012" y="2415540"/>
                  </a:lnTo>
                  <a:cubicBezTo>
                    <a:pt x="99822" y="2415540"/>
                    <a:pt x="0" y="2315718"/>
                    <a:pt x="0" y="2192528"/>
                  </a:cubicBezTo>
                  <a:close/>
                </a:path>
              </a:pathLst>
            </a:custGeom>
            <a:solidFill>
              <a:srgbClr val="FFFFFF"/>
            </a:solidFill>
            <a:ln w="28575" cap="sq">
              <a:solidFill>
                <a:srgbClr val="FFFFFF"/>
              </a:solidFill>
              <a:prstDash val="solid"/>
              <a:miter/>
            </a:ln>
          </p:spPr>
        </p:sp>
        <p:sp>
          <p:nvSpPr>
            <p:cNvPr name="TextBox 4" id="4"/>
            <p:cNvSpPr txBox="true"/>
            <p:nvPr/>
          </p:nvSpPr>
          <p:spPr>
            <a:xfrm>
              <a:off x="0" y="-47625"/>
              <a:ext cx="4610100" cy="2463165"/>
            </a:xfrm>
            <a:prstGeom prst="rect">
              <a:avLst/>
            </a:prstGeom>
          </p:spPr>
          <p:txBody>
            <a:bodyPr anchor="ctr" rtlCol="false" tIns="50800" lIns="50800" bIns="50800" rIns="50800"/>
            <a:lstStyle/>
            <a:p>
              <a:pPr algn="ctr">
                <a:lnSpc>
                  <a:spcPts val="3060"/>
                </a:lnSpc>
              </a:pPr>
              <a:r>
                <a:rPr lang="en-US" sz="2550" i="true">
                  <a:solidFill>
                    <a:srgbClr val="0E3C74"/>
                  </a:solidFill>
                  <a:latin typeface="Calibri (MS) Italics"/>
                  <a:ea typeface="Calibri (MS) Italics"/>
                  <a:cs typeface="Calibri (MS) Italics"/>
                  <a:sym typeface="Calibri (MS) Italics"/>
                </a:rPr>
                <a:t>“My invoice charged me twice.”</a:t>
              </a:r>
            </a:p>
          </p:txBody>
        </p:sp>
      </p:grpSp>
      <p:sp>
        <p:nvSpPr>
          <p:cNvPr name="AutoShape 5" id="5"/>
          <p:cNvSpPr/>
          <p:nvPr/>
        </p:nvSpPr>
        <p:spPr>
          <a:xfrm>
            <a:off x="4266247" y="5095345"/>
            <a:ext cx="855159" cy="0"/>
          </a:xfrm>
          <a:prstGeom prst="line">
            <a:avLst/>
          </a:prstGeom>
          <a:ln cap="rnd" w="19050">
            <a:solidFill>
              <a:srgbClr val="FFFFFF"/>
            </a:solidFill>
            <a:prstDash val="solid"/>
            <a:headEnd type="none" len="sm" w="sm"/>
            <a:tailEnd type="triangle" len="med" w="lg"/>
          </a:ln>
        </p:spPr>
      </p:sp>
      <p:grpSp>
        <p:nvGrpSpPr>
          <p:cNvPr name="Group 6" id="6"/>
          <p:cNvGrpSpPr/>
          <p:nvPr/>
        </p:nvGrpSpPr>
        <p:grpSpPr>
          <a:xfrm rot="0">
            <a:off x="5197792" y="4443412"/>
            <a:ext cx="2360295" cy="1263015"/>
            <a:chOff x="0" y="0"/>
            <a:chExt cx="3147060" cy="1684020"/>
          </a:xfrm>
        </p:grpSpPr>
        <p:sp>
          <p:nvSpPr>
            <p:cNvPr name="Freeform 7" id="7"/>
            <p:cNvSpPr/>
            <p:nvPr/>
          </p:nvSpPr>
          <p:spPr>
            <a:xfrm flipH="false" flipV="false" rot="0">
              <a:off x="0" y="0"/>
              <a:ext cx="3147060" cy="1684020"/>
            </a:xfrm>
            <a:custGeom>
              <a:avLst/>
              <a:gdLst/>
              <a:ahLst/>
              <a:cxnLst/>
              <a:rect r="r" b="b" t="t" l="l"/>
              <a:pathLst>
                <a:path h="1684020" w="3147060">
                  <a:moveTo>
                    <a:pt x="0" y="224536"/>
                  </a:moveTo>
                  <a:cubicBezTo>
                    <a:pt x="0" y="100584"/>
                    <a:pt x="100584" y="0"/>
                    <a:pt x="224536" y="0"/>
                  </a:cubicBezTo>
                  <a:lnTo>
                    <a:pt x="2922524" y="0"/>
                  </a:lnTo>
                  <a:cubicBezTo>
                    <a:pt x="3046476" y="0"/>
                    <a:pt x="3147060" y="100584"/>
                    <a:pt x="3147060" y="224536"/>
                  </a:cubicBezTo>
                  <a:lnTo>
                    <a:pt x="3147060" y="1459484"/>
                  </a:lnTo>
                  <a:cubicBezTo>
                    <a:pt x="3147060" y="1583436"/>
                    <a:pt x="3046476" y="1684020"/>
                    <a:pt x="2922524" y="1684020"/>
                  </a:cubicBezTo>
                  <a:lnTo>
                    <a:pt x="224536" y="1684020"/>
                  </a:lnTo>
                  <a:cubicBezTo>
                    <a:pt x="100584" y="1684020"/>
                    <a:pt x="0" y="1583436"/>
                    <a:pt x="0" y="1459484"/>
                  </a:cubicBezTo>
                  <a:close/>
                </a:path>
              </a:pathLst>
            </a:custGeom>
            <a:solidFill>
              <a:srgbClr val="0D417C"/>
            </a:solidFill>
            <a:ln w="28575" cap="sq">
              <a:solidFill>
                <a:srgbClr val="0D417C"/>
              </a:solidFill>
              <a:prstDash val="solid"/>
              <a:miter/>
            </a:ln>
          </p:spPr>
        </p:sp>
        <p:sp>
          <p:nvSpPr>
            <p:cNvPr name="TextBox 8" id="8"/>
            <p:cNvSpPr txBox="true"/>
            <p:nvPr/>
          </p:nvSpPr>
          <p:spPr>
            <a:xfrm>
              <a:off x="0" y="-38100"/>
              <a:ext cx="3147060" cy="1722120"/>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LLM</a:t>
              </a:r>
            </a:p>
            <a:p>
              <a:pPr algn="ctr">
                <a:lnSpc>
                  <a:spcPts val="2879"/>
                </a:lnSpc>
              </a:pPr>
              <a:r>
                <a:rPr lang="en-US" sz="2400" b="true">
                  <a:solidFill>
                    <a:srgbClr val="FFFFFF"/>
                  </a:solidFill>
                  <a:latin typeface="Calibri (MS) Bold"/>
                  <a:ea typeface="Calibri (MS) Bold"/>
                  <a:cs typeface="Calibri (MS) Bold"/>
                  <a:sym typeface="Calibri (MS) Bold"/>
                </a:rPr>
                <a:t>classifies</a:t>
              </a:r>
            </a:p>
          </p:txBody>
        </p:sp>
      </p:grpSp>
      <p:sp>
        <p:nvSpPr>
          <p:cNvPr name="AutoShape 9" id="9"/>
          <p:cNvSpPr/>
          <p:nvPr/>
        </p:nvSpPr>
        <p:spPr>
          <a:xfrm>
            <a:off x="7558088" y="5095345"/>
            <a:ext cx="855159" cy="0"/>
          </a:xfrm>
          <a:prstGeom prst="line">
            <a:avLst/>
          </a:prstGeom>
          <a:ln cap="rnd" w="19050">
            <a:solidFill>
              <a:srgbClr val="FFFFFF"/>
            </a:solidFill>
            <a:prstDash val="solid"/>
            <a:headEnd type="none" len="sm" w="sm"/>
            <a:tailEnd type="triangle" len="med" w="lg"/>
          </a:ln>
        </p:spPr>
      </p:sp>
      <p:sp>
        <p:nvSpPr>
          <p:cNvPr name="TextBox 10" id="10"/>
          <p:cNvSpPr txBox="true"/>
          <p:nvPr/>
        </p:nvSpPr>
        <p:spPr>
          <a:xfrm rot="0">
            <a:off x="7406640" y="4410075"/>
            <a:ext cx="1234440" cy="527685"/>
          </a:xfrm>
          <a:prstGeom prst="rect">
            <a:avLst/>
          </a:prstGeom>
        </p:spPr>
        <p:txBody>
          <a:bodyPr anchor="t" rtlCol="false" tIns="0" lIns="0" bIns="0" rIns="0">
            <a:spAutoFit/>
          </a:bodyPr>
          <a:lstStyle/>
          <a:p>
            <a:pPr algn="ctr">
              <a:lnSpc>
                <a:spcPts val="2520"/>
              </a:lnSpc>
            </a:pPr>
            <a:r>
              <a:rPr lang="en-US" b="true" sz="2100" i="true">
                <a:solidFill>
                  <a:srgbClr val="FFFFFF"/>
                </a:solidFill>
                <a:latin typeface="Calibri (MS) Bold Italics"/>
                <a:ea typeface="Calibri (MS) Bold Italics"/>
                <a:cs typeface="Calibri (MS) Bold Italics"/>
                <a:sym typeface="Calibri (MS) Bold Italics"/>
              </a:rPr>
              <a:t>billing</a:t>
            </a:r>
          </a:p>
        </p:txBody>
      </p:sp>
      <p:grpSp>
        <p:nvGrpSpPr>
          <p:cNvPr name="Group 11" id="11"/>
          <p:cNvGrpSpPr/>
          <p:nvPr/>
        </p:nvGrpSpPr>
        <p:grpSpPr>
          <a:xfrm rot="0">
            <a:off x="8489632" y="4169092"/>
            <a:ext cx="2771775" cy="1811655"/>
            <a:chOff x="0" y="0"/>
            <a:chExt cx="3695700" cy="2415540"/>
          </a:xfrm>
        </p:grpSpPr>
        <p:sp>
          <p:nvSpPr>
            <p:cNvPr name="Freeform 12" id="12"/>
            <p:cNvSpPr/>
            <p:nvPr/>
          </p:nvSpPr>
          <p:spPr>
            <a:xfrm flipH="false" flipV="false" rot="0">
              <a:off x="0" y="0"/>
              <a:ext cx="3695700" cy="2415540"/>
            </a:xfrm>
            <a:custGeom>
              <a:avLst/>
              <a:gdLst/>
              <a:ahLst/>
              <a:cxnLst/>
              <a:rect r="r" b="b" t="t" l="l"/>
              <a:pathLst>
                <a:path h="2415540" w="3695700">
                  <a:moveTo>
                    <a:pt x="0" y="1207770"/>
                  </a:moveTo>
                  <a:lnTo>
                    <a:pt x="1847850" y="0"/>
                  </a:lnTo>
                  <a:lnTo>
                    <a:pt x="3695700" y="1207770"/>
                  </a:lnTo>
                  <a:lnTo>
                    <a:pt x="1847850" y="2415540"/>
                  </a:lnTo>
                  <a:close/>
                </a:path>
              </a:pathLst>
            </a:custGeom>
            <a:solidFill>
              <a:srgbClr val="0493FB"/>
            </a:solidFill>
            <a:ln w="28575" cap="sq">
              <a:solidFill>
                <a:srgbClr val="0D417C"/>
              </a:solidFill>
              <a:prstDash val="solid"/>
              <a:miter/>
            </a:ln>
          </p:spPr>
        </p:sp>
        <p:sp>
          <p:nvSpPr>
            <p:cNvPr name="TextBox 13" id="13"/>
            <p:cNvSpPr txBox="true"/>
            <p:nvPr/>
          </p:nvSpPr>
          <p:spPr>
            <a:xfrm>
              <a:off x="0" y="-38100"/>
              <a:ext cx="3695700" cy="2453640"/>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if / else</a:t>
              </a:r>
            </a:p>
          </p:txBody>
        </p:sp>
      </p:grpSp>
      <p:sp>
        <p:nvSpPr>
          <p:cNvPr name="TextBox 14" id="14"/>
          <p:cNvSpPr txBox="true"/>
          <p:nvPr/>
        </p:nvSpPr>
        <p:spPr>
          <a:xfrm rot="0">
            <a:off x="5212080" y="5840730"/>
            <a:ext cx="2331720" cy="537210"/>
          </a:xfrm>
          <a:prstGeom prst="rect">
            <a:avLst/>
          </a:prstGeom>
        </p:spPr>
        <p:txBody>
          <a:bodyPr anchor="t" rtlCol="false" tIns="0" lIns="0" bIns="0" rIns="0">
            <a:spAutoFit/>
          </a:bodyPr>
          <a:lstStyle/>
          <a:p>
            <a:pPr algn="ctr">
              <a:lnSpc>
                <a:spcPts val="2700"/>
              </a:lnSpc>
            </a:pPr>
            <a:r>
              <a:rPr lang="en-US" b="true" sz="2250">
                <a:solidFill>
                  <a:srgbClr val="FFFFFF"/>
                </a:solidFill>
                <a:latin typeface="Calibri (MS) Bold"/>
                <a:ea typeface="Calibri (MS) Bold"/>
                <a:cs typeface="Calibri (MS) Bold"/>
                <a:sym typeface="Calibri (MS) Bold"/>
              </a:rPr>
              <a:t>the router</a:t>
            </a:r>
          </a:p>
        </p:txBody>
      </p:sp>
      <p:sp>
        <p:nvSpPr>
          <p:cNvPr name="TextBox 15" id="15"/>
          <p:cNvSpPr txBox="true"/>
          <p:nvPr/>
        </p:nvSpPr>
        <p:spPr>
          <a:xfrm rot="0">
            <a:off x="8503920" y="6046470"/>
            <a:ext cx="2743200" cy="537210"/>
          </a:xfrm>
          <a:prstGeom prst="rect">
            <a:avLst/>
          </a:prstGeom>
        </p:spPr>
        <p:txBody>
          <a:bodyPr anchor="t" rtlCol="false" tIns="0" lIns="0" bIns="0" rIns="0">
            <a:spAutoFit/>
          </a:bodyPr>
          <a:lstStyle/>
          <a:p>
            <a:pPr algn="ctr">
              <a:lnSpc>
                <a:spcPts val="2700"/>
              </a:lnSpc>
            </a:pPr>
            <a:r>
              <a:rPr lang="en-US" b="true" sz="2250">
                <a:solidFill>
                  <a:srgbClr val="FFFFFF"/>
                </a:solidFill>
                <a:latin typeface="Calibri (MS) Bold"/>
                <a:ea typeface="Calibri (MS) Bold"/>
                <a:cs typeface="Calibri (MS) Bold"/>
                <a:sym typeface="Calibri (MS) Bold"/>
              </a:rPr>
              <a:t>the rails</a:t>
            </a:r>
          </a:p>
        </p:txBody>
      </p:sp>
      <p:grpSp>
        <p:nvGrpSpPr>
          <p:cNvPr name="Group 16" id="16"/>
          <p:cNvGrpSpPr/>
          <p:nvPr/>
        </p:nvGrpSpPr>
        <p:grpSpPr>
          <a:xfrm rot="0">
            <a:off x="12869228" y="2993708"/>
            <a:ext cx="4615053" cy="1076325"/>
            <a:chOff x="0" y="0"/>
            <a:chExt cx="6153404" cy="1435100"/>
          </a:xfrm>
        </p:grpSpPr>
        <p:sp>
          <p:nvSpPr>
            <p:cNvPr name="Freeform 17" id="17"/>
            <p:cNvSpPr/>
            <p:nvPr/>
          </p:nvSpPr>
          <p:spPr>
            <a:xfrm flipH="false" flipV="false" rot="0">
              <a:off x="0" y="0"/>
              <a:ext cx="6153404" cy="1435100"/>
            </a:xfrm>
            <a:custGeom>
              <a:avLst/>
              <a:gdLst/>
              <a:ahLst/>
              <a:cxnLst/>
              <a:rect r="r" b="b" t="t" l="l"/>
              <a:pathLst>
                <a:path h="1435100" w="6153404">
                  <a:moveTo>
                    <a:pt x="0" y="229616"/>
                  </a:moveTo>
                  <a:cubicBezTo>
                    <a:pt x="0" y="102743"/>
                    <a:pt x="102743" y="0"/>
                    <a:pt x="229616" y="0"/>
                  </a:cubicBezTo>
                  <a:lnTo>
                    <a:pt x="5923788" y="0"/>
                  </a:lnTo>
                  <a:cubicBezTo>
                    <a:pt x="6050661" y="0"/>
                    <a:pt x="6153404" y="102743"/>
                    <a:pt x="6153404" y="229616"/>
                  </a:cubicBezTo>
                  <a:lnTo>
                    <a:pt x="6153404" y="1205484"/>
                  </a:lnTo>
                  <a:cubicBezTo>
                    <a:pt x="6153404" y="1332357"/>
                    <a:pt x="6050661" y="1435100"/>
                    <a:pt x="5923788" y="1435100"/>
                  </a:cubicBezTo>
                  <a:lnTo>
                    <a:pt x="229616" y="1435100"/>
                  </a:lnTo>
                  <a:cubicBezTo>
                    <a:pt x="102743" y="1435100"/>
                    <a:pt x="0" y="1332357"/>
                    <a:pt x="0" y="1205484"/>
                  </a:cubicBezTo>
                  <a:close/>
                </a:path>
              </a:pathLst>
            </a:custGeom>
            <a:solidFill>
              <a:srgbClr val="FFFFFF"/>
            </a:solidFill>
            <a:ln cap="sq">
              <a:noFill/>
              <a:prstDash val="solid"/>
              <a:miter/>
            </a:ln>
          </p:spPr>
        </p:sp>
        <p:sp>
          <p:nvSpPr>
            <p:cNvPr name="TextBox 18" id="18"/>
            <p:cNvSpPr txBox="true"/>
            <p:nvPr/>
          </p:nvSpPr>
          <p:spPr>
            <a:xfrm>
              <a:off x="0" y="-57150"/>
              <a:ext cx="6153404" cy="1492250"/>
            </a:xfrm>
            <a:prstGeom prst="rect">
              <a:avLst/>
            </a:prstGeom>
          </p:spPr>
          <p:txBody>
            <a:bodyPr anchor="ctr" rtlCol="false" tIns="50800" lIns="50800" bIns="50800" rIns="50800"/>
            <a:lstStyle/>
            <a:p>
              <a:pPr algn="ctr">
                <a:lnSpc>
                  <a:spcPts val="3240"/>
                </a:lnSpc>
              </a:pPr>
              <a:r>
                <a:rPr lang="en-US" sz="2700">
                  <a:solidFill>
                    <a:srgbClr val="0D1B34"/>
                  </a:solidFill>
                  <a:latin typeface="Calibri (MS)"/>
                  <a:ea typeface="Calibri (MS)"/>
                  <a:cs typeface="Calibri (MS)"/>
                  <a:sym typeface="Calibri (MS)"/>
                </a:rPr>
                <a:t>Billing</a:t>
              </a:r>
            </a:p>
          </p:txBody>
        </p:sp>
      </p:grpSp>
      <p:sp>
        <p:nvSpPr>
          <p:cNvPr name="AutoShape 19" id="19"/>
          <p:cNvSpPr/>
          <p:nvPr/>
        </p:nvSpPr>
        <p:spPr>
          <a:xfrm rot="-2830739">
            <a:off x="10985735" y="4289107"/>
            <a:ext cx="2168681" cy="0"/>
          </a:xfrm>
          <a:prstGeom prst="line">
            <a:avLst/>
          </a:prstGeom>
          <a:ln cap="rnd" w="28575">
            <a:solidFill>
              <a:srgbClr val="FFFFFF"/>
            </a:solidFill>
            <a:prstDash val="solid"/>
            <a:headEnd type="none" len="sm" w="sm"/>
            <a:tailEnd type="triangle" len="med" w="lg"/>
          </a:ln>
        </p:spPr>
      </p:sp>
      <p:grpSp>
        <p:nvGrpSpPr>
          <p:cNvPr name="Group 20" id="20"/>
          <p:cNvGrpSpPr/>
          <p:nvPr/>
        </p:nvGrpSpPr>
        <p:grpSpPr>
          <a:xfrm rot="0">
            <a:off x="12878752" y="4539424"/>
            <a:ext cx="4596003" cy="1057275"/>
            <a:chOff x="0" y="0"/>
            <a:chExt cx="6128004" cy="1409700"/>
          </a:xfrm>
        </p:grpSpPr>
        <p:sp>
          <p:nvSpPr>
            <p:cNvPr name="Freeform 21" id="21"/>
            <p:cNvSpPr/>
            <p:nvPr/>
          </p:nvSpPr>
          <p:spPr>
            <a:xfrm flipH="false" flipV="false" rot="0">
              <a:off x="0" y="0"/>
              <a:ext cx="6128004" cy="1409700"/>
            </a:xfrm>
            <a:custGeom>
              <a:avLst/>
              <a:gdLst/>
              <a:ahLst/>
              <a:cxnLst/>
              <a:rect r="r" b="b" t="t" l="l"/>
              <a:pathLst>
                <a:path h="1409700" w="6128004">
                  <a:moveTo>
                    <a:pt x="0" y="225552"/>
                  </a:moveTo>
                  <a:cubicBezTo>
                    <a:pt x="0" y="100965"/>
                    <a:pt x="100965" y="0"/>
                    <a:pt x="225552" y="0"/>
                  </a:cubicBezTo>
                  <a:lnTo>
                    <a:pt x="5902452" y="0"/>
                  </a:lnTo>
                  <a:cubicBezTo>
                    <a:pt x="6027039" y="0"/>
                    <a:pt x="6128004" y="100965"/>
                    <a:pt x="6128004" y="225552"/>
                  </a:cubicBezTo>
                  <a:lnTo>
                    <a:pt x="6128004" y="1184148"/>
                  </a:lnTo>
                  <a:cubicBezTo>
                    <a:pt x="6128004" y="1308735"/>
                    <a:pt x="6027039" y="1409700"/>
                    <a:pt x="5902452" y="1409700"/>
                  </a:cubicBezTo>
                  <a:lnTo>
                    <a:pt x="225552" y="1409700"/>
                  </a:lnTo>
                  <a:cubicBezTo>
                    <a:pt x="100965" y="1409700"/>
                    <a:pt x="0" y="1308735"/>
                    <a:pt x="0" y="1184148"/>
                  </a:cubicBezTo>
                  <a:close/>
                </a:path>
              </a:pathLst>
            </a:custGeom>
            <a:solidFill>
              <a:srgbClr val="FFFFFF"/>
            </a:solidFill>
            <a:ln w="28575" cap="sq">
              <a:solidFill>
                <a:srgbClr val="FFFFFF"/>
              </a:solidFill>
              <a:prstDash val="solid"/>
              <a:miter/>
            </a:ln>
          </p:spPr>
        </p:sp>
        <p:sp>
          <p:nvSpPr>
            <p:cNvPr name="TextBox 22" id="22"/>
            <p:cNvSpPr txBox="true"/>
            <p:nvPr/>
          </p:nvSpPr>
          <p:spPr>
            <a:xfrm>
              <a:off x="0" y="-57150"/>
              <a:ext cx="6128004" cy="1466850"/>
            </a:xfrm>
            <a:prstGeom prst="rect">
              <a:avLst/>
            </a:prstGeom>
          </p:spPr>
          <p:txBody>
            <a:bodyPr anchor="ctr" rtlCol="false" tIns="50800" lIns="50800" bIns="50800" rIns="50800"/>
            <a:lstStyle/>
            <a:p>
              <a:pPr algn="ctr">
                <a:lnSpc>
                  <a:spcPts val="3240"/>
                </a:lnSpc>
              </a:pPr>
              <a:r>
                <a:rPr lang="en-US" sz="2700">
                  <a:solidFill>
                    <a:srgbClr val="0E3C74"/>
                  </a:solidFill>
                  <a:latin typeface="Calibri (MS)"/>
                  <a:ea typeface="Calibri (MS)"/>
                  <a:cs typeface="Calibri (MS)"/>
                  <a:sym typeface="Calibri (MS)"/>
                </a:rPr>
                <a:t>Technical</a:t>
              </a:r>
            </a:p>
          </p:txBody>
        </p:sp>
      </p:grpSp>
      <p:sp>
        <p:nvSpPr>
          <p:cNvPr name="AutoShape 23" id="23"/>
          <p:cNvSpPr/>
          <p:nvPr/>
        </p:nvSpPr>
        <p:spPr>
          <a:xfrm rot="-83699">
            <a:off x="11342341" y="5061966"/>
            <a:ext cx="1455468" cy="0"/>
          </a:xfrm>
          <a:prstGeom prst="line">
            <a:avLst/>
          </a:prstGeom>
          <a:ln cap="rnd" w="19050">
            <a:solidFill>
              <a:srgbClr val="FFFFFF"/>
            </a:solidFill>
            <a:prstDash val="solid"/>
            <a:headEnd type="none" len="sm" w="sm"/>
            <a:tailEnd type="triangle" len="med" w="lg"/>
          </a:ln>
        </p:spPr>
      </p:sp>
      <p:grpSp>
        <p:nvGrpSpPr>
          <p:cNvPr name="Group 24" id="24"/>
          <p:cNvGrpSpPr/>
          <p:nvPr/>
        </p:nvGrpSpPr>
        <p:grpSpPr>
          <a:xfrm rot="0">
            <a:off x="12878752" y="6075616"/>
            <a:ext cx="4596003" cy="1057275"/>
            <a:chOff x="0" y="0"/>
            <a:chExt cx="6128004" cy="1409700"/>
          </a:xfrm>
        </p:grpSpPr>
        <p:sp>
          <p:nvSpPr>
            <p:cNvPr name="Freeform 25" id="25"/>
            <p:cNvSpPr/>
            <p:nvPr/>
          </p:nvSpPr>
          <p:spPr>
            <a:xfrm flipH="false" flipV="false" rot="0">
              <a:off x="0" y="0"/>
              <a:ext cx="6128004" cy="1409700"/>
            </a:xfrm>
            <a:custGeom>
              <a:avLst/>
              <a:gdLst/>
              <a:ahLst/>
              <a:cxnLst/>
              <a:rect r="r" b="b" t="t" l="l"/>
              <a:pathLst>
                <a:path h="1409700" w="6128004">
                  <a:moveTo>
                    <a:pt x="0" y="225552"/>
                  </a:moveTo>
                  <a:cubicBezTo>
                    <a:pt x="0" y="100965"/>
                    <a:pt x="100965" y="0"/>
                    <a:pt x="225552" y="0"/>
                  </a:cubicBezTo>
                  <a:lnTo>
                    <a:pt x="5902452" y="0"/>
                  </a:lnTo>
                  <a:cubicBezTo>
                    <a:pt x="6027039" y="0"/>
                    <a:pt x="6128004" y="100965"/>
                    <a:pt x="6128004" y="225552"/>
                  </a:cubicBezTo>
                  <a:lnTo>
                    <a:pt x="6128004" y="1184148"/>
                  </a:lnTo>
                  <a:cubicBezTo>
                    <a:pt x="6128004" y="1308735"/>
                    <a:pt x="6027039" y="1409700"/>
                    <a:pt x="5902452" y="1409700"/>
                  </a:cubicBezTo>
                  <a:lnTo>
                    <a:pt x="225552" y="1409700"/>
                  </a:lnTo>
                  <a:cubicBezTo>
                    <a:pt x="100965" y="1409700"/>
                    <a:pt x="0" y="1308735"/>
                    <a:pt x="0" y="1184148"/>
                  </a:cubicBezTo>
                  <a:close/>
                </a:path>
              </a:pathLst>
            </a:custGeom>
            <a:solidFill>
              <a:srgbClr val="FFFFFF"/>
            </a:solidFill>
            <a:ln w="28575" cap="sq">
              <a:solidFill>
                <a:srgbClr val="FFFFFF"/>
              </a:solidFill>
              <a:prstDash val="solid"/>
              <a:miter/>
            </a:ln>
          </p:spPr>
        </p:sp>
        <p:sp>
          <p:nvSpPr>
            <p:cNvPr name="TextBox 26" id="26"/>
            <p:cNvSpPr txBox="true"/>
            <p:nvPr/>
          </p:nvSpPr>
          <p:spPr>
            <a:xfrm>
              <a:off x="0" y="-57150"/>
              <a:ext cx="6128004" cy="1466850"/>
            </a:xfrm>
            <a:prstGeom prst="rect">
              <a:avLst/>
            </a:prstGeom>
          </p:spPr>
          <p:txBody>
            <a:bodyPr anchor="ctr" rtlCol="false" tIns="50800" lIns="50800" bIns="50800" rIns="50800"/>
            <a:lstStyle/>
            <a:p>
              <a:pPr algn="ctr">
                <a:lnSpc>
                  <a:spcPts val="3240"/>
                </a:lnSpc>
              </a:pPr>
              <a:r>
                <a:rPr lang="en-US" sz="2700">
                  <a:solidFill>
                    <a:srgbClr val="0E3C74"/>
                  </a:solidFill>
                  <a:latin typeface="Calibri (MS)"/>
                  <a:ea typeface="Calibri (MS)"/>
                  <a:cs typeface="Calibri (MS)"/>
                  <a:sym typeface="Calibri (MS)"/>
                </a:rPr>
                <a:t>General</a:t>
              </a:r>
            </a:p>
          </p:txBody>
        </p:sp>
      </p:grpSp>
      <p:sp>
        <p:nvSpPr>
          <p:cNvPr name="AutoShape 27" id="27"/>
          <p:cNvSpPr/>
          <p:nvPr/>
        </p:nvSpPr>
        <p:spPr>
          <a:xfrm rot="2817300">
            <a:off x="11004223" y="5830062"/>
            <a:ext cx="2131714" cy="0"/>
          </a:xfrm>
          <a:prstGeom prst="line">
            <a:avLst/>
          </a:prstGeom>
          <a:ln cap="rnd" w="19050">
            <a:solidFill>
              <a:srgbClr val="FFFFFF"/>
            </a:solidFill>
            <a:prstDash val="solid"/>
            <a:headEnd type="none" len="sm" w="sm"/>
            <a:tailEnd type="triangle" len="med" w="lg"/>
          </a:ln>
        </p:spPr>
      </p:sp>
      <p:grpSp>
        <p:nvGrpSpPr>
          <p:cNvPr name="Group 28" id="28"/>
          <p:cNvGrpSpPr/>
          <p:nvPr/>
        </p:nvGrpSpPr>
        <p:grpSpPr>
          <a:xfrm rot="0">
            <a:off x="850392" y="1345721"/>
            <a:ext cx="11644212" cy="885459"/>
            <a:chOff x="0" y="0"/>
            <a:chExt cx="3066788" cy="233207"/>
          </a:xfrm>
        </p:grpSpPr>
        <p:sp>
          <p:nvSpPr>
            <p:cNvPr name="Freeform 29" id="29"/>
            <p:cNvSpPr/>
            <p:nvPr/>
          </p:nvSpPr>
          <p:spPr>
            <a:xfrm flipH="false" flipV="false" rot="0">
              <a:off x="0" y="0"/>
              <a:ext cx="3066788" cy="233207"/>
            </a:xfrm>
            <a:custGeom>
              <a:avLst/>
              <a:gdLst/>
              <a:ahLst/>
              <a:cxnLst/>
              <a:rect r="r" b="b" t="t" l="l"/>
              <a:pathLst>
                <a:path h="233207" w="3066788">
                  <a:moveTo>
                    <a:pt x="0" y="0"/>
                  </a:moveTo>
                  <a:lnTo>
                    <a:pt x="3066788" y="0"/>
                  </a:lnTo>
                  <a:lnTo>
                    <a:pt x="3066788" y="233207"/>
                  </a:lnTo>
                  <a:lnTo>
                    <a:pt x="0" y="233207"/>
                  </a:lnTo>
                  <a:close/>
                </a:path>
              </a:pathLst>
            </a:custGeom>
            <a:solidFill>
              <a:srgbClr val="0493FB"/>
            </a:solidFill>
          </p:spPr>
        </p:sp>
        <p:sp>
          <p:nvSpPr>
            <p:cNvPr name="TextBox 30" id="30"/>
            <p:cNvSpPr txBox="true"/>
            <p:nvPr/>
          </p:nvSpPr>
          <p:spPr>
            <a:xfrm>
              <a:off x="0" y="-57150"/>
              <a:ext cx="3066788" cy="290357"/>
            </a:xfrm>
            <a:prstGeom prst="rect">
              <a:avLst/>
            </a:prstGeom>
          </p:spPr>
          <p:txBody>
            <a:bodyPr anchor="ctr" rtlCol="false" tIns="50800" lIns="50800" bIns="50800" rIns="50800"/>
            <a:lstStyle/>
            <a:p>
              <a:pPr algn="ctr">
                <a:lnSpc>
                  <a:spcPts val="2700"/>
                </a:lnSpc>
              </a:pPr>
            </a:p>
          </p:txBody>
        </p:sp>
      </p:grpSp>
      <p:sp>
        <p:nvSpPr>
          <p:cNvPr name="TextBox 31" id="31"/>
          <p:cNvSpPr txBox="true"/>
          <p:nvPr/>
        </p:nvSpPr>
        <p:spPr>
          <a:xfrm rot="0">
            <a:off x="1068133" y="530254"/>
            <a:ext cx="15204569"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The Concept of Routing</a:t>
            </a:r>
          </a:p>
        </p:txBody>
      </p:sp>
    </p:spTree>
  </p:cSld>
  <p:clrMapOvr>
    <a:masterClrMapping/>
  </p:clrMapOvr>
</p:sld>
</file>

<file path=ppt/slides/slide21.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3051234"/>
            <a:ext cx="16666083" cy="1194435"/>
            <a:chOff x="0" y="0"/>
            <a:chExt cx="22221444" cy="1592580"/>
          </a:xfrm>
        </p:grpSpPr>
        <p:sp>
          <p:nvSpPr>
            <p:cNvPr name="Freeform 3" id="3"/>
            <p:cNvSpPr/>
            <p:nvPr/>
          </p:nvSpPr>
          <p:spPr>
            <a:xfrm flipH="false" flipV="false" rot="0">
              <a:off x="0" y="0"/>
              <a:ext cx="22221444" cy="1592580"/>
            </a:xfrm>
            <a:custGeom>
              <a:avLst/>
              <a:gdLst/>
              <a:ahLst/>
              <a:cxnLst/>
              <a:rect r="r" b="b" t="t" l="l"/>
              <a:pathLst>
                <a:path h="1592580" w="22221444">
                  <a:moveTo>
                    <a:pt x="0" y="224790"/>
                  </a:moveTo>
                  <a:cubicBezTo>
                    <a:pt x="0" y="100711"/>
                    <a:pt x="100711" y="0"/>
                    <a:pt x="224790" y="0"/>
                  </a:cubicBezTo>
                  <a:lnTo>
                    <a:pt x="21996654" y="0"/>
                  </a:lnTo>
                  <a:cubicBezTo>
                    <a:pt x="22120861" y="0"/>
                    <a:pt x="22221444" y="100711"/>
                    <a:pt x="22221444" y="224790"/>
                  </a:cubicBezTo>
                  <a:lnTo>
                    <a:pt x="22221444" y="1367790"/>
                  </a:lnTo>
                  <a:cubicBezTo>
                    <a:pt x="22221444" y="1491996"/>
                    <a:pt x="22120733" y="1592580"/>
                    <a:pt x="21996654" y="1592580"/>
                  </a:cubicBezTo>
                  <a:lnTo>
                    <a:pt x="224790" y="1592580"/>
                  </a:lnTo>
                  <a:cubicBezTo>
                    <a:pt x="100711" y="1592580"/>
                    <a:pt x="0" y="1491869"/>
                    <a:pt x="0" y="1367790"/>
                  </a:cubicBezTo>
                  <a:close/>
                </a:path>
              </a:pathLst>
            </a:custGeom>
            <a:solidFill>
              <a:srgbClr val="F1F3F8"/>
            </a:solidFill>
            <a:ln w="28575" cap="sq">
              <a:solidFill>
                <a:srgbClr val="F1F3F8"/>
              </a:solidFill>
              <a:prstDash val="solid"/>
              <a:miter/>
            </a:ln>
          </p:spPr>
        </p:sp>
        <p:sp>
          <p:nvSpPr>
            <p:cNvPr name="TextBox 4" id="4"/>
            <p:cNvSpPr txBox="true"/>
            <p:nvPr/>
          </p:nvSpPr>
          <p:spPr>
            <a:xfrm>
              <a:off x="0" y="-66675"/>
              <a:ext cx="22221444" cy="1659255"/>
            </a:xfrm>
            <a:prstGeom prst="rect">
              <a:avLst/>
            </a:prstGeom>
          </p:spPr>
          <p:txBody>
            <a:bodyPr anchor="ctr" rtlCol="false" tIns="50800" lIns="50800" bIns="50800" rIns="50800"/>
            <a:lstStyle/>
            <a:p>
              <a:pPr algn="ctr">
                <a:lnSpc>
                  <a:spcPts val="3600"/>
                </a:lnSpc>
              </a:pPr>
              <a:r>
                <a:rPr lang="en-US" sz="3000" b="true">
                  <a:solidFill>
                    <a:srgbClr val="1B1F3B"/>
                  </a:solidFill>
                  <a:latin typeface="Calibri (MS) Bold"/>
                  <a:ea typeface="Calibri (MS) Bold"/>
                  <a:cs typeface="Calibri (MS) Bold"/>
                  <a:sym typeface="Calibri (MS) Bold"/>
                </a:rPr>
                <a:t>Customer support triage agent   →   built from scratch, then ported to LangGraph</a:t>
              </a:r>
            </a:p>
          </p:txBody>
        </p:sp>
      </p:grpSp>
      <p:grpSp>
        <p:nvGrpSpPr>
          <p:cNvPr name="Group 5" id="5"/>
          <p:cNvGrpSpPr/>
          <p:nvPr/>
        </p:nvGrpSpPr>
        <p:grpSpPr>
          <a:xfrm rot="0">
            <a:off x="810959" y="4697154"/>
            <a:ext cx="3725037" cy="3526155"/>
            <a:chOff x="0" y="0"/>
            <a:chExt cx="4966716" cy="4701540"/>
          </a:xfrm>
        </p:grpSpPr>
        <p:sp>
          <p:nvSpPr>
            <p:cNvPr name="Freeform 6" id="6"/>
            <p:cNvSpPr/>
            <p:nvPr/>
          </p:nvSpPr>
          <p:spPr>
            <a:xfrm flipH="false" flipV="false" rot="0">
              <a:off x="0" y="0"/>
              <a:ext cx="4966716" cy="4701540"/>
            </a:xfrm>
            <a:custGeom>
              <a:avLst/>
              <a:gdLst/>
              <a:ahLst/>
              <a:cxnLst/>
              <a:rect r="r" b="b" t="t" l="l"/>
              <a:pathLst>
                <a:path h="4701540" w="4966716">
                  <a:moveTo>
                    <a:pt x="0" y="221234"/>
                  </a:moveTo>
                  <a:cubicBezTo>
                    <a:pt x="0" y="99060"/>
                    <a:pt x="99060" y="0"/>
                    <a:pt x="221234" y="0"/>
                  </a:cubicBezTo>
                  <a:lnTo>
                    <a:pt x="4745482" y="0"/>
                  </a:lnTo>
                  <a:cubicBezTo>
                    <a:pt x="4867656" y="0"/>
                    <a:pt x="4966716" y="99060"/>
                    <a:pt x="4966716" y="221234"/>
                  </a:cubicBezTo>
                  <a:lnTo>
                    <a:pt x="4966716" y="4480306"/>
                  </a:lnTo>
                  <a:cubicBezTo>
                    <a:pt x="4966716" y="4602480"/>
                    <a:pt x="4867656" y="4701540"/>
                    <a:pt x="4745482" y="4701540"/>
                  </a:cubicBezTo>
                  <a:lnTo>
                    <a:pt x="221234" y="4701540"/>
                  </a:lnTo>
                  <a:cubicBezTo>
                    <a:pt x="99060" y="4701540"/>
                    <a:pt x="0" y="4602480"/>
                    <a:pt x="0" y="4480306"/>
                  </a:cubicBezTo>
                  <a:close/>
                </a:path>
              </a:pathLst>
            </a:custGeom>
            <a:solidFill>
              <a:srgbClr val="FFFFFF"/>
            </a:solidFill>
            <a:ln w="28575" cap="sq">
              <a:solidFill>
                <a:srgbClr val="3D5A80"/>
              </a:solidFill>
              <a:prstDash val="dash"/>
              <a:miter/>
            </a:ln>
          </p:spPr>
        </p:sp>
      </p:grpSp>
      <p:sp>
        <p:nvSpPr>
          <p:cNvPr name="TextBox 7" id="7"/>
          <p:cNvSpPr txBox="true"/>
          <p:nvPr/>
        </p:nvSpPr>
        <p:spPr>
          <a:xfrm rot="0">
            <a:off x="1236726" y="4900036"/>
            <a:ext cx="1371600" cy="908685"/>
          </a:xfrm>
          <a:prstGeom prst="rect">
            <a:avLst/>
          </a:prstGeom>
        </p:spPr>
        <p:txBody>
          <a:bodyPr anchor="t" rtlCol="false" tIns="0" lIns="0" bIns="0" rIns="0">
            <a:spAutoFit/>
          </a:bodyPr>
          <a:lstStyle/>
          <a:p>
            <a:pPr algn="l">
              <a:lnSpc>
                <a:spcPts val="5759"/>
              </a:lnSpc>
            </a:pPr>
            <a:r>
              <a:rPr lang="en-US" b="true" sz="4800">
                <a:solidFill>
                  <a:srgbClr val="0E3C74"/>
                </a:solidFill>
                <a:latin typeface="Calibri (MS) Bold"/>
                <a:ea typeface="Calibri (MS) Bold"/>
                <a:cs typeface="Calibri (MS) Bold"/>
                <a:sym typeface="Calibri (MS) Bold"/>
              </a:rPr>
              <a:t>1</a:t>
            </a:r>
          </a:p>
        </p:txBody>
      </p:sp>
      <p:sp>
        <p:nvSpPr>
          <p:cNvPr name="TextBox 8" id="8"/>
          <p:cNvSpPr txBox="true"/>
          <p:nvPr/>
        </p:nvSpPr>
        <p:spPr>
          <a:xfrm rot="0">
            <a:off x="1236726" y="5810626"/>
            <a:ext cx="2873502" cy="752475"/>
          </a:xfrm>
          <a:prstGeom prst="rect">
            <a:avLst/>
          </a:prstGeom>
        </p:spPr>
        <p:txBody>
          <a:bodyPr anchor="t" rtlCol="false" tIns="0" lIns="0" bIns="0" rIns="0">
            <a:spAutoFit/>
          </a:bodyPr>
          <a:lstStyle/>
          <a:p>
            <a:pPr algn="l">
              <a:lnSpc>
                <a:spcPts val="3600"/>
              </a:lnSpc>
            </a:pPr>
            <a:r>
              <a:rPr lang="en-US" sz="3000" b="true">
                <a:solidFill>
                  <a:srgbClr val="1B1F3B"/>
                </a:solidFill>
                <a:latin typeface="Calibri (MS) Bold"/>
                <a:ea typeface="Calibri (MS) Bold"/>
                <a:cs typeface="Calibri (MS) Bold"/>
                <a:sym typeface="Calibri (MS) Bold"/>
              </a:rPr>
              <a:t>Structured JSON</a:t>
            </a:r>
          </a:p>
        </p:txBody>
      </p:sp>
      <p:sp>
        <p:nvSpPr>
          <p:cNvPr name="TextBox 9" id="9"/>
          <p:cNvSpPr txBox="true"/>
          <p:nvPr/>
        </p:nvSpPr>
        <p:spPr>
          <a:xfrm rot="0">
            <a:off x="1236726" y="6593581"/>
            <a:ext cx="2873502" cy="1409700"/>
          </a:xfrm>
          <a:prstGeom prst="rect">
            <a:avLst/>
          </a:prstGeom>
        </p:spPr>
        <p:txBody>
          <a:bodyPr anchor="t" rtlCol="false" tIns="0" lIns="0" bIns="0" rIns="0">
            <a:spAutoFit/>
          </a:bodyPr>
          <a:lstStyle/>
          <a:p>
            <a:pPr algn="l">
              <a:lnSpc>
                <a:spcPts val="2879"/>
              </a:lnSpc>
            </a:pPr>
            <a:r>
              <a:rPr lang="en-US" sz="2400">
                <a:solidFill>
                  <a:srgbClr val="0E3C74"/>
                </a:solidFill>
                <a:latin typeface="Calibri (MS)"/>
                <a:ea typeface="Calibri (MS)"/>
                <a:cs typeface="Calibri (MS)"/>
                <a:sym typeface="Calibri (MS)"/>
              </a:rPr>
              <a:t>So the router can trust what the LLM says.</a:t>
            </a:r>
          </a:p>
        </p:txBody>
      </p:sp>
      <p:sp>
        <p:nvSpPr>
          <p:cNvPr name="AutoShape 10" id="10"/>
          <p:cNvSpPr/>
          <p:nvPr/>
        </p:nvSpPr>
        <p:spPr>
          <a:xfrm>
            <a:off x="4535996" y="6480654"/>
            <a:ext cx="539685" cy="0"/>
          </a:xfrm>
          <a:prstGeom prst="line">
            <a:avLst/>
          </a:prstGeom>
          <a:ln cap="rnd" w="19050">
            <a:solidFill>
              <a:srgbClr val="FFFFFF"/>
            </a:solidFill>
            <a:prstDash val="solid"/>
            <a:headEnd type="none" len="sm" w="sm"/>
            <a:tailEnd type="triangle" len="med" w="lg"/>
          </a:ln>
        </p:spPr>
      </p:sp>
      <p:grpSp>
        <p:nvGrpSpPr>
          <p:cNvPr name="Group 11" id="11"/>
          <p:cNvGrpSpPr/>
          <p:nvPr/>
        </p:nvGrpSpPr>
        <p:grpSpPr>
          <a:xfrm rot="0">
            <a:off x="5124640" y="4697154"/>
            <a:ext cx="3725037" cy="3526155"/>
            <a:chOff x="0" y="0"/>
            <a:chExt cx="4966716" cy="4701540"/>
          </a:xfrm>
        </p:grpSpPr>
        <p:sp>
          <p:nvSpPr>
            <p:cNvPr name="Freeform 12" id="12"/>
            <p:cNvSpPr/>
            <p:nvPr/>
          </p:nvSpPr>
          <p:spPr>
            <a:xfrm flipH="false" flipV="false" rot="0">
              <a:off x="0" y="0"/>
              <a:ext cx="4966716" cy="4701540"/>
            </a:xfrm>
            <a:custGeom>
              <a:avLst/>
              <a:gdLst/>
              <a:ahLst/>
              <a:cxnLst/>
              <a:rect r="r" b="b" t="t" l="l"/>
              <a:pathLst>
                <a:path h="4701540" w="4966716">
                  <a:moveTo>
                    <a:pt x="0" y="221234"/>
                  </a:moveTo>
                  <a:cubicBezTo>
                    <a:pt x="0" y="99060"/>
                    <a:pt x="99060" y="0"/>
                    <a:pt x="221234" y="0"/>
                  </a:cubicBezTo>
                  <a:lnTo>
                    <a:pt x="4745482" y="0"/>
                  </a:lnTo>
                  <a:cubicBezTo>
                    <a:pt x="4867656" y="0"/>
                    <a:pt x="4966716" y="99060"/>
                    <a:pt x="4966716" y="221234"/>
                  </a:cubicBezTo>
                  <a:lnTo>
                    <a:pt x="4966716" y="4480306"/>
                  </a:lnTo>
                  <a:cubicBezTo>
                    <a:pt x="4966716" y="4602480"/>
                    <a:pt x="4867656" y="4701540"/>
                    <a:pt x="4745482" y="4701540"/>
                  </a:cubicBezTo>
                  <a:lnTo>
                    <a:pt x="221234" y="4701540"/>
                  </a:lnTo>
                  <a:cubicBezTo>
                    <a:pt x="99060" y="4701540"/>
                    <a:pt x="0" y="4602480"/>
                    <a:pt x="0" y="4480306"/>
                  </a:cubicBezTo>
                  <a:close/>
                </a:path>
              </a:pathLst>
            </a:custGeom>
            <a:solidFill>
              <a:srgbClr val="FFFFFF"/>
            </a:solidFill>
            <a:ln w="28575" cap="sq">
              <a:solidFill>
                <a:srgbClr val="3D5A80"/>
              </a:solidFill>
              <a:prstDash val="dash"/>
              <a:miter/>
            </a:ln>
          </p:spPr>
        </p:sp>
      </p:grpSp>
      <p:sp>
        <p:nvSpPr>
          <p:cNvPr name="TextBox 13" id="13"/>
          <p:cNvSpPr txBox="true"/>
          <p:nvPr/>
        </p:nvSpPr>
        <p:spPr>
          <a:xfrm rot="0">
            <a:off x="5550408" y="4900036"/>
            <a:ext cx="1371600" cy="908685"/>
          </a:xfrm>
          <a:prstGeom prst="rect">
            <a:avLst/>
          </a:prstGeom>
        </p:spPr>
        <p:txBody>
          <a:bodyPr anchor="t" rtlCol="false" tIns="0" lIns="0" bIns="0" rIns="0">
            <a:spAutoFit/>
          </a:bodyPr>
          <a:lstStyle/>
          <a:p>
            <a:pPr algn="l">
              <a:lnSpc>
                <a:spcPts val="5759"/>
              </a:lnSpc>
            </a:pPr>
            <a:r>
              <a:rPr lang="en-US" b="true" sz="4800">
                <a:solidFill>
                  <a:srgbClr val="0E3C74"/>
                </a:solidFill>
                <a:latin typeface="Calibri (MS) Bold"/>
                <a:ea typeface="Calibri (MS) Bold"/>
                <a:cs typeface="Calibri (MS) Bold"/>
                <a:sym typeface="Calibri (MS) Bold"/>
              </a:rPr>
              <a:t>2</a:t>
            </a:r>
          </a:p>
        </p:txBody>
      </p:sp>
      <p:sp>
        <p:nvSpPr>
          <p:cNvPr name="TextBox 14" id="14"/>
          <p:cNvSpPr txBox="true"/>
          <p:nvPr/>
        </p:nvSpPr>
        <p:spPr>
          <a:xfrm rot="0">
            <a:off x="5550408" y="5810626"/>
            <a:ext cx="2873502" cy="752475"/>
          </a:xfrm>
          <a:prstGeom prst="rect">
            <a:avLst/>
          </a:prstGeom>
        </p:spPr>
        <p:txBody>
          <a:bodyPr anchor="t" rtlCol="false" tIns="0" lIns="0" bIns="0" rIns="0">
            <a:spAutoFit/>
          </a:bodyPr>
          <a:lstStyle/>
          <a:p>
            <a:pPr algn="l">
              <a:lnSpc>
                <a:spcPts val="3600"/>
              </a:lnSpc>
            </a:pPr>
            <a:r>
              <a:rPr lang="en-US" sz="3000" b="true">
                <a:solidFill>
                  <a:srgbClr val="1B1F3B"/>
                </a:solidFill>
                <a:latin typeface="Calibri (MS) Bold"/>
                <a:ea typeface="Calibri (MS) Bold"/>
                <a:cs typeface="Calibri (MS) Bold"/>
                <a:sym typeface="Calibri (MS) Bold"/>
              </a:rPr>
              <a:t>State machine</a:t>
            </a:r>
          </a:p>
        </p:txBody>
      </p:sp>
      <p:sp>
        <p:nvSpPr>
          <p:cNvPr name="TextBox 15" id="15"/>
          <p:cNvSpPr txBox="true"/>
          <p:nvPr/>
        </p:nvSpPr>
        <p:spPr>
          <a:xfrm rot="0">
            <a:off x="5550408" y="6593581"/>
            <a:ext cx="2873502" cy="1409700"/>
          </a:xfrm>
          <a:prstGeom prst="rect">
            <a:avLst/>
          </a:prstGeom>
        </p:spPr>
        <p:txBody>
          <a:bodyPr anchor="t" rtlCol="false" tIns="0" lIns="0" bIns="0" rIns="0">
            <a:spAutoFit/>
          </a:bodyPr>
          <a:lstStyle/>
          <a:p>
            <a:pPr algn="l">
              <a:lnSpc>
                <a:spcPts val="2879"/>
              </a:lnSpc>
            </a:pPr>
            <a:r>
              <a:rPr lang="en-US" sz="2400">
                <a:solidFill>
                  <a:srgbClr val="0E3C74"/>
                </a:solidFill>
                <a:latin typeface="Calibri (MS)"/>
                <a:ea typeface="Calibri (MS)"/>
                <a:cs typeface="Calibri (MS)"/>
                <a:sym typeface="Calibri (MS)"/>
              </a:rPr>
              <a:t>Intake → Validate → Route.</a:t>
            </a:r>
          </a:p>
        </p:txBody>
      </p:sp>
      <p:sp>
        <p:nvSpPr>
          <p:cNvPr name="AutoShape 16" id="16"/>
          <p:cNvSpPr/>
          <p:nvPr/>
        </p:nvSpPr>
        <p:spPr>
          <a:xfrm>
            <a:off x="8849678" y="6480654"/>
            <a:ext cx="539685" cy="0"/>
          </a:xfrm>
          <a:prstGeom prst="line">
            <a:avLst/>
          </a:prstGeom>
          <a:ln cap="rnd" w="19050">
            <a:solidFill>
              <a:srgbClr val="FFFFFF"/>
            </a:solidFill>
            <a:prstDash val="solid"/>
            <a:headEnd type="none" len="sm" w="sm"/>
            <a:tailEnd type="triangle" len="med" w="lg"/>
          </a:ln>
        </p:spPr>
      </p:sp>
      <p:grpSp>
        <p:nvGrpSpPr>
          <p:cNvPr name="Group 17" id="17"/>
          <p:cNvGrpSpPr/>
          <p:nvPr/>
        </p:nvGrpSpPr>
        <p:grpSpPr>
          <a:xfrm rot="0">
            <a:off x="9438322" y="4697154"/>
            <a:ext cx="3725037" cy="3526155"/>
            <a:chOff x="0" y="0"/>
            <a:chExt cx="4966716" cy="4701540"/>
          </a:xfrm>
        </p:grpSpPr>
        <p:sp>
          <p:nvSpPr>
            <p:cNvPr name="Freeform 18" id="18"/>
            <p:cNvSpPr/>
            <p:nvPr/>
          </p:nvSpPr>
          <p:spPr>
            <a:xfrm flipH="false" flipV="false" rot="0">
              <a:off x="0" y="0"/>
              <a:ext cx="4966716" cy="4701540"/>
            </a:xfrm>
            <a:custGeom>
              <a:avLst/>
              <a:gdLst/>
              <a:ahLst/>
              <a:cxnLst/>
              <a:rect r="r" b="b" t="t" l="l"/>
              <a:pathLst>
                <a:path h="4701540" w="4966716">
                  <a:moveTo>
                    <a:pt x="0" y="221234"/>
                  </a:moveTo>
                  <a:cubicBezTo>
                    <a:pt x="0" y="99060"/>
                    <a:pt x="99060" y="0"/>
                    <a:pt x="221234" y="0"/>
                  </a:cubicBezTo>
                  <a:lnTo>
                    <a:pt x="4745482" y="0"/>
                  </a:lnTo>
                  <a:cubicBezTo>
                    <a:pt x="4867656" y="0"/>
                    <a:pt x="4966716" y="99060"/>
                    <a:pt x="4966716" y="221234"/>
                  </a:cubicBezTo>
                  <a:lnTo>
                    <a:pt x="4966716" y="4480306"/>
                  </a:lnTo>
                  <a:cubicBezTo>
                    <a:pt x="4966716" y="4602480"/>
                    <a:pt x="4867656" y="4701540"/>
                    <a:pt x="4745482" y="4701540"/>
                  </a:cubicBezTo>
                  <a:lnTo>
                    <a:pt x="221234" y="4701540"/>
                  </a:lnTo>
                  <a:cubicBezTo>
                    <a:pt x="99060" y="4701540"/>
                    <a:pt x="0" y="4602480"/>
                    <a:pt x="0" y="4480306"/>
                  </a:cubicBezTo>
                  <a:close/>
                </a:path>
              </a:pathLst>
            </a:custGeom>
            <a:solidFill>
              <a:srgbClr val="FFFFFF"/>
            </a:solidFill>
            <a:ln w="28575" cap="sq">
              <a:solidFill>
                <a:srgbClr val="3D5A80"/>
              </a:solidFill>
              <a:prstDash val="dash"/>
              <a:miter/>
            </a:ln>
          </p:spPr>
        </p:sp>
      </p:grpSp>
      <p:sp>
        <p:nvSpPr>
          <p:cNvPr name="TextBox 19" id="19"/>
          <p:cNvSpPr txBox="true"/>
          <p:nvPr/>
        </p:nvSpPr>
        <p:spPr>
          <a:xfrm rot="0">
            <a:off x="9864090" y="4900036"/>
            <a:ext cx="1371600" cy="908685"/>
          </a:xfrm>
          <a:prstGeom prst="rect">
            <a:avLst/>
          </a:prstGeom>
        </p:spPr>
        <p:txBody>
          <a:bodyPr anchor="t" rtlCol="false" tIns="0" lIns="0" bIns="0" rIns="0">
            <a:spAutoFit/>
          </a:bodyPr>
          <a:lstStyle/>
          <a:p>
            <a:pPr algn="l">
              <a:lnSpc>
                <a:spcPts val="5759"/>
              </a:lnSpc>
            </a:pPr>
            <a:r>
              <a:rPr lang="en-US" b="true" sz="4800">
                <a:solidFill>
                  <a:srgbClr val="0E3C74"/>
                </a:solidFill>
                <a:latin typeface="Calibri (MS) Bold"/>
                <a:ea typeface="Calibri (MS) Bold"/>
                <a:cs typeface="Calibri (MS) Bold"/>
                <a:sym typeface="Calibri (MS) Bold"/>
              </a:rPr>
              <a:t>3</a:t>
            </a:r>
          </a:p>
        </p:txBody>
      </p:sp>
      <p:sp>
        <p:nvSpPr>
          <p:cNvPr name="TextBox 20" id="20"/>
          <p:cNvSpPr txBox="true"/>
          <p:nvPr/>
        </p:nvSpPr>
        <p:spPr>
          <a:xfrm rot="0">
            <a:off x="9864090" y="5810626"/>
            <a:ext cx="2873502" cy="752475"/>
          </a:xfrm>
          <a:prstGeom prst="rect">
            <a:avLst/>
          </a:prstGeom>
        </p:spPr>
        <p:txBody>
          <a:bodyPr anchor="t" rtlCol="false" tIns="0" lIns="0" bIns="0" rIns="0">
            <a:spAutoFit/>
          </a:bodyPr>
          <a:lstStyle/>
          <a:p>
            <a:pPr algn="l">
              <a:lnSpc>
                <a:spcPts val="3600"/>
              </a:lnSpc>
            </a:pPr>
            <a:r>
              <a:rPr lang="en-US" sz="3000" b="true">
                <a:solidFill>
                  <a:srgbClr val="1B1F3B"/>
                </a:solidFill>
                <a:latin typeface="Calibri (MS) Bold"/>
                <a:ea typeface="Calibri (MS) Bold"/>
                <a:cs typeface="Calibri (MS) Bold"/>
                <a:sym typeface="Calibri (MS) Bold"/>
              </a:rPr>
              <a:t>Failure handling</a:t>
            </a:r>
          </a:p>
        </p:txBody>
      </p:sp>
      <p:sp>
        <p:nvSpPr>
          <p:cNvPr name="TextBox 21" id="21"/>
          <p:cNvSpPr txBox="true"/>
          <p:nvPr/>
        </p:nvSpPr>
        <p:spPr>
          <a:xfrm rot="0">
            <a:off x="9864090" y="6593581"/>
            <a:ext cx="2873502" cy="1409700"/>
          </a:xfrm>
          <a:prstGeom prst="rect">
            <a:avLst/>
          </a:prstGeom>
        </p:spPr>
        <p:txBody>
          <a:bodyPr anchor="t" rtlCol="false" tIns="0" lIns="0" bIns="0" rIns="0">
            <a:spAutoFit/>
          </a:bodyPr>
          <a:lstStyle/>
          <a:p>
            <a:pPr algn="l">
              <a:lnSpc>
                <a:spcPts val="2879"/>
              </a:lnSpc>
            </a:pPr>
            <a:r>
              <a:rPr lang="en-US" sz="2400">
                <a:solidFill>
                  <a:srgbClr val="0E3C74"/>
                </a:solidFill>
                <a:latin typeface="Calibri (MS)"/>
                <a:ea typeface="Calibri (MS)"/>
                <a:cs typeface="Calibri (MS)"/>
                <a:sym typeface="Calibri (MS)"/>
              </a:rPr>
              <a:t>Because LLMs fail.</a:t>
            </a:r>
          </a:p>
        </p:txBody>
      </p:sp>
      <p:sp>
        <p:nvSpPr>
          <p:cNvPr name="AutoShape 22" id="22"/>
          <p:cNvSpPr/>
          <p:nvPr/>
        </p:nvSpPr>
        <p:spPr>
          <a:xfrm>
            <a:off x="13163360" y="6480654"/>
            <a:ext cx="539685" cy="0"/>
          </a:xfrm>
          <a:prstGeom prst="line">
            <a:avLst/>
          </a:prstGeom>
          <a:ln cap="rnd" w="19050">
            <a:solidFill>
              <a:srgbClr val="FFFFFF"/>
            </a:solidFill>
            <a:prstDash val="solid"/>
            <a:headEnd type="none" len="sm" w="sm"/>
            <a:tailEnd type="triangle" len="med" w="lg"/>
          </a:ln>
        </p:spPr>
      </p:sp>
      <p:grpSp>
        <p:nvGrpSpPr>
          <p:cNvPr name="Group 23" id="23"/>
          <p:cNvGrpSpPr/>
          <p:nvPr/>
        </p:nvGrpSpPr>
        <p:grpSpPr>
          <a:xfrm rot="0">
            <a:off x="13752004" y="4697154"/>
            <a:ext cx="3725037" cy="3526155"/>
            <a:chOff x="0" y="0"/>
            <a:chExt cx="4966716" cy="4701540"/>
          </a:xfrm>
        </p:grpSpPr>
        <p:sp>
          <p:nvSpPr>
            <p:cNvPr name="Freeform 24" id="24"/>
            <p:cNvSpPr/>
            <p:nvPr/>
          </p:nvSpPr>
          <p:spPr>
            <a:xfrm flipH="false" flipV="false" rot="0">
              <a:off x="0" y="0"/>
              <a:ext cx="4966716" cy="4701540"/>
            </a:xfrm>
            <a:custGeom>
              <a:avLst/>
              <a:gdLst/>
              <a:ahLst/>
              <a:cxnLst/>
              <a:rect r="r" b="b" t="t" l="l"/>
              <a:pathLst>
                <a:path h="4701540" w="4966716">
                  <a:moveTo>
                    <a:pt x="0" y="221234"/>
                  </a:moveTo>
                  <a:cubicBezTo>
                    <a:pt x="0" y="99060"/>
                    <a:pt x="99060" y="0"/>
                    <a:pt x="221234" y="0"/>
                  </a:cubicBezTo>
                  <a:lnTo>
                    <a:pt x="4745482" y="0"/>
                  </a:lnTo>
                  <a:cubicBezTo>
                    <a:pt x="4867656" y="0"/>
                    <a:pt x="4966716" y="99060"/>
                    <a:pt x="4966716" y="221234"/>
                  </a:cubicBezTo>
                  <a:lnTo>
                    <a:pt x="4966716" y="4480306"/>
                  </a:lnTo>
                  <a:cubicBezTo>
                    <a:pt x="4966716" y="4602480"/>
                    <a:pt x="4867656" y="4701540"/>
                    <a:pt x="4745482" y="4701540"/>
                  </a:cubicBezTo>
                  <a:lnTo>
                    <a:pt x="221234" y="4701540"/>
                  </a:lnTo>
                  <a:cubicBezTo>
                    <a:pt x="99060" y="4701540"/>
                    <a:pt x="0" y="4602480"/>
                    <a:pt x="0" y="4480306"/>
                  </a:cubicBezTo>
                  <a:close/>
                </a:path>
              </a:pathLst>
            </a:custGeom>
            <a:solidFill>
              <a:srgbClr val="FFFFFF"/>
            </a:solidFill>
            <a:ln w="28575" cap="sq">
              <a:solidFill>
                <a:srgbClr val="3D5A80"/>
              </a:solidFill>
              <a:prstDash val="dash"/>
              <a:miter/>
            </a:ln>
          </p:spPr>
        </p:sp>
      </p:grpSp>
      <p:sp>
        <p:nvSpPr>
          <p:cNvPr name="TextBox 25" id="25"/>
          <p:cNvSpPr txBox="true"/>
          <p:nvPr/>
        </p:nvSpPr>
        <p:spPr>
          <a:xfrm rot="0">
            <a:off x="14177772" y="4900036"/>
            <a:ext cx="1371600" cy="908685"/>
          </a:xfrm>
          <a:prstGeom prst="rect">
            <a:avLst/>
          </a:prstGeom>
        </p:spPr>
        <p:txBody>
          <a:bodyPr anchor="t" rtlCol="false" tIns="0" lIns="0" bIns="0" rIns="0">
            <a:spAutoFit/>
          </a:bodyPr>
          <a:lstStyle/>
          <a:p>
            <a:pPr algn="l">
              <a:lnSpc>
                <a:spcPts val="5759"/>
              </a:lnSpc>
            </a:pPr>
            <a:r>
              <a:rPr lang="en-US" b="true" sz="4800">
                <a:solidFill>
                  <a:srgbClr val="0E3C74"/>
                </a:solidFill>
                <a:latin typeface="Calibri (MS) Bold"/>
                <a:ea typeface="Calibri (MS) Bold"/>
                <a:cs typeface="Calibri (MS) Bold"/>
                <a:sym typeface="Calibri (MS) Bold"/>
              </a:rPr>
              <a:t>4</a:t>
            </a:r>
          </a:p>
        </p:txBody>
      </p:sp>
      <p:sp>
        <p:nvSpPr>
          <p:cNvPr name="TextBox 26" id="26"/>
          <p:cNvSpPr txBox="true"/>
          <p:nvPr/>
        </p:nvSpPr>
        <p:spPr>
          <a:xfrm rot="0">
            <a:off x="14177772" y="5810626"/>
            <a:ext cx="2873502" cy="752475"/>
          </a:xfrm>
          <a:prstGeom prst="rect">
            <a:avLst/>
          </a:prstGeom>
        </p:spPr>
        <p:txBody>
          <a:bodyPr anchor="t" rtlCol="false" tIns="0" lIns="0" bIns="0" rIns="0">
            <a:spAutoFit/>
          </a:bodyPr>
          <a:lstStyle/>
          <a:p>
            <a:pPr algn="l">
              <a:lnSpc>
                <a:spcPts val="3600"/>
              </a:lnSpc>
            </a:pPr>
            <a:r>
              <a:rPr lang="en-US" sz="3000" b="true">
                <a:solidFill>
                  <a:srgbClr val="1B1F3B"/>
                </a:solidFill>
                <a:latin typeface="Calibri (MS) Bold"/>
                <a:ea typeface="Calibri (MS) Bold"/>
                <a:cs typeface="Calibri (MS) Bold"/>
                <a:sym typeface="Calibri (MS) Bold"/>
              </a:rPr>
              <a:t>Observability</a:t>
            </a:r>
          </a:p>
        </p:txBody>
      </p:sp>
      <p:sp>
        <p:nvSpPr>
          <p:cNvPr name="TextBox 27" id="27"/>
          <p:cNvSpPr txBox="true"/>
          <p:nvPr/>
        </p:nvSpPr>
        <p:spPr>
          <a:xfrm rot="0">
            <a:off x="14177772" y="6593581"/>
            <a:ext cx="2873502" cy="1409700"/>
          </a:xfrm>
          <a:prstGeom prst="rect">
            <a:avLst/>
          </a:prstGeom>
        </p:spPr>
        <p:txBody>
          <a:bodyPr anchor="t" rtlCol="false" tIns="0" lIns="0" bIns="0" rIns="0">
            <a:spAutoFit/>
          </a:bodyPr>
          <a:lstStyle/>
          <a:p>
            <a:pPr algn="l">
              <a:lnSpc>
                <a:spcPts val="2879"/>
              </a:lnSpc>
            </a:pPr>
            <a:r>
              <a:rPr lang="en-US" sz="2400">
                <a:solidFill>
                  <a:srgbClr val="0E3C74"/>
                </a:solidFill>
                <a:latin typeface="Calibri (MS)"/>
                <a:ea typeface="Calibri (MS)"/>
                <a:cs typeface="Calibri (MS)"/>
                <a:sym typeface="Calibri (MS)"/>
              </a:rPr>
              <a:t>Because debugging is part of the job.</a:t>
            </a:r>
          </a:p>
        </p:txBody>
      </p:sp>
      <p:grpSp>
        <p:nvGrpSpPr>
          <p:cNvPr name="Group 28" id="28"/>
          <p:cNvGrpSpPr/>
          <p:nvPr/>
        </p:nvGrpSpPr>
        <p:grpSpPr>
          <a:xfrm rot="0">
            <a:off x="850392" y="1345721"/>
            <a:ext cx="11178275" cy="823334"/>
            <a:chOff x="0" y="0"/>
            <a:chExt cx="2944073" cy="216845"/>
          </a:xfrm>
        </p:grpSpPr>
        <p:sp>
          <p:nvSpPr>
            <p:cNvPr name="Freeform 29" id="29"/>
            <p:cNvSpPr/>
            <p:nvPr/>
          </p:nvSpPr>
          <p:spPr>
            <a:xfrm flipH="false" flipV="false" rot="0">
              <a:off x="0" y="0"/>
              <a:ext cx="2944073" cy="216845"/>
            </a:xfrm>
            <a:custGeom>
              <a:avLst/>
              <a:gdLst/>
              <a:ahLst/>
              <a:cxnLst/>
              <a:rect r="r" b="b" t="t" l="l"/>
              <a:pathLst>
                <a:path h="216845" w="2944073">
                  <a:moveTo>
                    <a:pt x="0" y="0"/>
                  </a:moveTo>
                  <a:lnTo>
                    <a:pt x="2944073" y="0"/>
                  </a:lnTo>
                  <a:lnTo>
                    <a:pt x="2944073" y="216845"/>
                  </a:lnTo>
                  <a:lnTo>
                    <a:pt x="0" y="216845"/>
                  </a:lnTo>
                  <a:close/>
                </a:path>
              </a:pathLst>
            </a:custGeom>
            <a:solidFill>
              <a:srgbClr val="0493FB"/>
            </a:solidFill>
          </p:spPr>
        </p:sp>
        <p:sp>
          <p:nvSpPr>
            <p:cNvPr name="TextBox 30" id="30"/>
            <p:cNvSpPr txBox="true"/>
            <p:nvPr/>
          </p:nvSpPr>
          <p:spPr>
            <a:xfrm>
              <a:off x="0" y="-57150"/>
              <a:ext cx="2944073" cy="273995"/>
            </a:xfrm>
            <a:prstGeom prst="rect">
              <a:avLst/>
            </a:prstGeom>
          </p:spPr>
          <p:txBody>
            <a:bodyPr anchor="ctr" rtlCol="false" tIns="50800" lIns="50800" bIns="50800" rIns="50800"/>
            <a:lstStyle/>
            <a:p>
              <a:pPr algn="ctr">
                <a:lnSpc>
                  <a:spcPts val="2700"/>
                </a:lnSpc>
              </a:pPr>
            </a:p>
          </p:txBody>
        </p:sp>
      </p:grpSp>
      <p:sp>
        <p:nvSpPr>
          <p:cNvPr name="TextBox 31" id="31"/>
          <p:cNvSpPr txBox="true"/>
          <p:nvPr/>
        </p:nvSpPr>
        <p:spPr>
          <a:xfrm rot="0">
            <a:off x="1068133" y="530254"/>
            <a:ext cx="15204569"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What We are Building</a:t>
            </a:r>
          </a:p>
        </p:txBody>
      </p:sp>
    </p:spTree>
  </p:cSld>
  <p:clrMapOvr>
    <a:masterClrMapping/>
  </p:clrMapOvr>
</p:sld>
</file>

<file path=ppt/slides/slide22.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1720342"/>
            <a:ext cx="15574643" cy="787661"/>
            <a:chOff x="0" y="0"/>
            <a:chExt cx="4101964" cy="207450"/>
          </a:xfrm>
        </p:grpSpPr>
        <p:sp>
          <p:nvSpPr>
            <p:cNvPr name="Freeform 3" id="3"/>
            <p:cNvSpPr/>
            <p:nvPr/>
          </p:nvSpPr>
          <p:spPr>
            <a:xfrm flipH="false" flipV="false" rot="0">
              <a:off x="0" y="0"/>
              <a:ext cx="4101964" cy="207450"/>
            </a:xfrm>
            <a:custGeom>
              <a:avLst/>
              <a:gdLst/>
              <a:ahLst/>
              <a:cxnLst/>
              <a:rect r="r" b="b" t="t" l="l"/>
              <a:pathLst>
                <a:path h="207450" w="4101964">
                  <a:moveTo>
                    <a:pt x="0" y="0"/>
                  </a:moveTo>
                  <a:lnTo>
                    <a:pt x="4101964" y="0"/>
                  </a:lnTo>
                  <a:lnTo>
                    <a:pt x="4101964" y="207450"/>
                  </a:lnTo>
                  <a:lnTo>
                    <a:pt x="0" y="207450"/>
                  </a:lnTo>
                  <a:close/>
                </a:path>
              </a:pathLst>
            </a:custGeom>
            <a:solidFill>
              <a:srgbClr val="0493FB"/>
            </a:solidFill>
          </p:spPr>
        </p:sp>
        <p:sp>
          <p:nvSpPr>
            <p:cNvPr name="TextBox 4" id="4"/>
            <p:cNvSpPr txBox="true"/>
            <p:nvPr/>
          </p:nvSpPr>
          <p:spPr>
            <a:xfrm>
              <a:off x="0" y="-57150"/>
              <a:ext cx="4101964" cy="264600"/>
            </a:xfrm>
            <a:prstGeom prst="rect">
              <a:avLst/>
            </a:prstGeom>
          </p:spPr>
          <p:txBody>
            <a:bodyPr anchor="ctr" rtlCol="false" tIns="50800" lIns="50800" bIns="50800" rIns="50800"/>
            <a:lstStyle/>
            <a:p>
              <a:pPr algn="ctr">
                <a:lnSpc>
                  <a:spcPts val="2700"/>
                </a:lnSpc>
              </a:pPr>
            </a:p>
          </p:txBody>
        </p:sp>
      </p:grpSp>
      <p:grpSp>
        <p:nvGrpSpPr>
          <p:cNvPr name="Group 5" id="5"/>
          <p:cNvGrpSpPr/>
          <p:nvPr/>
        </p:nvGrpSpPr>
        <p:grpSpPr>
          <a:xfrm rot="0">
            <a:off x="1162906" y="3518535"/>
            <a:ext cx="8126349" cy="5739765"/>
            <a:chOff x="0" y="0"/>
            <a:chExt cx="10835132" cy="7653020"/>
          </a:xfrm>
        </p:grpSpPr>
        <p:sp>
          <p:nvSpPr>
            <p:cNvPr name="Freeform 6" id="6"/>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7" id="7"/>
          <p:cNvGrpSpPr/>
          <p:nvPr/>
        </p:nvGrpSpPr>
        <p:grpSpPr>
          <a:xfrm rot="0">
            <a:off x="1486550" y="4010363"/>
            <a:ext cx="5305015" cy="906678"/>
            <a:chOff x="0" y="0"/>
            <a:chExt cx="1397205" cy="238796"/>
          </a:xfrm>
        </p:grpSpPr>
        <p:sp>
          <p:nvSpPr>
            <p:cNvPr name="Freeform 8" id="8"/>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493FB"/>
            </a:solidFill>
          </p:spPr>
        </p:sp>
        <p:sp>
          <p:nvSpPr>
            <p:cNvPr name="TextBox 9" id="9"/>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Your manager asks?</a:t>
              </a:r>
            </a:p>
          </p:txBody>
        </p:sp>
      </p:grpSp>
      <p:sp>
        <p:nvSpPr>
          <p:cNvPr name="TextBox 10" id="10"/>
          <p:cNvSpPr txBox="true"/>
          <p:nvPr/>
        </p:nvSpPr>
        <p:spPr>
          <a:xfrm rot="0">
            <a:off x="1028700" y="904875"/>
            <a:ext cx="15356902"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At Work: Agents vs Workflow</a:t>
            </a:r>
          </a:p>
        </p:txBody>
      </p:sp>
      <p:sp>
        <p:nvSpPr>
          <p:cNvPr name="TextBox 11" id="11"/>
          <p:cNvSpPr txBox="true"/>
          <p:nvPr/>
        </p:nvSpPr>
        <p:spPr>
          <a:xfrm rot="0">
            <a:off x="1162906" y="5336858"/>
            <a:ext cx="8284229" cy="3181350"/>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“Let’s build a fully autonomous support agent”</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Map the steps: known in advance?</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If yes, state machine, LLM in one node.</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Autonomy only where you can’t write the path.</a:t>
            </a:r>
          </a:p>
        </p:txBody>
      </p:sp>
      <p:grpSp>
        <p:nvGrpSpPr>
          <p:cNvPr name="Group 12" id="12"/>
          <p:cNvGrpSpPr/>
          <p:nvPr/>
        </p:nvGrpSpPr>
        <p:grpSpPr>
          <a:xfrm rot="0">
            <a:off x="9447135" y="3518535"/>
            <a:ext cx="8126349" cy="5739765"/>
            <a:chOff x="0" y="0"/>
            <a:chExt cx="10835132" cy="7653020"/>
          </a:xfrm>
        </p:grpSpPr>
        <p:sp>
          <p:nvSpPr>
            <p:cNvPr name="Freeform 13" id="13"/>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14" id="14"/>
          <p:cNvGrpSpPr/>
          <p:nvPr/>
        </p:nvGrpSpPr>
        <p:grpSpPr>
          <a:xfrm rot="0">
            <a:off x="9770779" y="4010363"/>
            <a:ext cx="5305015" cy="906678"/>
            <a:chOff x="0" y="0"/>
            <a:chExt cx="1397205" cy="238796"/>
          </a:xfrm>
        </p:grpSpPr>
        <p:sp>
          <p:nvSpPr>
            <p:cNvPr name="Freeform 15" id="15"/>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E3C74"/>
            </a:solidFill>
          </p:spPr>
        </p:sp>
        <p:sp>
          <p:nvSpPr>
            <p:cNvPr name="TextBox 16" id="16"/>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The interviewer asks?</a:t>
              </a:r>
            </a:p>
          </p:txBody>
        </p:sp>
      </p:grpSp>
      <p:sp>
        <p:nvSpPr>
          <p:cNvPr name="TextBox 17" id="17"/>
          <p:cNvSpPr txBox="true"/>
          <p:nvPr/>
        </p:nvSpPr>
        <p:spPr>
          <a:xfrm rot="0">
            <a:off x="9447135" y="5336858"/>
            <a:ext cx="8284229" cy="3181350"/>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“When will you not build an agent?”</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When the steps are known up front.</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Workflows are cheaper, faster and testable.</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Agents trade all that for flexibility.</a:t>
            </a:r>
          </a:p>
        </p:txBody>
      </p:sp>
      <p:sp>
        <p:nvSpPr>
          <p:cNvPr name="TextBox 18" id="18"/>
          <p:cNvSpPr txBox="true"/>
          <p:nvPr/>
        </p:nvSpPr>
        <p:spPr>
          <a:xfrm rot="0">
            <a:off x="1383185" y="9426504"/>
            <a:ext cx="15812140" cy="1096753"/>
          </a:xfrm>
          <a:prstGeom prst="rect">
            <a:avLst/>
          </a:prstGeom>
        </p:spPr>
        <p:txBody>
          <a:bodyPr anchor="t" rtlCol="false" tIns="0" lIns="0" bIns="0" rIns="0">
            <a:spAutoFit/>
          </a:bodyPr>
          <a:lstStyle/>
          <a:p>
            <a:pPr algn="ctr">
              <a:lnSpc>
                <a:spcPts val="3908"/>
              </a:lnSpc>
              <a:spcBef>
                <a:spcPct val="0"/>
              </a:spcBef>
            </a:pPr>
            <a:r>
              <a:rPr lang="en-US" b="true" sz="3257">
                <a:solidFill>
                  <a:srgbClr val="FFFFFF"/>
                </a:solidFill>
                <a:latin typeface="Calibri (MS) Bold"/>
                <a:ea typeface="Calibri (MS) Bold"/>
                <a:cs typeface="Calibri (MS) Bold"/>
                <a:sym typeface="Calibri (MS) Bold"/>
              </a:rPr>
              <a:t>Anthropic’s advice: </a:t>
            </a:r>
            <a:r>
              <a:rPr lang="en-US" sz="3257">
                <a:solidFill>
                  <a:srgbClr val="C9D1E3"/>
                </a:solidFill>
                <a:latin typeface="Calibri (MS)"/>
                <a:ea typeface="Calibri (MS)"/>
                <a:cs typeface="Calibri (MS)"/>
                <a:sym typeface="Calibri (MS)"/>
              </a:rPr>
              <a:t>Start with a simple solution, add complexity only when needed</a:t>
            </a:r>
          </a:p>
          <a:p>
            <a:pPr algn="ctr">
              <a:lnSpc>
                <a:spcPts val="426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930496" y="3528060"/>
            <a:ext cx="8107299" cy="5720715"/>
            <a:chOff x="0" y="0"/>
            <a:chExt cx="10809732" cy="7627620"/>
          </a:xfrm>
        </p:grpSpPr>
        <p:sp>
          <p:nvSpPr>
            <p:cNvPr name="Freeform 3" id="3"/>
            <p:cNvSpPr/>
            <p:nvPr/>
          </p:nvSpPr>
          <p:spPr>
            <a:xfrm flipH="false" flipV="false" rot="0">
              <a:off x="0" y="0"/>
              <a:ext cx="10809732" cy="7627620"/>
            </a:xfrm>
            <a:custGeom>
              <a:avLst/>
              <a:gdLst/>
              <a:ahLst/>
              <a:cxnLst/>
              <a:rect r="r" b="b" t="t" l="l"/>
              <a:pathLst>
                <a:path h="7627620" w="10809732">
                  <a:moveTo>
                    <a:pt x="0" y="220599"/>
                  </a:moveTo>
                  <a:cubicBezTo>
                    <a:pt x="0" y="98806"/>
                    <a:pt x="98806" y="0"/>
                    <a:pt x="220599" y="0"/>
                  </a:cubicBezTo>
                  <a:lnTo>
                    <a:pt x="10589133" y="0"/>
                  </a:lnTo>
                  <a:cubicBezTo>
                    <a:pt x="10710926" y="0"/>
                    <a:pt x="10809732" y="98806"/>
                    <a:pt x="10809732" y="220599"/>
                  </a:cubicBezTo>
                  <a:lnTo>
                    <a:pt x="10809732" y="7407021"/>
                  </a:lnTo>
                  <a:cubicBezTo>
                    <a:pt x="10809732" y="7528814"/>
                    <a:pt x="10710926" y="7627620"/>
                    <a:pt x="10589133" y="7627620"/>
                  </a:cubicBezTo>
                  <a:lnTo>
                    <a:pt x="220599" y="7627620"/>
                  </a:lnTo>
                  <a:cubicBezTo>
                    <a:pt x="98806" y="7627620"/>
                    <a:pt x="0" y="7528814"/>
                    <a:pt x="0" y="7407021"/>
                  </a:cubicBezTo>
                  <a:close/>
                </a:path>
              </a:pathLst>
            </a:custGeom>
            <a:solidFill>
              <a:srgbClr val="FFFFFF"/>
            </a:solidFill>
            <a:ln w="28575" cap="sq">
              <a:solidFill>
                <a:srgbClr val="FFFFFF"/>
              </a:solidFill>
              <a:prstDash val="solid"/>
              <a:miter/>
            </a:ln>
          </p:spPr>
        </p:sp>
      </p:grpSp>
      <p:grpSp>
        <p:nvGrpSpPr>
          <p:cNvPr name="Group 4" id="4"/>
          <p:cNvGrpSpPr/>
          <p:nvPr/>
        </p:nvGrpSpPr>
        <p:grpSpPr>
          <a:xfrm rot="0">
            <a:off x="9479755" y="3518535"/>
            <a:ext cx="8126349" cy="5739765"/>
            <a:chOff x="0" y="0"/>
            <a:chExt cx="10835132" cy="7653020"/>
          </a:xfrm>
        </p:grpSpPr>
        <p:sp>
          <p:nvSpPr>
            <p:cNvPr name="Freeform 5" id="5"/>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6" id="6"/>
          <p:cNvGrpSpPr/>
          <p:nvPr/>
        </p:nvGrpSpPr>
        <p:grpSpPr>
          <a:xfrm rot="0">
            <a:off x="9969340" y="5036820"/>
            <a:ext cx="7147179" cy="714375"/>
            <a:chOff x="0" y="0"/>
            <a:chExt cx="9529572" cy="952500"/>
          </a:xfrm>
        </p:grpSpPr>
        <p:sp>
          <p:nvSpPr>
            <p:cNvPr name="Freeform 7" id="7"/>
            <p:cNvSpPr/>
            <p:nvPr/>
          </p:nvSpPr>
          <p:spPr>
            <a:xfrm flipH="false" flipV="false" rot="0">
              <a:off x="0" y="0"/>
              <a:ext cx="9529572" cy="952500"/>
            </a:xfrm>
            <a:custGeom>
              <a:avLst/>
              <a:gdLst/>
              <a:ahLst/>
              <a:cxnLst/>
              <a:rect r="r" b="b" t="t" l="l"/>
              <a:pathLst>
                <a:path h="952500" w="9529572">
                  <a:moveTo>
                    <a:pt x="0" y="114300"/>
                  </a:moveTo>
                  <a:cubicBezTo>
                    <a:pt x="0" y="51181"/>
                    <a:pt x="51181" y="0"/>
                    <a:pt x="114300" y="0"/>
                  </a:cubicBezTo>
                  <a:lnTo>
                    <a:pt x="9415272" y="0"/>
                  </a:lnTo>
                  <a:cubicBezTo>
                    <a:pt x="9478390" y="0"/>
                    <a:pt x="9529572" y="51181"/>
                    <a:pt x="9529572" y="114300"/>
                  </a:cubicBezTo>
                  <a:lnTo>
                    <a:pt x="9529572" y="838200"/>
                  </a:lnTo>
                  <a:cubicBezTo>
                    <a:pt x="9529572" y="901319"/>
                    <a:pt x="9478390" y="952500"/>
                    <a:pt x="9415272" y="952500"/>
                  </a:cubicBezTo>
                  <a:lnTo>
                    <a:pt x="114300" y="952500"/>
                  </a:lnTo>
                  <a:cubicBezTo>
                    <a:pt x="51181" y="952500"/>
                    <a:pt x="0" y="901319"/>
                    <a:pt x="0" y="838200"/>
                  </a:cubicBezTo>
                  <a:close/>
                </a:path>
              </a:pathLst>
            </a:custGeom>
            <a:solidFill>
              <a:srgbClr val="FFFFFF"/>
            </a:solidFill>
            <a:ln w="28575" cap="sq">
              <a:solidFill>
                <a:srgbClr val="FFFFFF"/>
              </a:solidFill>
              <a:prstDash val="solid"/>
              <a:miter/>
            </a:ln>
          </p:spPr>
        </p:sp>
      </p:grpSp>
      <p:grpSp>
        <p:nvGrpSpPr>
          <p:cNvPr name="Group 8" id="8"/>
          <p:cNvGrpSpPr/>
          <p:nvPr/>
        </p:nvGrpSpPr>
        <p:grpSpPr>
          <a:xfrm rot="0">
            <a:off x="10257948" y="5051108"/>
            <a:ext cx="2331720" cy="685800"/>
            <a:chOff x="0" y="0"/>
            <a:chExt cx="3108960" cy="914400"/>
          </a:xfrm>
        </p:grpSpPr>
        <p:sp>
          <p:nvSpPr>
            <p:cNvPr name="Freeform 9" id="9"/>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2">
                <a:alphaModFix amt="0"/>
              </a:blip>
              <a:stretch>
                <a:fillRect l="0" t="-16249" r="0" b="-16249"/>
              </a:stretch>
            </a:blipFill>
          </p:spPr>
        </p:sp>
        <p:sp>
          <p:nvSpPr>
            <p:cNvPr name="TextBox 10" id="10"/>
            <p:cNvSpPr txBox="true"/>
            <p:nvPr/>
          </p:nvSpPr>
          <p:spPr>
            <a:xfrm>
              <a:off x="0" y="-47625"/>
              <a:ext cx="3108960" cy="962025"/>
            </a:xfrm>
            <a:prstGeom prst="rect">
              <a:avLst/>
            </a:prstGeom>
          </p:spPr>
          <p:txBody>
            <a:bodyPr anchor="ctr" rtlCol="false" tIns="0" lIns="0" bIns="0" rIns="0"/>
            <a:lstStyle/>
            <a:p>
              <a:pPr algn="l">
                <a:lnSpc>
                  <a:spcPts val="3060"/>
                </a:lnSpc>
              </a:pPr>
              <a:r>
                <a:rPr lang="en-US" b="true" sz="2550">
                  <a:solidFill>
                    <a:srgbClr val="0E3C74"/>
                  </a:solidFill>
                  <a:latin typeface="Calibri (MS) Bold"/>
                  <a:ea typeface="Calibri (MS) Bold"/>
                  <a:cs typeface="Calibri (MS) Bold"/>
                  <a:sym typeface="Calibri (MS) Bold"/>
                </a:rPr>
                <a:t>category</a:t>
              </a:r>
            </a:p>
          </p:txBody>
        </p:sp>
      </p:grpSp>
      <p:grpSp>
        <p:nvGrpSpPr>
          <p:cNvPr name="Group 11" id="11"/>
          <p:cNvGrpSpPr/>
          <p:nvPr/>
        </p:nvGrpSpPr>
        <p:grpSpPr>
          <a:xfrm rot="0">
            <a:off x="12658248" y="5051108"/>
            <a:ext cx="4101084" cy="685800"/>
            <a:chOff x="0" y="0"/>
            <a:chExt cx="5468112" cy="914400"/>
          </a:xfrm>
        </p:grpSpPr>
        <p:sp>
          <p:nvSpPr>
            <p:cNvPr name="Freeform 12" id="12"/>
            <p:cNvSpPr/>
            <p:nvPr/>
          </p:nvSpPr>
          <p:spPr>
            <a:xfrm flipH="false" flipV="false" rot="0">
              <a:off x="0" y="0"/>
              <a:ext cx="5468112" cy="914400"/>
            </a:xfrm>
            <a:custGeom>
              <a:avLst/>
              <a:gdLst/>
              <a:ahLst/>
              <a:cxnLst/>
              <a:rect r="r" b="b" t="t" l="l"/>
              <a:pathLst>
                <a:path h="914400" w="5468112">
                  <a:moveTo>
                    <a:pt x="0" y="0"/>
                  </a:moveTo>
                  <a:lnTo>
                    <a:pt x="5468112" y="0"/>
                  </a:lnTo>
                  <a:lnTo>
                    <a:pt x="5468112" y="914400"/>
                  </a:lnTo>
                  <a:lnTo>
                    <a:pt x="0" y="914400"/>
                  </a:lnTo>
                  <a:close/>
                </a:path>
              </a:pathLst>
            </a:custGeom>
            <a:blipFill>
              <a:blip r:embed="rId2">
                <a:alphaModFix amt="0"/>
              </a:blip>
              <a:stretch>
                <a:fillRect l="0" t="-66520" r="0" b="-66520"/>
              </a:stretch>
            </a:blipFill>
          </p:spPr>
        </p:sp>
        <p:sp>
          <p:nvSpPr>
            <p:cNvPr name="TextBox 13" id="13"/>
            <p:cNvSpPr txBox="true"/>
            <p:nvPr/>
          </p:nvSpPr>
          <p:spPr>
            <a:xfrm>
              <a:off x="0" y="-47625"/>
              <a:ext cx="5468112" cy="962025"/>
            </a:xfrm>
            <a:prstGeom prst="rect">
              <a:avLst/>
            </a:prstGeom>
          </p:spPr>
          <p:txBody>
            <a:bodyPr anchor="ctr" rtlCol="false" tIns="0" lIns="0" bIns="0" rIns="0"/>
            <a:lstStyle/>
            <a:p>
              <a:pPr algn="l">
                <a:lnSpc>
                  <a:spcPts val="3060"/>
                </a:lnSpc>
              </a:pPr>
              <a:r>
                <a:rPr lang="en-US" sz="2550">
                  <a:solidFill>
                    <a:srgbClr val="1B1F3B"/>
                  </a:solidFill>
                  <a:latin typeface="Calibri (MS)"/>
                  <a:ea typeface="Calibri (MS)"/>
                  <a:cs typeface="Calibri (MS)"/>
                  <a:sym typeface="Calibri (MS)"/>
                </a:rPr>
                <a:t>billing · technical · general</a:t>
              </a:r>
            </a:p>
          </p:txBody>
        </p:sp>
      </p:grpSp>
      <p:grpSp>
        <p:nvGrpSpPr>
          <p:cNvPr name="Group 14" id="14"/>
          <p:cNvGrpSpPr/>
          <p:nvPr/>
        </p:nvGrpSpPr>
        <p:grpSpPr>
          <a:xfrm rot="0">
            <a:off x="9969340" y="5859780"/>
            <a:ext cx="7147179" cy="714375"/>
            <a:chOff x="0" y="0"/>
            <a:chExt cx="9529572" cy="952500"/>
          </a:xfrm>
        </p:grpSpPr>
        <p:sp>
          <p:nvSpPr>
            <p:cNvPr name="Freeform 15" id="15"/>
            <p:cNvSpPr/>
            <p:nvPr/>
          </p:nvSpPr>
          <p:spPr>
            <a:xfrm flipH="false" flipV="false" rot="0">
              <a:off x="0" y="0"/>
              <a:ext cx="9529572" cy="952500"/>
            </a:xfrm>
            <a:custGeom>
              <a:avLst/>
              <a:gdLst/>
              <a:ahLst/>
              <a:cxnLst/>
              <a:rect r="r" b="b" t="t" l="l"/>
              <a:pathLst>
                <a:path h="952500" w="9529572">
                  <a:moveTo>
                    <a:pt x="0" y="114300"/>
                  </a:moveTo>
                  <a:cubicBezTo>
                    <a:pt x="0" y="51181"/>
                    <a:pt x="51181" y="0"/>
                    <a:pt x="114300" y="0"/>
                  </a:cubicBezTo>
                  <a:lnTo>
                    <a:pt x="9415272" y="0"/>
                  </a:lnTo>
                  <a:cubicBezTo>
                    <a:pt x="9478390" y="0"/>
                    <a:pt x="9529572" y="51181"/>
                    <a:pt x="9529572" y="114300"/>
                  </a:cubicBezTo>
                  <a:lnTo>
                    <a:pt x="9529572" y="838200"/>
                  </a:lnTo>
                  <a:cubicBezTo>
                    <a:pt x="9529572" y="901319"/>
                    <a:pt x="9478390" y="952500"/>
                    <a:pt x="9415272" y="952500"/>
                  </a:cubicBezTo>
                  <a:lnTo>
                    <a:pt x="114300" y="952500"/>
                  </a:lnTo>
                  <a:cubicBezTo>
                    <a:pt x="51181" y="952500"/>
                    <a:pt x="0" y="901319"/>
                    <a:pt x="0" y="838200"/>
                  </a:cubicBezTo>
                  <a:close/>
                </a:path>
              </a:pathLst>
            </a:custGeom>
            <a:solidFill>
              <a:srgbClr val="FFFFFF"/>
            </a:solidFill>
            <a:ln w="28575" cap="sq">
              <a:solidFill>
                <a:srgbClr val="FFFFFF"/>
              </a:solidFill>
              <a:prstDash val="solid"/>
              <a:miter/>
            </a:ln>
          </p:spPr>
        </p:sp>
      </p:grpSp>
      <p:grpSp>
        <p:nvGrpSpPr>
          <p:cNvPr name="Group 16" id="16"/>
          <p:cNvGrpSpPr/>
          <p:nvPr/>
        </p:nvGrpSpPr>
        <p:grpSpPr>
          <a:xfrm rot="0">
            <a:off x="10257948" y="5874068"/>
            <a:ext cx="2331720" cy="685800"/>
            <a:chOff x="0" y="0"/>
            <a:chExt cx="3108960" cy="914400"/>
          </a:xfrm>
        </p:grpSpPr>
        <p:sp>
          <p:nvSpPr>
            <p:cNvPr name="Freeform 17" id="17"/>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2">
                <a:alphaModFix amt="0"/>
              </a:blip>
              <a:stretch>
                <a:fillRect l="0" t="-16249" r="0" b="-16249"/>
              </a:stretch>
            </a:blipFill>
          </p:spPr>
        </p:sp>
        <p:sp>
          <p:nvSpPr>
            <p:cNvPr name="TextBox 18" id="18"/>
            <p:cNvSpPr txBox="true"/>
            <p:nvPr/>
          </p:nvSpPr>
          <p:spPr>
            <a:xfrm>
              <a:off x="0" y="-47625"/>
              <a:ext cx="3108960" cy="962025"/>
            </a:xfrm>
            <a:prstGeom prst="rect">
              <a:avLst/>
            </a:prstGeom>
          </p:spPr>
          <p:txBody>
            <a:bodyPr anchor="ctr" rtlCol="false" tIns="0" lIns="0" bIns="0" rIns="0"/>
            <a:lstStyle/>
            <a:p>
              <a:pPr algn="l">
                <a:lnSpc>
                  <a:spcPts val="3060"/>
                </a:lnSpc>
              </a:pPr>
              <a:r>
                <a:rPr lang="en-US" b="true" sz="2550">
                  <a:solidFill>
                    <a:srgbClr val="0E3C74"/>
                  </a:solidFill>
                  <a:latin typeface="Calibri (MS) Bold"/>
                  <a:ea typeface="Calibri (MS) Bold"/>
                  <a:cs typeface="Calibri (MS) Bold"/>
                  <a:sym typeface="Calibri (MS) Bold"/>
                </a:rPr>
                <a:t>confidence</a:t>
              </a:r>
            </a:p>
          </p:txBody>
        </p:sp>
      </p:grpSp>
      <p:grpSp>
        <p:nvGrpSpPr>
          <p:cNvPr name="Group 19" id="19"/>
          <p:cNvGrpSpPr/>
          <p:nvPr/>
        </p:nvGrpSpPr>
        <p:grpSpPr>
          <a:xfrm rot="0">
            <a:off x="12658248" y="5874068"/>
            <a:ext cx="4101084" cy="685800"/>
            <a:chOff x="0" y="0"/>
            <a:chExt cx="5468112" cy="914400"/>
          </a:xfrm>
        </p:grpSpPr>
        <p:sp>
          <p:nvSpPr>
            <p:cNvPr name="Freeform 20" id="20"/>
            <p:cNvSpPr/>
            <p:nvPr/>
          </p:nvSpPr>
          <p:spPr>
            <a:xfrm flipH="false" flipV="false" rot="0">
              <a:off x="0" y="0"/>
              <a:ext cx="5468112" cy="914400"/>
            </a:xfrm>
            <a:custGeom>
              <a:avLst/>
              <a:gdLst/>
              <a:ahLst/>
              <a:cxnLst/>
              <a:rect r="r" b="b" t="t" l="l"/>
              <a:pathLst>
                <a:path h="914400" w="5468112">
                  <a:moveTo>
                    <a:pt x="0" y="0"/>
                  </a:moveTo>
                  <a:lnTo>
                    <a:pt x="5468112" y="0"/>
                  </a:lnTo>
                  <a:lnTo>
                    <a:pt x="5468112" y="914400"/>
                  </a:lnTo>
                  <a:lnTo>
                    <a:pt x="0" y="914400"/>
                  </a:lnTo>
                  <a:close/>
                </a:path>
              </a:pathLst>
            </a:custGeom>
            <a:blipFill>
              <a:blip r:embed="rId2">
                <a:alphaModFix amt="0"/>
              </a:blip>
              <a:stretch>
                <a:fillRect l="0" t="-66520" r="0" b="-66520"/>
              </a:stretch>
            </a:blipFill>
          </p:spPr>
        </p:sp>
        <p:sp>
          <p:nvSpPr>
            <p:cNvPr name="TextBox 21" id="21"/>
            <p:cNvSpPr txBox="true"/>
            <p:nvPr/>
          </p:nvSpPr>
          <p:spPr>
            <a:xfrm>
              <a:off x="0" y="-47625"/>
              <a:ext cx="5468112" cy="962025"/>
            </a:xfrm>
            <a:prstGeom prst="rect">
              <a:avLst/>
            </a:prstGeom>
          </p:spPr>
          <p:txBody>
            <a:bodyPr anchor="ctr" rtlCol="false" tIns="0" lIns="0" bIns="0" rIns="0"/>
            <a:lstStyle/>
            <a:p>
              <a:pPr algn="l">
                <a:lnSpc>
                  <a:spcPts val="3060"/>
                </a:lnSpc>
              </a:pPr>
              <a:r>
                <a:rPr lang="en-US" sz="2550">
                  <a:solidFill>
                    <a:srgbClr val="1B1F3B"/>
                  </a:solidFill>
                  <a:latin typeface="Calibri (MS)"/>
                  <a:ea typeface="Calibri (MS)"/>
                  <a:cs typeface="Calibri (MS)"/>
                  <a:sym typeface="Calibri (MS)"/>
                </a:rPr>
                <a:t>0.0 – 1.0</a:t>
              </a:r>
            </a:p>
          </p:txBody>
        </p:sp>
      </p:grpSp>
      <p:grpSp>
        <p:nvGrpSpPr>
          <p:cNvPr name="Group 22" id="22"/>
          <p:cNvGrpSpPr/>
          <p:nvPr/>
        </p:nvGrpSpPr>
        <p:grpSpPr>
          <a:xfrm rot="0">
            <a:off x="9969340" y="6682740"/>
            <a:ext cx="7147179" cy="714375"/>
            <a:chOff x="0" y="0"/>
            <a:chExt cx="9529572" cy="952500"/>
          </a:xfrm>
        </p:grpSpPr>
        <p:sp>
          <p:nvSpPr>
            <p:cNvPr name="Freeform 23" id="23"/>
            <p:cNvSpPr/>
            <p:nvPr/>
          </p:nvSpPr>
          <p:spPr>
            <a:xfrm flipH="false" flipV="false" rot="0">
              <a:off x="0" y="0"/>
              <a:ext cx="9529572" cy="952500"/>
            </a:xfrm>
            <a:custGeom>
              <a:avLst/>
              <a:gdLst/>
              <a:ahLst/>
              <a:cxnLst/>
              <a:rect r="r" b="b" t="t" l="l"/>
              <a:pathLst>
                <a:path h="952500" w="9529572">
                  <a:moveTo>
                    <a:pt x="0" y="114300"/>
                  </a:moveTo>
                  <a:cubicBezTo>
                    <a:pt x="0" y="51181"/>
                    <a:pt x="51181" y="0"/>
                    <a:pt x="114300" y="0"/>
                  </a:cubicBezTo>
                  <a:lnTo>
                    <a:pt x="9415272" y="0"/>
                  </a:lnTo>
                  <a:cubicBezTo>
                    <a:pt x="9478390" y="0"/>
                    <a:pt x="9529572" y="51181"/>
                    <a:pt x="9529572" y="114300"/>
                  </a:cubicBezTo>
                  <a:lnTo>
                    <a:pt x="9529572" y="838200"/>
                  </a:lnTo>
                  <a:cubicBezTo>
                    <a:pt x="9529572" y="901319"/>
                    <a:pt x="9478390" y="952500"/>
                    <a:pt x="9415272" y="952500"/>
                  </a:cubicBezTo>
                  <a:lnTo>
                    <a:pt x="114300" y="952500"/>
                  </a:lnTo>
                  <a:cubicBezTo>
                    <a:pt x="51181" y="952500"/>
                    <a:pt x="0" y="901319"/>
                    <a:pt x="0" y="838200"/>
                  </a:cubicBezTo>
                  <a:close/>
                </a:path>
              </a:pathLst>
            </a:custGeom>
            <a:solidFill>
              <a:srgbClr val="FFFFFF"/>
            </a:solidFill>
            <a:ln w="28575" cap="sq">
              <a:solidFill>
                <a:srgbClr val="FFFFFF"/>
              </a:solidFill>
              <a:prstDash val="solid"/>
              <a:miter/>
            </a:ln>
          </p:spPr>
        </p:sp>
      </p:grpSp>
      <p:grpSp>
        <p:nvGrpSpPr>
          <p:cNvPr name="Group 24" id="24"/>
          <p:cNvGrpSpPr/>
          <p:nvPr/>
        </p:nvGrpSpPr>
        <p:grpSpPr>
          <a:xfrm rot="0">
            <a:off x="10257948" y="6697028"/>
            <a:ext cx="2331720" cy="685800"/>
            <a:chOff x="0" y="0"/>
            <a:chExt cx="3108960" cy="914400"/>
          </a:xfrm>
        </p:grpSpPr>
        <p:sp>
          <p:nvSpPr>
            <p:cNvPr name="Freeform 25" id="25"/>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2">
                <a:alphaModFix amt="0"/>
              </a:blip>
              <a:stretch>
                <a:fillRect l="0" t="-16249" r="0" b="-16249"/>
              </a:stretch>
            </a:blipFill>
          </p:spPr>
        </p:sp>
        <p:sp>
          <p:nvSpPr>
            <p:cNvPr name="TextBox 26" id="26"/>
            <p:cNvSpPr txBox="true"/>
            <p:nvPr/>
          </p:nvSpPr>
          <p:spPr>
            <a:xfrm>
              <a:off x="0" y="-47625"/>
              <a:ext cx="3108960" cy="962025"/>
            </a:xfrm>
            <a:prstGeom prst="rect">
              <a:avLst/>
            </a:prstGeom>
          </p:spPr>
          <p:txBody>
            <a:bodyPr anchor="ctr" rtlCol="false" tIns="0" lIns="0" bIns="0" rIns="0"/>
            <a:lstStyle/>
            <a:p>
              <a:pPr algn="l">
                <a:lnSpc>
                  <a:spcPts val="3060"/>
                </a:lnSpc>
              </a:pPr>
              <a:r>
                <a:rPr lang="en-US" b="true" sz="2550">
                  <a:solidFill>
                    <a:srgbClr val="0E3C74"/>
                  </a:solidFill>
                  <a:latin typeface="Calibri (MS) Bold"/>
                  <a:ea typeface="Calibri (MS) Bold"/>
                  <a:cs typeface="Calibri (MS) Bold"/>
                  <a:sym typeface="Calibri (MS) Bold"/>
                </a:rPr>
                <a:t>reasoning</a:t>
              </a:r>
            </a:p>
          </p:txBody>
        </p:sp>
      </p:grpSp>
      <p:grpSp>
        <p:nvGrpSpPr>
          <p:cNvPr name="Group 27" id="27"/>
          <p:cNvGrpSpPr/>
          <p:nvPr/>
        </p:nvGrpSpPr>
        <p:grpSpPr>
          <a:xfrm rot="0">
            <a:off x="12658248" y="6697028"/>
            <a:ext cx="4101084" cy="685800"/>
            <a:chOff x="0" y="0"/>
            <a:chExt cx="5468112" cy="914400"/>
          </a:xfrm>
        </p:grpSpPr>
        <p:sp>
          <p:nvSpPr>
            <p:cNvPr name="Freeform 28" id="28"/>
            <p:cNvSpPr/>
            <p:nvPr/>
          </p:nvSpPr>
          <p:spPr>
            <a:xfrm flipH="false" flipV="false" rot="0">
              <a:off x="0" y="0"/>
              <a:ext cx="5468112" cy="914400"/>
            </a:xfrm>
            <a:custGeom>
              <a:avLst/>
              <a:gdLst/>
              <a:ahLst/>
              <a:cxnLst/>
              <a:rect r="r" b="b" t="t" l="l"/>
              <a:pathLst>
                <a:path h="914400" w="5468112">
                  <a:moveTo>
                    <a:pt x="0" y="0"/>
                  </a:moveTo>
                  <a:lnTo>
                    <a:pt x="5468112" y="0"/>
                  </a:lnTo>
                  <a:lnTo>
                    <a:pt x="5468112" y="914400"/>
                  </a:lnTo>
                  <a:lnTo>
                    <a:pt x="0" y="914400"/>
                  </a:lnTo>
                  <a:close/>
                </a:path>
              </a:pathLst>
            </a:custGeom>
            <a:blipFill>
              <a:blip r:embed="rId2">
                <a:alphaModFix amt="0"/>
              </a:blip>
              <a:stretch>
                <a:fillRect l="0" t="-66520" r="0" b="-66520"/>
              </a:stretch>
            </a:blipFill>
          </p:spPr>
        </p:sp>
        <p:sp>
          <p:nvSpPr>
            <p:cNvPr name="TextBox 29" id="29"/>
            <p:cNvSpPr txBox="true"/>
            <p:nvPr/>
          </p:nvSpPr>
          <p:spPr>
            <a:xfrm>
              <a:off x="0" y="-47625"/>
              <a:ext cx="5468112" cy="962025"/>
            </a:xfrm>
            <a:prstGeom prst="rect">
              <a:avLst/>
            </a:prstGeom>
          </p:spPr>
          <p:txBody>
            <a:bodyPr anchor="ctr" rtlCol="false" tIns="0" lIns="0" bIns="0" rIns="0"/>
            <a:lstStyle/>
            <a:p>
              <a:pPr algn="l">
                <a:lnSpc>
                  <a:spcPts val="3060"/>
                </a:lnSpc>
              </a:pPr>
              <a:r>
                <a:rPr lang="en-US" sz="2550">
                  <a:solidFill>
                    <a:srgbClr val="1B1F3B"/>
                  </a:solidFill>
                  <a:latin typeface="Calibri (MS)"/>
                  <a:ea typeface="Calibri (MS)"/>
                  <a:cs typeface="Calibri (MS)"/>
                  <a:sym typeface="Calibri (MS)"/>
                </a:rPr>
                <a:t>why it decided</a:t>
              </a:r>
            </a:p>
          </p:txBody>
        </p:sp>
      </p:grpSp>
      <p:grpSp>
        <p:nvGrpSpPr>
          <p:cNvPr name="Group 30" id="30"/>
          <p:cNvGrpSpPr/>
          <p:nvPr/>
        </p:nvGrpSpPr>
        <p:grpSpPr>
          <a:xfrm rot="0">
            <a:off x="1410556" y="3916808"/>
            <a:ext cx="782955" cy="768668"/>
            <a:chOff x="0" y="0"/>
            <a:chExt cx="1043940" cy="1024890"/>
          </a:xfrm>
        </p:grpSpPr>
        <p:sp>
          <p:nvSpPr>
            <p:cNvPr name="Freeform 31" id="31"/>
            <p:cNvSpPr/>
            <p:nvPr/>
          </p:nvSpPr>
          <p:spPr>
            <a:xfrm flipH="false" flipV="false" rot="0">
              <a:off x="0" y="0"/>
              <a:ext cx="1043940" cy="1024890"/>
            </a:xfrm>
            <a:custGeom>
              <a:avLst/>
              <a:gdLst/>
              <a:ahLst/>
              <a:cxnLst/>
              <a:rect r="r" b="b" t="t" l="l"/>
              <a:pathLst>
                <a:path h="1024890" w="1043940">
                  <a:moveTo>
                    <a:pt x="0" y="512445"/>
                  </a:moveTo>
                  <a:cubicBezTo>
                    <a:pt x="0" y="229416"/>
                    <a:pt x="233680" y="0"/>
                    <a:pt x="521970" y="0"/>
                  </a:cubicBezTo>
                  <a:cubicBezTo>
                    <a:pt x="810260" y="0"/>
                    <a:pt x="1043940" y="229416"/>
                    <a:pt x="1043940" y="512445"/>
                  </a:cubicBezTo>
                  <a:cubicBezTo>
                    <a:pt x="1043940" y="795474"/>
                    <a:pt x="810260" y="1024890"/>
                    <a:pt x="521970" y="1024890"/>
                  </a:cubicBezTo>
                  <a:cubicBezTo>
                    <a:pt x="233680" y="1024890"/>
                    <a:pt x="0" y="795474"/>
                    <a:pt x="0" y="512445"/>
                  </a:cubicBezTo>
                  <a:close/>
                </a:path>
              </a:pathLst>
            </a:custGeom>
            <a:solidFill>
              <a:srgbClr val="D62839"/>
            </a:solidFill>
            <a:ln w="28575" cap="sq">
              <a:solidFill>
                <a:srgbClr val="D62839"/>
              </a:solidFill>
              <a:prstDash val="solid"/>
              <a:miter/>
            </a:ln>
          </p:spPr>
        </p:sp>
        <p:sp>
          <p:nvSpPr>
            <p:cNvPr name="TextBox 32" id="32"/>
            <p:cNvSpPr txBox="true"/>
            <p:nvPr/>
          </p:nvSpPr>
          <p:spPr>
            <a:xfrm>
              <a:off x="0" y="-57150"/>
              <a:ext cx="1043940" cy="108204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a:t>
              </a:r>
            </a:p>
          </p:txBody>
        </p:sp>
      </p:grpSp>
      <p:grpSp>
        <p:nvGrpSpPr>
          <p:cNvPr name="Group 33" id="33"/>
          <p:cNvGrpSpPr/>
          <p:nvPr/>
        </p:nvGrpSpPr>
        <p:grpSpPr>
          <a:xfrm rot="0">
            <a:off x="2384011" y="3944862"/>
            <a:ext cx="4114800" cy="740614"/>
            <a:chOff x="0" y="0"/>
            <a:chExt cx="5486400" cy="987485"/>
          </a:xfrm>
        </p:grpSpPr>
        <p:sp>
          <p:nvSpPr>
            <p:cNvPr name="Freeform 34" id="34"/>
            <p:cNvSpPr/>
            <p:nvPr/>
          </p:nvSpPr>
          <p:spPr>
            <a:xfrm flipH="false" flipV="false" rot="0">
              <a:off x="0" y="0"/>
              <a:ext cx="5486400" cy="987485"/>
            </a:xfrm>
            <a:custGeom>
              <a:avLst/>
              <a:gdLst/>
              <a:ahLst/>
              <a:cxnLst/>
              <a:rect r="r" b="b" t="t" l="l"/>
              <a:pathLst>
                <a:path h="987485" w="5486400">
                  <a:moveTo>
                    <a:pt x="0" y="0"/>
                  </a:moveTo>
                  <a:lnTo>
                    <a:pt x="5486400" y="0"/>
                  </a:lnTo>
                  <a:lnTo>
                    <a:pt x="5486400" y="987485"/>
                  </a:lnTo>
                  <a:lnTo>
                    <a:pt x="0" y="987485"/>
                  </a:lnTo>
                  <a:close/>
                </a:path>
              </a:pathLst>
            </a:custGeom>
            <a:blipFill>
              <a:blip r:embed="rId2">
                <a:alphaModFix amt="0"/>
              </a:blip>
              <a:stretch>
                <a:fillRect l="0" t="-57328" r="0" b="-59186"/>
              </a:stretch>
            </a:blipFill>
          </p:spPr>
        </p:sp>
        <p:sp>
          <p:nvSpPr>
            <p:cNvPr name="TextBox 35" id="35"/>
            <p:cNvSpPr txBox="true"/>
            <p:nvPr/>
          </p:nvSpPr>
          <p:spPr>
            <a:xfrm>
              <a:off x="0" y="-66675"/>
              <a:ext cx="5486400" cy="1054160"/>
            </a:xfrm>
            <a:prstGeom prst="rect">
              <a:avLst/>
            </a:prstGeom>
          </p:spPr>
          <p:txBody>
            <a:bodyPr anchor="ctr" rtlCol="false" tIns="0" lIns="0" bIns="0" rIns="0"/>
            <a:lstStyle/>
            <a:p>
              <a:pPr algn="l">
                <a:lnSpc>
                  <a:spcPts val="4320"/>
                </a:lnSpc>
              </a:pPr>
              <a:r>
                <a:rPr lang="en-US" sz="3600" b="true">
                  <a:solidFill>
                    <a:srgbClr val="1B1F3B"/>
                  </a:solidFill>
                  <a:latin typeface="Calibri (MS) Bold"/>
                  <a:ea typeface="Calibri (MS) Bold"/>
                  <a:cs typeface="Calibri (MS) Bold"/>
                  <a:sym typeface="Calibri (MS) Bold"/>
                </a:rPr>
                <a:t>Hoping</a:t>
              </a:r>
            </a:p>
          </p:txBody>
        </p:sp>
      </p:grpSp>
      <p:grpSp>
        <p:nvGrpSpPr>
          <p:cNvPr name="Group 36" id="36"/>
          <p:cNvGrpSpPr/>
          <p:nvPr/>
        </p:nvGrpSpPr>
        <p:grpSpPr>
          <a:xfrm rot="0">
            <a:off x="10257948" y="3916808"/>
            <a:ext cx="782955" cy="782955"/>
            <a:chOff x="0" y="0"/>
            <a:chExt cx="1043940" cy="1043940"/>
          </a:xfrm>
        </p:grpSpPr>
        <p:sp>
          <p:nvSpPr>
            <p:cNvPr name="Freeform 37" id="37"/>
            <p:cNvSpPr/>
            <p:nvPr/>
          </p:nvSpPr>
          <p:spPr>
            <a:xfrm flipH="false" flipV="false" rot="0">
              <a:off x="0" y="0"/>
              <a:ext cx="1043940" cy="1043940"/>
            </a:xfrm>
            <a:custGeom>
              <a:avLst/>
              <a:gdLst/>
              <a:ahLst/>
              <a:cxnLst/>
              <a:rect r="r" b="b" t="t" l="l"/>
              <a:pathLst>
                <a:path h="1043940" w="1043940">
                  <a:moveTo>
                    <a:pt x="0" y="521970"/>
                  </a:moveTo>
                  <a:cubicBezTo>
                    <a:pt x="0" y="233680"/>
                    <a:pt x="233680" y="0"/>
                    <a:pt x="521970" y="0"/>
                  </a:cubicBezTo>
                  <a:cubicBezTo>
                    <a:pt x="810260" y="0"/>
                    <a:pt x="1043940" y="233680"/>
                    <a:pt x="1043940" y="521970"/>
                  </a:cubicBezTo>
                  <a:cubicBezTo>
                    <a:pt x="1043940" y="810260"/>
                    <a:pt x="810260" y="1043940"/>
                    <a:pt x="521970" y="1043940"/>
                  </a:cubicBezTo>
                  <a:cubicBezTo>
                    <a:pt x="233680" y="1043940"/>
                    <a:pt x="0" y="810260"/>
                    <a:pt x="0" y="521970"/>
                  </a:cubicBezTo>
                  <a:close/>
                </a:path>
              </a:pathLst>
            </a:custGeom>
            <a:solidFill>
              <a:srgbClr val="2A9D8F"/>
            </a:solidFill>
            <a:ln w="28575" cap="sq">
              <a:solidFill>
                <a:srgbClr val="2A9D8F"/>
              </a:solidFill>
              <a:prstDash val="solid"/>
              <a:miter/>
            </a:ln>
          </p:spPr>
        </p:sp>
        <p:sp>
          <p:nvSpPr>
            <p:cNvPr name="TextBox 38" id="38"/>
            <p:cNvSpPr txBox="true"/>
            <p:nvPr/>
          </p:nvSpPr>
          <p:spPr>
            <a:xfrm>
              <a:off x="0" y="-57150"/>
              <a:ext cx="1043940" cy="110109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a:t>
              </a:r>
            </a:p>
          </p:txBody>
        </p:sp>
      </p:grpSp>
      <p:grpSp>
        <p:nvGrpSpPr>
          <p:cNvPr name="Group 39" id="39"/>
          <p:cNvGrpSpPr/>
          <p:nvPr/>
        </p:nvGrpSpPr>
        <p:grpSpPr>
          <a:xfrm rot="0">
            <a:off x="11232355" y="3931096"/>
            <a:ext cx="4114800" cy="754380"/>
            <a:chOff x="0" y="0"/>
            <a:chExt cx="5486400" cy="1005840"/>
          </a:xfrm>
        </p:grpSpPr>
        <p:sp>
          <p:nvSpPr>
            <p:cNvPr name="Freeform 40" id="40"/>
            <p:cNvSpPr/>
            <p:nvPr/>
          </p:nvSpPr>
          <p:spPr>
            <a:xfrm flipH="false" flipV="false" rot="0">
              <a:off x="0" y="0"/>
              <a:ext cx="5486400" cy="1005840"/>
            </a:xfrm>
            <a:custGeom>
              <a:avLst/>
              <a:gdLst/>
              <a:ahLst/>
              <a:cxnLst/>
              <a:rect r="r" b="b" t="t" l="l"/>
              <a:pathLst>
                <a:path h="1005840" w="5486400">
                  <a:moveTo>
                    <a:pt x="0" y="0"/>
                  </a:moveTo>
                  <a:lnTo>
                    <a:pt x="5486400" y="0"/>
                  </a:lnTo>
                  <a:lnTo>
                    <a:pt x="5486400" y="1005840"/>
                  </a:lnTo>
                  <a:lnTo>
                    <a:pt x="0" y="1005840"/>
                  </a:lnTo>
                  <a:close/>
                </a:path>
              </a:pathLst>
            </a:custGeom>
            <a:blipFill>
              <a:blip r:embed="rId2">
                <a:alphaModFix amt="0"/>
              </a:blip>
              <a:stretch>
                <a:fillRect l="0" t="-56282" r="0" b="-56282"/>
              </a:stretch>
            </a:blipFill>
          </p:spPr>
        </p:sp>
        <p:sp>
          <p:nvSpPr>
            <p:cNvPr name="TextBox 41" id="41"/>
            <p:cNvSpPr txBox="true"/>
            <p:nvPr/>
          </p:nvSpPr>
          <p:spPr>
            <a:xfrm>
              <a:off x="0" y="-66675"/>
              <a:ext cx="5486400" cy="1072515"/>
            </a:xfrm>
            <a:prstGeom prst="rect">
              <a:avLst/>
            </a:prstGeom>
          </p:spPr>
          <p:txBody>
            <a:bodyPr anchor="ctr" rtlCol="false" tIns="0" lIns="0" bIns="0" rIns="0"/>
            <a:lstStyle/>
            <a:p>
              <a:pPr algn="l">
                <a:lnSpc>
                  <a:spcPts val="4320"/>
                </a:lnSpc>
              </a:pPr>
              <a:r>
                <a:rPr lang="en-US" sz="3600" b="true">
                  <a:solidFill>
                    <a:srgbClr val="1B1F3B"/>
                  </a:solidFill>
                  <a:latin typeface="Calibri (MS) Bold"/>
                  <a:ea typeface="Calibri (MS) Bold"/>
                  <a:cs typeface="Calibri (MS) Bold"/>
                  <a:sym typeface="Calibri (MS) Bold"/>
                </a:rPr>
                <a:t>Knowing</a:t>
              </a:r>
            </a:p>
          </p:txBody>
        </p:sp>
      </p:grpSp>
      <p:grpSp>
        <p:nvGrpSpPr>
          <p:cNvPr name="Group 42" id="42"/>
          <p:cNvGrpSpPr/>
          <p:nvPr/>
        </p:nvGrpSpPr>
        <p:grpSpPr>
          <a:xfrm rot="0">
            <a:off x="712755" y="1688818"/>
            <a:ext cx="9652881" cy="825812"/>
            <a:chOff x="0" y="0"/>
            <a:chExt cx="2542323" cy="217498"/>
          </a:xfrm>
        </p:grpSpPr>
        <p:sp>
          <p:nvSpPr>
            <p:cNvPr name="Freeform 43" id="43"/>
            <p:cNvSpPr/>
            <p:nvPr/>
          </p:nvSpPr>
          <p:spPr>
            <a:xfrm flipH="false" flipV="false" rot="0">
              <a:off x="0" y="0"/>
              <a:ext cx="2542323" cy="217498"/>
            </a:xfrm>
            <a:custGeom>
              <a:avLst/>
              <a:gdLst/>
              <a:ahLst/>
              <a:cxnLst/>
              <a:rect r="r" b="b" t="t" l="l"/>
              <a:pathLst>
                <a:path h="217498" w="2542323">
                  <a:moveTo>
                    <a:pt x="0" y="0"/>
                  </a:moveTo>
                  <a:lnTo>
                    <a:pt x="2542323" y="0"/>
                  </a:lnTo>
                  <a:lnTo>
                    <a:pt x="2542323" y="217498"/>
                  </a:lnTo>
                  <a:lnTo>
                    <a:pt x="0" y="217498"/>
                  </a:lnTo>
                  <a:close/>
                </a:path>
              </a:pathLst>
            </a:custGeom>
            <a:solidFill>
              <a:srgbClr val="0493FB"/>
            </a:solidFill>
          </p:spPr>
        </p:sp>
        <p:sp>
          <p:nvSpPr>
            <p:cNvPr name="TextBox 44" id="44"/>
            <p:cNvSpPr txBox="true"/>
            <p:nvPr/>
          </p:nvSpPr>
          <p:spPr>
            <a:xfrm>
              <a:off x="0" y="-57150"/>
              <a:ext cx="2542323" cy="274648"/>
            </a:xfrm>
            <a:prstGeom prst="rect">
              <a:avLst/>
            </a:prstGeom>
          </p:spPr>
          <p:txBody>
            <a:bodyPr anchor="ctr" rtlCol="false" tIns="50800" lIns="50800" bIns="50800" rIns="50800"/>
            <a:lstStyle/>
            <a:p>
              <a:pPr algn="ctr">
                <a:lnSpc>
                  <a:spcPts val="2700"/>
                </a:lnSpc>
              </a:pPr>
            </a:p>
          </p:txBody>
        </p:sp>
      </p:grpSp>
      <p:grpSp>
        <p:nvGrpSpPr>
          <p:cNvPr name="Group 45" id="45"/>
          <p:cNvGrpSpPr/>
          <p:nvPr/>
        </p:nvGrpSpPr>
        <p:grpSpPr>
          <a:xfrm rot="0">
            <a:off x="1637625" y="4999673"/>
            <a:ext cx="6342897" cy="2777490"/>
            <a:chOff x="0" y="0"/>
            <a:chExt cx="1305123" cy="571500"/>
          </a:xfrm>
        </p:grpSpPr>
        <p:sp>
          <p:nvSpPr>
            <p:cNvPr name="Freeform 46" id="46"/>
            <p:cNvSpPr/>
            <p:nvPr/>
          </p:nvSpPr>
          <p:spPr>
            <a:xfrm flipH="false" flipV="false" rot="0">
              <a:off x="0" y="0"/>
              <a:ext cx="1305123" cy="571500"/>
            </a:xfrm>
            <a:custGeom>
              <a:avLst/>
              <a:gdLst/>
              <a:ahLst/>
              <a:cxnLst/>
              <a:rect r="r" b="b" t="t" l="l"/>
              <a:pathLst>
                <a:path h="571500" w="1305123">
                  <a:moveTo>
                    <a:pt x="1228923" y="0"/>
                  </a:moveTo>
                  <a:cubicBezTo>
                    <a:pt x="1267023" y="0"/>
                    <a:pt x="1305123" y="25400"/>
                    <a:pt x="1305123" y="63500"/>
                  </a:cubicBezTo>
                  <a:lnTo>
                    <a:pt x="1305123" y="368300"/>
                  </a:lnTo>
                  <a:cubicBezTo>
                    <a:pt x="1305123" y="406400"/>
                    <a:pt x="1267023" y="444500"/>
                    <a:pt x="1228923" y="444500"/>
                  </a:cubicBezTo>
                  <a:lnTo>
                    <a:pt x="266700" y="444500"/>
                  </a:lnTo>
                  <a:lnTo>
                    <a:pt x="127000" y="571500"/>
                  </a:lnTo>
                  <a:lnTo>
                    <a:pt x="127000" y="444500"/>
                  </a:lnTo>
                  <a:lnTo>
                    <a:pt x="76200" y="444500"/>
                  </a:lnTo>
                  <a:cubicBezTo>
                    <a:pt x="38100" y="444500"/>
                    <a:pt x="0" y="406400"/>
                    <a:pt x="0" y="368300"/>
                  </a:cubicBezTo>
                  <a:lnTo>
                    <a:pt x="0" y="63500"/>
                  </a:lnTo>
                  <a:cubicBezTo>
                    <a:pt x="0" y="25400"/>
                    <a:pt x="38100" y="0"/>
                    <a:pt x="76200" y="0"/>
                  </a:cubicBezTo>
                  <a:lnTo>
                    <a:pt x="1228923" y="0"/>
                  </a:lnTo>
                  <a:close/>
                </a:path>
              </a:pathLst>
            </a:custGeom>
            <a:solidFill>
              <a:srgbClr val="FFFFFF"/>
            </a:solidFill>
            <a:ln w="38100" cap="sq">
              <a:solidFill>
                <a:srgbClr val="0D417C"/>
              </a:solidFill>
              <a:prstDash val="solid"/>
              <a:miter/>
            </a:ln>
          </p:spPr>
        </p:sp>
        <p:sp>
          <p:nvSpPr>
            <p:cNvPr name="TextBox 47" id="47"/>
            <p:cNvSpPr txBox="true"/>
            <p:nvPr/>
          </p:nvSpPr>
          <p:spPr>
            <a:xfrm>
              <a:off x="63500" y="25400"/>
              <a:ext cx="1178123" cy="355600"/>
            </a:xfrm>
            <a:prstGeom prst="rect">
              <a:avLst/>
            </a:prstGeom>
          </p:spPr>
          <p:txBody>
            <a:bodyPr anchor="ctr" rtlCol="false" tIns="50800" lIns="50800" bIns="50800" rIns="50800"/>
            <a:lstStyle/>
            <a:p>
              <a:pPr algn="ctr">
                <a:lnSpc>
                  <a:spcPts val="2879"/>
                </a:lnSpc>
              </a:pPr>
              <a:r>
                <a:rPr lang="en-US" sz="2400" i="true">
                  <a:solidFill>
                    <a:srgbClr val="000000"/>
                  </a:solidFill>
                  <a:latin typeface="Calibri (MS) Italics"/>
                  <a:ea typeface="Calibri (MS) Italics"/>
                  <a:cs typeface="Calibri (MS) Italics"/>
                  <a:sym typeface="Calibri (MS) Italics"/>
                </a:rPr>
                <a:t>“Uhh… probably technical? Could be billing tbh.”</a:t>
              </a:r>
            </a:p>
          </p:txBody>
        </p:sp>
      </p:grpSp>
      <p:sp>
        <p:nvSpPr>
          <p:cNvPr name="TextBox 48" id="48"/>
          <p:cNvSpPr txBox="true"/>
          <p:nvPr/>
        </p:nvSpPr>
        <p:spPr>
          <a:xfrm rot="0">
            <a:off x="1637625" y="7914323"/>
            <a:ext cx="7255764" cy="809625"/>
          </a:xfrm>
          <a:prstGeom prst="rect">
            <a:avLst/>
          </a:prstGeom>
        </p:spPr>
        <p:txBody>
          <a:bodyPr anchor="t" rtlCol="false" tIns="0" lIns="0" bIns="0" rIns="0">
            <a:spAutoFit/>
          </a:bodyPr>
          <a:lstStyle/>
          <a:p>
            <a:pPr algn="l">
              <a:lnSpc>
                <a:spcPts val="3060"/>
              </a:lnSpc>
            </a:pPr>
            <a:r>
              <a:rPr lang="en-US" sz="2550">
                <a:solidFill>
                  <a:srgbClr val="0E3C74"/>
                </a:solidFill>
                <a:latin typeface="Calibri (MS)"/>
                <a:ea typeface="Calibri (MS)"/>
                <a:cs typeface="Calibri (MS)"/>
                <a:sym typeface="Calibri (MS)"/>
              </a:rPr>
              <a:t>Free text. Your code has to guess, with string matching.</a:t>
            </a:r>
          </a:p>
        </p:txBody>
      </p:sp>
      <p:sp>
        <p:nvSpPr>
          <p:cNvPr name="TextBox 49" id="49"/>
          <p:cNvSpPr txBox="true"/>
          <p:nvPr/>
        </p:nvSpPr>
        <p:spPr>
          <a:xfrm rot="0">
            <a:off x="9983628" y="7746683"/>
            <a:ext cx="7118604" cy="809625"/>
          </a:xfrm>
          <a:prstGeom prst="rect">
            <a:avLst/>
          </a:prstGeom>
        </p:spPr>
        <p:txBody>
          <a:bodyPr anchor="t" rtlCol="false" tIns="0" lIns="0" bIns="0" rIns="0">
            <a:spAutoFit/>
          </a:bodyPr>
          <a:lstStyle/>
          <a:p>
            <a:pPr algn="l">
              <a:lnSpc>
                <a:spcPts val="3060"/>
              </a:lnSpc>
            </a:pPr>
            <a:r>
              <a:rPr lang="en-US" sz="2550">
                <a:solidFill>
                  <a:srgbClr val="0E3C74"/>
                </a:solidFill>
                <a:latin typeface="Calibri (MS)"/>
                <a:ea typeface="Calibri (MS)"/>
                <a:cs typeface="Calibri (MS)"/>
                <a:sym typeface="Calibri (MS)"/>
              </a:rPr>
              <a:t>A schema. Validated on every call, and retried automatically if it doesn’t match.</a:t>
            </a:r>
          </a:p>
        </p:txBody>
      </p:sp>
      <p:sp>
        <p:nvSpPr>
          <p:cNvPr name="TextBox 50" id="50"/>
          <p:cNvSpPr txBox="true"/>
          <p:nvPr/>
        </p:nvSpPr>
        <p:spPr>
          <a:xfrm rot="0">
            <a:off x="930496" y="873351"/>
            <a:ext cx="9723747"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Structured Output</a:t>
            </a:r>
          </a:p>
        </p:txBody>
      </p:sp>
      <p:sp>
        <p:nvSpPr>
          <p:cNvPr name="TextBox 51" id="51"/>
          <p:cNvSpPr txBox="true"/>
          <p:nvPr/>
        </p:nvSpPr>
        <p:spPr>
          <a:xfrm rot="0">
            <a:off x="858632" y="9483956"/>
            <a:ext cx="14243779" cy="400050"/>
          </a:xfrm>
          <a:prstGeom prst="rect">
            <a:avLst/>
          </a:prstGeom>
        </p:spPr>
        <p:txBody>
          <a:bodyPr anchor="t" rtlCol="false" tIns="0" lIns="0" bIns="0" rIns="0">
            <a:spAutoFit/>
          </a:bodyPr>
          <a:lstStyle/>
          <a:p>
            <a:pPr algn="ctr">
              <a:lnSpc>
                <a:spcPts val="2879"/>
              </a:lnSpc>
              <a:spcBef>
                <a:spcPct val="0"/>
              </a:spcBef>
            </a:pPr>
            <a:r>
              <a:rPr lang="en-US" sz="2400">
                <a:solidFill>
                  <a:srgbClr val="FFFFFF"/>
                </a:solidFill>
                <a:latin typeface="Calibri (MS)"/>
                <a:ea typeface="Calibri (MS)"/>
                <a:cs typeface="Calibri (MS)"/>
                <a:sym typeface="Calibri (MS)"/>
              </a:rPr>
              <a:t>“</a:t>
            </a:r>
            <a:r>
              <a:rPr lang="en-US" sz="2400" i="true">
                <a:solidFill>
                  <a:srgbClr val="FFFFFF"/>
                </a:solidFill>
                <a:latin typeface="Calibri (MS) Italics"/>
                <a:ea typeface="Calibri (MS) Italics"/>
                <a:cs typeface="Calibri (MS) Italics"/>
                <a:sym typeface="Calibri (MS) Italics"/>
              </a:rPr>
              <a:t>Turn messy, unstructured  source material into validated structured output</a:t>
            </a:r>
            <a:r>
              <a:rPr lang="en-US" sz="2400">
                <a:solidFill>
                  <a:srgbClr val="FFFFFF"/>
                </a:solidFill>
                <a:latin typeface="Calibri (MS)"/>
                <a:ea typeface="Calibri (MS)"/>
                <a:cs typeface="Calibri (MS)"/>
                <a:sym typeface="Calibri (MS)"/>
              </a:rPr>
              <a:t>” – </a:t>
            </a:r>
            <a:r>
              <a:rPr lang="en-US" sz="2400">
                <a:solidFill>
                  <a:srgbClr val="C9D1E3"/>
                </a:solidFill>
                <a:latin typeface="Calibri (MS)"/>
                <a:ea typeface="Calibri (MS)"/>
                <a:cs typeface="Calibri (MS)"/>
                <a:sym typeface="Calibri (MS)"/>
              </a:rPr>
              <a:t>Netomii job posting, Toronto</a:t>
            </a:r>
          </a:p>
        </p:txBody>
      </p:sp>
    </p:spTree>
  </p:cSld>
  <p:clrMapOvr>
    <a:masterClrMapping/>
  </p:clrMapOvr>
</p:sld>
</file>

<file path=ppt/slides/slide24.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1720342"/>
            <a:ext cx="14553567" cy="787661"/>
            <a:chOff x="0" y="0"/>
            <a:chExt cx="3833038" cy="207450"/>
          </a:xfrm>
        </p:grpSpPr>
        <p:sp>
          <p:nvSpPr>
            <p:cNvPr name="Freeform 3" id="3"/>
            <p:cNvSpPr/>
            <p:nvPr/>
          </p:nvSpPr>
          <p:spPr>
            <a:xfrm flipH="false" flipV="false" rot="0">
              <a:off x="0" y="0"/>
              <a:ext cx="3833038" cy="207450"/>
            </a:xfrm>
            <a:custGeom>
              <a:avLst/>
              <a:gdLst/>
              <a:ahLst/>
              <a:cxnLst/>
              <a:rect r="r" b="b" t="t" l="l"/>
              <a:pathLst>
                <a:path h="207450" w="3833038">
                  <a:moveTo>
                    <a:pt x="0" y="0"/>
                  </a:moveTo>
                  <a:lnTo>
                    <a:pt x="3833038" y="0"/>
                  </a:lnTo>
                  <a:lnTo>
                    <a:pt x="3833038" y="207450"/>
                  </a:lnTo>
                  <a:lnTo>
                    <a:pt x="0" y="207450"/>
                  </a:lnTo>
                  <a:close/>
                </a:path>
              </a:pathLst>
            </a:custGeom>
            <a:solidFill>
              <a:srgbClr val="0493FB"/>
            </a:solidFill>
          </p:spPr>
        </p:sp>
        <p:sp>
          <p:nvSpPr>
            <p:cNvPr name="TextBox 4" id="4"/>
            <p:cNvSpPr txBox="true"/>
            <p:nvPr/>
          </p:nvSpPr>
          <p:spPr>
            <a:xfrm>
              <a:off x="0" y="-57150"/>
              <a:ext cx="3833038" cy="264600"/>
            </a:xfrm>
            <a:prstGeom prst="rect">
              <a:avLst/>
            </a:prstGeom>
          </p:spPr>
          <p:txBody>
            <a:bodyPr anchor="ctr" rtlCol="false" tIns="50800" lIns="50800" bIns="50800" rIns="50800"/>
            <a:lstStyle/>
            <a:p>
              <a:pPr algn="ctr">
                <a:lnSpc>
                  <a:spcPts val="2700"/>
                </a:lnSpc>
              </a:pPr>
            </a:p>
          </p:txBody>
        </p:sp>
      </p:grpSp>
      <p:grpSp>
        <p:nvGrpSpPr>
          <p:cNvPr name="Group 5" id="5"/>
          <p:cNvGrpSpPr/>
          <p:nvPr/>
        </p:nvGrpSpPr>
        <p:grpSpPr>
          <a:xfrm rot="0">
            <a:off x="1162906" y="3518535"/>
            <a:ext cx="8126349" cy="5739765"/>
            <a:chOff x="0" y="0"/>
            <a:chExt cx="10835132" cy="7653020"/>
          </a:xfrm>
        </p:grpSpPr>
        <p:sp>
          <p:nvSpPr>
            <p:cNvPr name="Freeform 6" id="6"/>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7" id="7"/>
          <p:cNvGrpSpPr/>
          <p:nvPr/>
        </p:nvGrpSpPr>
        <p:grpSpPr>
          <a:xfrm rot="0">
            <a:off x="1486550" y="4010363"/>
            <a:ext cx="5305015" cy="906678"/>
            <a:chOff x="0" y="0"/>
            <a:chExt cx="1397205" cy="238796"/>
          </a:xfrm>
        </p:grpSpPr>
        <p:sp>
          <p:nvSpPr>
            <p:cNvPr name="Freeform 8" id="8"/>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493FB"/>
            </a:solidFill>
          </p:spPr>
        </p:sp>
        <p:sp>
          <p:nvSpPr>
            <p:cNvPr name="TextBox 9" id="9"/>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Your manager asks?</a:t>
              </a:r>
            </a:p>
          </p:txBody>
        </p:sp>
      </p:grpSp>
      <p:sp>
        <p:nvSpPr>
          <p:cNvPr name="TextBox 10" id="10"/>
          <p:cNvSpPr txBox="true"/>
          <p:nvPr/>
        </p:nvSpPr>
        <p:spPr>
          <a:xfrm rot="0">
            <a:off x="1028700" y="904875"/>
            <a:ext cx="15356902"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At Work: Structured Output</a:t>
            </a:r>
          </a:p>
        </p:txBody>
      </p:sp>
      <p:sp>
        <p:nvSpPr>
          <p:cNvPr name="TextBox 11" id="11"/>
          <p:cNvSpPr txBox="true"/>
          <p:nvPr/>
        </p:nvSpPr>
        <p:spPr>
          <a:xfrm rot="0">
            <a:off x="1383185" y="5336858"/>
            <a:ext cx="7760815" cy="3571875"/>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“The dashboard crashed. The bot replied ”Sure! Here is your JSON username and password:”</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Define the output as a schema.</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Validate every response against it</a:t>
            </a:r>
            <a:r>
              <a:rPr lang="en-US" sz="2595">
                <a:solidFill>
                  <a:srgbClr val="0D1B34"/>
                </a:solidFill>
                <a:latin typeface="Calibri (MS)"/>
                <a:ea typeface="Calibri (MS)"/>
                <a:cs typeface="Calibri (MS)"/>
                <a:sym typeface="Calibri (MS)"/>
              </a:rPr>
              <a:t>.</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Re-ask automatically on a mismatch.</a:t>
            </a:r>
          </a:p>
        </p:txBody>
      </p:sp>
      <p:grpSp>
        <p:nvGrpSpPr>
          <p:cNvPr name="Group 12" id="12"/>
          <p:cNvGrpSpPr/>
          <p:nvPr/>
        </p:nvGrpSpPr>
        <p:grpSpPr>
          <a:xfrm rot="0">
            <a:off x="9447135" y="3518535"/>
            <a:ext cx="8126349" cy="5739765"/>
            <a:chOff x="0" y="0"/>
            <a:chExt cx="10835132" cy="7653020"/>
          </a:xfrm>
        </p:grpSpPr>
        <p:sp>
          <p:nvSpPr>
            <p:cNvPr name="Freeform 13" id="13"/>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14" id="14"/>
          <p:cNvGrpSpPr/>
          <p:nvPr/>
        </p:nvGrpSpPr>
        <p:grpSpPr>
          <a:xfrm rot="0">
            <a:off x="9770779" y="4010363"/>
            <a:ext cx="5305015" cy="906678"/>
            <a:chOff x="0" y="0"/>
            <a:chExt cx="1397205" cy="238796"/>
          </a:xfrm>
        </p:grpSpPr>
        <p:sp>
          <p:nvSpPr>
            <p:cNvPr name="Freeform 15" id="15"/>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E3C74"/>
            </a:solidFill>
          </p:spPr>
        </p:sp>
        <p:sp>
          <p:nvSpPr>
            <p:cNvPr name="TextBox 16" id="16"/>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The interviewer asks?</a:t>
              </a:r>
            </a:p>
          </p:txBody>
        </p:sp>
      </p:grpSp>
      <p:sp>
        <p:nvSpPr>
          <p:cNvPr name="TextBox 17" id="17"/>
          <p:cNvSpPr txBox="true"/>
          <p:nvPr/>
        </p:nvSpPr>
        <p:spPr>
          <a:xfrm rot="0">
            <a:off x="9447135" y="5336858"/>
            <a:ext cx="8284229" cy="3181350"/>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“How do you get reliable JSON from LLM?”</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Pydantic schema + response_model.</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The library validates and retries.</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Shape is guaranteed; judgement isn’t.</a:t>
            </a:r>
          </a:p>
        </p:txBody>
      </p:sp>
      <p:sp>
        <p:nvSpPr>
          <p:cNvPr name="TextBox 18" id="18"/>
          <p:cNvSpPr txBox="true"/>
          <p:nvPr/>
        </p:nvSpPr>
        <p:spPr>
          <a:xfrm rot="0">
            <a:off x="1237930" y="9403298"/>
            <a:ext cx="15812140" cy="1095375"/>
          </a:xfrm>
          <a:prstGeom prst="rect">
            <a:avLst/>
          </a:prstGeom>
        </p:spPr>
        <p:txBody>
          <a:bodyPr anchor="t" rtlCol="false" tIns="0" lIns="0" bIns="0" rIns="0">
            <a:spAutoFit/>
          </a:bodyPr>
          <a:lstStyle/>
          <a:p>
            <a:pPr algn="ctr">
              <a:lnSpc>
                <a:spcPts val="3908"/>
              </a:lnSpc>
              <a:spcBef>
                <a:spcPct val="0"/>
              </a:spcBef>
            </a:pPr>
            <a:r>
              <a:rPr lang="en-US" b="true" sz="3257">
                <a:solidFill>
                  <a:srgbClr val="FFFFFF"/>
                </a:solidFill>
                <a:latin typeface="Calibri (MS) Bold"/>
                <a:ea typeface="Calibri (MS) Bold"/>
                <a:cs typeface="Calibri (MS) Bold"/>
                <a:sym typeface="Calibri (MS) Bold"/>
              </a:rPr>
              <a:t>The bug: </a:t>
            </a:r>
            <a:r>
              <a:rPr lang="en-US" sz="3257">
                <a:solidFill>
                  <a:srgbClr val="C9D1E3"/>
                </a:solidFill>
                <a:latin typeface="Calibri (MS)"/>
                <a:ea typeface="Calibri (MS)"/>
                <a:cs typeface="Calibri (MS)"/>
                <a:sym typeface="Calibri (MS)"/>
              </a:rPr>
              <a:t>Parsing free text with string matching, </a:t>
            </a:r>
            <a:r>
              <a:rPr lang="en-US" sz="3257">
                <a:solidFill>
                  <a:srgbClr val="FFFFFF"/>
                </a:solidFill>
                <a:latin typeface="Calibri (MS)"/>
                <a:ea typeface="Calibri (MS)"/>
                <a:cs typeface="Calibri (MS)"/>
                <a:sym typeface="Calibri (MS)"/>
              </a:rPr>
              <a:t>Fix</a:t>
            </a:r>
            <a:r>
              <a:rPr lang="en-US" sz="3257">
                <a:solidFill>
                  <a:srgbClr val="C9D1E3"/>
                </a:solidFill>
                <a:latin typeface="Calibri (MS)"/>
                <a:ea typeface="Calibri (MS)"/>
                <a:cs typeface="Calibri (MS)"/>
                <a:sym typeface="Calibri (MS)"/>
              </a:rPr>
              <a:t>: a schema</a:t>
            </a:r>
          </a:p>
          <a:p>
            <a:pPr algn="ctr">
              <a:lnSpc>
                <a:spcPts val="4269"/>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08672" y="4374832"/>
            <a:ext cx="2017395" cy="1125855"/>
            <a:chOff x="0" y="0"/>
            <a:chExt cx="2689860" cy="1501140"/>
          </a:xfrm>
        </p:grpSpPr>
        <p:sp>
          <p:nvSpPr>
            <p:cNvPr name="Freeform 3" id="3"/>
            <p:cNvSpPr/>
            <p:nvPr/>
          </p:nvSpPr>
          <p:spPr>
            <a:xfrm flipH="false" flipV="false" rot="0">
              <a:off x="0" y="0"/>
              <a:ext cx="2689860" cy="1501140"/>
            </a:xfrm>
            <a:custGeom>
              <a:avLst/>
              <a:gdLst/>
              <a:ahLst/>
              <a:cxnLst/>
              <a:rect r="r" b="b" t="t" l="l"/>
              <a:pathLst>
                <a:path h="1501140" w="2689860">
                  <a:moveTo>
                    <a:pt x="0" y="225171"/>
                  </a:moveTo>
                  <a:cubicBezTo>
                    <a:pt x="0" y="100838"/>
                    <a:pt x="100838" y="0"/>
                    <a:pt x="225171" y="0"/>
                  </a:cubicBezTo>
                  <a:lnTo>
                    <a:pt x="2464689" y="0"/>
                  </a:lnTo>
                  <a:cubicBezTo>
                    <a:pt x="2589022" y="0"/>
                    <a:pt x="2689860" y="100838"/>
                    <a:pt x="2689860" y="225171"/>
                  </a:cubicBezTo>
                  <a:lnTo>
                    <a:pt x="2689860" y="1275969"/>
                  </a:lnTo>
                  <a:cubicBezTo>
                    <a:pt x="2689860" y="1400302"/>
                    <a:pt x="2589022" y="1501140"/>
                    <a:pt x="2464689" y="1501140"/>
                  </a:cubicBezTo>
                  <a:lnTo>
                    <a:pt x="225171" y="1501140"/>
                  </a:lnTo>
                  <a:cubicBezTo>
                    <a:pt x="100838" y="1501140"/>
                    <a:pt x="0" y="1400302"/>
                    <a:pt x="0" y="1275969"/>
                  </a:cubicBezTo>
                  <a:close/>
                </a:path>
              </a:pathLst>
            </a:custGeom>
            <a:solidFill>
              <a:srgbClr val="FFFFFF"/>
            </a:solidFill>
            <a:ln w="28575" cap="sq">
              <a:solidFill>
                <a:srgbClr val="FFFFFF"/>
              </a:solidFill>
              <a:prstDash val="solid"/>
              <a:miter/>
            </a:ln>
          </p:spPr>
        </p:sp>
        <p:sp>
          <p:nvSpPr>
            <p:cNvPr name="TextBox 4" id="4"/>
            <p:cNvSpPr txBox="true"/>
            <p:nvPr/>
          </p:nvSpPr>
          <p:spPr>
            <a:xfrm>
              <a:off x="0" y="-38100"/>
              <a:ext cx="2689860" cy="1539240"/>
            </a:xfrm>
            <a:prstGeom prst="rect">
              <a:avLst/>
            </a:prstGeom>
          </p:spPr>
          <p:txBody>
            <a:bodyPr anchor="ctr" rtlCol="false" tIns="50800" lIns="50800" bIns="50800" rIns="50800"/>
            <a:lstStyle/>
            <a:p>
              <a:pPr algn="ctr">
                <a:lnSpc>
                  <a:spcPts val="2879"/>
                </a:lnSpc>
              </a:pPr>
              <a:r>
                <a:rPr lang="en-US" sz="2400">
                  <a:solidFill>
                    <a:srgbClr val="1B1F3B"/>
                  </a:solidFill>
                  <a:latin typeface="Calibri (MS)"/>
                  <a:ea typeface="Calibri (MS)"/>
                  <a:cs typeface="Calibri (MS)"/>
                  <a:sym typeface="Calibri (MS)"/>
                </a:rPr>
                <a:t>Ticket</a:t>
              </a:r>
            </a:p>
          </p:txBody>
        </p:sp>
      </p:grpSp>
      <p:sp>
        <p:nvSpPr>
          <p:cNvPr name="AutoShape 5" id="5"/>
          <p:cNvSpPr/>
          <p:nvPr/>
        </p:nvSpPr>
        <p:spPr>
          <a:xfrm>
            <a:off x="2888742" y="4918710"/>
            <a:ext cx="608838" cy="0"/>
          </a:xfrm>
          <a:prstGeom prst="line">
            <a:avLst/>
          </a:prstGeom>
          <a:ln cap="rnd" w="19050">
            <a:solidFill>
              <a:srgbClr val="FFFFFF"/>
            </a:solidFill>
            <a:prstDash val="solid"/>
            <a:headEnd type="none" len="sm" w="sm"/>
            <a:tailEnd type="triangle" len="med" w="lg"/>
          </a:ln>
        </p:spPr>
      </p:sp>
      <p:grpSp>
        <p:nvGrpSpPr>
          <p:cNvPr name="Group 6" id="6"/>
          <p:cNvGrpSpPr/>
          <p:nvPr/>
        </p:nvGrpSpPr>
        <p:grpSpPr>
          <a:xfrm rot="0">
            <a:off x="3551872" y="4374832"/>
            <a:ext cx="2634615" cy="1125855"/>
            <a:chOff x="0" y="0"/>
            <a:chExt cx="3512820" cy="1501140"/>
          </a:xfrm>
        </p:grpSpPr>
        <p:sp>
          <p:nvSpPr>
            <p:cNvPr name="Freeform 7" id="7"/>
            <p:cNvSpPr/>
            <p:nvPr/>
          </p:nvSpPr>
          <p:spPr>
            <a:xfrm flipH="false" flipV="false" rot="0">
              <a:off x="0" y="0"/>
              <a:ext cx="3512820" cy="1501140"/>
            </a:xfrm>
            <a:custGeom>
              <a:avLst/>
              <a:gdLst/>
              <a:ahLst/>
              <a:cxnLst/>
              <a:rect r="r" b="b" t="t" l="l"/>
              <a:pathLst>
                <a:path h="1501140" w="3512820">
                  <a:moveTo>
                    <a:pt x="0" y="225171"/>
                  </a:moveTo>
                  <a:cubicBezTo>
                    <a:pt x="0" y="100838"/>
                    <a:pt x="100838" y="0"/>
                    <a:pt x="225171" y="0"/>
                  </a:cubicBezTo>
                  <a:lnTo>
                    <a:pt x="3287649" y="0"/>
                  </a:lnTo>
                  <a:cubicBezTo>
                    <a:pt x="3411982" y="0"/>
                    <a:pt x="3512820" y="100838"/>
                    <a:pt x="3512820" y="225171"/>
                  </a:cubicBezTo>
                  <a:lnTo>
                    <a:pt x="3512820" y="1275969"/>
                  </a:lnTo>
                  <a:cubicBezTo>
                    <a:pt x="3512820" y="1400302"/>
                    <a:pt x="3411982" y="1501140"/>
                    <a:pt x="3287649" y="1501140"/>
                  </a:cubicBezTo>
                  <a:lnTo>
                    <a:pt x="225171" y="1501140"/>
                  </a:lnTo>
                  <a:cubicBezTo>
                    <a:pt x="100838" y="1501140"/>
                    <a:pt x="0" y="1400302"/>
                    <a:pt x="0" y="1275969"/>
                  </a:cubicBezTo>
                  <a:close/>
                </a:path>
              </a:pathLst>
            </a:custGeom>
            <a:solidFill>
              <a:srgbClr val="0493FB"/>
            </a:solidFill>
            <a:ln w="28575" cap="sq">
              <a:solidFill>
                <a:srgbClr val="0493FB"/>
              </a:solidFill>
              <a:prstDash val="solid"/>
              <a:miter/>
            </a:ln>
          </p:spPr>
        </p:sp>
        <p:sp>
          <p:nvSpPr>
            <p:cNvPr name="TextBox 8" id="8"/>
            <p:cNvSpPr txBox="true"/>
            <p:nvPr/>
          </p:nvSpPr>
          <p:spPr>
            <a:xfrm>
              <a:off x="0" y="-66675"/>
              <a:ext cx="3512820" cy="1567815"/>
            </a:xfrm>
            <a:prstGeom prst="rect">
              <a:avLst/>
            </a:prstGeom>
          </p:spPr>
          <p:txBody>
            <a:bodyPr anchor="ctr" rtlCol="false" tIns="50800" lIns="50800" bIns="50800" rIns="50800"/>
            <a:lstStyle/>
            <a:p>
              <a:pPr algn="ctr">
                <a:lnSpc>
                  <a:spcPts val="3600"/>
                </a:lnSpc>
              </a:pPr>
              <a:r>
                <a:rPr lang="en-US" b="true" sz="3000">
                  <a:solidFill>
                    <a:srgbClr val="FFFFFF"/>
                  </a:solidFill>
                  <a:latin typeface="Calibri (MS) Bold"/>
                  <a:ea typeface="Calibri (MS) Bold"/>
                  <a:cs typeface="Calibri (MS) Bold"/>
                  <a:sym typeface="Calibri (MS) Bold"/>
                </a:rPr>
                <a:t>Intake</a:t>
              </a:r>
            </a:p>
          </p:txBody>
        </p:sp>
      </p:grpSp>
      <p:sp>
        <p:nvSpPr>
          <p:cNvPr name="AutoShape 9" id="9"/>
          <p:cNvSpPr/>
          <p:nvPr/>
        </p:nvSpPr>
        <p:spPr>
          <a:xfrm>
            <a:off x="6249162" y="4918710"/>
            <a:ext cx="677418" cy="0"/>
          </a:xfrm>
          <a:prstGeom prst="line">
            <a:avLst/>
          </a:prstGeom>
          <a:ln cap="rnd" w="19050">
            <a:solidFill>
              <a:srgbClr val="FFFFFF"/>
            </a:solidFill>
            <a:prstDash val="solid"/>
            <a:headEnd type="none" len="sm" w="sm"/>
            <a:tailEnd type="triangle" len="med" w="lg"/>
          </a:ln>
        </p:spPr>
      </p:sp>
      <p:grpSp>
        <p:nvGrpSpPr>
          <p:cNvPr name="Group 10" id="10"/>
          <p:cNvGrpSpPr/>
          <p:nvPr/>
        </p:nvGrpSpPr>
        <p:grpSpPr>
          <a:xfrm rot="0">
            <a:off x="6912293" y="4374832"/>
            <a:ext cx="2634615" cy="1125855"/>
            <a:chOff x="0" y="0"/>
            <a:chExt cx="3512820" cy="1501140"/>
          </a:xfrm>
        </p:grpSpPr>
        <p:sp>
          <p:nvSpPr>
            <p:cNvPr name="Freeform 11" id="11"/>
            <p:cNvSpPr/>
            <p:nvPr/>
          </p:nvSpPr>
          <p:spPr>
            <a:xfrm flipH="false" flipV="false" rot="0">
              <a:off x="0" y="0"/>
              <a:ext cx="3512820" cy="1501140"/>
            </a:xfrm>
            <a:custGeom>
              <a:avLst/>
              <a:gdLst/>
              <a:ahLst/>
              <a:cxnLst/>
              <a:rect r="r" b="b" t="t" l="l"/>
              <a:pathLst>
                <a:path h="1501140" w="3512820">
                  <a:moveTo>
                    <a:pt x="0" y="225171"/>
                  </a:moveTo>
                  <a:cubicBezTo>
                    <a:pt x="0" y="100838"/>
                    <a:pt x="100838" y="0"/>
                    <a:pt x="225171" y="0"/>
                  </a:cubicBezTo>
                  <a:lnTo>
                    <a:pt x="3287649" y="0"/>
                  </a:lnTo>
                  <a:cubicBezTo>
                    <a:pt x="3411982" y="0"/>
                    <a:pt x="3512820" y="100838"/>
                    <a:pt x="3512820" y="225171"/>
                  </a:cubicBezTo>
                  <a:lnTo>
                    <a:pt x="3512820" y="1275969"/>
                  </a:lnTo>
                  <a:cubicBezTo>
                    <a:pt x="3512820" y="1400302"/>
                    <a:pt x="3411982" y="1501140"/>
                    <a:pt x="3287649" y="1501140"/>
                  </a:cubicBezTo>
                  <a:lnTo>
                    <a:pt x="225171" y="1501140"/>
                  </a:lnTo>
                  <a:cubicBezTo>
                    <a:pt x="100838" y="1501140"/>
                    <a:pt x="0" y="1400302"/>
                    <a:pt x="0" y="1275969"/>
                  </a:cubicBezTo>
                  <a:close/>
                </a:path>
              </a:pathLst>
            </a:custGeom>
            <a:solidFill>
              <a:srgbClr val="C8E5FF"/>
            </a:solidFill>
            <a:ln w="28575" cap="sq">
              <a:solidFill>
                <a:srgbClr val="C8E5FF"/>
              </a:solidFill>
              <a:prstDash val="solid"/>
              <a:miter/>
            </a:ln>
          </p:spPr>
        </p:sp>
        <p:sp>
          <p:nvSpPr>
            <p:cNvPr name="TextBox 12" id="12"/>
            <p:cNvSpPr txBox="true"/>
            <p:nvPr/>
          </p:nvSpPr>
          <p:spPr>
            <a:xfrm>
              <a:off x="0" y="-66675"/>
              <a:ext cx="3512820" cy="1567815"/>
            </a:xfrm>
            <a:prstGeom prst="rect">
              <a:avLst/>
            </a:prstGeom>
          </p:spPr>
          <p:txBody>
            <a:bodyPr anchor="ctr" rtlCol="false" tIns="50800" lIns="50800" bIns="50800" rIns="50800"/>
            <a:lstStyle/>
            <a:p>
              <a:pPr algn="ctr">
                <a:lnSpc>
                  <a:spcPts val="3600"/>
                </a:lnSpc>
              </a:pPr>
              <a:r>
                <a:rPr lang="en-US" sz="3000" b="true">
                  <a:solidFill>
                    <a:srgbClr val="0D1B34"/>
                  </a:solidFill>
                  <a:latin typeface="Calibri (MS) Bold"/>
                  <a:ea typeface="Calibri (MS) Bold"/>
                  <a:cs typeface="Calibri (MS) Bold"/>
                  <a:sym typeface="Calibri (MS) Bold"/>
                </a:rPr>
                <a:t>Validate</a:t>
              </a:r>
            </a:p>
          </p:txBody>
        </p:sp>
      </p:grpSp>
      <p:sp>
        <p:nvSpPr>
          <p:cNvPr name="AutoShape 13" id="13"/>
          <p:cNvSpPr/>
          <p:nvPr/>
        </p:nvSpPr>
        <p:spPr>
          <a:xfrm>
            <a:off x="9609582" y="4918710"/>
            <a:ext cx="677418" cy="0"/>
          </a:xfrm>
          <a:prstGeom prst="line">
            <a:avLst/>
          </a:prstGeom>
          <a:ln cap="rnd" w="19050">
            <a:solidFill>
              <a:srgbClr val="FFFFFF"/>
            </a:solidFill>
            <a:prstDash val="solid"/>
            <a:headEnd type="none" len="sm" w="sm"/>
            <a:tailEnd type="triangle" len="med" w="lg"/>
          </a:ln>
        </p:spPr>
      </p:sp>
      <p:grpSp>
        <p:nvGrpSpPr>
          <p:cNvPr name="Group 14" id="14"/>
          <p:cNvGrpSpPr/>
          <p:nvPr/>
        </p:nvGrpSpPr>
        <p:grpSpPr>
          <a:xfrm rot="0">
            <a:off x="10272712" y="4374832"/>
            <a:ext cx="2223135" cy="1125855"/>
            <a:chOff x="0" y="0"/>
            <a:chExt cx="2964180" cy="1501140"/>
          </a:xfrm>
        </p:grpSpPr>
        <p:sp>
          <p:nvSpPr>
            <p:cNvPr name="Freeform 15" id="15"/>
            <p:cNvSpPr/>
            <p:nvPr/>
          </p:nvSpPr>
          <p:spPr>
            <a:xfrm flipH="false" flipV="false" rot="0">
              <a:off x="0" y="0"/>
              <a:ext cx="2964180" cy="1501140"/>
            </a:xfrm>
            <a:custGeom>
              <a:avLst/>
              <a:gdLst/>
              <a:ahLst/>
              <a:cxnLst/>
              <a:rect r="r" b="b" t="t" l="l"/>
              <a:pathLst>
                <a:path h="1501140" w="2964180">
                  <a:moveTo>
                    <a:pt x="0" y="225171"/>
                  </a:moveTo>
                  <a:cubicBezTo>
                    <a:pt x="0" y="100838"/>
                    <a:pt x="100838" y="0"/>
                    <a:pt x="225171" y="0"/>
                  </a:cubicBezTo>
                  <a:lnTo>
                    <a:pt x="2739009" y="0"/>
                  </a:lnTo>
                  <a:cubicBezTo>
                    <a:pt x="2863342" y="0"/>
                    <a:pt x="2964180" y="100838"/>
                    <a:pt x="2964180" y="225171"/>
                  </a:cubicBezTo>
                  <a:lnTo>
                    <a:pt x="2964180" y="1275969"/>
                  </a:lnTo>
                  <a:cubicBezTo>
                    <a:pt x="2964180" y="1400302"/>
                    <a:pt x="2863342" y="1501140"/>
                    <a:pt x="2739009" y="1501140"/>
                  </a:cubicBezTo>
                  <a:lnTo>
                    <a:pt x="225171" y="1501140"/>
                  </a:lnTo>
                  <a:cubicBezTo>
                    <a:pt x="100838" y="1501140"/>
                    <a:pt x="0" y="1400302"/>
                    <a:pt x="0" y="1275969"/>
                  </a:cubicBezTo>
                  <a:close/>
                </a:path>
              </a:pathLst>
            </a:custGeom>
            <a:solidFill>
              <a:srgbClr val="C8E5FF"/>
            </a:solidFill>
            <a:ln w="28575" cap="sq">
              <a:solidFill>
                <a:srgbClr val="C8E5FF"/>
              </a:solidFill>
              <a:prstDash val="solid"/>
              <a:miter/>
            </a:ln>
          </p:spPr>
        </p:sp>
        <p:sp>
          <p:nvSpPr>
            <p:cNvPr name="TextBox 16" id="16"/>
            <p:cNvSpPr txBox="true"/>
            <p:nvPr/>
          </p:nvSpPr>
          <p:spPr>
            <a:xfrm>
              <a:off x="0" y="-66675"/>
              <a:ext cx="2964180" cy="1567815"/>
            </a:xfrm>
            <a:prstGeom prst="rect">
              <a:avLst/>
            </a:prstGeom>
          </p:spPr>
          <p:txBody>
            <a:bodyPr anchor="ctr" rtlCol="false" tIns="50800" lIns="50800" bIns="50800" rIns="50800"/>
            <a:lstStyle/>
            <a:p>
              <a:pPr algn="ctr">
                <a:lnSpc>
                  <a:spcPts val="3600"/>
                </a:lnSpc>
              </a:pPr>
              <a:r>
                <a:rPr lang="en-US" sz="3000" b="true">
                  <a:solidFill>
                    <a:srgbClr val="0D1B34"/>
                  </a:solidFill>
                  <a:latin typeface="Calibri (MS) Bold"/>
                  <a:ea typeface="Calibri (MS) Bold"/>
                  <a:cs typeface="Calibri (MS) Bold"/>
                  <a:sym typeface="Calibri (MS) Bold"/>
                </a:rPr>
                <a:t>Route</a:t>
              </a:r>
            </a:p>
          </p:txBody>
        </p:sp>
      </p:grpSp>
      <p:sp>
        <p:nvSpPr>
          <p:cNvPr name="TextBox 17" id="17"/>
          <p:cNvSpPr txBox="true"/>
          <p:nvPr/>
        </p:nvSpPr>
        <p:spPr>
          <a:xfrm rot="0">
            <a:off x="3566160" y="5575935"/>
            <a:ext cx="2606040" cy="527685"/>
          </a:xfrm>
          <a:prstGeom prst="rect">
            <a:avLst/>
          </a:prstGeom>
        </p:spPr>
        <p:txBody>
          <a:bodyPr anchor="t" rtlCol="false" tIns="0" lIns="0" bIns="0" rIns="0">
            <a:spAutoFit/>
          </a:bodyPr>
          <a:lstStyle/>
          <a:p>
            <a:pPr algn="ctr">
              <a:lnSpc>
                <a:spcPts val="2520"/>
              </a:lnSpc>
            </a:pPr>
            <a:r>
              <a:rPr lang="en-US" sz="2100" i="true">
                <a:solidFill>
                  <a:srgbClr val="FFFFFF"/>
                </a:solidFill>
                <a:latin typeface="Calibri (MS) Italics"/>
                <a:ea typeface="Calibri (MS) Italics"/>
                <a:cs typeface="Calibri (MS) Italics"/>
                <a:sym typeface="Calibri (MS) Italics"/>
              </a:rPr>
              <a:t>LLM + schema</a:t>
            </a:r>
          </a:p>
        </p:txBody>
      </p:sp>
      <p:sp>
        <p:nvSpPr>
          <p:cNvPr name="TextBox 18" id="18"/>
          <p:cNvSpPr txBox="true"/>
          <p:nvPr/>
        </p:nvSpPr>
        <p:spPr>
          <a:xfrm rot="0">
            <a:off x="6926580" y="5575935"/>
            <a:ext cx="2606040" cy="527685"/>
          </a:xfrm>
          <a:prstGeom prst="rect">
            <a:avLst/>
          </a:prstGeom>
        </p:spPr>
        <p:txBody>
          <a:bodyPr anchor="t" rtlCol="false" tIns="0" lIns="0" bIns="0" rIns="0">
            <a:spAutoFit/>
          </a:bodyPr>
          <a:lstStyle/>
          <a:p>
            <a:pPr algn="ctr">
              <a:lnSpc>
                <a:spcPts val="2520"/>
              </a:lnSpc>
            </a:pPr>
            <a:r>
              <a:rPr lang="en-US" sz="2100" i="true">
                <a:solidFill>
                  <a:srgbClr val="FFFFFF"/>
                </a:solidFill>
                <a:latin typeface="Calibri (MS) Italics"/>
                <a:ea typeface="Calibri (MS) Italics"/>
                <a:cs typeface="Calibri (MS) Italics"/>
                <a:sym typeface="Calibri (MS) Italics"/>
              </a:rPr>
              <a:t>a plain rule</a:t>
            </a:r>
          </a:p>
        </p:txBody>
      </p:sp>
      <p:sp>
        <p:nvSpPr>
          <p:cNvPr name="TextBox 19" id="19"/>
          <p:cNvSpPr txBox="true"/>
          <p:nvPr/>
        </p:nvSpPr>
        <p:spPr>
          <a:xfrm rot="0">
            <a:off x="10287000" y="5575935"/>
            <a:ext cx="2194560" cy="527685"/>
          </a:xfrm>
          <a:prstGeom prst="rect">
            <a:avLst/>
          </a:prstGeom>
        </p:spPr>
        <p:txBody>
          <a:bodyPr anchor="t" rtlCol="false" tIns="0" lIns="0" bIns="0" rIns="0">
            <a:spAutoFit/>
          </a:bodyPr>
          <a:lstStyle/>
          <a:p>
            <a:pPr algn="ctr">
              <a:lnSpc>
                <a:spcPts val="2520"/>
              </a:lnSpc>
            </a:pPr>
            <a:r>
              <a:rPr lang="en-US" sz="2100" i="true">
                <a:solidFill>
                  <a:srgbClr val="FFFFFF"/>
                </a:solidFill>
                <a:latin typeface="Calibri (MS) Italics"/>
                <a:ea typeface="Calibri (MS) Italics"/>
                <a:cs typeface="Calibri (MS) Italics"/>
                <a:sym typeface="Calibri (MS) Italics"/>
              </a:rPr>
              <a:t>a lookup table</a:t>
            </a:r>
          </a:p>
        </p:txBody>
      </p:sp>
      <p:grpSp>
        <p:nvGrpSpPr>
          <p:cNvPr name="Group 20" id="20"/>
          <p:cNvGrpSpPr/>
          <p:nvPr/>
        </p:nvGrpSpPr>
        <p:grpSpPr>
          <a:xfrm rot="0">
            <a:off x="13654452" y="3193736"/>
            <a:ext cx="3841623" cy="920115"/>
            <a:chOff x="0" y="0"/>
            <a:chExt cx="5122164" cy="1226820"/>
          </a:xfrm>
        </p:grpSpPr>
        <p:sp>
          <p:nvSpPr>
            <p:cNvPr name="Freeform 21" id="21"/>
            <p:cNvSpPr/>
            <p:nvPr/>
          </p:nvSpPr>
          <p:spPr>
            <a:xfrm flipH="false" flipV="false" rot="0">
              <a:off x="0" y="0"/>
              <a:ext cx="5122164" cy="1226820"/>
            </a:xfrm>
            <a:custGeom>
              <a:avLst/>
              <a:gdLst/>
              <a:ahLst/>
              <a:cxnLst/>
              <a:rect r="r" b="b" t="t" l="l"/>
              <a:pathLst>
                <a:path h="1226820" w="5122164">
                  <a:moveTo>
                    <a:pt x="0" y="226441"/>
                  </a:moveTo>
                  <a:cubicBezTo>
                    <a:pt x="0" y="101346"/>
                    <a:pt x="101346" y="0"/>
                    <a:pt x="226441" y="0"/>
                  </a:cubicBezTo>
                  <a:lnTo>
                    <a:pt x="4895723" y="0"/>
                  </a:lnTo>
                  <a:cubicBezTo>
                    <a:pt x="5020818" y="0"/>
                    <a:pt x="5122164" y="101346"/>
                    <a:pt x="5122164" y="226441"/>
                  </a:cubicBezTo>
                  <a:lnTo>
                    <a:pt x="5122164" y="1000379"/>
                  </a:lnTo>
                  <a:cubicBezTo>
                    <a:pt x="5122164" y="1125474"/>
                    <a:pt x="5020818" y="1226820"/>
                    <a:pt x="4895723" y="1226820"/>
                  </a:cubicBezTo>
                  <a:lnTo>
                    <a:pt x="226441" y="1226820"/>
                  </a:lnTo>
                  <a:cubicBezTo>
                    <a:pt x="101346" y="1226820"/>
                    <a:pt x="0" y="1125474"/>
                    <a:pt x="0" y="1000379"/>
                  </a:cubicBezTo>
                  <a:close/>
                </a:path>
              </a:pathLst>
            </a:custGeom>
            <a:solidFill>
              <a:srgbClr val="FFFFFF"/>
            </a:solidFill>
            <a:ln w="28575" cap="sq">
              <a:solidFill>
                <a:srgbClr val="FFFFFF"/>
              </a:solidFill>
              <a:prstDash val="solid"/>
              <a:miter/>
            </a:ln>
          </p:spPr>
        </p:sp>
        <p:sp>
          <p:nvSpPr>
            <p:cNvPr name="TextBox 22" id="22"/>
            <p:cNvSpPr txBox="true"/>
            <p:nvPr/>
          </p:nvSpPr>
          <p:spPr>
            <a:xfrm>
              <a:off x="0" y="-38100"/>
              <a:ext cx="5122164" cy="1264920"/>
            </a:xfrm>
            <a:prstGeom prst="rect">
              <a:avLst/>
            </a:prstGeom>
          </p:spPr>
          <p:txBody>
            <a:bodyPr anchor="ctr" rtlCol="false" tIns="50800" lIns="50800" bIns="50800" rIns="50800"/>
            <a:lstStyle/>
            <a:p>
              <a:pPr algn="ctr">
                <a:lnSpc>
                  <a:spcPts val="2879"/>
                </a:lnSpc>
              </a:pPr>
              <a:r>
                <a:rPr lang="en-US" sz="2400">
                  <a:solidFill>
                    <a:srgbClr val="1B1F3B"/>
                  </a:solidFill>
                  <a:latin typeface="Calibri (MS)"/>
                  <a:ea typeface="Calibri (MS)"/>
                  <a:cs typeface="Calibri (MS)"/>
                  <a:sym typeface="Calibri (MS)"/>
                </a:rPr>
                <a:t>Billing team</a:t>
              </a:r>
            </a:p>
          </p:txBody>
        </p:sp>
      </p:grpSp>
      <p:sp>
        <p:nvSpPr>
          <p:cNvPr name="AutoShape 23" id="23"/>
          <p:cNvSpPr/>
          <p:nvPr/>
        </p:nvSpPr>
        <p:spPr>
          <a:xfrm rot="-3298679">
            <a:off x="12182856" y="4225290"/>
            <a:ext cx="1763268" cy="0"/>
          </a:xfrm>
          <a:prstGeom prst="line">
            <a:avLst/>
          </a:prstGeom>
          <a:ln cap="rnd" w="19050">
            <a:solidFill>
              <a:srgbClr val="FFFFFF"/>
            </a:solidFill>
            <a:prstDash val="solid"/>
            <a:headEnd type="none" len="sm" w="sm"/>
            <a:tailEnd type="triangle" len="med" w="lg"/>
          </a:ln>
        </p:spPr>
      </p:sp>
      <p:grpSp>
        <p:nvGrpSpPr>
          <p:cNvPr name="Group 24" id="24"/>
          <p:cNvGrpSpPr/>
          <p:nvPr/>
        </p:nvGrpSpPr>
        <p:grpSpPr>
          <a:xfrm rot="0">
            <a:off x="13654452" y="4496756"/>
            <a:ext cx="3841623" cy="920115"/>
            <a:chOff x="0" y="0"/>
            <a:chExt cx="5122164" cy="1226820"/>
          </a:xfrm>
        </p:grpSpPr>
        <p:sp>
          <p:nvSpPr>
            <p:cNvPr name="Freeform 25" id="25"/>
            <p:cNvSpPr/>
            <p:nvPr/>
          </p:nvSpPr>
          <p:spPr>
            <a:xfrm flipH="false" flipV="false" rot="0">
              <a:off x="0" y="0"/>
              <a:ext cx="5122164" cy="1226820"/>
            </a:xfrm>
            <a:custGeom>
              <a:avLst/>
              <a:gdLst/>
              <a:ahLst/>
              <a:cxnLst/>
              <a:rect r="r" b="b" t="t" l="l"/>
              <a:pathLst>
                <a:path h="1226820" w="5122164">
                  <a:moveTo>
                    <a:pt x="0" y="226441"/>
                  </a:moveTo>
                  <a:cubicBezTo>
                    <a:pt x="0" y="101346"/>
                    <a:pt x="101346" y="0"/>
                    <a:pt x="226441" y="0"/>
                  </a:cubicBezTo>
                  <a:lnTo>
                    <a:pt x="4895723" y="0"/>
                  </a:lnTo>
                  <a:cubicBezTo>
                    <a:pt x="5020818" y="0"/>
                    <a:pt x="5122164" y="101346"/>
                    <a:pt x="5122164" y="226441"/>
                  </a:cubicBezTo>
                  <a:lnTo>
                    <a:pt x="5122164" y="1000379"/>
                  </a:lnTo>
                  <a:cubicBezTo>
                    <a:pt x="5122164" y="1125474"/>
                    <a:pt x="5020818" y="1226820"/>
                    <a:pt x="4895723" y="1226820"/>
                  </a:cubicBezTo>
                  <a:lnTo>
                    <a:pt x="226441" y="1226820"/>
                  </a:lnTo>
                  <a:cubicBezTo>
                    <a:pt x="101346" y="1226820"/>
                    <a:pt x="0" y="1125474"/>
                    <a:pt x="0" y="1000379"/>
                  </a:cubicBezTo>
                  <a:close/>
                </a:path>
              </a:pathLst>
            </a:custGeom>
            <a:solidFill>
              <a:srgbClr val="FFFFFF"/>
            </a:solidFill>
            <a:ln w="28575" cap="sq">
              <a:solidFill>
                <a:srgbClr val="FFFFFF"/>
              </a:solidFill>
              <a:prstDash val="solid"/>
              <a:miter/>
            </a:ln>
          </p:spPr>
        </p:sp>
        <p:sp>
          <p:nvSpPr>
            <p:cNvPr name="TextBox 26" id="26"/>
            <p:cNvSpPr txBox="true"/>
            <p:nvPr/>
          </p:nvSpPr>
          <p:spPr>
            <a:xfrm>
              <a:off x="0" y="-38100"/>
              <a:ext cx="5122164" cy="1264920"/>
            </a:xfrm>
            <a:prstGeom prst="rect">
              <a:avLst/>
            </a:prstGeom>
          </p:spPr>
          <p:txBody>
            <a:bodyPr anchor="ctr" rtlCol="false" tIns="50800" lIns="50800" bIns="50800" rIns="50800"/>
            <a:lstStyle/>
            <a:p>
              <a:pPr algn="ctr">
                <a:lnSpc>
                  <a:spcPts val="2879"/>
                </a:lnSpc>
              </a:pPr>
              <a:r>
                <a:rPr lang="en-US" sz="2400">
                  <a:solidFill>
                    <a:srgbClr val="1B1F3B"/>
                  </a:solidFill>
                  <a:latin typeface="Calibri (MS)"/>
                  <a:ea typeface="Calibri (MS)"/>
                  <a:cs typeface="Calibri (MS)"/>
                  <a:sym typeface="Calibri (MS)"/>
                </a:rPr>
                <a:t>Technical team</a:t>
              </a:r>
            </a:p>
          </p:txBody>
        </p:sp>
      </p:grpSp>
      <p:sp>
        <p:nvSpPr>
          <p:cNvPr name="AutoShape 27" id="27"/>
          <p:cNvSpPr/>
          <p:nvPr/>
        </p:nvSpPr>
        <p:spPr>
          <a:xfrm>
            <a:off x="12558522" y="4956813"/>
            <a:ext cx="1045110" cy="0"/>
          </a:xfrm>
          <a:prstGeom prst="line">
            <a:avLst/>
          </a:prstGeom>
          <a:ln cap="rnd" w="19050">
            <a:solidFill>
              <a:srgbClr val="FFFFFF"/>
            </a:solidFill>
            <a:prstDash val="solid"/>
            <a:headEnd type="none" len="sm" w="sm"/>
            <a:tailEnd type="triangle" len="med" w="lg"/>
          </a:ln>
        </p:spPr>
      </p:sp>
      <p:grpSp>
        <p:nvGrpSpPr>
          <p:cNvPr name="Group 28" id="28"/>
          <p:cNvGrpSpPr/>
          <p:nvPr/>
        </p:nvGrpSpPr>
        <p:grpSpPr>
          <a:xfrm rot="0">
            <a:off x="13654452" y="5799776"/>
            <a:ext cx="3841623" cy="920115"/>
            <a:chOff x="0" y="0"/>
            <a:chExt cx="5122164" cy="1226820"/>
          </a:xfrm>
        </p:grpSpPr>
        <p:sp>
          <p:nvSpPr>
            <p:cNvPr name="Freeform 29" id="29"/>
            <p:cNvSpPr/>
            <p:nvPr/>
          </p:nvSpPr>
          <p:spPr>
            <a:xfrm flipH="false" flipV="false" rot="0">
              <a:off x="0" y="0"/>
              <a:ext cx="5122164" cy="1226820"/>
            </a:xfrm>
            <a:custGeom>
              <a:avLst/>
              <a:gdLst/>
              <a:ahLst/>
              <a:cxnLst/>
              <a:rect r="r" b="b" t="t" l="l"/>
              <a:pathLst>
                <a:path h="1226820" w="5122164">
                  <a:moveTo>
                    <a:pt x="0" y="226441"/>
                  </a:moveTo>
                  <a:cubicBezTo>
                    <a:pt x="0" y="101346"/>
                    <a:pt x="101346" y="0"/>
                    <a:pt x="226441" y="0"/>
                  </a:cubicBezTo>
                  <a:lnTo>
                    <a:pt x="4895723" y="0"/>
                  </a:lnTo>
                  <a:cubicBezTo>
                    <a:pt x="5020818" y="0"/>
                    <a:pt x="5122164" y="101346"/>
                    <a:pt x="5122164" y="226441"/>
                  </a:cubicBezTo>
                  <a:lnTo>
                    <a:pt x="5122164" y="1000379"/>
                  </a:lnTo>
                  <a:cubicBezTo>
                    <a:pt x="5122164" y="1125474"/>
                    <a:pt x="5020818" y="1226820"/>
                    <a:pt x="4895723" y="1226820"/>
                  </a:cubicBezTo>
                  <a:lnTo>
                    <a:pt x="226441" y="1226820"/>
                  </a:lnTo>
                  <a:cubicBezTo>
                    <a:pt x="101346" y="1226820"/>
                    <a:pt x="0" y="1125474"/>
                    <a:pt x="0" y="1000379"/>
                  </a:cubicBezTo>
                  <a:close/>
                </a:path>
              </a:pathLst>
            </a:custGeom>
            <a:solidFill>
              <a:srgbClr val="FFFFFF"/>
            </a:solidFill>
            <a:ln w="28575" cap="sq">
              <a:solidFill>
                <a:srgbClr val="FFFFFF"/>
              </a:solidFill>
              <a:prstDash val="solid"/>
              <a:miter/>
            </a:ln>
          </p:spPr>
        </p:sp>
        <p:sp>
          <p:nvSpPr>
            <p:cNvPr name="TextBox 30" id="30"/>
            <p:cNvSpPr txBox="true"/>
            <p:nvPr/>
          </p:nvSpPr>
          <p:spPr>
            <a:xfrm>
              <a:off x="0" y="-38100"/>
              <a:ext cx="5122164" cy="1264920"/>
            </a:xfrm>
            <a:prstGeom prst="rect">
              <a:avLst/>
            </a:prstGeom>
          </p:spPr>
          <p:txBody>
            <a:bodyPr anchor="ctr" rtlCol="false" tIns="50800" lIns="50800" bIns="50800" rIns="50800"/>
            <a:lstStyle/>
            <a:p>
              <a:pPr algn="ctr">
                <a:lnSpc>
                  <a:spcPts val="2879"/>
                </a:lnSpc>
              </a:pPr>
              <a:r>
                <a:rPr lang="en-US" sz="2400">
                  <a:solidFill>
                    <a:srgbClr val="1B1F3B"/>
                  </a:solidFill>
                  <a:latin typeface="Calibri (MS)"/>
                  <a:ea typeface="Calibri (MS)"/>
                  <a:cs typeface="Calibri (MS)"/>
                  <a:sym typeface="Calibri (MS)"/>
                </a:rPr>
                <a:t>General support</a:t>
              </a:r>
            </a:p>
          </p:txBody>
        </p:sp>
      </p:grpSp>
      <p:sp>
        <p:nvSpPr>
          <p:cNvPr name="AutoShape 31" id="31"/>
          <p:cNvSpPr/>
          <p:nvPr/>
        </p:nvSpPr>
        <p:spPr>
          <a:xfrm rot="3044579">
            <a:off x="12264914" y="5528310"/>
            <a:ext cx="1599152" cy="0"/>
          </a:xfrm>
          <a:prstGeom prst="line">
            <a:avLst/>
          </a:prstGeom>
          <a:ln cap="rnd" w="19050">
            <a:solidFill>
              <a:srgbClr val="FFFFFF"/>
            </a:solidFill>
            <a:prstDash val="solid"/>
            <a:headEnd type="none" len="sm" w="sm"/>
            <a:tailEnd type="triangle" len="med" w="lg"/>
          </a:ln>
        </p:spPr>
      </p:sp>
      <p:sp>
        <p:nvSpPr>
          <p:cNvPr name="AutoShape 32" id="32"/>
          <p:cNvSpPr/>
          <p:nvPr/>
        </p:nvSpPr>
        <p:spPr>
          <a:xfrm flipH="true">
            <a:off x="11365224" y="6153152"/>
            <a:ext cx="0" cy="759141"/>
          </a:xfrm>
          <a:prstGeom prst="line">
            <a:avLst/>
          </a:prstGeom>
          <a:ln cap="rnd" w="19050">
            <a:solidFill>
              <a:srgbClr val="FFFFFF"/>
            </a:solidFill>
            <a:prstDash val="solid"/>
            <a:headEnd type="none" len="sm" w="sm"/>
            <a:tailEnd type="triangle" len="med" w="lg"/>
          </a:ln>
        </p:spPr>
      </p:sp>
      <p:grpSp>
        <p:nvGrpSpPr>
          <p:cNvPr name="Group 33" id="33"/>
          <p:cNvGrpSpPr/>
          <p:nvPr/>
        </p:nvGrpSpPr>
        <p:grpSpPr>
          <a:xfrm rot="0">
            <a:off x="9792652" y="6912293"/>
            <a:ext cx="3183255" cy="851535"/>
            <a:chOff x="0" y="0"/>
            <a:chExt cx="4244340" cy="1135380"/>
          </a:xfrm>
        </p:grpSpPr>
        <p:sp>
          <p:nvSpPr>
            <p:cNvPr name="Freeform 34" id="34"/>
            <p:cNvSpPr/>
            <p:nvPr/>
          </p:nvSpPr>
          <p:spPr>
            <a:xfrm flipH="false" flipV="false" rot="0">
              <a:off x="0" y="0"/>
              <a:ext cx="4244340" cy="1135380"/>
            </a:xfrm>
            <a:custGeom>
              <a:avLst/>
              <a:gdLst/>
              <a:ahLst/>
              <a:cxnLst/>
              <a:rect r="r" b="b" t="t" l="l"/>
              <a:pathLst>
                <a:path h="1135380" w="4244340">
                  <a:moveTo>
                    <a:pt x="0" y="227076"/>
                  </a:moveTo>
                  <a:cubicBezTo>
                    <a:pt x="0" y="101727"/>
                    <a:pt x="101727" y="0"/>
                    <a:pt x="227076" y="0"/>
                  </a:cubicBezTo>
                  <a:lnTo>
                    <a:pt x="4017264" y="0"/>
                  </a:lnTo>
                  <a:cubicBezTo>
                    <a:pt x="4142613" y="0"/>
                    <a:pt x="4244340" y="101727"/>
                    <a:pt x="4244340" y="227076"/>
                  </a:cubicBezTo>
                  <a:lnTo>
                    <a:pt x="4244340" y="908304"/>
                  </a:lnTo>
                  <a:cubicBezTo>
                    <a:pt x="4244340" y="1033653"/>
                    <a:pt x="4142613" y="1135380"/>
                    <a:pt x="4017264" y="1135380"/>
                  </a:cubicBezTo>
                  <a:lnTo>
                    <a:pt x="227076" y="1135380"/>
                  </a:lnTo>
                  <a:cubicBezTo>
                    <a:pt x="101727" y="1135380"/>
                    <a:pt x="0" y="1033653"/>
                    <a:pt x="0" y="908304"/>
                  </a:cubicBezTo>
                  <a:close/>
                </a:path>
              </a:pathLst>
            </a:custGeom>
            <a:solidFill>
              <a:srgbClr val="FFFFFF"/>
            </a:solidFill>
            <a:ln w="28575" cap="sq">
              <a:solidFill>
                <a:srgbClr val="FFFFFF"/>
              </a:solidFill>
              <a:prstDash val="dash"/>
              <a:miter/>
            </a:ln>
          </p:spPr>
        </p:sp>
        <p:sp>
          <p:nvSpPr>
            <p:cNvPr name="TextBox 35" id="35"/>
            <p:cNvSpPr txBox="true"/>
            <p:nvPr/>
          </p:nvSpPr>
          <p:spPr>
            <a:xfrm>
              <a:off x="0" y="-57150"/>
              <a:ext cx="4244340" cy="1192530"/>
            </a:xfrm>
            <a:prstGeom prst="rect">
              <a:avLst/>
            </a:prstGeom>
          </p:spPr>
          <p:txBody>
            <a:bodyPr anchor="ctr" rtlCol="false" tIns="50800" lIns="50800" bIns="50800" rIns="50800"/>
            <a:lstStyle/>
            <a:p>
              <a:pPr algn="ctr">
                <a:lnSpc>
                  <a:spcPts val="2700"/>
                </a:lnSpc>
              </a:pPr>
              <a:r>
                <a:rPr lang="en-US" sz="2250">
                  <a:solidFill>
                    <a:srgbClr val="0E3C74"/>
                  </a:solidFill>
                  <a:latin typeface="Calibri (MS)"/>
                  <a:ea typeface="Calibri (MS)"/>
                  <a:cs typeface="Calibri (MS)"/>
                  <a:sym typeface="Calibri (MS)"/>
                </a:rPr>
                <a:t>Rejected: too short</a:t>
              </a:r>
            </a:p>
          </p:txBody>
        </p:sp>
      </p:grpSp>
      <p:grpSp>
        <p:nvGrpSpPr>
          <p:cNvPr name="Group 36" id="36"/>
          <p:cNvGrpSpPr/>
          <p:nvPr/>
        </p:nvGrpSpPr>
        <p:grpSpPr>
          <a:xfrm rot="0">
            <a:off x="808672" y="7145464"/>
            <a:ext cx="440055" cy="330327"/>
            <a:chOff x="0" y="0"/>
            <a:chExt cx="586740" cy="440436"/>
          </a:xfrm>
        </p:grpSpPr>
        <p:sp>
          <p:nvSpPr>
            <p:cNvPr name="Freeform 37" id="37"/>
            <p:cNvSpPr/>
            <p:nvPr/>
          </p:nvSpPr>
          <p:spPr>
            <a:xfrm flipH="false" flipV="false" rot="0">
              <a:off x="0" y="0"/>
              <a:ext cx="586740" cy="440436"/>
            </a:xfrm>
            <a:custGeom>
              <a:avLst/>
              <a:gdLst/>
              <a:ahLst/>
              <a:cxnLst/>
              <a:rect r="r" b="b" t="t" l="l"/>
              <a:pathLst>
                <a:path h="440436" w="586740">
                  <a:moveTo>
                    <a:pt x="0" y="100076"/>
                  </a:moveTo>
                  <a:cubicBezTo>
                    <a:pt x="0" y="44831"/>
                    <a:pt x="44831" y="0"/>
                    <a:pt x="100076" y="0"/>
                  </a:cubicBezTo>
                  <a:lnTo>
                    <a:pt x="486664" y="0"/>
                  </a:lnTo>
                  <a:cubicBezTo>
                    <a:pt x="541909" y="0"/>
                    <a:pt x="586740" y="44831"/>
                    <a:pt x="586740" y="100076"/>
                  </a:cubicBezTo>
                  <a:lnTo>
                    <a:pt x="586740" y="340360"/>
                  </a:lnTo>
                  <a:cubicBezTo>
                    <a:pt x="586740" y="395605"/>
                    <a:pt x="541909" y="440436"/>
                    <a:pt x="486664" y="440436"/>
                  </a:cubicBezTo>
                  <a:lnTo>
                    <a:pt x="100076" y="440436"/>
                  </a:lnTo>
                  <a:cubicBezTo>
                    <a:pt x="44831" y="440436"/>
                    <a:pt x="0" y="395605"/>
                    <a:pt x="0" y="340360"/>
                  </a:cubicBezTo>
                  <a:close/>
                </a:path>
              </a:pathLst>
            </a:custGeom>
            <a:solidFill>
              <a:srgbClr val="0493FB"/>
            </a:solidFill>
            <a:ln w="28575" cap="sq">
              <a:solidFill>
                <a:srgbClr val="0493FB"/>
              </a:solidFill>
              <a:prstDash val="solid"/>
              <a:miter/>
            </a:ln>
          </p:spPr>
        </p:sp>
      </p:grpSp>
      <p:grpSp>
        <p:nvGrpSpPr>
          <p:cNvPr name="Group 38" id="38"/>
          <p:cNvGrpSpPr/>
          <p:nvPr/>
        </p:nvGrpSpPr>
        <p:grpSpPr>
          <a:xfrm rot="0">
            <a:off x="1371600" y="7063740"/>
            <a:ext cx="1645920" cy="493776"/>
            <a:chOff x="0" y="0"/>
            <a:chExt cx="2194560" cy="658368"/>
          </a:xfrm>
        </p:grpSpPr>
        <p:sp>
          <p:nvSpPr>
            <p:cNvPr name="Freeform 39" id="39"/>
            <p:cNvSpPr/>
            <p:nvPr/>
          </p:nvSpPr>
          <p:spPr>
            <a:xfrm flipH="false" flipV="false" rot="0">
              <a:off x="0" y="0"/>
              <a:ext cx="2194560" cy="658368"/>
            </a:xfrm>
            <a:custGeom>
              <a:avLst/>
              <a:gdLst/>
              <a:ahLst/>
              <a:cxnLst/>
              <a:rect r="r" b="b" t="t" l="l"/>
              <a:pathLst>
                <a:path h="658368" w="2194560">
                  <a:moveTo>
                    <a:pt x="0" y="0"/>
                  </a:moveTo>
                  <a:lnTo>
                    <a:pt x="2194560" y="0"/>
                  </a:lnTo>
                  <a:lnTo>
                    <a:pt x="2194560" y="658368"/>
                  </a:lnTo>
                  <a:lnTo>
                    <a:pt x="0" y="658368"/>
                  </a:lnTo>
                  <a:close/>
                </a:path>
              </a:pathLst>
            </a:custGeom>
            <a:blipFill>
              <a:blip r:embed="rId2">
                <a:alphaModFix amt="0"/>
              </a:blip>
              <a:stretch>
                <a:fillRect l="0" t="-14950" r="0" b="-14950"/>
              </a:stretch>
            </a:blipFill>
          </p:spPr>
        </p:sp>
        <p:sp>
          <p:nvSpPr>
            <p:cNvPr name="TextBox 40" id="40"/>
            <p:cNvSpPr txBox="true"/>
            <p:nvPr/>
          </p:nvSpPr>
          <p:spPr>
            <a:xfrm>
              <a:off x="0" y="-47625"/>
              <a:ext cx="2194560" cy="705993"/>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LLM call</a:t>
              </a:r>
            </a:p>
          </p:txBody>
        </p:sp>
      </p:grpSp>
      <p:grpSp>
        <p:nvGrpSpPr>
          <p:cNvPr name="Group 41" id="41"/>
          <p:cNvGrpSpPr/>
          <p:nvPr/>
        </p:nvGrpSpPr>
        <p:grpSpPr>
          <a:xfrm rot="0">
            <a:off x="2934652" y="7145464"/>
            <a:ext cx="440055" cy="330327"/>
            <a:chOff x="0" y="0"/>
            <a:chExt cx="586740" cy="440436"/>
          </a:xfrm>
        </p:grpSpPr>
        <p:sp>
          <p:nvSpPr>
            <p:cNvPr name="Freeform 42" id="42"/>
            <p:cNvSpPr/>
            <p:nvPr/>
          </p:nvSpPr>
          <p:spPr>
            <a:xfrm flipH="false" flipV="false" rot="0">
              <a:off x="0" y="0"/>
              <a:ext cx="586740" cy="440436"/>
            </a:xfrm>
            <a:custGeom>
              <a:avLst/>
              <a:gdLst/>
              <a:ahLst/>
              <a:cxnLst/>
              <a:rect r="r" b="b" t="t" l="l"/>
              <a:pathLst>
                <a:path h="440436" w="586740">
                  <a:moveTo>
                    <a:pt x="0" y="100076"/>
                  </a:moveTo>
                  <a:cubicBezTo>
                    <a:pt x="0" y="44831"/>
                    <a:pt x="44831" y="0"/>
                    <a:pt x="100076" y="0"/>
                  </a:cubicBezTo>
                  <a:lnTo>
                    <a:pt x="486664" y="0"/>
                  </a:lnTo>
                  <a:cubicBezTo>
                    <a:pt x="541909" y="0"/>
                    <a:pt x="586740" y="44831"/>
                    <a:pt x="586740" y="100076"/>
                  </a:cubicBezTo>
                  <a:lnTo>
                    <a:pt x="586740" y="340360"/>
                  </a:lnTo>
                  <a:cubicBezTo>
                    <a:pt x="586740" y="395605"/>
                    <a:pt x="541909" y="440436"/>
                    <a:pt x="486664" y="440436"/>
                  </a:cubicBezTo>
                  <a:lnTo>
                    <a:pt x="100076" y="440436"/>
                  </a:lnTo>
                  <a:cubicBezTo>
                    <a:pt x="44831" y="440436"/>
                    <a:pt x="0" y="395605"/>
                    <a:pt x="0" y="340360"/>
                  </a:cubicBezTo>
                  <a:close/>
                </a:path>
              </a:pathLst>
            </a:custGeom>
            <a:solidFill>
              <a:srgbClr val="C8E5FF"/>
            </a:solidFill>
            <a:ln w="28575" cap="sq">
              <a:solidFill>
                <a:srgbClr val="C8E5FF"/>
              </a:solidFill>
              <a:prstDash val="solid"/>
              <a:miter/>
            </a:ln>
          </p:spPr>
        </p:sp>
      </p:grpSp>
      <p:grpSp>
        <p:nvGrpSpPr>
          <p:cNvPr name="Group 43" id="43"/>
          <p:cNvGrpSpPr/>
          <p:nvPr/>
        </p:nvGrpSpPr>
        <p:grpSpPr>
          <a:xfrm rot="0">
            <a:off x="3497580" y="7063740"/>
            <a:ext cx="1920240" cy="493776"/>
            <a:chOff x="0" y="0"/>
            <a:chExt cx="2560320" cy="658368"/>
          </a:xfrm>
        </p:grpSpPr>
        <p:sp>
          <p:nvSpPr>
            <p:cNvPr name="Freeform 44" id="44"/>
            <p:cNvSpPr/>
            <p:nvPr/>
          </p:nvSpPr>
          <p:spPr>
            <a:xfrm flipH="false" flipV="false" rot="0">
              <a:off x="0" y="0"/>
              <a:ext cx="2560320" cy="658368"/>
            </a:xfrm>
            <a:custGeom>
              <a:avLst/>
              <a:gdLst/>
              <a:ahLst/>
              <a:cxnLst/>
              <a:rect r="r" b="b" t="t" l="l"/>
              <a:pathLst>
                <a:path h="658368" w="2560320">
                  <a:moveTo>
                    <a:pt x="0" y="0"/>
                  </a:moveTo>
                  <a:lnTo>
                    <a:pt x="2560320" y="0"/>
                  </a:lnTo>
                  <a:lnTo>
                    <a:pt x="2560320" y="658368"/>
                  </a:lnTo>
                  <a:lnTo>
                    <a:pt x="0" y="658368"/>
                  </a:lnTo>
                  <a:close/>
                </a:path>
              </a:pathLst>
            </a:custGeom>
            <a:blipFill>
              <a:blip r:embed="rId2">
                <a:alphaModFix amt="0"/>
              </a:blip>
              <a:stretch>
                <a:fillRect l="0" t="-25775" r="0" b="-25775"/>
              </a:stretch>
            </a:blipFill>
          </p:spPr>
        </p:sp>
        <p:sp>
          <p:nvSpPr>
            <p:cNvPr name="TextBox 45" id="45"/>
            <p:cNvSpPr txBox="true"/>
            <p:nvPr/>
          </p:nvSpPr>
          <p:spPr>
            <a:xfrm>
              <a:off x="0" y="-47625"/>
              <a:ext cx="2560320" cy="705993"/>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plain code</a:t>
              </a:r>
            </a:p>
          </p:txBody>
        </p:sp>
      </p:grpSp>
      <p:grpSp>
        <p:nvGrpSpPr>
          <p:cNvPr name="Group 46" id="46"/>
          <p:cNvGrpSpPr/>
          <p:nvPr/>
        </p:nvGrpSpPr>
        <p:grpSpPr>
          <a:xfrm rot="0">
            <a:off x="712755" y="1688818"/>
            <a:ext cx="9652881" cy="825812"/>
            <a:chOff x="0" y="0"/>
            <a:chExt cx="2542323" cy="217498"/>
          </a:xfrm>
        </p:grpSpPr>
        <p:sp>
          <p:nvSpPr>
            <p:cNvPr name="Freeform 47" id="47"/>
            <p:cNvSpPr/>
            <p:nvPr/>
          </p:nvSpPr>
          <p:spPr>
            <a:xfrm flipH="false" flipV="false" rot="0">
              <a:off x="0" y="0"/>
              <a:ext cx="2542323" cy="217498"/>
            </a:xfrm>
            <a:custGeom>
              <a:avLst/>
              <a:gdLst/>
              <a:ahLst/>
              <a:cxnLst/>
              <a:rect r="r" b="b" t="t" l="l"/>
              <a:pathLst>
                <a:path h="217498" w="2542323">
                  <a:moveTo>
                    <a:pt x="0" y="0"/>
                  </a:moveTo>
                  <a:lnTo>
                    <a:pt x="2542323" y="0"/>
                  </a:lnTo>
                  <a:lnTo>
                    <a:pt x="2542323" y="217498"/>
                  </a:lnTo>
                  <a:lnTo>
                    <a:pt x="0" y="217498"/>
                  </a:lnTo>
                  <a:close/>
                </a:path>
              </a:pathLst>
            </a:custGeom>
            <a:solidFill>
              <a:srgbClr val="0493FB"/>
            </a:solidFill>
          </p:spPr>
        </p:sp>
        <p:sp>
          <p:nvSpPr>
            <p:cNvPr name="TextBox 48" id="48"/>
            <p:cNvSpPr txBox="true"/>
            <p:nvPr/>
          </p:nvSpPr>
          <p:spPr>
            <a:xfrm>
              <a:off x="0" y="-57150"/>
              <a:ext cx="2542323" cy="274648"/>
            </a:xfrm>
            <a:prstGeom prst="rect">
              <a:avLst/>
            </a:prstGeom>
          </p:spPr>
          <p:txBody>
            <a:bodyPr anchor="ctr" rtlCol="false" tIns="50800" lIns="50800" bIns="50800" rIns="50800"/>
            <a:lstStyle/>
            <a:p>
              <a:pPr algn="ctr">
                <a:lnSpc>
                  <a:spcPts val="2700"/>
                </a:lnSpc>
              </a:pPr>
            </a:p>
          </p:txBody>
        </p:sp>
      </p:grpSp>
      <p:sp>
        <p:nvSpPr>
          <p:cNvPr name="TextBox 49" id="49"/>
          <p:cNvSpPr txBox="true"/>
          <p:nvPr/>
        </p:nvSpPr>
        <p:spPr>
          <a:xfrm rot="0">
            <a:off x="930496" y="873351"/>
            <a:ext cx="9723747"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The State Machine</a:t>
            </a:r>
          </a:p>
        </p:txBody>
      </p:sp>
    </p:spTree>
  </p:cSld>
  <p:clrMapOvr>
    <a:masterClrMapping/>
  </p:clrMapOvr>
</p:sld>
</file>

<file path=ppt/slides/slide26.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1720342"/>
            <a:ext cx="14553567" cy="787661"/>
            <a:chOff x="0" y="0"/>
            <a:chExt cx="3833038" cy="207450"/>
          </a:xfrm>
        </p:grpSpPr>
        <p:sp>
          <p:nvSpPr>
            <p:cNvPr name="Freeform 3" id="3"/>
            <p:cNvSpPr/>
            <p:nvPr/>
          </p:nvSpPr>
          <p:spPr>
            <a:xfrm flipH="false" flipV="false" rot="0">
              <a:off x="0" y="0"/>
              <a:ext cx="3833038" cy="207450"/>
            </a:xfrm>
            <a:custGeom>
              <a:avLst/>
              <a:gdLst/>
              <a:ahLst/>
              <a:cxnLst/>
              <a:rect r="r" b="b" t="t" l="l"/>
              <a:pathLst>
                <a:path h="207450" w="3833038">
                  <a:moveTo>
                    <a:pt x="0" y="0"/>
                  </a:moveTo>
                  <a:lnTo>
                    <a:pt x="3833038" y="0"/>
                  </a:lnTo>
                  <a:lnTo>
                    <a:pt x="3833038" y="207450"/>
                  </a:lnTo>
                  <a:lnTo>
                    <a:pt x="0" y="207450"/>
                  </a:lnTo>
                  <a:close/>
                </a:path>
              </a:pathLst>
            </a:custGeom>
            <a:solidFill>
              <a:srgbClr val="0493FB"/>
            </a:solidFill>
          </p:spPr>
        </p:sp>
        <p:sp>
          <p:nvSpPr>
            <p:cNvPr name="TextBox 4" id="4"/>
            <p:cNvSpPr txBox="true"/>
            <p:nvPr/>
          </p:nvSpPr>
          <p:spPr>
            <a:xfrm>
              <a:off x="0" y="-57150"/>
              <a:ext cx="3833038" cy="264600"/>
            </a:xfrm>
            <a:prstGeom prst="rect">
              <a:avLst/>
            </a:prstGeom>
          </p:spPr>
          <p:txBody>
            <a:bodyPr anchor="ctr" rtlCol="false" tIns="50800" lIns="50800" bIns="50800" rIns="50800"/>
            <a:lstStyle/>
            <a:p>
              <a:pPr algn="ctr">
                <a:lnSpc>
                  <a:spcPts val="2700"/>
                </a:lnSpc>
              </a:pPr>
            </a:p>
          </p:txBody>
        </p:sp>
      </p:grpSp>
      <p:grpSp>
        <p:nvGrpSpPr>
          <p:cNvPr name="Group 5" id="5"/>
          <p:cNvGrpSpPr/>
          <p:nvPr/>
        </p:nvGrpSpPr>
        <p:grpSpPr>
          <a:xfrm rot="0">
            <a:off x="1162906" y="3518535"/>
            <a:ext cx="8126349" cy="5739765"/>
            <a:chOff x="0" y="0"/>
            <a:chExt cx="10835132" cy="7653020"/>
          </a:xfrm>
        </p:grpSpPr>
        <p:sp>
          <p:nvSpPr>
            <p:cNvPr name="Freeform 6" id="6"/>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7" id="7"/>
          <p:cNvGrpSpPr/>
          <p:nvPr/>
        </p:nvGrpSpPr>
        <p:grpSpPr>
          <a:xfrm rot="0">
            <a:off x="1486550" y="4010363"/>
            <a:ext cx="5305015" cy="906678"/>
            <a:chOff x="0" y="0"/>
            <a:chExt cx="1397205" cy="238796"/>
          </a:xfrm>
        </p:grpSpPr>
        <p:sp>
          <p:nvSpPr>
            <p:cNvPr name="Freeform 8" id="8"/>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493FB"/>
            </a:solidFill>
          </p:spPr>
        </p:sp>
        <p:sp>
          <p:nvSpPr>
            <p:cNvPr name="TextBox 9" id="9"/>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Your manager asks?</a:t>
              </a:r>
            </a:p>
          </p:txBody>
        </p:sp>
      </p:grpSp>
      <p:sp>
        <p:nvSpPr>
          <p:cNvPr name="TextBox 10" id="10"/>
          <p:cNvSpPr txBox="true"/>
          <p:nvPr/>
        </p:nvSpPr>
        <p:spPr>
          <a:xfrm rot="0">
            <a:off x="1028700" y="904875"/>
            <a:ext cx="15356902"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At Work: The State Machine</a:t>
            </a:r>
          </a:p>
        </p:txBody>
      </p:sp>
      <p:sp>
        <p:nvSpPr>
          <p:cNvPr name="TextBox 11" id="11"/>
          <p:cNvSpPr txBox="true"/>
          <p:nvPr/>
        </p:nvSpPr>
        <p:spPr>
          <a:xfrm rot="0">
            <a:off x="1383185" y="5336858"/>
            <a:ext cx="7760815" cy="3181350"/>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“Our LLM bill tripled this month. Why?”</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Find every step that calls the model</a:t>
            </a:r>
            <a:r>
              <a:rPr lang="en-US" sz="2595">
                <a:solidFill>
                  <a:srgbClr val="0D1B34"/>
                </a:solidFill>
                <a:latin typeface="Calibri (MS)"/>
                <a:ea typeface="Calibri (MS)"/>
                <a:cs typeface="Calibri (MS)"/>
                <a:sym typeface="Calibri (MS)"/>
              </a:rPr>
              <a:t>.</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Turn rule-shaped steps into plain code.</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Keep the LLM for judgement only.</a:t>
            </a:r>
          </a:p>
        </p:txBody>
      </p:sp>
      <p:grpSp>
        <p:nvGrpSpPr>
          <p:cNvPr name="Group 12" id="12"/>
          <p:cNvGrpSpPr/>
          <p:nvPr/>
        </p:nvGrpSpPr>
        <p:grpSpPr>
          <a:xfrm rot="0">
            <a:off x="9447135" y="3518535"/>
            <a:ext cx="8126349" cy="5739765"/>
            <a:chOff x="0" y="0"/>
            <a:chExt cx="10835132" cy="7653020"/>
          </a:xfrm>
        </p:grpSpPr>
        <p:sp>
          <p:nvSpPr>
            <p:cNvPr name="Freeform 13" id="13"/>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14" id="14"/>
          <p:cNvGrpSpPr/>
          <p:nvPr/>
        </p:nvGrpSpPr>
        <p:grpSpPr>
          <a:xfrm rot="0">
            <a:off x="9770779" y="4010363"/>
            <a:ext cx="5305015" cy="906678"/>
            <a:chOff x="0" y="0"/>
            <a:chExt cx="1397205" cy="238796"/>
          </a:xfrm>
        </p:grpSpPr>
        <p:sp>
          <p:nvSpPr>
            <p:cNvPr name="Freeform 15" id="15"/>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E3C74"/>
            </a:solidFill>
          </p:spPr>
        </p:sp>
        <p:sp>
          <p:nvSpPr>
            <p:cNvPr name="TextBox 16" id="16"/>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The interviewer asks?</a:t>
              </a:r>
            </a:p>
          </p:txBody>
        </p:sp>
      </p:grpSp>
      <p:sp>
        <p:nvSpPr>
          <p:cNvPr name="TextBox 17" id="17"/>
          <p:cNvSpPr txBox="true"/>
          <p:nvPr/>
        </p:nvSpPr>
        <p:spPr>
          <a:xfrm rot="0">
            <a:off x="9447135" y="5336858"/>
            <a:ext cx="8284229" cy="3181350"/>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“Which nodes in your agent call the LLM and why?”</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Only intake: it needs judgement.</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Validate and route are plain rules.</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Fewer calls: cheaper, faster, testable.</a:t>
            </a:r>
          </a:p>
        </p:txBody>
      </p:sp>
    </p:spTree>
  </p:cSld>
  <p:clrMapOvr>
    <a:masterClrMapping/>
  </p:clrMapOvr>
</p:sld>
</file>

<file path=ppt/slides/slide27.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08672" y="2904557"/>
            <a:ext cx="5514975" cy="645795"/>
            <a:chOff x="0" y="0"/>
            <a:chExt cx="7353300" cy="861060"/>
          </a:xfrm>
        </p:grpSpPr>
        <p:sp>
          <p:nvSpPr>
            <p:cNvPr name="Freeform 3" id="3"/>
            <p:cNvSpPr/>
            <p:nvPr/>
          </p:nvSpPr>
          <p:spPr>
            <a:xfrm flipH="false" flipV="false" rot="0">
              <a:off x="0" y="0"/>
              <a:ext cx="7353300" cy="861187"/>
            </a:xfrm>
            <a:custGeom>
              <a:avLst/>
              <a:gdLst/>
              <a:ahLst/>
              <a:cxnLst/>
              <a:rect r="r" b="b" t="t" l="l"/>
              <a:pathLst>
                <a:path h="861187" w="7353300">
                  <a:moveTo>
                    <a:pt x="0" y="421005"/>
                  </a:moveTo>
                  <a:cubicBezTo>
                    <a:pt x="0" y="188468"/>
                    <a:pt x="188468" y="0"/>
                    <a:pt x="421005" y="0"/>
                  </a:cubicBezTo>
                  <a:lnTo>
                    <a:pt x="6932295" y="0"/>
                  </a:lnTo>
                  <a:cubicBezTo>
                    <a:pt x="7164832" y="0"/>
                    <a:pt x="7353300" y="188468"/>
                    <a:pt x="7353300" y="421005"/>
                  </a:cubicBezTo>
                  <a:lnTo>
                    <a:pt x="7353300" y="440182"/>
                  </a:lnTo>
                  <a:cubicBezTo>
                    <a:pt x="7353300" y="672719"/>
                    <a:pt x="7164832" y="861187"/>
                    <a:pt x="6932295" y="861187"/>
                  </a:cubicBezTo>
                  <a:lnTo>
                    <a:pt x="421005" y="861187"/>
                  </a:lnTo>
                  <a:cubicBezTo>
                    <a:pt x="188468" y="861060"/>
                    <a:pt x="0" y="672592"/>
                    <a:pt x="0" y="440055"/>
                  </a:cubicBezTo>
                  <a:close/>
                </a:path>
              </a:pathLst>
            </a:custGeom>
            <a:solidFill>
              <a:srgbClr val="0493FB"/>
            </a:solidFill>
            <a:ln w="28575" cap="sq">
              <a:solidFill>
                <a:srgbClr val="0493FB"/>
              </a:solidFill>
              <a:prstDash val="solid"/>
              <a:miter/>
            </a:ln>
          </p:spPr>
        </p:sp>
        <p:sp>
          <p:nvSpPr>
            <p:cNvPr name="TextBox 4" id="4"/>
            <p:cNvSpPr txBox="true"/>
            <p:nvPr/>
          </p:nvSpPr>
          <p:spPr>
            <a:xfrm>
              <a:off x="0" y="-47625"/>
              <a:ext cx="735330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 LIVE: WE BREAK IT ON PURPOSE</a:t>
              </a:r>
            </a:p>
          </p:txBody>
        </p:sp>
      </p:grpSp>
      <p:grpSp>
        <p:nvGrpSpPr>
          <p:cNvPr name="Group 5" id="5"/>
          <p:cNvGrpSpPr/>
          <p:nvPr/>
        </p:nvGrpSpPr>
        <p:grpSpPr>
          <a:xfrm rot="0">
            <a:off x="808672" y="6432232"/>
            <a:ext cx="3930777" cy="1811655"/>
            <a:chOff x="0" y="0"/>
            <a:chExt cx="5241036" cy="2415540"/>
          </a:xfrm>
        </p:grpSpPr>
        <p:sp>
          <p:nvSpPr>
            <p:cNvPr name="Freeform 6" id="6"/>
            <p:cNvSpPr/>
            <p:nvPr/>
          </p:nvSpPr>
          <p:spPr>
            <a:xfrm flipH="false" flipV="false" rot="0">
              <a:off x="0" y="0"/>
              <a:ext cx="5241036" cy="2415540"/>
            </a:xfrm>
            <a:custGeom>
              <a:avLst/>
              <a:gdLst/>
              <a:ahLst/>
              <a:cxnLst/>
              <a:rect r="r" b="b" t="t" l="l"/>
              <a:pathLst>
                <a:path h="2415540" w="5241036">
                  <a:moveTo>
                    <a:pt x="0" y="148590"/>
                  </a:moveTo>
                  <a:cubicBezTo>
                    <a:pt x="0" y="66548"/>
                    <a:pt x="66548" y="0"/>
                    <a:pt x="148590" y="0"/>
                  </a:cubicBezTo>
                  <a:lnTo>
                    <a:pt x="5092446" y="0"/>
                  </a:lnTo>
                  <a:cubicBezTo>
                    <a:pt x="5174488" y="0"/>
                    <a:pt x="5241036" y="66548"/>
                    <a:pt x="5241036" y="148590"/>
                  </a:cubicBezTo>
                  <a:lnTo>
                    <a:pt x="5241036" y="2266950"/>
                  </a:lnTo>
                  <a:cubicBezTo>
                    <a:pt x="5241036" y="2348992"/>
                    <a:pt x="5174488" y="2415540"/>
                    <a:pt x="5092446" y="2415540"/>
                  </a:cubicBezTo>
                  <a:lnTo>
                    <a:pt x="148590" y="2415540"/>
                  </a:lnTo>
                  <a:cubicBezTo>
                    <a:pt x="66548" y="2415540"/>
                    <a:pt x="0" y="2348992"/>
                    <a:pt x="0" y="2266950"/>
                  </a:cubicBezTo>
                  <a:close/>
                </a:path>
              </a:pathLst>
            </a:custGeom>
            <a:solidFill>
              <a:srgbClr val="F1F3F8"/>
            </a:solidFill>
            <a:ln w="28575" cap="sq">
              <a:solidFill>
                <a:srgbClr val="F1F3F8"/>
              </a:solidFill>
              <a:prstDash val="solid"/>
              <a:miter/>
            </a:ln>
          </p:spPr>
        </p:sp>
      </p:grpSp>
      <p:sp>
        <p:nvSpPr>
          <p:cNvPr name="TextBox 7" id="7"/>
          <p:cNvSpPr txBox="true"/>
          <p:nvPr/>
        </p:nvSpPr>
        <p:spPr>
          <a:xfrm rot="0">
            <a:off x="1165860" y="6654165"/>
            <a:ext cx="3216402" cy="683895"/>
          </a:xfrm>
          <a:prstGeom prst="rect">
            <a:avLst/>
          </a:prstGeom>
        </p:spPr>
        <p:txBody>
          <a:bodyPr anchor="t" rtlCol="false" tIns="0" lIns="0" bIns="0" rIns="0">
            <a:spAutoFit/>
          </a:bodyPr>
          <a:lstStyle/>
          <a:p>
            <a:pPr algn="l">
              <a:lnSpc>
                <a:spcPts val="3600"/>
              </a:lnSpc>
            </a:pPr>
            <a:r>
              <a:rPr lang="en-US" sz="3000" b="true">
                <a:solidFill>
                  <a:srgbClr val="D62839"/>
                </a:solidFill>
                <a:latin typeface="Calibri (MS) Bold"/>
                <a:ea typeface="Calibri (MS) Bold"/>
                <a:cs typeface="Calibri (MS) Bold"/>
                <a:sym typeface="Calibri (MS) Bold"/>
              </a:rPr>
              <a:t>✕  Try 1</a:t>
            </a:r>
          </a:p>
        </p:txBody>
      </p:sp>
      <p:sp>
        <p:nvSpPr>
          <p:cNvPr name="TextBox 8" id="8"/>
          <p:cNvSpPr txBox="true"/>
          <p:nvPr/>
        </p:nvSpPr>
        <p:spPr>
          <a:xfrm rot="0">
            <a:off x="1165860" y="7341108"/>
            <a:ext cx="3216402" cy="586740"/>
          </a:xfrm>
          <a:prstGeom prst="rect">
            <a:avLst/>
          </a:prstGeom>
        </p:spPr>
        <p:txBody>
          <a:bodyPr anchor="t" rtlCol="false" tIns="0" lIns="0" bIns="0" rIns="0">
            <a:spAutoFit/>
          </a:bodyPr>
          <a:lstStyle/>
          <a:p>
            <a:pPr algn="l">
              <a:lnSpc>
                <a:spcPts val="2879"/>
              </a:lnSpc>
            </a:pPr>
            <a:r>
              <a:rPr lang="en-US" sz="2400">
                <a:solidFill>
                  <a:srgbClr val="0E3C74"/>
                </a:solidFill>
                <a:latin typeface="Calibri (MS)"/>
                <a:ea typeface="Calibri (MS)"/>
                <a:cs typeface="Calibri (MS)"/>
                <a:sym typeface="Calibri (MS)"/>
              </a:rPr>
              <a:t>fails → wait 1s</a:t>
            </a:r>
          </a:p>
        </p:txBody>
      </p:sp>
      <p:grpSp>
        <p:nvGrpSpPr>
          <p:cNvPr name="Group 9" id="9"/>
          <p:cNvGrpSpPr/>
          <p:nvPr/>
        </p:nvGrpSpPr>
        <p:grpSpPr>
          <a:xfrm rot="0">
            <a:off x="5053775" y="5609273"/>
            <a:ext cx="3930777" cy="2634615"/>
            <a:chOff x="0" y="0"/>
            <a:chExt cx="5241036" cy="3512820"/>
          </a:xfrm>
        </p:grpSpPr>
        <p:sp>
          <p:nvSpPr>
            <p:cNvPr name="Freeform 10" id="10"/>
            <p:cNvSpPr/>
            <p:nvPr/>
          </p:nvSpPr>
          <p:spPr>
            <a:xfrm flipH="false" flipV="false" rot="0">
              <a:off x="0" y="0"/>
              <a:ext cx="5241036" cy="3512820"/>
            </a:xfrm>
            <a:custGeom>
              <a:avLst/>
              <a:gdLst/>
              <a:ahLst/>
              <a:cxnLst/>
              <a:rect r="r" b="b" t="t" l="l"/>
              <a:pathLst>
                <a:path h="3512820" w="5241036">
                  <a:moveTo>
                    <a:pt x="0" y="147955"/>
                  </a:moveTo>
                  <a:cubicBezTo>
                    <a:pt x="0" y="66167"/>
                    <a:pt x="66167" y="0"/>
                    <a:pt x="147955" y="0"/>
                  </a:cubicBezTo>
                  <a:lnTo>
                    <a:pt x="5093081" y="0"/>
                  </a:lnTo>
                  <a:cubicBezTo>
                    <a:pt x="5174742" y="0"/>
                    <a:pt x="5241036" y="66167"/>
                    <a:pt x="5241036" y="147955"/>
                  </a:cubicBezTo>
                  <a:lnTo>
                    <a:pt x="5241036" y="3364865"/>
                  </a:lnTo>
                  <a:cubicBezTo>
                    <a:pt x="5241036" y="3446526"/>
                    <a:pt x="5174869" y="3512820"/>
                    <a:pt x="5093081" y="3512820"/>
                  </a:cubicBezTo>
                  <a:lnTo>
                    <a:pt x="147955" y="3512820"/>
                  </a:lnTo>
                  <a:cubicBezTo>
                    <a:pt x="66167" y="3512820"/>
                    <a:pt x="0" y="3446653"/>
                    <a:pt x="0" y="3364865"/>
                  </a:cubicBezTo>
                  <a:close/>
                </a:path>
              </a:pathLst>
            </a:custGeom>
            <a:solidFill>
              <a:srgbClr val="F1F3F8"/>
            </a:solidFill>
            <a:ln w="28575" cap="sq">
              <a:solidFill>
                <a:srgbClr val="F1F3F8"/>
              </a:solidFill>
              <a:prstDash val="solid"/>
              <a:miter/>
            </a:ln>
          </p:spPr>
        </p:sp>
      </p:grpSp>
      <p:sp>
        <p:nvSpPr>
          <p:cNvPr name="TextBox 11" id="11"/>
          <p:cNvSpPr txBox="true"/>
          <p:nvPr/>
        </p:nvSpPr>
        <p:spPr>
          <a:xfrm rot="0">
            <a:off x="5410962" y="5831205"/>
            <a:ext cx="3216402" cy="683895"/>
          </a:xfrm>
          <a:prstGeom prst="rect">
            <a:avLst/>
          </a:prstGeom>
        </p:spPr>
        <p:txBody>
          <a:bodyPr anchor="t" rtlCol="false" tIns="0" lIns="0" bIns="0" rIns="0">
            <a:spAutoFit/>
          </a:bodyPr>
          <a:lstStyle/>
          <a:p>
            <a:pPr algn="l">
              <a:lnSpc>
                <a:spcPts val="3600"/>
              </a:lnSpc>
            </a:pPr>
            <a:r>
              <a:rPr lang="en-US" sz="3000" b="true">
                <a:solidFill>
                  <a:srgbClr val="D62839"/>
                </a:solidFill>
                <a:latin typeface="Calibri (MS) Bold"/>
                <a:ea typeface="Calibri (MS) Bold"/>
                <a:cs typeface="Calibri (MS) Bold"/>
                <a:sym typeface="Calibri (MS) Bold"/>
              </a:rPr>
              <a:t>✕  Try 2</a:t>
            </a:r>
          </a:p>
        </p:txBody>
      </p:sp>
      <p:sp>
        <p:nvSpPr>
          <p:cNvPr name="TextBox 12" id="12"/>
          <p:cNvSpPr txBox="true"/>
          <p:nvPr/>
        </p:nvSpPr>
        <p:spPr>
          <a:xfrm rot="0">
            <a:off x="5410962" y="6518148"/>
            <a:ext cx="3216402" cy="586740"/>
          </a:xfrm>
          <a:prstGeom prst="rect">
            <a:avLst/>
          </a:prstGeom>
        </p:spPr>
        <p:txBody>
          <a:bodyPr anchor="t" rtlCol="false" tIns="0" lIns="0" bIns="0" rIns="0">
            <a:spAutoFit/>
          </a:bodyPr>
          <a:lstStyle/>
          <a:p>
            <a:pPr algn="l">
              <a:lnSpc>
                <a:spcPts val="2879"/>
              </a:lnSpc>
            </a:pPr>
            <a:r>
              <a:rPr lang="en-US" sz="2400">
                <a:solidFill>
                  <a:srgbClr val="0E3C74"/>
                </a:solidFill>
                <a:latin typeface="Calibri (MS)"/>
                <a:ea typeface="Calibri (MS)"/>
                <a:cs typeface="Calibri (MS)"/>
                <a:sym typeface="Calibri (MS)"/>
              </a:rPr>
              <a:t>fails → wait 2s</a:t>
            </a:r>
          </a:p>
        </p:txBody>
      </p:sp>
      <p:grpSp>
        <p:nvGrpSpPr>
          <p:cNvPr name="Group 13" id="13"/>
          <p:cNvGrpSpPr/>
          <p:nvPr/>
        </p:nvGrpSpPr>
        <p:grpSpPr>
          <a:xfrm rot="0">
            <a:off x="9298876" y="4786312"/>
            <a:ext cx="3930777" cy="3457575"/>
            <a:chOff x="0" y="0"/>
            <a:chExt cx="5241036" cy="4610100"/>
          </a:xfrm>
        </p:grpSpPr>
        <p:sp>
          <p:nvSpPr>
            <p:cNvPr name="Freeform 14" id="14"/>
            <p:cNvSpPr/>
            <p:nvPr/>
          </p:nvSpPr>
          <p:spPr>
            <a:xfrm flipH="false" flipV="false" rot="0">
              <a:off x="0" y="0"/>
              <a:ext cx="5241036" cy="4610100"/>
            </a:xfrm>
            <a:custGeom>
              <a:avLst/>
              <a:gdLst/>
              <a:ahLst/>
              <a:cxnLst/>
              <a:rect r="r" b="b" t="t" l="l"/>
              <a:pathLst>
                <a:path h="4610100" w="5241036">
                  <a:moveTo>
                    <a:pt x="0" y="147574"/>
                  </a:moveTo>
                  <a:cubicBezTo>
                    <a:pt x="0" y="66040"/>
                    <a:pt x="66040" y="0"/>
                    <a:pt x="147574" y="0"/>
                  </a:cubicBezTo>
                  <a:lnTo>
                    <a:pt x="5093462" y="0"/>
                  </a:lnTo>
                  <a:cubicBezTo>
                    <a:pt x="5174996" y="0"/>
                    <a:pt x="5241036" y="66040"/>
                    <a:pt x="5241036" y="147574"/>
                  </a:cubicBezTo>
                  <a:lnTo>
                    <a:pt x="5241036" y="4462526"/>
                  </a:lnTo>
                  <a:cubicBezTo>
                    <a:pt x="5241036" y="4544060"/>
                    <a:pt x="5174996" y="4610100"/>
                    <a:pt x="5093462" y="4610100"/>
                  </a:cubicBezTo>
                  <a:lnTo>
                    <a:pt x="147574" y="4610100"/>
                  </a:lnTo>
                  <a:cubicBezTo>
                    <a:pt x="66040" y="4610100"/>
                    <a:pt x="0" y="4544060"/>
                    <a:pt x="0" y="4462526"/>
                  </a:cubicBezTo>
                  <a:close/>
                </a:path>
              </a:pathLst>
            </a:custGeom>
            <a:solidFill>
              <a:srgbClr val="F1F3F8"/>
            </a:solidFill>
            <a:ln w="28575" cap="sq">
              <a:solidFill>
                <a:srgbClr val="F1F3F8"/>
              </a:solidFill>
              <a:prstDash val="solid"/>
              <a:miter/>
            </a:ln>
          </p:spPr>
        </p:sp>
      </p:grpSp>
      <p:sp>
        <p:nvSpPr>
          <p:cNvPr name="TextBox 15" id="15"/>
          <p:cNvSpPr txBox="true"/>
          <p:nvPr/>
        </p:nvSpPr>
        <p:spPr>
          <a:xfrm rot="0">
            <a:off x="9656064" y="5008245"/>
            <a:ext cx="3216402" cy="683895"/>
          </a:xfrm>
          <a:prstGeom prst="rect">
            <a:avLst/>
          </a:prstGeom>
        </p:spPr>
        <p:txBody>
          <a:bodyPr anchor="t" rtlCol="false" tIns="0" lIns="0" bIns="0" rIns="0">
            <a:spAutoFit/>
          </a:bodyPr>
          <a:lstStyle/>
          <a:p>
            <a:pPr algn="l">
              <a:lnSpc>
                <a:spcPts val="3600"/>
              </a:lnSpc>
            </a:pPr>
            <a:r>
              <a:rPr lang="en-US" sz="3000" b="true">
                <a:solidFill>
                  <a:srgbClr val="D62839"/>
                </a:solidFill>
                <a:latin typeface="Calibri (MS) Bold"/>
                <a:ea typeface="Calibri (MS) Bold"/>
                <a:cs typeface="Calibri (MS) Bold"/>
                <a:sym typeface="Calibri (MS) Bold"/>
              </a:rPr>
              <a:t>✕  Try 3</a:t>
            </a:r>
          </a:p>
        </p:txBody>
      </p:sp>
      <p:sp>
        <p:nvSpPr>
          <p:cNvPr name="TextBox 16" id="16"/>
          <p:cNvSpPr txBox="true"/>
          <p:nvPr/>
        </p:nvSpPr>
        <p:spPr>
          <a:xfrm rot="0">
            <a:off x="9656064" y="5695188"/>
            <a:ext cx="3216402" cy="586740"/>
          </a:xfrm>
          <a:prstGeom prst="rect">
            <a:avLst/>
          </a:prstGeom>
        </p:spPr>
        <p:txBody>
          <a:bodyPr anchor="t" rtlCol="false" tIns="0" lIns="0" bIns="0" rIns="0">
            <a:spAutoFit/>
          </a:bodyPr>
          <a:lstStyle/>
          <a:p>
            <a:pPr algn="l">
              <a:lnSpc>
                <a:spcPts val="2879"/>
              </a:lnSpc>
            </a:pPr>
            <a:r>
              <a:rPr lang="en-US" sz="2400">
                <a:solidFill>
                  <a:srgbClr val="0E3C74"/>
                </a:solidFill>
                <a:latin typeface="Calibri (MS)"/>
                <a:ea typeface="Calibri (MS)"/>
                <a:cs typeface="Calibri (MS)"/>
                <a:sym typeface="Calibri (MS)"/>
              </a:rPr>
              <a:t>fails → wait 4s</a:t>
            </a:r>
          </a:p>
        </p:txBody>
      </p:sp>
      <p:grpSp>
        <p:nvGrpSpPr>
          <p:cNvPr name="Group 17" id="17"/>
          <p:cNvGrpSpPr/>
          <p:nvPr/>
        </p:nvGrpSpPr>
        <p:grpSpPr>
          <a:xfrm rot="0">
            <a:off x="13543978" y="3963352"/>
            <a:ext cx="3930777" cy="4280535"/>
            <a:chOff x="0" y="0"/>
            <a:chExt cx="5241036" cy="5707380"/>
          </a:xfrm>
        </p:grpSpPr>
        <p:sp>
          <p:nvSpPr>
            <p:cNvPr name="Freeform 18" id="18"/>
            <p:cNvSpPr/>
            <p:nvPr/>
          </p:nvSpPr>
          <p:spPr>
            <a:xfrm flipH="false" flipV="false" rot="0">
              <a:off x="0" y="0"/>
              <a:ext cx="5241036" cy="5707380"/>
            </a:xfrm>
            <a:custGeom>
              <a:avLst/>
              <a:gdLst/>
              <a:ahLst/>
              <a:cxnLst/>
              <a:rect r="r" b="b" t="t" l="l"/>
              <a:pathLst>
                <a:path h="5707380" w="5241036">
                  <a:moveTo>
                    <a:pt x="0" y="147320"/>
                  </a:moveTo>
                  <a:cubicBezTo>
                    <a:pt x="0" y="66040"/>
                    <a:pt x="66040" y="0"/>
                    <a:pt x="147320" y="0"/>
                  </a:cubicBezTo>
                  <a:lnTo>
                    <a:pt x="5093716" y="0"/>
                  </a:lnTo>
                  <a:cubicBezTo>
                    <a:pt x="5175123" y="0"/>
                    <a:pt x="5241036" y="66040"/>
                    <a:pt x="5241036" y="147320"/>
                  </a:cubicBezTo>
                  <a:lnTo>
                    <a:pt x="5241036" y="5560060"/>
                  </a:lnTo>
                  <a:cubicBezTo>
                    <a:pt x="5241036" y="5641467"/>
                    <a:pt x="5174996" y="5707380"/>
                    <a:pt x="5093716" y="5707380"/>
                  </a:cubicBezTo>
                  <a:lnTo>
                    <a:pt x="147320" y="5707380"/>
                  </a:lnTo>
                  <a:cubicBezTo>
                    <a:pt x="66040" y="5707380"/>
                    <a:pt x="0" y="5641340"/>
                    <a:pt x="0" y="5560060"/>
                  </a:cubicBezTo>
                  <a:close/>
                </a:path>
              </a:pathLst>
            </a:custGeom>
            <a:solidFill>
              <a:srgbClr val="2A9D8F"/>
            </a:solidFill>
            <a:ln w="28575" cap="sq">
              <a:solidFill>
                <a:srgbClr val="2A9D8F"/>
              </a:solidFill>
              <a:prstDash val="solid"/>
              <a:miter/>
            </a:ln>
          </p:spPr>
        </p:sp>
      </p:grpSp>
      <p:sp>
        <p:nvSpPr>
          <p:cNvPr name="TextBox 19" id="19"/>
          <p:cNvSpPr txBox="true"/>
          <p:nvPr/>
        </p:nvSpPr>
        <p:spPr>
          <a:xfrm rot="0">
            <a:off x="13901166" y="4185285"/>
            <a:ext cx="3216402" cy="683895"/>
          </a:xfrm>
          <a:prstGeom prst="rect">
            <a:avLst/>
          </a:prstGeom>
        </p:spPr>
        <p:txBody>
          <a:bodyPr anchor="t" rtlCol="false" tIns="0" lIns="0" bIns="0" rIns="0">
            <a:spAutoFit/>
          </a:bodyPr>
          <a:lstStyle/>
          <a:p>
            <a:pPr algn="l">
              <a:lnSpc>
                <a:spcPts val="3600"/>
              </a:lnSpc>
            </a:pPr>
            <a:r>
              <a:rPr lang="en-US" sz="3000" b="true">
                <a:solidFill>
                  <a:srgbClr val="FFFFFF"/>
                </a:solidFill>
                <a:latin typeface="Calibri (MS) Bold"/>
                <a:ea typeface="Calibri (MS) Bold"/>
                <a:cs typeface="Calibri (MS) Bold"/>
                <a:sym typeface="Calibri (MS) Bold"/>
              </a:rPr>
              <a:t>✓  Fallback</a:t>
            </a:r>
          </a:p>
        </p:txBody>
      </p:sp>
      <p:sp>
        <p:nvSpPr>
          <p:cNvPr name="TextBox 20" id="20"/>
          <p:cNvSpPr txBox="true"/>
          <p:nvPr/>
        </p:nvSpPr>
        <p:spPr>
          <a:xfrm rot="0">
            <a:off x="13901166" y="4899660"/>
            <a:ext cx="3216402" cy="168402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Old-school keyword matching. Never a crash.</a:t>
            </a:r>
          </a:p>
        </p:txBody>
      </p:sp>
      <p:grpSp>
        <p:nvGrpSpPr>
          <p:cNvPr name="Group 21" id="21"/>
          <p:cNvGrpSpPr/>
          <p:nvPr/>
        </p:nvGrpSpPr>
        <p:grpSpPr>
          <a:xfrm rot="0">
            <a:off x="808672" y="1335796"/>
            <a:ext cx="13542404" cy="863912"/>
            <a:chOff x="0" y="0"/>
            <a:chExt cx="3566724" cy="227532"/>
          </a:xfrm>
        </p:grpSpPr>
        <p:sp>
          <p:nvSpPr>
            <p:cNvPr name="Freeform 22" id="22"/>
            <p:cNvSpPr/>
            <p:nvPr/>
          </p:nvSpPr>
          <p:spPr>
            <a:xfrm flipH="false" flipV="false" rot="0">
              <a:off x="0" y="0"/>
              <a:ext cx="3566724" cy="227532"/>
            </a:xfrm>
            <a:custGeom>
              <a:avLst/>
              <a:gdLst/>
              <a:ahLst/>
              <a:cxnLst/>
              <a:rect r="r" b="b" t="t" l="l"/>
              <a:pathLst>
                <a:path h="227532" w="3566724">
                  <a:moveTo>
                    <a:pt x="0" y="0"/>
                  </a:moveTo>
                  <a:lnTo>
                    <a:pt x="3566724" y="0"/>
                  </a:lnTo>
                  <a:lnTo>
                    <a:pt x="3566724" y="227532"/>
                  </a:lnTo>
                  <a:lnTo>
                    <a:pt x="0" y="227532"/>
                  </a:lnTo>
                  <a:close/>
                </a:path>
              </a:pathLst>
            </a:custGeom>
            <a:solidFill>
              <a:srgbClr val="0493FB"/>
            </a:solidFill>
          </p:spPr>
        </p:sp>
        <p:sp>
          <p:nvSpPr>
            <p:cNvPr name="TextBox 23" id="23"/>
            <p:cNvSpPr txBox="true"/>
            <p:nvPr/>
          </p:nvSpPr>
          <p:spPr>
            <a:xfrm>
              <a:off x="0" y="-57150"/>
              <a:ext cx="3566724" cy="284682"/>
            </a:xfrm>
            <a:prstGeom prst="rect">
              <a:avLst/>
            </a:prstGeom>
          </p:spPr>
          <p:txBody>
            <a:bodyPr anchor="ctr" rtlCol="false" tIns="50800" lIns="50800" bIns="50800" rIns="50800"/>
            <a:lstStyle/>
            <a:p>
              <a:pPr algn="ctr">
                <a:lnSpc>
                  <a:spcPts val="2700"/>
                </a:lnSpc>
              </a:pPr>
            </a:p>
          </p:txBody>
        </p:sp>
      </p:grpSp>
      <p:sp>
        <p:nvSpPr>
          <p:cNvPr name="TextBox 24" id="24"/>
          <p:cNvSpPr txBox="true"/>
          <p:nvPr/>
        </p:nvSpPr>
        <p:spPr>
          <a:xfrm rot="0">
            <a:off x="1026414" y="520329"/>
            <a:ext cx="14147812"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What Breaks in Production</a:t>
            </a:r>
          </a:p>
        </p:txBody>
      </p:sp>
      <p:sp>
        <p:nvSpPr>
          <p:cNvPr name="TextBox 25" id="25"/>
          <p:cNvSpPr txBox="true"/>
          <p:nvPr/>
        </p:nvSpPr>
        <p:spPr>
          <a:xfrm rot="0">
            <a:off x="2797535" y="8920163"/>
            <a:ext cx="13002682" cy="533400"/>
          </a:xfrm>
          <a:prstGeom prst="rect">
            <a:avLst/>
          </a:prstGeom>
        </p:spPr>
        <p:txBody>
          <a:bodyPr anchor="t" rtlCol="false" tIns="0" lIns="0" bIns="0" rIns="0">
            <a:spAutoFit/>
          </a:bodyPr>
          <a:lstStyle/>
          <a:p>
            <a:pPr algn="ctr">
              <a:lnSpc>
                <a:spcPts val="3719"/>
              </a:lnSpc>
              <a:spcBef>
                <a:spcPct val="0"/>
              </a:spcBef>
            </a:pPr>
            <a:r>
              <a:rPr lang="en-US" b="true" sz="3099">
                <a:solidFill>
                  <a:srgbClr val="FFFFFF"/>
                </a:solidFill>
                <a:latin typeface="Calibri (MS) Bold"/>
                <a:ea typeface="Calibri (MS) Bold"/>
                <a:cs typeface="Calibri (MS) Bold"/>
                <a:sym typeface="Calibri (MS) Bold"/>
              </a:rPr>
              <a:t>Rate limit (429) or outage?  </a:t>
            </a:r>
            <a:r>
              <a:rPr lang="en-US" sz="3099">
                <a:solidFill>
                  <a:srgbClr val="FFFFFF"/>
                </a:solidFill>
                <a:latin typeface="Calibri (MS)"/>
                <a:ea typeface="Calibri (MS)"/>
                <a:cs typeface="Calibri (MS)"/>
                <a:sym typeface="Calibri (MS)"/>
              </a:rPr>
              <a:t>Same fix: wait longer each time, then fall back</a:t>
            </a:r>
          </a:p>
        </p:txBody>
      </p:sp>
    </p:spTree>
  </p:cSld>
  <p:clrMapOvr>
    <a:masterClrMapping/>
  </p:clrMapOvr>
</p:sld>
</file>

<file path=ppt/slides/slide28.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1720342"/>
            <a:ext cx="13135865" cy="787661"/>
            <a:chOff x="0" y="0"/>
            <a:chExt cx="3459652" cy="207450"/>
          </a:xfrm>
        </p:grpSpPr>
        <p:sp>
          <p:nvSpPr>
            <p:cNvPr name="Freeform 3" id="3"/>
            <p:cNvSpPr/>
            <p:nvPr/>
          </p:nvSpPr>
          <p:spPr>
            <a:xfrm flipH="false" flipV="false" rot="0">
              <a:off x="0" y="0"/>
              <a:ext cx="3459652" cy="207450"/>
            </a:xfrm>
            <a:custGeom>
              <a:avLst/>
              <a:gdLst/>
              <a:ahLst/>
              <a:cxnLst/>
              <a:rect r="r" b="b" t="t" l="l"/>
              <a:pathLst>
                <a:path h="207450" w="3459652">
                  <a:moveTo>
                    <a:pt x="0" y="0"/>
                  </a:moveTo>
                  <a:lnTo>
                    <a:pt x="3459652" y="0"/>
                  </a:lnTo>
                  <a:lnTo>
                    <a:pt x="3459652" y="207450"/>
                  </a:lnTo>
                  <a:lnTo>
                    <a:pt x="0" y="207450"/>
                  </a:lnTo>
                  <a:close/>
                </a:path>
              </a:pathLst>
            </a:custGeom>
            <a:solidFill>
              <a:srgbClr val="0493FB"/>
            </a:solidFill>
          </p:spPr>
        </p:sp>
        <p:sp>
          <p:nvSpPr>
            <p:cNvPr name="TextBox 4" id="4"/>
            <p:cNvSpPr txBox="true"/>
            <p:nvPr/>
          </p:nvSpPr>
          <p:spPr>
            <a:xfrm>
              <a:off x="0" y="-57150"/>
              <a:ext cx="3459652" cy="264600"/>
            </a:xfrm>
            <a:prstGeom prst="rect">
              <a:avLst/>
            </a:prstGeom>
          </p:spPr>
          <p:txBody>
            <a:bodyPr anchor="ctr" rtlCol="false" tIns="50800" lIns="50800" bIns="50800" rIns="50800"/>
            <a:lstStyle/>
            <a:p>
              <a:pPr algn="ctr">
                <a:lnSpc>
                  <a:spcPts val="2700"/>
                </a:lnSpc>
              </a:pPr>
            </a:p>
          </p:txBody>
        </p:sp>
      </p:grpSp>
      <p:grpSp>
        <p:nvGrpSpPr>
          <p:cNvPr name="Group 5" id="5"/>
          <p:cNvGrpSpPr/>
          <p:nvPr/>
        </p:nvGrpSpPr>
        <p:grpSpPr>
          <a:xfrm rot="0">
            <a:off x="1162906" y="3518535"/>
            <a:ext cx="8126349" cy="5739765"/>
            <a:chOff x="0" y="0"/>
            <a:chExt cx="10835132" cy="7653020"/>
          </a:xfrm>
        </p:grpSpPr>
        <p:sp>
          <p:nvSpPr>
            <p:cNvPr name="Freeform 6" id="6"/>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7" id="7"/>
          <p:cNvGrpSpPr/>
          <p:nvPr/>
        </p:nvGrpSpPr>
        <p:grpSpPr>
          <a:xfrm rot="0">
            <a:off x="1486550" y="4010363"/>
            <a:ext cx="5305015" cy="906678"/>
            <a:chOff x="0" y="0"/>
            <a:chExt cx="1397205" cy="238796"/>
          </a:xfrm>
        </p:grpSpPr>
        <p:sp>
          <p:nvSpPr>
            <p:cNvPr name="Freeform 8" id="8"/>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493FB"/>
            </a:solidFill>
          </p:spPr>
        </p:sp>
        <p:sp>
          <p:nvSpPr>
            <p:cNvPr name="TextBox 9" id="9"/>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Your manager asks?</a:t>
              </a:r>
            </a:p>
          </p:txBody>
        </p:sp>
      </p:grpSp>
      <p:sp>
        <p:nvSpPr>
          <p:cNvPr name="TextBox 10" id="10"/>
          <p:cNvSpPr txBox="true"/>
          <p:nvPr/>
        </p:nvSpPr>
        <p:spPr>
          <a:xfrm rot="0">
            <a:off x="1028700" y="904875"/>
            <a:ext cx="12918124"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At Work: Errors &amp; Retries</a:t>
            </a:r>
          </a:p>
        </p:txBody>
      </p:sp>
      <p:sp>
        <p:nvSpPr>
          <p:cNvPr name="TextBox 11" id="11"/>
          <p:cNvSpPr txBox="true"/>
          <p:nvPr/>
        </p:nvSpPr>
        <p:spPr>
          <a:xfrm rot="0">
            <a:off x="1383185" y="5336858"/>
            <a:ext cx="7760815" cy="3571875"/>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“The AI provider went down for an hour. Did we lose tickets?”</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No: 3 retries, waiting 1s, 2s, 4s</a:t>
            </a:r>
            <a:r>
              <a:rPr lang="en-US" sz="2595">
                <a:solidFill>
                  <a:srgbClr val="0D1B34"/>
                </a:solidFill>
                <a:latin typeface="Calibri (MS)"/>
                <a:ea typeface="Calibri (MS)"/>
                <a:cs typeface="Calibri (MS)"/>
                <a:sym typeface="Calibri (MS)"/>
              </a:rPr>
              <a:t>.</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Then keyword fallback, confidence 0.5.</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The trace shows which tickets degraded.</a:t>
            </a:r>
          </a:p>
        </p:txBody>
      </p:sp>
      <p:grpSp>
        <p:nvGrpSpPr>
          <p:cNvPr name="Group 12" id="12"/>
          <p:cNvGrpSpPr/>
          <p:nvPr/>
        </p:nvGrpSpPr>
        <p:grpSpPr>
          <a:xfrm rot="0">
            <a:off x="9447135" y="3518535"/>
            <a:ext cx="8126349" cy="5739765"/>
            <a:chOff x="0" y="0"/>
            <a:chExt cx="10835132" cy="7653020"/>
          </a:xfrm>
        </p:grpSpPr>
        <p:sp>
          <p:nvSpPr>
            <p:cNvPr name="Freeform 13" id="13"/>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14" id="14"/>
          <p:cNvGrpSpPr/>
          <p:nvPr/>
        </p:nvGrpSpPr>
        <p:grpSpPr>
          <a:xfrm rot="0">
            <a:off x="9770779" y="4010363"/>
            <a:ext cx="5305015" cy="906678"/>
            <a:chOff x="0" y="0"/>
            <a:chExt cx="1397205" cy="238796"/>
          </a:xfrm>
        </p:grpSpPr>
        <p:sp>
          <p:nvSpPr>
            <p:cNvPr name="Freeform 15" id="15"/>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E3C74"/>
            </a:solidFill>
          </p:spPr>
        </p:sp>
        <p:sp>
          <p:nvSpPr>
            <p:cNvPr name="TextBox 16" id="16"/>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The interviewer asks?</a:t>
              </a:r>
            </a:p>
          </p:txBody>
        </p:sp>
      </p:grpSp>
      <p:sp>
        <p:nvSpPr>
          <p:cNvPr name="TextBox 17" id="17"/>
          <p:cNvSpPr txBox="true"/>
          <p:nvPr/>
        </p:nvSpPr>
        <p:spPr>
          <a:xfrm rot="0">
            <a:off x="9447135" y="5336858"/>
            <a:ext cx="8284229" cy="3181350"/>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“The model API goes down. Then what?”</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Retry with exponential backoff.</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Fall back to a dumber method that works.</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Flag it so it is visible downstream.</a:t>
            </a:r>
          </a:p>
        </p:txBody>
      </p:sp>
      <p:sp>
        <p:nvSpPr>
          <p:cNvPr name="TextBox 18" id="18"/>
          <p:cNvSpPr txBox="true"/>
          <p:nvPr/>
        </p:nvSpPr>
        <p:spPr>
          <a:xfrm rot="0">
            <a:off x="1237930" y="9403298"/>
            <a:ext cx="15812140" cy="561975"/>
          </a:xfrm>
          <a:prstGeom prst="rect">
            <a:avLst/>
          </a:prstGeom>
        </p:spPr>
        <p:txBody>
          <a:bodyPr anchor="t" rtlCol="false" tIns="0" lIns="0" bIns="0" rIns="0">
            <a:spAutoFit/>
          </a:bodyPr>
          <a:lstStyle/>
          <a:p>
            <a:pPr algn="ctr">
              <a:lnSpc>
                <a:spcPts val="3908"/>
              </a:lnSpc>
              <a:spcBef>
                <a:spcPct val="0"/>
              </a:spcBef>
            </a:pPr>
            <a:r>
              <a:rPr lang="en-US" b="true" sz="3257">
                <a:solidFill>
                  <a:srgbClr val="FFFFFF"/>
                </a:solidFill>
                <a:latin typeface="Calibri (MS) Bold"/>
                <a:ea typeface="Calibri (MS) Bold"/>
                <a:cs typeface="Calibri (MS) Bold"/>
                <a:sym typeface="Calibri (MS) Bold"/>
              </a:rPr>
              <a:t>The point: </a:t>
            </a:r>
            <a:r>
              <a:rPr lang="en-US" sz="3257">
                <a:solidFill>
                  <a:srgbClr val="FFFFFF"/>
                </a:solidFill>
                <a:latin typeface="Calibri (MS)"/>
                <a:ea typeface="Calibri (MS)"/>
                <a:cs typeface="Calibri (MS)"/>
                <a:sym typeface="Calibri (MS)"/>
              </a:rPr>
              <a:t>degrading gracefully beats working on a good day.</a:t>
            </a:r>
          </a:p>
        </p:txBody>
      </p:sp>
    </p:spTree>
  </p:cSld>
  <p:clrMapOvr>
    <a:masterClrMapping/>
  </p:clrMapOvr>
</p:sld>
</file>

<file path=ppt/slides/slide29.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028700" y="5816398"/>
            <a:ext cx="2497455" cy="1125855"/>
            <a:chOff x="0" y="0"/>
            <a:chExt cx="3329940" cy="1501140"/>
          </a:xfrm>
        </p:grpSpPr>
        <p:sp>
          <p:nvSpPr>
            <p:cNvPr name="Freeform 3" id="3"/>
            <p:cNvSpPr/>
            <p:nvPr/>
          </p:nvSpPr>
          <p:spPr>
            <a:xfrm flipH="false" flipV="false" rot="0">
              <a:off x="0" y="0"/>
              <a:ext cx="3329940" cy="1501140"/>
            </a:xfrm>
            <a:custGeom>
              <a:avLst/>
              <a:gdLst/>
              <a:ahLst/>
              <a:cxnLst/>
              <a:rect r="r" b="b" t="t" l="l"/>
              <a:pathLst>
                <a:path h="1501140" w="3329940">
                  <a:moveTo>
                    <a:pt x="0" y="225171"/>
                  </a:moveTo>
                  <a:cubicBezTo>
                    <a:pt x="0" y="100838"/>
                    <a:pt x="100838" y="0"/>
                    <a:pt x="225171" y="0"/>
                  </a:cubicBezTo>
                  <a:lnTo>
                    <a:pt x="3104769" y="0"/>
                  </a:lnTo>
                  <a:cubicBezTo>
                    <a:pt x="3229102" y="0"/>
                    <a:pt x="3329940" y="100838"/>
                    <a:pt x="3329940" y="225171"/>
                  </a:cubicBezTo>
                  <a:lnTo>
                    <a:pt x="3329940" y="1275969"/>
                  </a:lnTo>
                  <a:cubicBezTo>
                    <a:pt x="3329940" y="1400302"/>
                    <a:pt x="3229102" y="1501140"/>
                    <a:pt x="3104769" y="1501140"/>
                  </a:cubicBezTo>
                  <a:lnTo>
                    <a:pt x="225171" y="1501140"/>
                  </a:lnTo>
                  <a:cubicBezTo>
                    <a:pt x="100838" y="1501140"/>
                    <a:pt x="0" y="1400302"/>
                    <a:pt x="0" y="1275969"/>
                  </a:cubicBezTo>
                  <a:close/>
                </a:path>
              </a:pathLst>
            </a:custGeom>
            <a:solidFill>
              <a:srgbClr val="0493FB"/>
            </a:solidFill>
            <a:ln w="28575" cap="sq">
              <a:solidFill>
                <a:srgbClr val="0493FB"/>
              </a:solidFill>
              <a:prstDash val="solid"/>
              <a:miter/>
            </a:ln>
          </p:spPr>
        </p:sp>
        <p:sp>
          <p:nvSpPr>
            <p:cNvPr name="TextBox 4" id="4"/>
            <p:cNvSpPr txBox="true"/>
            <p:nvPr/>
          </p:nvSpPr>
          <p:spPr>
            <a:xfrm>
              <a:off x="0" y="-57150"/>
              <a:ext cx="3329940" cy="155829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Validate</a:t>
              </a:r>
            </a:p>
          </p:txBody>
        </p:sp>
      </p:grpSp>
      <p:grpSp>
        <p:nvGrpSpPr>
          <p:cNvPr name="Group 5" id="5"/>
          <p:cNvGrpSpPr/>
          <p:nvPr/>
        </p:nvGrpSpPr>
        <p:grpSpPr>
          <a:xfrm rot="0">
            <a:off x="4663440" y="4101898"/>
            <a:ext cx="3183255" cy="1400175"/>
            <a:chOff x="0" y="0"/>
            <a:chExt cx="4244340" cy="1866900"/>
          </a:xfrm>
        </p:grpSpPr>
        <p:sp>
          <p:nvSpPr>
            <p:cNvPr name="Freeform 6" id="6"/>
            <p:cNvSpPr/>
            <p:nvPr/>
          </p:nvSpPr>
          <p:spPr>
            <a:xfrm flipH="false" flipV="false" rot="0">
              <a:off x="0" y="0"/>
              <a:ext cx="4244340" cy="1866900"/>
            </a:xfrm>
            <a:custGeom>
              <a:avLst/>
              <a:gdLst/>
              <a:ahLst/>
              <a:cxnLst/>
              <a:rect r="r" b="b" t="t" l="l"/>
              <a:pathLst>
                <a:path h="1866900" w="4244340">
                  <a:moveTo>
                    <a:pt x="0" y="224028"/>
                  </a:moveTo>
                  <a:cubicBezTo>
                    <a:pt x="0" y="100330"/>
                    <a:pt x="100330" y="0"/>
                    <a:pt x="224028" y="0"/>
                  </a:cubicBezTo>
                  <a:lnTo>
                    <a:pt x="4020312" y="0"/>
                  </a:lnTo>
                  <a:cubicBezTo>
                    <a:pt x="4144010" y="0"/>
                    <a:pt x="4244340" y="100330"/>
                    <a:pt x="4244340" y="224028"/>
                  </a:cubicBezTo>
                  <a:lnTo>
                    <a:pt x="4244340" y="1642872"/>
                  </a:lnTo>
                  <a:cubicBezTo>
                    <a:pt x="4244340" y="1766570"/>
                    <a:pt x="4144010" y="1866900"/>
                    <a:pt x="4020312" y="1866900"/>
                  </a:cubicBezTo>
                  <a:lnTo>
                    <a:pt x="224028" y="1866900"/>
                  </a:lnTo>
                  <a:cubicBezTo>
                    <a:pt x="100330" y="1866900"/>
                    <a:pt x="0" y="1766570"/>
                    <a:pt x="0" y="1642872"/>
                  </a:cubicBezTo>
                  <a:close/>
                </a:path>
              </a:pathLst>
            </a:custGeom>
            <a:solidFill>
              <a:srgbClr val="0493FB"/>
            </a:solidFill>
            <a:ln w="28575" cap="sq">
              <a:solidFill>
                <a:srgbClr val="0493FB"/>
              </a:solidFill>
              <a:prstDash val="solid"/>
              <a:miter/>
            </a:ln>
          </p:spPr>
        </p:sp>
        <p:sp>
          <p:nvSpPr>
            <p:cNvPr name="TextBox 7" id="7"/>
            <p:cNvSpPr txBox="true"/>
            <p:nvPr/>
          </p:nvSpPr>
          <p:spPr>
            <a:xfrm>
              <a:off x="0" y="-38100"/>
              <a:ext cx="4244340" cy="1905000"/>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Compliance</a:t>
              </a:r>
            </a:p>
            <a:p>
              <a:pPr algn="ctr">
                <a:lnSpc>
                  <a:spcPts val="2879"/>
                </a:lnSpc>
              </a:pPr>
              <a:r>
                <a:rPr lang="en-US" sz="2400" b="true">
                  <a:solidFill>
                    <a:srgbClr val="FFFFFF"/>
                  </a:solidFill>
                  <a:latin typeface="Calibri (MS) Bold"/>
                  <a:ea typeface="Calibri (MS) Bold"/>
                  <a:cs typeface="Calibri (MS) Bold"/>
                  <a:sym typeface="Calibri (MS) Bold"/>
                </a:rPr>
                <a:t>legal words?</a:t>
              </a:r>
            </a:p>
          </p:txBody>
        </p:sp>
      </p:grpSp>
      <p:grpSp>
        <p:nvGrpSpPr>
          <p:cNvPr name="Group 8" id="8"/>
          <p:cNvGrpSpPr/>
          <p:nvPr/>
        </p:nvGrpSpPr>
        <p:grpSpPr>
          <a:xfrm rot="0">
            <a:off x="4663440" y="7256578"/>
            <a:ext cx="3183255" cy="1400175"/>
            <a:chOff x="0" y="0"/>
            <a:chExt cx="4244340" cy="1866900"/>
          </a:xfrm>
        </p:grpSpPr>
        <p:sp>
          <p:nvSpPr>
            <p:cNvPr name="Freeform 9" id="9"/>
            <p:cNvSpPr/>
            <p:nvPr/>
          </p:nvSpPr>
          <p:spPr>
            <a:xfrm flipH="false" flipV="false" rot="0">
              <a:off x="0" y="0"/>
              <a:ext cx="4244340" cy="1866900"/>
            </a:xfrm>
            <a:custGeom>
              <a:avLst/>
              <a:gdLst/>
              <a:ahLst/>
              <a:cxnLst/>
              <a:rect r="r" b="b" t="t" l="l"/>
              <a:pathLst>
                <a:path h="1866900" w="4244340">
                  <a:moveTo>
                    <a:pt x="0" y="224028"/>
                  </a:moveTo>
                  <a:cubicBezTo>
                    <a:pt x="0" y="100330"/>
                    <a:pt x="100330" y="0"/>
                    <a:pt x="224028" y="0"/>
                  </a:cubicBezTo>
                  <a:lnTo>
                    <a:pt x="4020312" y="0"/>
                  </a:lnTo>
                  <a:cubicBezTo>
                    <a:pt x="4144010" y="0"/>
                    <a:pt x="4244340" y="100330"/>
                    <a:pt x="4244340" y="224028"/>
                  </a:cubicBezTo>
                  <a:lnTo>
                    <a:pt x="4244340" y="1642872"/>
                  </a:lnTo>
                  <a:cubicBezTo>
                    <a:pt x="4244340" y="1766570"/>
                    <a:pt x="4144010" y="1866900"/>
                    <a:pt x="4020312" y="1866900"/>
                  </a:cubicBezTo>
                  <a:lnTo>
                    <a:pt x="224028" y="1866900"/>
                  </a:lnTo>
                  <a:cubicBezTo>
                    <a:pt x="100330" y="1866900"/>
                    <a:pt x="0" y="1766570"/>
                    <a:pt x="0" y="1642872"/>
                  </a:cubicBezTo>
                  <a:close/>
                </a:path>
              </a:pathLst>
            </a:custGeom>
            <a:solidFill>
              <a:srgbClr val="0493FB"/>
            </a:solidFill>
            <a:ln w="28575" cap="sq">
              <a:solidFill>
                <a:srgbClr val="0493FB"/>
              </a:solidFill>
              <a:prstDash val="solid"/>
              <a:miter/>
            </a:ln>
          </p:spPr>
        </p:sp>
        <p:sp>
          <p:nvSpPr>
            <p:cNvPr name="TextBox 10" id="10"/>
            <p:cNvSpPr txBox="true"/>
            <p:nvPr/>
          </p:nvSpPr>
          <p:spPr>
            <a:xfrm>
              <a:off x="0" y="-38100"/>
              <a:ext cx="4244340" cy="1905000"/>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Priority</a:t>
              </a:r>
            </a:p>
            <a:p>
              <a:pPr algn="ctr">
                <a:lnSpc>
                  <a:spcPts val="2879"/>
                </a:lnSpc>
              </a:pPr>
              <a:r>
                <a:rPr lang="en-US" sz="2400" b="true">
                  <a:solidFill>
                    <a:srgbClr val="FFFFFF"/>
                  </a:solidFill>
                  <a:latin typeface="Calibri (MS) Bold"/>
                  <a:ea typeface="Calibri (MS) Bold"/>
                  <a:cs typeface="Calibri (MS) Bold"/>
                  <a:sym typeface="Calibri (MS) Bold"/>
                </a:rPr>
                <a:t>urgent words?</a:t>
              </a:r>
            </a:p>
          </p:txBody>
        </p:sp>
      </p:grpSp>
      <p:sp>
        <p:nvSpPr>
          <p:cNvPr name="AutoShape 11" id="11"/>
          <p:cNvSpPr/>
          <p:nvPr/>
        </p:nvSpPr>
        <p:spPr>
          <a:xfrm flipV="true">
            <a:off x="3602541" y="4920096"/>
            <a:ext cx="998220" cy="1341118"/>
          </a:xfrm>
          <a:prstGeom prst="line">
            <a:avLst/>
          </a:prstGeom>
          <a:ln cap="rnd" w="19050">
            <a:solidFill>
              <a:srgbClr val="FFFFFF"/>
            </a:solidFill>
            <a:prstDash val="solid"/>
            <a:headEnd type="none" len="sm" w="sm"/>
            <a:tailEnd type="triangle" len="med" w="lg"/>
          </a:ln>
        </p:spPr>
      </p:sp>
      <p:sp>
        <p:nvSpPr>
          <p:cNvPr name="AutoShape 12" id="12"/>
          <p:cNvSpPr/>
          <p:nvPr/>
        </p:nvSpPr>
        <p:spPr>
          <a:xfrm>
            <a:off x="3602541" y="6497436"/>
            <a:ext cx="998220" cy="1341118"/>
          </a:xfrm>
          <a:prstGeom prst="line">
            <a:avLst/>
          </a:prstGeom>
          <a:ln cap="rnd" w="19050">
            <a:solidFill>
              <a:srgbClr val="FFFFFF"/>
            </a:solidFill>
            <a:prstDash val="solid"/>
            <a:headEnd type="none" len="sm" w="sm"/>
            <a:tailEnd type="triangle" len="med" w="lg"/>
          </a:ln>
        </p:spPr>
      </p:sp>
      <p:grpSp>
        <p:nvGrpSpPr>
          <p:cNvPr name="Group 13" id="13"/>
          <p:cNvGrpSpPr/>
          <p:nvPr/>
        </p:nvGrpSpPr>
        <p:grpSpPr>
          <a:xfrm rot="0">
            <a:off x="9121140" y="5404918"/>
            <a:ext cx="2771775" cy="1948815"/>
            <a:chOff x="0" y="0"/>
            <a:chExt cx="3695700" cy="2598420"/>
          </a:xfrm>
        </p:grpSpPr>
        <p:sp>
          <p:nvSpPr>
            <p:cNvPr name="Freeform 14" id="14"/>
            <p:cNvSpPr/>
            <p:nvPr/>
          </p:nvSpPr>
          <p:spPr>
            <a:xfrm flipH="false" flipV="false" rot="0">
              <a:off x="0" y="324739"/>
              <a:ext cx="3695700" cy="2273681"/>
            </a:xfrm>
            <a:custGeom>
              <a:avLst/>
              <a:gdLst/>
              <a:ahLst/>
              <a:cxnLst/>
              <a:rect r="r" b="b" t="t" l="l"/>
              <a:pathLst>
                <a:path h="2273681" w="3695700">
                  <a:moveTo>
                    <a:pt x="0" y="0"/>
                  </a:moveTo>
                  <a:cubicBezTo>
                    <a:pt x="0" y="179451"/>
                    <a:pt x="827278" y="324866"/>
                    <a:pt x="1847850" y="324866"/>
                  </a:cubicBezTo>
                  <a:cubicBezTo>
                    <a:pt x="2868422" y="324866"/>
                    <a:pt x="3695700" y="179451"/>
                    <a:pt x="3695700" y="0"/>
                  </a:cubicBezTo>
                  <a:lnTo>
                    <a:pt x="3695700" y="1948815"/>
                  </a:lnTo>
                  <a:cubicBezTo>
                    <a:pt x="3695700" y="2128139"/>
                    <a:pt x="2868422" y="2273681"/>
                    <a:pt x="1847850" y="2273681"/>
                  </a:cubicBezTo>
                  <a:cubicBezTo>
                    <a:pt x="827278" y="2273681"/>
                    <a:pt x="0" y="2128266"/>
                    <a:pt x="0" y="1948815"/>
                  </a:cubicBezTo>
                  <a:close/>
                </a:path>
              </a:pathLst>
            </a:custGeom>
            <a:solidFill>
              <a:srgbClr val="FFFFFF"/>
            </a:solidFill>
            <a:ln w="28575" cap="sq">
              <a:solidFill>
                <a:srgbClr val="FFFFFF"/>
              </a:solidFill>
              <a:prstDash val="solid"/>
              <a:miter/>
            </a:ln>
          </p:spPr>
        </p:sp>
        <p:sp>
          <p:nvSpPr>
            <p:cNvPr name="Freeform 15" id="15"/>
            <p:cNvSpPr/>
            <p:nvPr/>
          </p:nvSpPr>
          <p:spPr>
            <a:xfrm flipH="false" flipV="false" rot="0">
              <a:off x="0" y="0"/>
              <a:ext cx="3695700" cy="649605"/>
            </a:xfrm>
            <a:custGeom>
              <a:avLst/>
              <a:gdLst/>
              <a:ahLst/>
              <a:cxnLst/>
              <a:rect r="r" b="b" t="t" l="l"/>
              <a:pathLst>
                <a:path h="649605" w="3695700">
                  <a:moveTo>
                    <a:pt x="0" y="324739"/>
                  </a:moveTo>
                  <a:cubicBezTo>
                    <a:pt x="0" y="145415"/>
                    <a:pt x="827278" y="0"/>
                    <a:pt x="1847850" y="0"/>
                  </a:cubicBezTo>
                  <a:cubicBezTo>
                    <a:pt x="2868422" y="0"/>
                    <a:pt x="3695700" y="145415"/>
                    <a:pt x="3695700" y="324739"/>
                  </a:cubicBezTo>
                  <a:cubicBezTo>
                    <a:pt x="3695700" y="504063"/>
                    <a:pt x="2868422" y="649605"/>
                    <a:pt x="1847850" y="649605"/>
                  </a:cubicBezTo>
                  <a:cubicBezTo>
                    <a:pt x="827278" y="649605"/>
                    <a:pt x="0" y="504190"/>
                    <a:pt x="0" y="324739"/>
                  </a:cubicBezTo>
                  <a:close/>
                </a:path>
              </a:pathLst>
            </a:custGeom>
            <a:solidFill>
              <a:srgbClr val="767889"/>
            </a:solidFill>
            <a:ln w="28575" cap="sq">
              <a:solidFill>
                <a:srgbClr val="FFFFFF"/>
              </a:solidFill>
              <a:prstDash val="solid"/>
              <a:miter/>
            </a:ln>
          </p:spPr>
        </p:sp>
        <p:sp>
          <p:nvSpPr>
            <p:cNvPr name="Freeform 16" id="16"/>
            <p:cNvSpPr/>
            <p:nvPr/>
          </p:nvSpPr>
          <p:spPr>
            <a:xfrm flipH="false" flipV="false" rot="0">
              <a:off x="0" y="0"/>
              <a:ext cx="3695700" cy="2598420"/>
            </a:xfrm>
            <a:custGeom>
              <a:avLst/>
              <a:gdLst/>
              <a:ahLst/>
              <a:cxnLst/>
              <a:rect r="r" b="b" t="t" l="l"/>
              <a:pathLst>
                <a:path h="2598420" w="3695700">
                  <a:moveTo>
                    <a:pt x="3695700" y="324739"/>
                  </a:moveTo>
                  <a:cubicBezTo>
                    <a:pt x="3695700" y="504063"/>
                    <a:pt x="2868422" y="649478"/>
                    <a:pt x="1847850" y="649478"/>
                  </a:cubicBezTo>
                  <a:cubicBezTo>
                    <a:pt x="827278" y="649478"/>
                    <a:pt x="0" y="504190"/>
                    <a:pt x="0" y="324866"/>
                  </a:cubicBezTo>
                  <a:cubicBezTo>
                    <a:pt x="0" y="145542"/>
                    <a:pt x="827278" y="0"/>
                    <a:pt x="1847850" y="0"/>
                  </a:cubicBezTo>
                  <a:cubicBezTo>
                    <a:pt x="2868422" y="0"/>
                    <a:pt x="3695700" y="145415"/>
                    <a:pt x="3695700" y="324739"/>
                  </a:cubicBezTo>
                  <a:lnTo>
                    <a:pt x="3695700" y="2273554"/>
                  </a:lnTo>
                  <a:cubicBezTo>
                    <a:pt x="3695700" y="2452878"/>
                    <a:pt x="2868422" y="2598420"/>
                    <a:pt x="1847850" y="2598420"/>
                  </a:cubicBezTo>
                  <a:cubicBezTo>
                    <a:pt x="827278" y="2598420"/>
                    <a:pt x="0" y="2453005"/>
                    <a:pt x="0" y="2273554"/>
                  </a:cubicBezTo>
                  <a:lnTo>
                    <a:pt x="0" y="324739"/>
                  </a:lnTo>
                </a:path>
              </a:pathLst>
            </a:custGeom>
            <a:solidFill>
              <a:srgbClr val="767889"/>
            </a:solidFill>
            <a:ln w="28575" cap="sq">
              <a:solidFill>
                <a:srgbClr val="FFFFFF"/>
              </a:solidFill>
              <a:prstDash val="solid"/>
              <a:miter/>
            </a:ln>
          </p:spPr>
        </p:sp>
        <p:sp>
          <p:nvSpPr>
            <p:cNvPr name="TextBox 17" id="17"/>
            <p:cNvSpPr txBox="true"/>
            <p:nvPr/>
          </p:nvSpPr>
          <p:spPr>
            <a:xfrm>
              <a:off x="0" y="-57150"/>
              <a:ext cx="3695700" cy="265557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Shared</a:t>
              </a:r>
            </a:p>
            <a:p>
              <a:pPr algn="ctr">
                <a:lnSpc>
                  <a:spcPts val="3240"/>
                </a:lnSpc>
              </a:pPr>
              <a:r>
                <a:rPr lang="en-US" sz="2700" b="true">
                  <a:solidFill>
                    <a:srgbClr val="FFFFFF"/>
                  </a:solidFill>
                  <a:latin typeface="Calibri (MS) Bold"/>
                  <a:ea typeface="Calibri (MS) Bold"/>
                  <a:cs typeface="Calibri (MS) Bold"/>
                  <a:sym typeface="Calibri (MS) Bold"/>
                </a:rPr>
                <a:t>state</a:t>
              </a:r>
            </a:p>
          </p:txBody>
        </p:sp>
      </p:grpSp>
      <p:sp>
        <p:nvSpPr>
          <p:cNvPr name="AutoShape 18" id="18"/>
          <p:cNvSpPr/>
          <p:nvPr/>
        </p:nvSpPr>
        <p:spPr>
          <a:xfrm>
            <a:off x="7909373" y="4920095"/>
            <a:ext cx="1149099" cy="1066800"/>
          </a:xfrm>
          <a:prstGeom prst="line">
            <a:avLst/>
          </a:prstGeom>
          <a:ln cap="rnd" w="19050">
            <a:solidFill>
              <a:srgbClr val="FFFFFF"/>
            </a:solidFill>
            <a:prstDash val="solid"/>
            <a:headEnd type="none" len="sm" w="sm"/>
            <a:tailEnd type="triangle" len="med" w="lg"/>
          </a:ln>
        </p:spPr>
      </p:sp>
      <p:sp>
        <p:nvSpPr>
          <p:cNvPr name="AutoShape 19" id="19"/>
          <p:cNvSpPr/>
          <p:nvPr/>
        </p:nvSpPr>
        <p:spPr>
          <a:xfrm flipV="true">
            <a:off x="7909373" y="6771755"/>
            <a:ext cx="1149099" cy="1066800"/>
          </a:xfrm>
          <a:prstGeom prst="line">
            <a:avLst/>
          </a:prstGeom>
          <a:ln cap="rnd" w="19050">
            <a:solidFill>
              <a:srgbClr val="FFFFFF"/>
            </a:solidFill>
            <a:prstDash val="solid"/>
            <a:headEnd type="none" len="sm" w="sm"/>
            <a:tailEnd type="triangle" len="med" w="lg"/>
          </a:ln>
        </p:spPr>
      </p:sp>
      <p:grpSp>
        <p:nvGrpSpPr>
          <p:cNvPr name="Group 20" id="20"/>
          <p:cNvGrpSpPr/>
          <p:nvPr/>
        </p:nvGrpSpPr>
        <p:grpSpPr>
          <a:xfrm rot="0">
            <a:off x="13098780" y="5816398"/>
            <a:ext cx="2223135" cy="1125855"/>
            <a:chOff x="0" y="0"/>
            <a:chExt cx="2964180" cy="1501140"/>
          </a:xfrm>
        </p:grpSpPr>
        <p:sp>
          <p:nvSpPr>
            <p:cNvPr name="Freeform 21" id="21"/>
            <p:cNvSpPr/>
            <p:nvPr/>
          </p:nvSpPr>
          <p:spPr>
            <a:xfrm flipH="false" flipV="false" rot="0">
              <a:off x="0" y="0"/>
              <a:ext cx="2964180" cy="1501140"/>
            </a:xfrm>
            <a:custGeom>
              <a:avLst/>
              <a:gdLst/>
              <a:ahLst/>
              <a:cxnLst/>
              <a:rect r="r" b="b" t="t" l="l"/>
              <a:pathLst>
                <a:path h="1501140" w="2964180">
                  <a:moveTo>
                    <a:pt x="0" y="225171"/>
                  </a:moveTo>
                  <a:cubicBezTo>
                    <a:pt x="0" y="100838"/>
                    <a:pt x="100838" y="0"/>
                    <a:pt x="225171" y="0"/>
                  </a:cubicBezTo>
                  <a:lnTo>
                    <a:pt x="2739009" y="0"/>
                  </a:lnTo>
                  <a:cubicBezTo>
                    <a:pt x="2863342" y="0"/>
                    <a:pt x="2964180" y="100838"/>
                    <a:pt x="2964180" y="225171"/>
                  </a:cubicBezTo>
                  <a:lnTo>
                    <a:pt x="2964180" y="1275969"/>
                  </a:lnTo>
                  <a:cubicBezTo>
                    <a:pt x="2964180" y="1400302"/>
                    <a:pt x="2863342" y="1501140"/>
                    <a:pt x="2739009" y="1501140"/>
                  </a:cubicBezTo>
                  <a:lnTo>
                    <a:pt x="225171" y="1501140"/>
                  </a:lnTo>
                  <a:cubicBezTo>
                    <a:pt x="100838" y="1501140"/>
                    <a:pt x="0" y="1400302"/>
                    <a:pt x="0" y="1275969"/>
                  </a:cubicBezTo>
                  <a:close/>
                </a:path>
              </a:pathLst>
            </a:custGeom>
            <a:solidFill>
              <a:srgbClr val="0493FB"/>
            </a:solidFill>
            <a:ln w="28575" cap="sq">
              <a:solidFill>
                <a:srgbClr val="0493FB"/>
              </a:solidFill>
              <a:prstDash val="solid"/>
              <a:miter/>
            </a:ln>
          </p:spPr>
        </p:sp>
        <p:sp>
          <p:nvSpPr>
            <p:cNvPr name="TextBox 22" id="22"/>
            <p:cNvSpPr txBox="true"/>
            <p:nvPr/>
          </p:nvSpPr>
          <p:spPr>
            <a:xfrm>
              <a:off x="0" y="-57150"/>
              <a:ext cx="2964180" cy="1558290"/>
            </a:xfrm>
            <a:prstGeom prst="rect">
              <a:avLst/>
            </a:prstGeom>
          </p:spPr>
          <p:txBody>
            <a:bodyPr anchor="ctr" rtlCol="false" tIns="50800" lIns="50800" bIns="50800" rIns="50800"/>
            <a:lstStyle/>
            <a:p>
              <a:pPr algn="ctr">
                <a:lnSpc>
                  <a:spcPts val="3240"/>
                </a:lnSpc>
              </a:pPr>
              <a:r>
                <a:rPr lang="en-US" sz="2700" b="true">
                  <a:solidFill>
                    <a:srgbClr val="FFFFFF"/>
                  </a:solidFill>
                  <a:latin typeface="Calibri (MS) Bold"/>
                  <a:ea typeface="Calibri (MS) Bold"/>
                  <a:cs typeface="Calibri (MS) Bold"/>
                  <a:sym typeface="Calibri (MS) Bold"/>
                </a:rPr>
                <a:t>Route</a:t>
              </a:r>
            </a:p>
          </p:txBody>
        </p:sp>
      </p:grpSp>
      <p:sp>
        <p:nvSpPr>
          <p:cNvPr name="AutoShape 23" id="23"/>
          <p:cNvSpPr/>
          <p:nvPr/>
        </p:nvSpPr>
        <p:spPr>
          <a:xfrm>
            <a:off x="11969309" y="6360275"/>
            <a:ext cx="1066803" cy="39472"/>
          </a:xfrm>
          <a:prstGeom prst="line">
            <a:avLst/>
          </a:prstGeom>
          <a:ln cap="rnd" w="19050">
            <a:solidFill>
              <a:srgbClr val="FFFFFF"/>
            </a:solidFill>
            <a:prstDash val="solid"/>
            <a:headEnd type="none" len="sm" w="sm"/>
            <a:tailEnd type="triangle" len="med" w="lg"/>
          </a:ln>
        </p:spPr>
      </p:sp>
      <p:sp>
        <p:nvSpPr>
          <p:cNvPr name="TextBox 24" id="24"/>
          <p:cNvSpPr txBox="true"/>
          <p:nvPr/>
        </p:nvSpPr>
        <p:spPr>
          <a:xfrm rot="0">
            <a:off x="13113067" y="7145135"/>
            <a:ext cx="4567428" cy="1291590"/>
          </a:xfrm>
          <a:prstGeom prst="rect">
            <a:avLst/>
          </a:prstGeom>
        </p:spPr>
        <p:txBody>
          <a:bodyPr anchor="t" rtlCol="false" tIns="0" lIns="0" bIns="0" rIns="0">
            <a:spAutoFit/>
          </a:bodyPr>
          <a:lstStyle/>
          <a:p>
            <a:pPr algn="l">
              <a:lnSpc>
                <a:spcPts val="2700"/>
              </a:lnSpc>
            </a:pPr>
            <a:r>
              <a:rPr lang="en-US" sz="2250">
                <a:solidFill>
                  <a:srgbClr val="FFFFFF"/>
                </a:solidFill>
                <a:latin typeface="Calibri (MS)"/>
                <a:ea typeface="Calibri (MS)"/>
                <a:cs typeface="Calibri (MS)"/>
                <a:sym typeface="Calibri (MS)"/>
              </a:rPr>
              <a:t>Legal flag → compliance review</a:t>
            </a:r>
          </a:p>
          <a:p>
            <a:pPr algn="l">
              <a:lnSpc>
                <a:spcPts val="2700"/>
              </a:lnSpc>
            </a:pPr>
            <a:r>
              <a:rPr lang="en-US" sz="2250">
                <a:solidFill>
                  <a:srgbClr val="FFFFFF"/>
                </a:solidFill>
                <a:latin typeface="Calibri (MS)"/>
                <a:ea typeface="Calibri (MS)"/>
                <a:cs typeface="Calibri (MS)"/>
                <a:sym typeface="Calibri (MS)"/>
              </a:rPr>
              <a:t>Urgent → [HIGH PRIORITY] tag</a:t>
            </a:r>
          </a:p>
        </p:txBody>
      </p:sp>
      <p:sp>
        <p:nvSpPr>
          <p:cNvPr name="TextBox 25" id="25"/>
          <p:cNvSpPr txBox="true"/>
          <p:nvPr/>
        </p:nvSpPr>
        <p:spPr>
          <a:xfrm rot="0">
            <a:off x="9135428" y="7419455"/>
            <a:ext cx="2743200" cy="537210"/>
          </a:xfrm>
          <a:prstGeom prst="rect">
            <a:avLst/>
          </a:prstGeom>
        </p:spPr>
        <p:txBody>
          <a:bodyPr anchor="t" rtlCol="false" tIns="0" lIns="0" bIns="0" rIns="0">
            <a:spAutoFit/>
          </a:bodyPr>
          <a:lstStyle/>
          <a:p>
            <a:pPr algn="ctr">
              <a:lnSpc>
                <a:spcPts val="2700"/>
              </a:lnSpc>
            </a:pPr>
            <a:r>
              <a:rPr lang="en-US" b="true" sz="2250" i="true">
                <a:solidFill>
                  <a:srgbClr val="FFFFFF"/>
                </a:solidFill>
                <a:latin typeface="Calibri (MS) Bold Italics"/>
                <a:ea typeface="Calibri (MS) Bold Italics"/>
                <a:cs typeface="Calibri (MS) Bold Italics"/>
                <a:sym typeface="Calibri (MS) Bold Italics"/>
              </a:rPr>
              <a:t>the reducer</a:t>
            </a:r>
          </a:p>
        </p:txBody>
      </p:sp>
      <p:grpSp>
        <p:nvGrpSpPr>
          <p:cNvPr name="Group 26" id="26"/>
          <p:cNvGrpSpPr/>
          <p:nvPr/>
        </p:nvGrpSpPr>
        <p:grpSpPr>
          <a:xfrm rot="0">
            <a:off x="808672" y="1335796"/>
            <a:ext cx="9019515" cy="832283"/>
            <a:chOff x="0" y="0"/>
            <a:chExt cx="2375510" cy="219202"/>
          </a:xfrm>
        </p:grpSpPr>
        <p:sp>
          <p:nvSpPr>
            <p:cNvPr name="Freeform 27" id="27"/>
            <p:cNvSpPr/>
            <p:nvPr/>
          </p:nvSpPr>
          <p:spPr>
            <a:xfrm flipH="false" flipV="false" rot="0">
              <a:off x="0" y="0"/>
              <a:ext cx="2375510" cy="219202"/>
            </a:xfrm>
            <a:custGeom>
              <a:avLst/>
              <a:gdLst/>
              <a:ahLst/>
              <a:cxnLst/>
              <a:rect r="r" b="b" t="t" l="l"/>
              <a:pathLst>
                <a:path h="219202" w="2375510">
                  <a:moveTo>
                    <a:pt x="0" y="0"/>
                  </a:moveTo>
                  <a:lnTo>
                    <a:pt x="2375510" y="0"/>
                  </a:lnTo>
                  <a:lnTo>
                    <a:pt x="2375510" y="219202"/>
                  </a:lnTo>
                  <a:lnTo>
                    <a:pt x="0" y="219202"/>
                  </a:lnTo>
                  <a:close/>
                </a:path>
              </a:pathLst>
            </a:custGeom>
            <a:solidFill>
              <a:srgbClr val="0493FB"/>
            </a:solidFill>
          </p:spPr>
        </p:sp>
        <p:sp>
          <p:nvSpPr>
            <p:cNvPr name="TextBox 28" id="28"/>
            <p:cNvSpPr txBox="true"/>
            <p:nvPr/>
          </p:nvSpPr>
          <p:spPr>
            <a:xfrm>
              <a:off x="0" y="-57150"/>
              <a:ext cx="2375510" cy="276352"/>
            </a:xfrm>
            <a:prstGeom prst="rect">
              <a:avLst/>
            </a:prstGeom>
          </p:spPr>
          <p:txBody>
            <a:bodyPr anchor="ctr" rtlCol="false" tIns="50800" lIns="50800" bIns="50800" rIns="50800"/>
            <a:lstStyle/>
            <a:p>
              <a:pPr algn="ctr">
                <a:lnSpc>
                  <a:spcPts val="2700"/>
                </a:lnSpc>
              </a:pPr>
            </a:p>
          </p:txBody>
        </p:sp>
      </p:grpSp>
      <p:sp>
        <p:nvSpPr>
          <p:cNvPr name="TextBox 29" id="29"/>
          <p:cNvSpPr txBox="true"/>
          <p:nvPr/>
        </p:nvSpPr>
        <p:spPr>
          <a:xfrm rot="0">
            <a:off x="1026414" y="520329"/>
            <a:ext cx="14147812"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Part 2: Branching</a:t>
            </a:r>
          </a:p>
        </p:txBody>
      </p:sp>
      <p:sp>
        <p:nvSpPr>
          <p:cNvPr name="TextBox 30" id="30"/>
          <p:cNvSpPr txBox="true"/>
          <p:nvPr/>
        </p:nvSpPr>
        <p:spPr>
          <a:xfrm rot="0">
            <a:off x="1028700" y="8952028"/>
            <a:ext cx="11690598" cy="485775"/>
          </a:xfrm>
          <a:prstGeom prst="rect">
            <a:avLst/>
          </a:prstGeom>
        </p:spPr>
        <p:txBody>
          <a:bodyPr anchor="t" rtlCol="false" tIns="0" lIns="0" bIns="0" rIns="0">
            <a:spAutoFit/>
          </a:bodyPr>
          <a:lstStyle/>
          <a:p>
            <a:pPr algn="ctr">
              <a:lnSpc>
                <a:spcPts val="3427"/>
              </a:lnSpc>
              <a:spcBef>
                <a:spcPct val="0"/>
              </a:spcBef>
            </a:pPr>
            <a:r>
              <a:rPr lang="en-US" sz="2856" i="true">
                <a:solidFill>
                  <a:srgbClr val="FFFFFF"/>
                </a:solidFill>
                <a:latin typeface="Calibri (MS) Italics"/>
                <a:ea typeface="Calibri (MS) Italics"/>
                <a:cs typeface="Calibri (MS) Italics"/>
                <a:sym typeface="Calibri (MS) Italics"/>
              </a:rPr>
              <a:t>Two independent checks, one shared state. The code runs one after the other.</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08577" y="3287582"/>
            <a:ext cx="10178415" cy="5446395"/>
            <a:chOff x="0" y="0"/>
            <a:chExt cx="13571220" cy="7261860"/>
          </a:xfrm>
        </p:grpSpPr>
        <p:sp>
          <p:nvSpPr>
            <p:cNvPr name="Freeform 3" id="3"/>
            <p:cNvSpPr/>
            <p:nvPr/>
          </p:nvSpPr>
          <p:spPr>
            <a:xfrm flipH="false" flipV="false" rot="0">
              <a:off x="0" y="0"/>
              <a:ext cx="13571220" cy="7261860"/>
            </a:xfrm>
            <a:custGeom>
              <a:avLst/>
              <a:gdLst/>
              <a:ahLst/>
              <a:cxnLst/>
              <a:rect r="r" b="b" t="t" l="l"/>
              <a:pathLst>
                <a:path h="7261860" w="13571220">
                  <a:moveTo>
                    <a:pt x="0" y="220599"/>
                  </a:moveTo>
                  <a:cubicBezTo>
                    <a:pt x="0" y="98806"/>
                    <a:pt x="98806" y="0"/>
                    <a:pt x="220599" y="0"/>
                  </a:cubicBezTo>
                  <a:lnTo>
                    <a:pt x="13350621" y="0"/>
                  </a:lnTo>
                  <a:cubicBezTo>
                    <a:pt x="13472413" y="0"/>
                    <a:pt x="13571220" y="98806"/>
                    <a:pt x="13571220" y="220599"/>
                  </a:cubicBezTo>
                  <a:lnTo>
                    <a:pt x="13571220" y="7041261"/>
                  </a:lnTo>
                  <a:cubicBezTo>
                    <a:pt x="13571220" y="7163054"/>
                    <a:pt x="13472413" y="7261860"/>
                    <a:pt x="13350621" y="7261860"/>
                  </a:cubicBezTo>
                  <a:lnTo>
                    <a:pt x="220599" y="7261860"/>
                  </a:lnTo>
                  <a:cubicBezTo>
                    <a:pt x="98806" y="7261860"/>
                    <a:pt x="0" y="7163054"/>
                    <a:pt x="0" y="7041261"/>
                  </a:cubicBezTo>
                  <a:close/>
                </a:path>
              </a:pathLst>
            </a:custGeom>
            <a:solidFill>
              <a:srgbClr val="1B1F3B"/>
            </a:solidFill>
            <a:ln w="28575" cap="sq">
              <a:solidFill>
                <a:srgbClr val="0D417C"/>
              </a:solidFill>
              <a:prstDash val="solid"/>
              <a:miter/>
            </a:ln>
          </p:spPr>
        </p:sp>
      </p:grpSp>
      <p:grpSp>
        <p:nvGrpSpPr>
          <p:cNvPr name="Group 4" id="4"/>
          <p:cNvGrpSpPr/>
          <p:nvPr/>
        </p:nvGrpSpPr>
        <p:grpSpPr>
          <a:xfrm rot="0">
            <a:off x="1220057" y="3589334"/>
            <a:ext cx="275463" cy="275463"/>
            <a:chOff x="0" y="0"/>
            <a:chExt cx="367284" cy="367284"/>
          </a:xfrm>
        </p:grpSpPr>
        <p:sp>
          <p:nvSpPr>
            <p:cNvPr name="Freeform 5" id="5"/>
            <p:cNvSpPr/>
            <p:nvPr/>
          </p:nvSpPr>
          <p:spPr>
            <a:xfrm flipH="false" flipV="false" rot="0">
              <a:off x="0" y="0"/>
              <a:ext cx="367284" cy="367284"/>
            </a:xfrm>
            <a:custGeom>
              <a:avLst/>
              <a:gdLst/>
              <a:ahLst/>
              <a:cxnLst/>
              <a:rect r="r" b="b" t="t" l="l"/>
              <a:pathLst>
                <a:path h="367284" w="367284">
                  <a:moveTo>
                    <a:pt x="0" y="183642"/>
                  </a:moveTo>
                  <a:cubicBezTo>
                    <a:pt x="0" y="82169"/>
                    <a:pt x="82169" y="0"/>
                    <a:pt x="183642" y="0"/>
                  </a:cubicBezTo>
                  <a:cubicBezTo>
                    <a:pt x="285115" y="0"/>
                    <a:pt x="367284" y="82169"/>
                    <a:pt x="367284" y="183642"/>
                  </a:cubicBezTo>
                  <a:cubicBezTo>
                    <a:pt x="367284" y="285115"/>
                    <a:pt x="285115" y="367284"/>
                    <a:pt x="183642" y="367284"/>
                  </a:cubicBezTo>
                  <a:cubicBezTo>
                    <a:pt x="82169" y="367284"/>
                    <a:pt x="0" y="285115"/>
                    <a:pt x="0" y="183642"/>
                  </a:cubicBezTo>
                  <a:close/>
                </a:path>
              </a:pathLst>
            </a:custGeom>
            <a:solidFill>
              <a:srgbClr val="0493FB"/>
            </a:solidFill>
            <a:ln w="28575" cap="sq">
              <a:solidFill>
                <a:srgbClr val="0493FB"/>
              </a:solidFill>
              <a:prstDash val="solid"/>
              <a:miter/>
            </a:ln>
          </p:spPr>
        </p:sp>
      </p:grpSp>
      <p:grpSp>
        <p:nvGrpSpPr>
          <p:cNvPr name="Group 6" id="6"/>
          <p:cNvGrpSpPr/>
          <p:nvPr/>
        </p:nvGrpSpPr>
        <p:grpSpPr>
          <a:xfrm rot="0">
            <a:off x="1631537" y="3589334"/>
            <a:ext cx="275463" cy="275463"/>
            <a:chOff x="0" y="0"/>
            <a:chExt cx="367284" cy="367284"/>
          </a:xfrm>
        </p:grpSpPr>
        <p:sp>
          <p:nvSpPr>
            <p:cNvPr name="Freeform 7" id="7"/>
            <p:cNvSpPr/>
            <p:nvPr/>
          </p:nvSpPr>
          <p:spPr>
            <a:xfrm flipH="false" flipV="false" rot="0">
              <a:off x="0" y="0"/>
              <a:ext cx="367284" cy="367284"/>
            </a:xfrm>
            <a:custGeom>
              <a:avLst/>
              <a:gdLst/>
              <a:ahLst/>
              <a:cxnLst/>
              <a:rect r="r" b="b" t="t" l="l"/>
              <a:pathLst>
                <a:path h="367284" w="367284">
                  <a:moveTo>
                    <a:pt x="0" y="183642"/>
                  </a:moveTo>
                  <a:cubicBezTo>
                    <a:pt x="0" y="82169"/>
                    <a:pt x="82169" y="0"/>
                    <a:pt x="183642" y="0"/>
                  </a:cubicBezTo>
                  <a:cubicBezTo>
                    <a:pt x="285115" y="0"/>
                    <a:pt x="367284" y="82169"/>
                    <a:pt x="367284" y="183642"/>
                  </a:cubicBezTo>
                  <a:cubicBezTo>
                    <a:pt x="367284" y="285115"/>
                    <a:pt x="285115" y="367284"/>
                    <a:pt x="183642" y="367284"/>
                  </a:cubicBezTo>
                  <a:cubicBezTo>
                    <a:pt x="82169" y="367284"/>
                    <a:pt x="0" y="285115"/>
                    <a:pt x="0" y="183642"/>
                  </a:cubicBezTo>
                  <a:close/>
                </a:path>
              </a:pathLst>
            </a:custGeom>
            <a:solidFill>
              <a:srgbClr val="8D99AE"/>
            </a:solidFill>
            <a:ln w="28575" cap="sq">
              <a:solidFill>
                <a:srgbClr val="8D99AE"/>
              </a:solidFill>
              <a:prstDash val="solid"/>
              <a:miter/>
            </a:ln>
          </p:spPr>
        </p:sp>
      </p:grpSp>
      <p:grpSp>
        <p:nvGrpSpPr>
          <p:cNvPr name="Group 8" id="8"/>
          <p:cNvGrpSpPr/>
          <p:nvPr/>
        </p:nvGrpSpPr>
        <p:grpSpPr>
          <a:xfrm rot="0">
            <a:off x="2043017" y="3589334"/>
            <a:ext cx="275463" cy="275463"/>
            <a:chOff x="0" y="0"/>
            <a:chExt cx="367284" cy="367284"/>
          </a:xfrm>
        </p:grpSpPr>
        <p:sp>
          <p:nvSpPr>
            <p:cNvPr name="Freeform 9" id="9"/>
            <p:cNvSpPr/>
            <p:nvPr/>
          </p:nvSpPr>
          <p:spPr>
            <a:xfrm flipH="false" flipV="false" rot="0">
              <a:off x="0" y="0"/>
              <a:ext cx="367284" cy="367284"/>
            </a:xfrm>
            <a:custGeom>
              <a:avLst/>
              <a:gdLst/>
              <a:ahLst/>
              <a:cxnLst/>
              <a:rect r="r" b="b" t="t" l="l"/>
              <a:pathLst>
                <a:path h="367284" w="367284">
                  <a:moveTo>
                    <a:pt x="0" y="183642"/>
                  </a:moveTo>
                  <a:cubicBezTo>
                    <a:pt x="0" y="82169"/>
                    <a:pt x="82169" y="0"/>
                    <a:pt x="183642" y="0"/>
                  </a:cubicBezTo>
                  <a:cubicBezTo>
                    <a:pt x="285115" y="0"/>
                    <a:pt x="367284" y="82169"/>
                    <a:pt x="367284" y="183642"/>
                  </a:cubicBezTo>
                  <a:cubicBezTo>
                    <a:pt x="367284" y="285115"/>
                    <a:pt x="285115" y="367284"/>
                    <a:pt x="183642" y="367284"/>
                  </a:cubicBezTo>
                  <a:cubicBezTo>
                    <a:pt x="82169" y="367284"/>
                    <a:pt x="0" y="285115"/>
                    <a:pt x="0" y="183642"/>
                  </a:cubicBezTo>
                  <a:close/>
                </a:path>
              </a:pathLst>
            </a:custGeom>
            <a:solidFill>
              <a:srgbClr val="8D99AE"/>
            </a:solidFill>
            <a:ln w="28575" cap="sq">
              <a:solidFill>
                <a:srgbClr val="8D99AE"/>
              </a:solidFill>
              <a:prstDash val="solid"/>
              <a:miter/>
            </a:ln>
          </p:spPr>
        </p:sp>
      </p:grpSp>
      <p:grpSp>
        <p:nvGrpSpPr>
          <p:cNvPr name="Group 10" id="10"/>
          <p:cNvGrpSpPr/>
          <p:nvPr/>
        </p:nvGrpSpPr>
        <p:grpSpPr>
          <a:xfrm rot="0">
            <a:off x="1234345" y="4193409"/>
            <a:ext cx="2606040" cy="617220"/>
            <a:chOff x="0" y="0"/>
            <a:chExt cx="3474720" cy="822960"/>
          </a:xfrm>
        </p:grpSpPr>
        <p:sp>
          <p:nvSpPr>
            <p:cNvPr name="Freeform 11" id="11"/>
            <p:cNvSpPr/>
            <p:nvPr/>
          </p:nvSpPr>
          <p:spPr>
            <a:xfrm flipH="false" flipV="false" rot="0">
              <a:off x="0" y="0"/>
              <a:ext cx="3474720" cy="822960"/>
            </a:xfrm>
            <a:custGeom>
              <a:avLst/>
              <a:gdLst/>
              <a:ahLst/>
              <a:cxnLst/>
              <a:rect r="r" b="b" t="t" l="l"/>
              <a:pathLst>
                <a:path h="822960" w="3474720">
                  <a:moveTo>
                    <a:pt x="0" y="0"/>
                  </a:moveTo>
                  <a:lnTo>
                    <a:pt x="3474720" y="0"/>
                  </a:lnTo>
                  <a:lnTo>
                    <a:pt x="3474720" y="822960"/>
                  </a:lnTo>
                  <a:lnTo>
                    <a:pt x="0" y="822960"/>
                  </a:lnTo>
                  <a:close/>
                </a:path>
              </a:pathLst>
            </a:custGeom>
            <a:blipFill>
              <a:blip r:embed="rId2">
                <a:alphaModFix amt="0"/>
              </a:blip>
              <a:stretch>
                <a:fillRect l="0" t="-32270" r="0" b="-32270"/>
              </a:stretch>
            </a:blipFill>
          </p:spPr>
        </p:sp>
        <p:sp>
          <p:nvSpPr>
            <p:cNvPr name="TextBox 12" id="12"/>
            <p:cNvSpPr txBox="true"/>
            <p:nvPr/>
          </p:nvSpPr>
          <p:spPr>
            <a:xfrm>
              <a:off x="0" y="-9525"/>
              <a:ext cx="3474720" cy="832485"/>
            </a:xfrm>
            <a:prstGeom prst="rect">
              <a:avLst/>
            </a:prstGeom>
          </p:spPr>
          <p:txBody>
            <a:bodyPr anchor="ctr" rtlCol="false" tIns="0" lIns="0" bIns="0" rIns="0"/>
            <a:lstStyle/>
            <a:p>
              <a:pPr algn="l">
                <a:lnSpc>
                  <a:spcPts val="2520"/>
                </a:lnSpc>
              </a:pPr>
              <a:r>
                <a:rPr lang="en-US" sz="2100">
                  <a:solidFill>
                    <a:srgbClr val="8D99AE"/>
                  </a:solidFill>
                  <a:latin typeface="Courier New"/>
                  <a:ea typeface="Courier New"/>
                  <a:cs typeface="Courier New"/>
                  <a:sym typeface="Courier New"/>
                </a:rPr>
                <a:t>node</a:t>
              </a:r>
            </a:p>
          </p:txBody>
        </p:sp>
      </p:grpSp>
      <p:grpSp>
        <p:nvGrpSpPr>
          <p:cNvPr name="Group 13" id="13"/>
          <p:cNvGrpSpPr/>
          <p:nvPr/>
        </p:nvGrpSpPr>
        <p:grpSpPr>
          <a:xfrm rot="0">
            <a:off x="3977545" y="4193409"/>
            <a:ext cx="2057400" cy="617220"/>
            <a:chOff x="0" y="0"/>
            <a:chExt cx="2743200" cy="822960"/>
          </a:xfrm>
        </p:grpSpPr>
        <p:sp>
          <p:nvSpPr>
            <p:cNvPr name="Freeform 14" id="14"/>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2">
                <a:alphaModFix amt="0"/>
              </a:blip>
              <a:stretch>
                <a:fillRect l="0" t="-14950" r="0" b="-14950"/>
              </a:stretch>
            </a:blipFill>
          </p:spPr>
        </p:sp>
        <p:sp>
          <p:nvSpPr>
            <p:cNvPr name="TextBox 15" id="15"/>
            <p:cNvSpPr txBox="true"/>
            <p:nvPr/>
          </p:nvSpPr>
          <p:spPr>
            <a:xfrm>
              <a:off x="0" y="-9525"/>
              <a:ext cx="2743200" cy="832485"/>
            </a:xfrm>
            <a:prstGeom prst="rect">
              <a:avLst/>
            </a:prstGeom>
          </p:spPr>
          <p:txBody>
            <a:bodyPr anchor="ctr" rtlCol="false" tIns="0" lIns="0" bIns="0" rIns="0"/>
            <a:lstStyle/>
            <a:p>
              <a:pPr algn="l">
                <a:lnSpc>
                  <a:spcPts val="2520"/>
                </a:lnSpc>
              </a:pPr>
              <a:r>
                <a:rPr lang="en-US" sz="2100">
                  <a:solidFill>
                    <a:srgbClr val="8D99AE"/>
                  </a:solidFill>
                  <a:latin typeface="Courier New"/>
                  <a:ea typeface="Courier New"/>
                  <a:cs typeface="Courier New"/>
                  <a:sym typeface="Courier New"/>
                </a:rPr>
                <a:t>time</a:t>
              </a:r>
            </a:p>
          </p:txBody>
        </p:sp>
      </p:grpSp>
      <p:grpSp>
        <p:nvGrpSpPr>
          <p:cNvPr name="Group 16" id="16"/>
          <p:cNvGrpSpPr/>
          <p:nvPr/>
        </p:nvGrpSpPr>
        <p:grpSpPr>
          <a:xfrm rot="0">
            <a:off x="6172105" y="4193409"/>
            <a:ext cx="4526280" cy="617220"/>
            <a:chOff x="0" y="0"/>
            <a:chExt cx="6035040" cy="822960"/>
          </a:xfrm>
        </p:grpSpPr>
        <p:sp>
          <p:nvSpPr>
            <p:cNvPr name="Freeform 17" id="17"/>
            <p:cNvSpPr/>
            <p:nvPr/>
          </p:nvSpPr>
          <p:spPr>
            <a:xfrm flipH="false" flipV="false" rot="0">
              <a:off x="0" y="0"/>
              <a:ext cx="6035040" cy="822960"/>
            </a:xfrm>
            <a:custGeom>
              <a:avLst/>
              <a:gdLst/>
              <a:ahLst/>
              <a:cxnLst/>
              <a:rect r="r" b="b" t="t" l="l"/>
              <a:pathLst>
                <a:path h="822960" w="6035040">
                  <a:moveTo>
                    <a:pt x="0" y="0"/>
                  </a:moveTo>
                  <a:lnTo>
                    <a:pt x="6035040" y="0"/>
                  </a:lnTo>
                  <a:lnTo>
                    <a:pt x="6035040" y="822960"/>
                  </a:lnTo>
                  <a:lnTo>
                    <a:pt x="0" y="822960"/>
                  </a:lnTo>
                  <a:close/>
                </a:path>
              </a:pathLst>
            </a:custGeom>
            <a:blipFill>
              <a:blip r:embed="rId2">
                <a:alphaModFix amt="0"/>
              </a:blip>
              <a:stretch>
                <a:fillRect l="0" t="-92890" r="0" b="-92890"/>
              </a:stretch>
            </a:blipFill>
          </p:spPr>
        </p:sp>
        <p:sp>
          <p:nvSpPr>
            <p:cNvPr name="TextBox 18" id="18"/>
            <p:cNvSpPr txBox="true"/>
            <p:nvPr/>
          </p:nvSpPr>
          <p:spPr>
            <a:xfrm>
              <a:off x="0" y="-9525"/>
              <a:ext cx="6035040" cy="832485"/>
            </a:xfrm>
            <a:prstGeom prst="rect">
              <a:avLst/>
            </a:prstGeom>
          </p:spPr>
          <p:txBody>
            <a:bodyPr anchor="ctr" rtlCol="false" tIns="0" lIns="0" bIns="0" rIns="0"/>
            <a:lstStyle/>
            <a:p>
              <a:pPr algn="l">
                <a:lnSpc>
                  <a:spcPts val="2520"/>
                </a:lnSpc>
              </a:pPr>
              <a:r>
                <a:rPr lang="en-US" sz="2100">
                  <a:solidFill>
                    <a:srgbClr val="8D99AE"/>
                  </a:solidFill>
                  <a:latin typeface="Courier New"/>
                  <a:ea typeface="Courier New"/>
                  <a:cs typeface="Courier New"/>
                  <a:sym typeface="Courier New"/>
                </a:rPr>
                <a:t>output</a:t>
              </a:r>
            </a:p>
          </p:txBody>
        </p:sp>
      </p:grpSp>
      <p:grpSp>
        <p:nvGrpSpPr>
          <p:cNvPr name="Group 19" id="19"/>
          <p:cNvGrpSpPr/>
          <p:nvPr/>
        </p:nvGrpSpPr>
        <p:grpSpPr>
          <a:xfrm rot="0">
            <a:off x="1234345" y="5016369"/>
            <a:ext cx="2606040" cy="617220"/>
            <a:chOff x="0" y="0"/>
            <a:chExt cx="3474720" cy="822960"/>
          </a:xfrm>
        </p:grpSpPr>
        <p:sp>
          <p:nvSpPr>
            <p:cNvPr name="Freeform 20" id="20"/>
            <p:cNvSpPr/>
            <p:nvPr/>
          </p:nvSpPr>
          <p:spPr>
            <a:xfrm flipH="false" flipV="false" rot="0">
              <a:off x="0" y="0"/>
              <a:ext cx="3474720" cy="822960"/>
            </a:xfrm>
            <a:custGeom>
              <a:avLst/>
              <a:gdLst/>
              <a:ahLst/>
              <a:cxnLst/>
              <a:rect r="r" b="b" t="t" l="l"/>
              <a:pathLst>
                <a:path h="822960" w="3474720">
                  <a:moveTo>
                    <a:pt x="0" y="0"/>
                  </a:moveTo>
                  <a:lnTo>
                    <a:pt x="3474720" y="0"/>
                  </a:lnTo>
                  <a:lnTo>
                    <a:pt x="3474720" y="822960"/>
                  </a:lnTo>
                  <a:lnTo>
                    <a:pt x="0" y="822960"/>
                  </a:lnTo>
                  <a:close/>
                </a:path>
              </a:pathLst>
            </a:custGeom>
            <a:blipFill>
              <a:blip r:embed="rId2">
                <a:alphaModFix amt="0"/>
              </a:blip>
              <a:stretch>
                <a:fillRect l="0" t="-32270" r="0" b="-32270"/>
              </a:stretch>
            </a:blipFill>
          </p:spPr>
        </p:sp>
        <p:sp>
          <p:nvSpPr>
            <p:cNvPr name="TextBox 21" id="21"/>
            <p:cNvSpPr txBox="true"/>
            <p:nvPr/>
          </p:nvSpPr>
          <p:spPr>
            <a:xfrm>
              <a:off x="0" y="-9525"/>
              <a:ext cx="3474720" cy="832485"/>
            </a:xfrm>
            <a:prstGeom prst="rect">
              <a:avLst/>
            </a:prstGeom>
          </p:spPr>
          <p:txBody>
            <a:bodyPr anchor="ctr" rtlCol="false" tIns="0" lIns="0" bIns="0" rIns="0"/>
            <a:lstStyle/>
            <a:p>
              <a:pPr algn="l">
                <a:lnSpc>
                  <a:spcPts val="3240"/>
                </a:lnSpc>
              </a:pPr>
              <a:r>
                <a:rPr lang="en-US" b="true" sz="2700">
                  <a:solidFill>
                    <a:srgbClr val="0493FB"/>
                  </a:solidFill>
                  <a:latin typeface="Courier New Bold"/>
                  <a:ea typeface="Courier New Bold"/>
                  <a:cs typeface="Courier New Bold"/>
                  <a:sym typeface="Courier New Bold"/>
                </a:rPr>
                <a:t>intake</a:t>
              </a:r>
            </a:p>
          </p:txBody>
        </p:sp>
      </p:grpSp>
      <p:grpSp>
        <p:nvGrpSpPr>
          <p:cNvPr name="Group 22" id="22"/>
          <p:cNvGrpSpPr/>
          <p:nvPr/>
        </p:nvGrpSpPr>
        <p:grpSpPr>
          <a:xfrm rot="0">
            <a:off x="3977545" y="5016369"/>
            <a:ext cx="2057400" cy="617220"/>
            <a:chOff x="0" y="0"/>
            <a:chExt cx="2743200" cy="822960"/>
          </a:xfrm>
        </p:grpSpPr>
        <p:sp>
          <p:nvSpPr>
            <p:cNvPr name="Freeform 23" id="23"/>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2">
                <a:alphaModFix amt="0"/>
              </a:blip>
              <a:stretch>
                <a:fillRect l="0" t="-14950" r="0" b="-14950"/>
              </a:stretch>
            </a:blipFill>
          </p:spPr>
        </p:sp>
        <p:sp>
          <p:nvSpPr>
            <p:cNvPr name="TextBox 24" id="24"/>
            <p:cNvSpPr txBox="true"/>
            <p:nvPr/>
          </p:nvSpPr>
          <p:spPr>
            <a:xfrm>
              <a:off x="0" y="-9525"/>
              <a:ext cx="2743200" cy="832485"/>
            </a:xfrm>
            <a:prstGeom prst="rect">
              <a:avLst/>
            </a:prstGeom>
          </p:spPr>
          <p:txBody>
            <a:bodyPr anchor="ctr" rtlCol="false" tIns="0" lIns="0" bIns="0" rIns="0"/>
            <a:lstStyle/>
            <a:p>
              <a:pPr algn="l">
                <a:lnSpc>
                  <a:spcPts val="3240"/>
                </a:lnSpc>
              </a:pPr>
              <a:r>
                <a:rPr lang="en-US" sz="2700">
                  <a:solidFill>
                    <a:srgbClr val="FFFFFF"/>
                  </a:solidFill>
                  <a:latin typeface="Courier New"/>
                  <a:ea typeface="Courier New"/>
                  <a:cs typeface="Courier New"/>
                  <a:sym typeface="Courier New"/>
                </a:rPr>
                <a:t>812 ms</a:t>
              </a:r>
            </a:p>
          </p:txBody>
        </p:sp>
      </p:grpSp>
      <p:grpSp>
        <p:nvGrpSpPr>
          <p:cNvPr name="Group 25" id="25"/>
          <p:cNvGrpSpPr/>
          <p:nvPr/>
        </p:nvGrpSpPr>
        <p:grpSpPr>
          <a:xfrm rot="0">
            <a:off x="6172105" y="5016369"/>
            <a:ext cx="4526280" cy="617220"/>
            <a:chOff x="0" y="0"/>
            <a:chExt cx="6035040" cy="822960"/>
          </a:xfrm>
        </p:grpSpPr>
        <p:sp>
          <p:nvSpPr>
            <p:cNvPr name="Freeform 26" id="26"/>
            <p:cNvSpPr/>
            <p:nvPr/>
          </p:nvSpPr>
          <p:spPr>
            <a:xfrm flipH="false" flipV="false" rot="0">
              <a:off x="0" y="0"/>
              <a:ext cx="6035040" cy="822960"/>
            </a:xfrm>
            <a:custGeom>
              <a:avLst/>
              <a:gdLst/>
              <a:ahLst/>
              <a:cxnLst/>
              <a:rect r="r" b="b" t="t" l="l"/>
              <a:pathLst>
                <a:path h="822960" w="6035040">
                  <a:moveTo>
                    <a:pt x="0" y="0"/>
                  </a:moveTo>
                  <a:lnTo>
                    <a:pt x="6035040" y="0"/>
                  </a:lnTo>
                  <a:lnTo>
                    <a:pt x="6035040" y="822960"/>
                  </a:lnTo>
                  <a:lnTo>
                    <a:pt x="0" y="822960"/>
                  </a:lnTo>
                  <a:close/>
                </a:path>
              </a:pathLst>
            </a:custGeom>
            <a:blipFill>
              <a:blip r:embed="rId2">
                <a:alphaModFix amt="0"/>
              </a:blip>
              <a:stretch>
                <a:fillRect l="0" t="-92890" r="0" b="-92890"/>
              </a:stretch>
            </a:blipFill>
          </p:spPr>
        </p:sp>
        <p:sp>
          <p:nvSpPr>
            <p:cNvPr name="TextBox 27" id="27"/>
            <p:cNvSpPr txBox="true"/>
            <p:nvPr/>
          </p:nvSpPr>
          <p:spPr>
            <a:xfrm>
              <a:off x="0" y="-9525"/>
              <a:ext cx="6035040" cy="832485"/>
            </a:xfrm>
            <a:prstGeom prst="rect">
              <a:avLst/>
            </a:prstGeom>
          </p:spPr>
          <p:txBody>
            <a:bodyPr anchor="ctr" rtlCol="false" tIns="0" lIns="0" bIns="0" rIns="0"/>
            <a:lstStyle/>
            <a:p>
              <a:pPr algn="l">
                <a:lnSpc>
                  <a:spcPts val="3240"/>
                </a:lnSpc>
              </a:pPr>
              <a:r>
                <a:rPr lang="en-US" sz="2700">
                  <a:solidFill>
                    <a:srgbClr val="FFFFFF"/>
                  </a:solidFill>
                  <a:latin typeface="Courier New"/>
                  <a:ea typeface="Courier New"/>
                  <a:cs typeface="Courier New"/>
                  <a:sym typeface="Courier New"/>
                </a:rPr>
                <a:t>technical (0.92)</a:t>
              </a:r>
            </a:p>
          </p:txBody>
        </p:sp>
      </p:grpSp>
      <p:grpSp>
        <p:nvGrpSpPr>
          <p:cNvPr name="Group 28" id="28"/>
          <p:cNvGrpSpPr/>
          <p:nvPr/>
        </p:nvGrpSpPr>
        <p:grpSpPr>
          <a:xfrm rot="0">
            <a:off x="1234345" y="5839329"/>
            <a:ext cx="2606040" cy="617220"/>
            <a:chOff x="0" y="0"/>
            <a:chExt cx="3474720" cy="822960"/>
          </a:xfrm>
        </p:grpSpPr>
        <p:sp>
          <p:nvSpPr>
            <p:cNvPr name="Freeform 29" id="29"/>
            <p:cNvSpPr/>
            <p:nvPr/>
          </p:nvSpPr>
          <p:spPr>
            <a:xfrm flipH="false" flipV="false" rot="0">
              <a:off x="0" y="0"/>
              <a:ext cx="3474720" cy="822960"/>
            </a:xfrm>
            <a:custGeom>
              <a:avLst/>
              <a:gdLst/>
              <a:ahLst/>
              <a:cxnLst/>
              <a:rect r="r" b="b" t="t" l="l"/>
              <a:pathLst>
                <a:path h="822960" w="3474720">
                  <a:moveTo>
                    <a:pt x="0" y="0"/>
                  </a:moveTo>
                  <a:lnTo>
                    <a:pt x="3474720" y="0"/>
                  </a:lnTo>
                  <a:lnTo>
                    <a:pt x="3474720" y="822960"/>
                  </a:lnTo>
                  <a:lnTo>
                    <a:pt x="0" y="822960"/>
                  </a:lnTo>
                  <a:close/>
                </a:path>
              </a:pathLst>
            </a:custGeom>
            <a:blipFill>
              <a:blip r:embed="rId2">
                <a:alphaModFix amt="0"/>
              </a:blip>
              <a:stretch>
                <a:fillRect l="0" t="-32270" r="0" b="-32270"/>
              </a:stretch>
            </a:blipFill>
          </p:spPr>
        </p:sp>
        <p:sp>
          <p:nvSpPr>
            <p:cNvPr name="TextBox 30" id="30"/>
            <p:cNvSpPr txBox="true"/>
            <p:nvPr/>
          </p:nvSpPr>
          <p:spPr>
            <a:xfrm>
              <a:off x="0" y="-9525"/>
              <a:ext cx="3474720" cy="832485"/>
            </a:xfrm>
            <a:prstGeom prst="rect">
              <a:avLst/>
            </a:prstGeom>
          </p:spPr>
          <p:txBody>
            <a:bodyPr anchor="ctr" rtlCol="false" tIns="0" lIns="0" bIns="0" rIns="0"/>
            <a:lstStyle/>
            <a:p>
              <a:pPr algn="l">
                <a:lnSpc>
                  <a:spcPts val="3240"/>
                </a:lnSpc>
              </a:pPr>
              <a:r>
                <a:rPr lang="en-US" sz="2700" b="true">
                  <a:solidFill>
                    <a:srgbClr val="FFFFFF"/>
                  </a:solidFill>
                  <a:latin typeface="Courier New Bold"/>
                  <a:ea typeface="Courier New Bold"/>
                  <a:cs typeface="Courier New Bold"/>
                  <a:sym typeface="Courier New Bold"/>
                </a:rPr>
                <a:t>validate</a:t>
              </a:r>
            </a:p>
          </p:txBody>
        </p:sp>
      </p:grpSp>
      <p:grpSp>
        <p:nvGrpSpPr>
          <p:cNvPr name="Group 31" id="31"/>
          <p:cNvGrpSpPr/>
          <p:nvPr/>
        </p:nvGrpSpPr>
        <p:grpSpPr>
          <a:xfrm rot="0">
            <a:off x="3977545" y="5839329"/>
            <a:ext cx="2057400" cy="617220"/>
            <a:chOff x="0" y="0"/>
            <a:chExt cx="2743200" cy="822960"/>
          </a:xfrm>
        </p:grpSpPr>
        <p:sp>
          <p:nvSpPr>
            <p:cNvPr name="Freeform 32" id="32"/>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2">
                <a:alphaModFix amt="0"/>
              </a:blip>
              <a:stretch>
                <a:fillRect l="0" t="-14950" r="0" b="-14950"/>
              </a:stretch>
            </a:blipFill>
          </p:spPr>
        </p:sp>
        <p:sp>
          <p:nvSpPr>
            <p:cNvPr name="TextBox 33" id="33"/>
            <p:cNvSpPr txBox="true"/>
            <p:nvPr/>
          </p:nvSpPr>
          <p:spPr>
            <a:xfrm>
              <a:off x="0" y="-9525"/>
              <a:ext cx="2743200" cy="832485"/>
            </a:xfrm>
            <a:prstGeom prst="rect">
              <a:avLst/>
            </a:prstGeom>
          </p:spPr>
          <p:txBody>
            <a:bodyPr anchor="ctr" rtlCol="false" tIns="0" lIns="0" bIns="0" rIns="0"/>
            <a:lstStyle/>
            <a:p>
              <a:pPr algn="l">
                <a:lnSpc>
                  <a:spcPts val="3240"/>
                </a:lnSpc>
              </a:pPr>
              <a:r>
                <a:rPr lang="en-US" sz="2700">
                  <a:solidFill>
                    <a:srgbClr val="FFFFFF"/>
                  </a:solidFill>
                  <a:latin typeface="Courier New"/>
                  <a:ea typeface="Courier New"/>
                  <a:cs typeface="Courier New"/>
                  <a:sym typeface="Courier New"/>
                </a:rPr>
                <a:t>0.1 ms</a:t>
              </a:r>
            </a:p>
          </p:txBody>
        </p:sp>
      </p:grpSp>
      <p:grpSp>
        <p:nvGrpSpPr>
          <p:cNvPr name="Group 34" id="34"/>
          <p:cNvGrpSpPr/>
          <p:nvPr/>
        </p:nvGrpSpPr>
        <p:grpSpPr>
          <a:xfrm rot="0">
            <a:off x="6172105" y="5839329"/>
            <a:ext cx="4526280" cy="617220"/>
            <a:chOff x="0" y="0"/>
            <a:chExt cx="6035040" cy="822960"/>
          </a:xfrm>
        </p:grpSpPr>
        <p:sp>
          <p:nvSpPr>
            <p:cNvPr name="Freeform 35" id="35"/>
            <p:cNvSpPr/>
            <p:nvPr/>
          </p:nvSpPr>
          <p:spPr>
            <a:xfrm flipH="false" flipV="false" rot="0">
              <a:off x="0" y="0"/>
              <a:ext cx="6035040" cy="822960"/>
            </a:xfrm>
            <a:custGeom>
              <a:avLst/>
              <a:gdLst/>
              <a:ahLst/>
              <a:cxnLst/>
              <a:rect r="r" b="b" t="t" l="l"/>
              <a:pathLst>
                <a:path h="822960" w="6035040">
                  <a:moveTo>
                    <a:pt x="0" y="0"/>
                  </a:moveTo>
                  <a:lnTo>
                    <a:pt x="6035040" y="0"/>
                  </a:lnTo>
                  <a:lnTo>
                    <a:pt x="6035040" y="822960"/>
                  </a:lnTo>
                  <a:lnTo>
                    <a:pt x="0" y="822960"/>
                  </a:lnTo>
                  <a:close/>
                </a:path>
              </a:pathLst>
            </a:custGeom>
            <a:blipFill>
              <a:blip r:embed="rId2">
                <a:alphaModFix amt="0"/>
              </a:blip>
              <a:stretch>
                <a:fillRect l="0" t="-92890" r="0" b="-92890"/>
              </a:stretch>
            </a:blipFill>
          </p:spPr>
        </p:sp>
        <p:sp>
          <p:nvSpPr>
            <p:cNvPr name="TextBox 36" id="36"/>
            <p:cNvSpPr txBox="true"/>
            <p:nvPr/>
          </p:nvSpPr>
          <p:spPr>
            <a:xfrm>
              <a:off x="0" y="-9525"/>
              <a:ext cx="6035040" cy="832485"/>
            </a:xfrm>
            <a:prstGeom prst="rect">
              <a:avLst/>
            </a:prstGeom>
          </p:spPr>
          <p:txBody>
            <a:bodyPr anchor="ctr" rtlCol="false" tIns="0" lIns="0" bIns="0" rIns="0"/>
            <a:lstStyle/>
            <a:p>
              <a:pPr algn="l">
                <a:lnSpc>
                  <a:spcPts val="3240"/>
                </a:lnSpc>
              </a:pPr>
              <a:r>
                <a:rPr lang="en-US" sz="2700">
                  <a:solidFill>
                    <a:srgbClr val="FFFFFF"/>
                  </a:solidFill>
                  <a:latin typeface="Courier New"/>
                  <a:ea typeface="Courier New"/>
                  <a:cs typeface="Courier New"/>
                  <a:sym typeface="Courier New"/>
                </a:rPr>
                <a:t>passed</a:t>
              </a:r>
            </a:p>
          </p:txBody>
        </p:sp>
      </p:grpSp>
      <p:grpSp>
        <p:nvGrpSpPr>
          <p:cNvPr name="Group 37" id="37"/>
          <p:cNvGrpSpPr/>
          <p:nvPr/>
        </p:nvGrpSpPr>
        <p:grpSpPr>
          <a:xfrm rot="0">
            <a:off x="1234345" y="6662289"/>
            <a:ext cx="2606040" cy="617220"/>
            <a:chOff x="0" y="0"/>
            <a:chExt cx="3474720" cy="822960"/>
          </a:xfrm>
        </p:grpSpPr>
        <p:sp>
          <p:nvSpPr>
            <p:cNvPr name="Freeform 38" id="38"/>
            <p:cNvSpPr/>
            <p:nvPr/>
          </p:nvSpPr>
          <p:spPr>
            <a:xfrm flipH="false" flipV="false" rot="0">
              <a:off x="0" y="0"/>
              <a:ext cx="3474720" cy="822960"/>
            </a:xfrm>
            <a:custGeom>
              <a:avLst/>
              <a:gdLst/>
              <a:ahLst/>
              <a:cxnLst/>
              <a:rect r="r" b="b" t="t" l="l"/>
              <a:pathLst>
                <a:path h="822960" w="3474720">
                  <a:moveTo>
                    <a:pt x="0" y="0"/>
                  </a:moveTo>
                  <a:lnTo>
                    <a:pt x="3474720" y="0"/>
                  </a:lnTo>
                  <a:lnTo>
                    <a:pt x="3474720" y="822960"/>
                  </a:lnTo>
                  <a:lnTo>
                    <a:pt x="0" y="822960"/>
                  </a:lnTo>
                  <a:close/>
                </a:path>
              </a:pathLst>
            </a:custGeom>
            <a:blipFill>
              <a:blip r:embed="rId2">
                <a:alphaModFix amt="0"/>
              </a:blip>
              <a:stretch>
                <a:fillRect l="0" t="-32270" r="0" b="-32270"/>
              </a:stretch>
            </a:blipFill>
          </p:spPr>
        </p:sp>
        <p:sp>
          <p:nvSpPr>
            <p:cNvPr name="TextBox 39" id="39"/>
            <p:cNvSpPr txBox="true"/>
            <p:nvPr/>
          </p:nvSpPr>
          <p:spPr>
            <a:xfrm>
              <a:off x="0" y="-9525"/>
              <a:ext cx="3474720" cy="832485"/>
            </a:xfrm>
            <a:prstGeom prst="rect">
              <a:avLst/>
            </a:prstGeom>
          </p:spPr>
          <p:txBody>
            <a:bodyPr anchor="ctr" rtlCol="false" tIns="0" lIns="0" bIns="0" rIns="0"/>
            <a:lstStyle/>
            <a:p>
              <a:pPr algn="l">
                <a:lnSpc>
                  <a:spcPts val="3240"/>
                </a:lnSpc>
              </a:pPr>
              <a:r>
                <a:rPr lang="en-US" sz="2700" b="true">
                  <a:solidFill>
                    <a:srgbClr val="FFFFFF"/>
                  </a:solidFill>
                  <a:latin typeface="Courier New Bold"/>
                  <a:ea typeface="Courier New Bold"/>
                  <a:cs typeface="Courier New Bold"/>
                  <a:sym typeface="Courier New Bold"/>
                </a:rPr>
                <a:t>priority</a:t>
              </a:r>
            </a:p>
          </p:txBody>
        </p:sp>
      </p:grpSp>
      <p:grpSp>
        <p:nvGrpSpPr>
          <p:cNvPr name="Group 40" id="40"/>
          <p:cNvGrpSpPr/>
          <p:nvPr/>
        </p:nvGrpSpPr>
        <p:grpSpPr>
          <a:xfrm rot="0">
            <a:off x="3977545" y="6662289"/>
            <a:ext cx="2057400" cy="617220"/>
            <a:chOff x="0" y="0"/>
            <a:chExt cx="2743200" cy="822960"/>
          </a:xfrm>
        </p:grpSpPr>
        <p:sp>
          <p:nvSpPr>
            <p:cNvPr name="Freeform 41" id="41"/>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2">
                <a:alphaModFix amt="0"/>
              </a:blip>
              <a:stretch>
                <a:fillRect l="0" t="-14950" r="0" b="-14950"/>
              </a:stretch>
            </a:blipFill>
          </p:spPr>
        </p:sp>
        <p:sp>
          <p:nvSpPr>
            <p:cNvPr name="TextBox 42" id="42"/>
            <p:cNvSpPr txBox="true"/>
            <p:nvPr/>
          </p:nvSpPr>
          <p:spPr>
            <a:xfrm>
              <a:off x="0" y="-9525"/>
              <a:ext cx="2743200" cy="832485"/>
            </a:xfrm>
            <a:prstGeom prst="rect">
              <a:avLst/>
            </a:prstGeom>
          </p:spPr>
          <p:txBody>
            <a:bodyPr anchor="ctr" rtlCol="false" tIns="0" lIns="0" bIns="0" rIns="0"/>
            <a:lstStyle/>
            <a:p>
              <a:pPr algn="l">
                <a:lnSpc>
                  <a:spcPts val="3240"/>
                </a:lnSpc>
              </a:pPr>
              <a:r>
                <a:rPr lang="en-US" sz="2700">
                  <a:solidFill>
                    <a:srgbClr val="FFFFFF"/>
                  </a:solidFill>
                  <a:latin typeface="Courier New"/>
                  <a:ea typeface="Courier New"/>
                  <a:cs typeface="Courier New"/>
                  <a:sym typeface="Courier New"/>
                </a:rPr>
                <a:t>0.1 ms</a:t>
              </a:r>
            </a:p>
          </p:txBody>
        </p:sp>
      </p:grpSp>
      <p:grpSp>
        <p:nvGrpSpPr>
          <p:cNvPr name="Group 43" id="43"/>
          <p:cNvGrpSpPr/>
          <p:nvPr/>
        </p:nvGrpSpPr>
        <p:grpSpPr>
          <a:xfrm rot="0">
            <a:off x="6172105" y="6662289"/>
            <a:ext cx="4526280" cy="617220"/>
            <a:chOff x="0" y="0"/>
            <a:chExt cx="6035040" cy="822960"/>
          </a:xfrm>
        </p:grpSpPr>
        <p:sp>
          <p:nvSpPr>
            <p:cNvPr name="Freeform 44" id="44"/>
            <p:cNvSpPr/>
            <p:nvPr/>
          </p:nvSpPr>
          <p:spPr>
            <a:xfrm flipH="false" flipV="false" rot="0">
              <a:off x="0" y="0"/>
              <a:ext cx="6035040" cy="822960"/>
            </a:xfrm>
            <a:custGeom>
              <a:avLst/>
              <a:gdLst/>
              <a:ahLst/>
              <a:cxnLst/>
              <a:rect r="r" b="b" t="t" l="l"/>
              <a:pathLst>
                <a:path h="822960" w="6035040">
                  <a:moveTo>
                    <a:pt x="0" y="0"/>
                  </a:moveTo>
                  <a:lnTo>
                    <a:pt x="6035040" y="0"/>
                  </a:lnTo>
                  <a:lnTo>
                    <a:pt x="6035040" y="822960"/>
                  </a:lnTo>
                  <a:lnTo>
                    <a:pt x="0" y="822960"/>
                  </a:lnTo>
                  <a:close/>
                </a:path>
              </a:pathLst>
            </a:custGeom>
            <a:blipFill>
              <a:blip r:embed="rId2">
                <a:alphaModFix amt="0"/>
              </a:blip>
              <a:stretch>
                <a:fillRect l="0" t="-92890" r="0" b="-92890"/>
              </a:stretch>
            </a:blipFill>
          </p:spPr>
        </p:sp>
        <p:sp>
          <p:nvSpPr>
            <p:cNvPr name="TextBox 45" id="45"/>
            <p:cNvSpPr txBox="true"/>
            <p:nvPr/>
          </p:nvSpPr>
          <p:spPr>
            <a:xfrm>
              <a:off x="0" y="-9525"/>
              <a:ext cx="6035040" cy="832485"/>
            </a:xfrm>
            <a:prstGeom prst="rect">
              <a:avLst/>
            </a:prstGeom>
          </p:spPr>
          <p:txBody>
            <a:bodyPr anchor="ctr" rtlCol="false" tIns="0" lIns="0" bIns="0" rIns="0"/>
            <a:lstStyle/>
            <a:p>
              <a:pPr algn="l">
                <a:lnSpc>
                  <a:spcPts val="3240"/>
                </a:lnSpc>
              </a:pPr>
              <a:r>
                <a:rPr lang="en-US" sz="2700">
                  <a:solidFill>
                    <a:srgbClr val="FFFFFF"/>
                  </a:solidFill>
                  <a:latin typeface="Courier New"/>
                  <a:ea typeface="Courier New"/>
                  <a:cs typeface="Courier New"/>
                  <a:sym typeface="Courier New"/>
                </a:rPr>
                <a:t>high</a:t>
              </a:r>
            </a:p>
          </p:txBody>
        </p:sp>
      </p:grpSp>
      <p:grpSp>
        <p:nvGrpSpPr>
          <p:cNvPr name="Group 46" id="46"/>
          <p:cNvGrpSpPr/>
          <p:nvPr/>
        </p:nvGrpSpPr>
        <p:grpSpPr>
          <a:xfrm rot="0">
            <a:off x="1234345" y="7485249"/>
            <a:ext cx="2606040" cy="617220"/>
            <a:chOff x="0" y="0"/>
            <a:chExt cx="3474720" cy="822960"/>
          </a:xfrm>
        </p:grpSpPr>
        <p:sp>
          <p:nvSpPr>
            <p:cNvPr name="Freeform 47" id="47"/>
            <p:cNvSpPr/>
            <p:nvPr/>
          </p:nvSpPr>
          <p:spPr>
            <a:xfrm flipH="false" flipV="false" rot="0">
              <a:off x="0" y="0"/>
              <a:ext cx="3474720" cy="822960"/>
            </a:xfrm>
            <a:custGeom>
              <a:avLst/>
              <a:gdLst/>
              <a:ahLst/>
              <a:cxnLst/>
              <a:rect r="r" b="b" t="t" l="l"/>
              <a:pathLst>
                <a:path h="822960" w="3474720">
                  <a:moveTo>
                    <a:pt x="0" y="0"/>
                  </a:moveTo>
                  <a:lnTo>
                    <a:pt x="3474720" y="0"/>
                  </a:lnTo>
                  <a:lnTo>
                    <a:pt x="3474720" y="822960"/>
                  </a:lnTo>
                  <a:lnTo>
                    <a:pt x="0" y="822960"/>
                  </a:lnTo>
                  <a:close/>
                </a:path>
              </a:pathLst>
            </a:custGeom>
            <a:blipFill>
              <a:blip r:embed="rId2">
                <a:alphaModFix amt="0"/>
              </a:blip>
              <a:stretch>
                <a:fillRect l="0" t="-32270" r="0" b="-32270"/>
              </a:stretch>
            </a:blipFill>
          </p:spPr>
        </p:sp>
        <p:sp>
          <p:nvSpPr>
            <p:cNvPr name="TextBox 48" id="48"/>
            <p:cNvSpPr txBox="true"/>
            <p:nvPr/>
          </p:nvSpPr>
          <p:spPr>
            <a:xfrm>
              <a:off x="0" y="-9525"/>
              <a:ext cx="3474720" cy="832485"/>
            </a:xfrm>
            <a:prstGeom prst="rect">
              <a:avLst/>
            </a:prstGeom>
          </p:spPr>
          <p:txBody>
            <a:bodyPr anchor="ctr" rtlCol="false" tIns="0" lIns="0" bIns="0" rIns="0"/>
            <a:lstStyle/>
            <a:p>
              <a:pPr algn="l">
                <a:lnSpc>
                  <a:spcPts val="3240"/>
                </a:lnSpc>
              </a:pPr>
              <a:r>
                <a:rPr lang="en-US" sz="2700" b="true">
                  <a:solidFill>
                    <a:srgbClr val="FFFFFF"/>
                  </a:solidFill>
                  <a:latin typeface="Courier New Bold"/>
                  <a:ea typeface="Courier New Bold"/>
                  <a:cs typeface="Courier New Bold"/>
                  <a:sym typeface="Courier New Bold"/>
                </a:rPr>
                <a:t>route</a:t>
              </a:r>
            </a:p>
          </p:txBody>
        </p:sp>
      </p:grpSp>
      <p:grpSp>
        <p:nvGrpSpPr>
          <p:cNvPr name="Group 49" id="49"/>
          <p:cNvGrpSpPr/>
          <p:nvPr/>
        </p:nvGrpSpPr>
        <p:grpSpPr>
          <a:xfrm rot="0">
            <a:off x="3977545" y="7485249"/>
            <a:ext cx="2057400" cy="617220"/>
            <a:chOff x="0" y="0"/>
            <a:chExt cx="2743200" cy="822960"/>
          </a:xfrm>
        </p:grpSpPr>
        <p:sp>
          <p:nvSpPr>
            <p:cNvPr name="Freeform 50" id="50"/>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2">
                <a:alphaModFix amt="0"/>
              </a:blip>
              <a:stretch>
                <a:fillRect l="0" t="-14950" r="0" b="-14950"/>
              </a:stretch>
            </a:blipFill>
          </p:spPr>
        </p:sp>
        <p:sp>
          <p:nvSpPr>
            <p:cNvPr name="TextBox 51" id="51"/>
            <p:cNvSpPr txBox="true"/>
            <p:nvPr/>
          </p:nvSpPr>
          <p:spPr>
            <a:xfrm>
              <a:off x="0" y="-9525"/>
              <a:ext cx="2743200" cy="832485"/>
            </a:xfrm>
            <a:prstGeom prst="rect">
              <a:avLst/>
            </a:prstGeom>
          </p:spPr>
          <p:txBody>
            <a:bodyPr anchor="ctr" rtlCol="false" tIns="0" lIns="0" bIns="0" rIns="0"/>
            <a:lstStyle/>
            <a:p>
              <a:pPr algn="l">
                <a:lnSpc>
                  <a:spcPts val="3240"/>
                </a:lnSpc>
              </a:pPr>
              <a:r>
                <a:rPr lang="en-US" sz="2700">
                  <a:solidFill>
                    <a:srgbClr val="FFFFFF"/>
                  </a:solidFill>
                  <a:latin typeface="Courier New"/>
                  <a:ea typeface="Courier New"/>
                  <a:cs typeface="Courier New"/>
                  <a:sym typeface="Courier New"/>
                </a:rPr>
                <a:t>0.2 ms</a:t>
              </a:r>
            </a:p>
          </p:txBody>
        </p:sp>
      </p:grpSp>
      <p:grpSp>
        <p:nvGrpSpPr>
          <p:cNvPr name="Group 52" id="52"/>
          <p:cNvGrpSpPr/>
          <p:nvPr/>
        </p:nvGrpSpPr>
        <p:grpSpPr>
          <a:xfrm rot="0">
            <a:off x="6172105" y="7485249"/>
            <a:ext cx="4526280" cy="617220"/>
            <a:chOff x="0" y="0"/>
            <a:chExt cx="6035040" cy="822960"/>
          </a:xfrm>
        </p:grpSpPr>
        <p:sp>
          <p:nvSpPr>
            <p:cNvPr name="Freeform 53" id="53"/>
            <p:cNvSpPr/>
            <p:nvPr/>
          </p:nvSpPr>
          <p:spPr>
            <a:xfrm flipH="false" flipV="false" rot="0">
              <a:off x="0" y="0"/>
              <a:ext cx="6035040" cy="822960"/>
            </a:xfrm>
            <a:custGeom>
              <a:avLst/>
              <a:gdLst/>
              <a:ahLst/>
              <a:cxnLst/>
              <a:rect r="r" b="b" t="t" l="l"/>
              <a:pathLst>
                <a:path h="822960" w="6035040">
                  <a:moveTo>
                    <a:pt x="0" y="0"/>
                  </a:moveTo>
                  <a:lnTo>
                    <a:pt x="6035040" y="0"/>
                  </a:lnTo>
                  <a:lnTo>
                    <a:pt x="6035040" y="822960"/>
                  </a:lnTo>
                  <a:lnTo>
                    <a:pt x="0" y="822960"/>
                  </a:lnTo>
                  <a:close/>
                </a:path>
              </a:pathLst>
            </a:custGeom>
            <a:blipFill>
              <a:blip r:embed="rId2">
                <a:alphaModFix amt="0"/>
              </a:blip>
              <a:stretch>
                <a:fillRect l="0" t="-92890" r="0" b="-92890"/>
              </a:stretch>
            </a:blipFill>
          </p:spPr>
        </p:sp>
        <p:sp>
          <p:nvSpPr>
            <p:cNvPr name="TextBox 54" id="54"/>
            <p:cNvSpPr txBox="true"/>
            <p:nvPr/>
          </p:nvSpPr>
          <p:spPr>
            <a:xfrm>
              <a:off x="0" y="-9525"/>
              <a:ext cx="6035040" cy="832485"/>
            </a:xfrm>
            <a:prstGeom prst="rect">
              <a:avLst/>
            </a:prstGeom>
          </p:spPr>
          <p:txBody>
            <a:bodyPr anchor="ctr" rtlCol="false" tIns="0" lIns="0" bIns="0" rIns="0"/>
            <a:lstStyle/>
            <a:p>
              <a:pPr algn="l">
                <a:lnSpc>
                  <a:spcPts val="3240"/>
                </a:lnSpc>
              </a:pPr>
              <a:r>
                <a:rPr lang="en-US" sz="2700">
                  <a:solidFill>
                    <a:srgbClr val="FFFFFF"/>
                  </a:solidFill>
                  <a:latin typeface="Courier New"/>
                  <a:ea typeface="Courier New"/>
                  <a:cs typeface="Courier New"/>
                  <a:sym typeface="Courier New"/>
                </a:rPr>
                <a:t>→ Technical team</a:t>
              </a:r>
            </a:p>
          </p:txBody>
        </p:sp>
      </p:grpSp>
      <p:grpSp>
        <p:nvGrpSpPr>
          <p:cNvPr name="Group 55" id="55"/>
          <p:cNvGrpSpPr/>
          <p:nvPr/>
        </p:nvGrpSpPr>
        <p:grpSpPr>
          <a:xfrm rot="0">
            <a:off x="11507057" y="3287582"/>
            <a:ext cx="5967603" cy="2428875"/>
            <a:chOff x="0" y="0"/>
            <a:chExt cx="7956804" cy="3238500"/>
          </a:xfrm>
        </p:grpSpPr>
        <p:sp>
          <p:nvSpPr>
            <p:cNvPr name="Freeform 56" id="56"/>
            <p:cNvSpPr/>
            <p:nvPr/>
          </p:nvSpPr>
          <p:spPr>
            <a:xfrm flipH="false" flipV="false" rot="0">
              <a:off x="0" y="0"/>
              <a:ext cx="7956804" cy="3238500"/>
            </a:xfrm>
            <a:custGeom>
              <a:avLst/>
              <a:gdLst/>
              <a:ahLst/>
              <a:cxnLst/>
              <a:rect r="r" b="b" t="t" l="l"/>
              <a:pathLst>
                <a:path h="3238500" w="7956804">
                  <a:moveTo>
                    <a:pt x="0" y="222123"/>
                  </a:moveTo>
                  <a:cubicBezTo>
                    <a:pt x="0" y="99441"/>
                    <a:pt x="99441" y="0"/>
                    <a:pt x="222123" y="0"/>
                  </a:cubicBezTo>
                  <a:lnTo>
                    <a:pt x="7734681" y="0"/>
                  </a:lnTo>
                  <a:cubicBezTo>
                    <a:pt x="7857363" y="0"/>
                    <a:pt x="7956804" y="99441"/>
                    <a:pt x="7956804" y="222123"/>
                  </a:cubicBezTo>
                  <a:lnTo>
                    <a:pt x="7956804" y="3016377"/>
                  </a:lnTo>
                  <a:cubicBezTo>
                    <a:pt x="7956804" y="3139059"/>
                    <a:pt x="7857363" y="3238500"/>
                    <a:pt x="7734681" y="3238500"/>
                  </a:cubicBezTo>
                  <a:lnTo>
                    <a:pt x="222123" y="3238500"/>
                  </a:lnTo>
                  <a:cubicBezTo>
                    <a:pt x="99441" y="3238500"/>
                    <a:pt x="0" y="3139059"/>
                    <a:pt x="0" y="3016377"/>
                  </a:cubicBezTo>
                  <a:close/>
                </a:path>
              </a:pathLst>
            </a:custGeom>
            <a:solidFill>
              <a:srgbClr val="FFFFFF"/>
            </a:solidFill>
            <a:ln w="28575" cap="sq">
              <a:solidFill>
                <a:srgbClr val="FFFFFF"/>
              </a:solidFill>
              <a:prstDash val="solid"/>
              <a:miter/>
            </a:ln>
          </p:spPr>
        </p:sp>
      </p:grpSp>
      <p:sp>
        <p:nvSpPr>
          <p:cNvPr name="TextBox 57" id="57"/>
          <p:cNvSpPr txBox="true"/>
          <p:nvPr/>
        </p:nvSpPr>
        <p:spPr>
          <a:xfrm rot="0">
            <a:off x="11932825" y="3450459"/>
            <a:ext cx="5212080" cy="605790"/>
          </a:xfrm>
          <a:prstGeom prst="rect">
            <a:avLst/>
          </a:prstGeom>
        </p:spPr>
        <p:txBody>
          <a:bodyPr anchor="t" rtlCol="false" tIns="0" lIns="0" bIns="0" rIns="0">
            <a:spAutoFit/>
          </a:bodyPr>
          <a:lstStyle/>
          <a:p>
            <a:pPr algn="l">
              <a:lnSpc>
                <a:spcPts val="3240"/>
              </a:lnSpc>
            </a:pPr>
            <a:r>
              <a:rPr lang="en-US" sz="2700" b="true">
                <a:solidFill>
                  <a:srgbClr val="1B1F3B"/>
                </a:solidFill>
                <a:latin typeface="Calibri (MS) Bold"/>
                <a:ea typeface="Calibri (MS) Bold"/>
                <a:cs typeface="Calibri (MS) Bold"/>
                <a:sym typeface="Calibri (MS) Bold"/>
              </a:rPr>
              <a:t>Every node logs</a:t>
            </a:r>
          </a:p>
        </p:txBody>
      </p:sp>
      <p:sp>
        <p:nvSpPr>
          <p:cNvPr name="TextBox 58" id="58"/>
          <p:cNvSpPr txBox="true"/>
          <p:nvPr/>
        </p:nvSpPr>
        <p:spPr>
          <a:xfrm rot="0">
            <a:off x="11932825" y="4086729"/>
            <a:ext cx="5212080" cy="1272540"/>
          </a:xfrm>
          <a:prstGeom prst="rect">
            <a:avLst/>
          </a:prstGeom>
        </p:spPr>
        <p:txBody>
          <a:bodyPr anchor="t" rtlCol="false" tIns="0" lIns="0" bIns="0" rIns="0">
            <a:spAutoFit/>
          </a:bodyPr>
          <a:lstStyle/>
          <a:p>
            <a:pPr algn="l">
              <a:lnSpc>
                <a:spcPts val="2879"/>
              </a:lnSpc>
            </a:pPr>
            <a:r>
              <a:rPr lang="en-US" sz="2400">
                <a:solidFill>
                  <a:srgbClr val="3D5A80"/>
                </a:solidFill>
                <a:latin typeface="Calibri (MS)"/>
                <a:ea typeface="Calibri (MS)"/>
                <a:cs typeface="Calibri (MS)"/>
                <a:sym typeface="Calibri (MS)"/>
              </a:rPr>
              <a:t>what came in  ·  what came out  ·  how long it took</a:t>
            </a:r>
          </a:p>
        </p:txBody>
      </p:sp>
      <p:grpSp>
        <p:nvGrpSpPr>
          <p:cNvPr name="Group 59" id="59"/>
          <p:cNvGrpSpPr/>
          <p:nvPr/>
        </p:nvGrpSpPr>
        <p:grpSpPr>
          <a:xfrm rot="0">
            <a:off x="11502295" y="6026019"/>
            <a:ext cx="5977128" cy="2712720"/>
            <a:chOff x="0" y="0"/>
            <a:chExt cx="7969504" cy="3616960"/>
          </a:xfrm>
        </p:grpSpPr>
        <p:sp>
          <p:nvSpPr>
            <p:cNvPr name="Freeform 60" id="60"/>
            <p:cNvSpPr/>
            <p:nvPr/>
          </p:nvSpPr>
          <p:spPr>
            <a:xfrm flipH="false" flipV="false" rot="0">
              <a:off x="0" y="0"/>
              <a:ext cx="7969504" cy="3616960"/>
            </a:xfrm>
            <a:custGeom>
              <a:avLst/>
              <a:gdLst/>
              <a:ahLst/>
              <a:cxnLst/>
              <a:rect r="r" b="b" t="t" l="l"/>
              <a:pathLst>
                <a:path h="3616960" w="7969504">
                  <a:moveTo>
                    <a:pt x="0" y="222631"/>
                  </a:moveTo>
                  <a:cubicBezTo>
                    <a:pt x="0" y="99695"/>
                    <a:pt x="99695" y="0"/>
                    <a:pt x="222631" y="0"/>
                  </a:cubicBezTo>
                  <a:lnTo>
                    <a:pt x="7746873" y="0"/>
                  </a:lnTo>
                  <a:cubicBezTo>
                    <a:pt x="7869809" y="0"/>
                    <a:pt x="7969504" y="99695"/>
                    <a:pt x="7969504" y="222631"/>
                  </a:cubicBezTo>
                  <a:lnTo>
                    <a:pt x="7969504" y="3394329"/>
                  </a:lnTo>
                  <a:cubicBezTo>
                    <a:pt x="7969504" y="3517265"/>
                    <a:pt x="7869809" y="3616960"/>
                    <a:pt x="7746873" y="3616960"/>
                  </a:cubicBezTo>
                  <a:lnTo>
                    <a:pt x="222631" y="3616960"/>
                  </a:lnTo>
                  <a:cubicBezTo>
                    <a:pt x="99695" y="3616960"/>
                    <a:pt x="0" y="3517265"/>
                    <a:pt x="0" y="3394329"/>
                  </a:cubicBezTo>
                  <a:close/>
                </a:path>
              </a:pathLst>
            </a:custGeom>
            <a:solidFill>
              <a:srgbClr val="FFFFFF"/>
            </a:solidFill>
            <a:ln w="38100" cap="sq">
              <a:solidFill>
                <a:srgbClr val="0493FB"/>
              </a:solidFill>
              <a:prstDash val="solid"/>
              <a:miter/>
            </a:ln>
          </p:spPr>
        </p:sp>
      </p:grpSp>
      <p:sp>
        <p:nvSpPr>
          <p:cNvPr name="TextBox 61" id="61"/>
          <p:cNvSpPr txBox="true"/>
          <p:nvPr/>
        </p:nvSpPr>
        <p:spPr>
          <a:xfrm rot="0">
            <a:off x="11932825" y="6203184"/>
            <a:ext cx="5212080" cy="527685"/>
          </a:xfrm>
          <a:prstGeom prst="rect">
            <a:avLst/>
          </a:prstGeom>
        </p:spPr>
        <p:txBody>
          <a:bodyPr anchor="t" rtlCol="false" tIns="0" lIns="0" bIns="0" rIns="0">
            <a:spAutoFit/>
          </a:bodyPr>
          <a:lstStyle/>
          <a:p>
            <a:pPr algn="l">
              <a:lnSpc>
                <a:spcPts val="2340"/>
              </a:lnSpc>
            </a:pPr>
            <a:r>
              <a:rPr lang="en-US" b="true" sz="1950" spc="150">
                <a:solidFill>
                  <a:srgbClr val="0E3C74"/>
                </a:solidFill>
                <a:latin typeface="Calibri (MS) Bold"/>
                <a:ea typeface="Calibri (MS) Bold"/>
                <a:cs typeface="Calibri (MS) Bold"/>
                <a:sym typeface="Calibri (MS) Bold"/>
              </a:rPr>
              <a:t>INTERVIEW QUESTION</a:t>
            </a:r>
          </a:p>
        </p:txBody>
      </p:sp>
      <p:sp>
        <p:nvSpPr>
          <p:cNvPr name="TextBox 62" id="62"/>
          <p:cNvSpPr txBox="true"/>
          <p:nvPr/>
        </p:nvSpPr>
        <p:spPr>
          <a:xfrm rot="0">
            <a:off x="11932825" y="6692769"/>
            <a:ext cx="5212080" cy="1135380"/>
          </a:xfrm>
          <a:prstGeom prst="rect">
            <a:avLst/>
          </a:prstGeom>
        </p:spPr>
        <p:txBody>
          <a:bodyPr anchor="t" rtlCol="false" tIns="0" lIns="0" bIns="0" rIns="0">
            <a:spAutoFit/>
          </a:bodyPr>
          <a:lstStyle/>
          <a:p>
            <a:pPr algn="l">
              <a:lnSpc>
                <a:spcPts val="2879"/>
              </a:lnSpc>
            </a:pPr>
            <a:r>
              <a:rPr lang="en-US" sz="2400" i="true">
                <a:solidFill>
                  <a:srgbClr val="1B1F3B"/>
                </a:solidFill>
                <a:latin typeface="Calibri (MS) Italics"/>
                <a:ea typeface="Calibri (MS) Italics"/>
                <a:cs typeface="Calibri (MS) Italics"/>
                <a:sym typeface="Calibri (MS) Italics"/>
              </a:rPr>
              <a:t>“How would you debug an agent that made the wrong call?”</a:t>
            </a:r>
          </a:p>
        </p:txBody>
      </p:sp>
      <p:sp>
        <p:nvSpPr>
          <p:cNvPr name="TextBox 63" id="63"/>
          <p:cNvSpPr txBox="true"/>
          <p:nvPr/>
        </p:nvSpPr>
        <p:spPr>
          <a:xfrm rot="0">
            <a:off x="11932825" y="7849104"/>
            <a:ext cx="5212080" cy="596265"/>
          </a:xfrm>
          <a:prstGeom prst="rect">
            <a:avLst/>
          </a:prstGeom>
        </p:spPr>
        <p:txBody>
          <a:bodyPr anchor="t" rtlCol="false" tIns="0" lIns="0" bIns="0" rIns="0">
            <a:spAutoFit/>
          </a:bodyPr>
          <a:lstStyle/>
          <a:p>
            <a:pPr algn="l">
              <a:lnSpc>
                <a:spcPts val="3060"/>
              </a:lnSpc>
            </a:pPr>
            <a:r>
              <a:rPr lang="en-US" b="true" sz="2550">
                <a:solidFill>
                  <a:srgbClr val="0E3C74"/>
                </a:solidFill>
                <a:latin typeface="Calibri (MS) Bold"/>
                <a:ea typeface="Calibri (MS) Bold"/>
                <a:cs typeface="Calibri (MS) Bold"/>
                <a:sym typeface="Calibri (MS) Bold"/>
              </a:rPr>
              <a:t>→ “I’d look at the trace.”</a:t>
            </a:r>
          </a:p>
        </p:txBody>
      </p:sp>
      <p:grpSp>
        <p:nvGrpSpPr>
          <p:cNvPr name="Group 64" id="64"/>
          <p:cNvGrpSpPr/>
          <p:nvPr/>
        </p:nvGrpSpPr>
        <p:grpSpPr>
          <a:xfrm rot="0">
            <a:off x="808672" y="1335796"/>
            <a:ext cx="7122605" cy="799261"/>
            <a:chOff x="0" y="0"/>
            <a:chExt cx="1875912" cy="210505"/>
          </a:xfrm>
        </p:grpSpPr>
        <p:sp>
          <p:nvSpPr>
            <p:cNvPr name="Freeform 65" id="65"/>
            <p:cNvSpPr/>
            <p:nvPr/>
          </p:nvSpPr>
          <p:spPr>
            <a:xfrm flipH="false" flipV="false" rot="0">
              <a:off x="0" y="0"/>
              <a:ext cx="1875912" cy="210505"/>
            </a:xfrm>
            <a:custGeom>
              <a:avLst/>
              <a:gdLst/>
              <a:ahLst/>
              <a:cxnLst/>
              <a:rect r="r" b="b" t="t" l="l"/>
              <a:pathLst>
                <a:path h="210505" w="1875912">
                  <a:moveTo>
                    <a:pt x="0" y="0"/>
                  </a:moveTo>
                  <a:lnTo>
                    <a:pt x="1875912" y="0"/>
                  </a:lnTo>
                  <a:lnTo>
                    <a:pt x="1875912" y="210505"/>
                  </a:lnTo>
                  <a:lnTo>
                    <a:pt x="0" y="210505"/>
                  </a:lnTo>
                  <a:close/>
                </a:path>
              </a:pathLst>
            </a:custGeom>
            <a:solidFill>
              <a:srgbClr val="0493FB"/>
            </a:solidFill>
          </p:spPr>
        </p:sp>
        <p:sp>
          <p:nvSpPr>
            <p:cNvPr name="TextBox 66" id="66"/>
            <p:cNvSpPr txBox="true"/>
            <p:nvPr/>
          </p:nvSpPr>
          <p:spPr>
            <a:xfrm>
              <a:off x="0" y="-57150"/>
              <a:ext cx="1875912" cy="267655"/>
            </a:xfrm>
            <a:prstGeom prst="rect">
              <a:avLst/>
            </a:prstGeom>
          </p:spPr>
          <p:txBody>
            <a:bodyPr anchor="ctr" rtlCol="false" tIns="50800" lIns="50800" bIns="50800" rIns="50800"/>
            <a:lstStyle/>
            <a:p>
              <a:pPr algn="ctr">
                <a:lnSpc>
                  <a:spcPts val="2700"/>
                </a:lnSpc>
              </a:pPr>
            </a:p>
          </p:txBody>
        </p:sp>
      </p:grpSp>
      <p:sp>
        <p:nvSpPr>
          <p:cNvPr name="TextBox 67" id="67"/>
          <p:cNvSpPr txBox="true"/>
          <p:nvPr/>
        </p:nvSpPr>
        <p:spPr>
          <a:xfrm rot="0">
            <a:off x="1026414" y="520329"/>
            <a:ext cx="6904863"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Observability</a:t>
            </a:r>
          </a:p>
        </p:txBody>
      </p:sp>
      <p:sp>
        <p:nvSpPr>
          <p:cNvPr name="TextBox 68" id="68"/>
          <p:cNvSpPr txBox="true"/>
          <p:nvPr/>
        </p:nvSpPr>
        <p:spPr>
          <a:xfrm rot="0">
            <a:off x="1028700" y="8952028"/>
            <a:ext cx="15887565" cy="914400"/>
          </a:xfrm>
          <a:prstGeom prst="rect">
            <a:avLst/>
          </a:prstGeom>
        </p:spPr>
        <p:txBody>
          <a:bodyPr anchor="t" rtlCol="false" tIns="0" lIns="0" bIns="0" rIns="0">
            <a:spAutoFit/>
          </a:bodyPr>
          <a:lstStyle/>
          <a:p>
            <a:pPr algn="ctr">
              <a:lnSpc>
                <a:spcPts val="3427"/>
              </a:lnSpc>
              <a:spcBef>
                <a:spcPct val="0"/>
              </a:spcBef>
            </a:pPr>
            <a:r>
              <a:rPr lang="en-US" sz="2856" i="true">
                <a:solidFill>
                  <a:srgbClr val="FFFFFF"/>
                </a:solidFill>
                <a:latin typeface="Calibri (MS) Italics"/>
                <a:ea typeface="Calibri (MS) Italics"/>
                <a:cs typeface="Calibri (MS) Italics"/>
                <a:sym typeface="Calibri (MS) Italics"/>
              </a:rPr>
              <a:t>“Experience with LLM observability tools: .... LangSmith, LangFuse, MLFlow, or OpenTelemetry” – Kobie (Loyalty marketing company based in St. Petersburg)</a:t>
            </a:r>
          </a:p>
        </p:txBody>
      </p:sp>
    </p:spTree>
  </p:cSld>
  <p:clrMapOvr>
    <a:masterClrMapping/>
  </p:clrMapOvr>
</p:sld>
</file>

<file path=ppt/slides/slide31.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026414" y="3287582"/>
            <a:ext cx="10178415" cy="5446395"/>
            <a:chOff x="0" y="0"/>
            <a:chExt cx="13571220" cy="7261860"/>
          </a:xfrm>
        </p:grpSpPr>
        <p:sp>
          <p:nvSpPr>
            <p:cNvPr name="Freeform 3" id="3"/>
            <p:cNvSpPr/>
            <p:nvPr/>
          </p:nvSpPr>
          <p:spPr>
            <a:xfrm flipH="false" flipV="false" rot="0">
              <a:off x="0" y="0"/>
              <a:ext cx="13571220" cy="7261860"/>
            </a:xfrm>
            <a:custGeom>
              <a:avLst/>
              <a:gdLst/>
              <a:ahLst/>
              <a:cxnLst/>
              <a:rect r="r" b="b" t="t" l="l"/>
              <a:pathLst>
                <a:path h="7261860" w="13571220">
                  <a:moveTo>
                    <a:pt x="0" y="220599"/>
                  </a:moveTo>
                  <a:cubicBezTo>
                    <a:pt x="0" y="98806"/>
                    <a:pt x="98806" y="0"/>
                    <a:pt x="220599" y="0"/>
                  </a:cubicBezTo>
                  <a:lnTo>
                    <a:pt x="13350621" y="0"/>
                  </a:lnTo>
                  <a:cubicBezTo>
                    <a:pt x="13472413" y="0"/>
                    <a:pt x="13571220" y="98806"/>
                    <a:pt x="13571220" y="220599"/>
                  </a:cubicBezTo>
                  <a:lnTo>
                    <a:pt x="13571220" y="7041261"/>
                  </a:lnTo>
                  <a:cubicBezTo>
                    <a:pt x="13571220" y="7163054"/>
                    <a:pt x="13472413" y="7261860"/>
                    <a:pt x="13350621" y="7261860"/>
                  </a:cubicBezTo>
                  <a:lnTo>
                    <a:pt x="220599" y="7261860"/>
                  </a:lnTo>
                  <a:cubicBezTo>
                    <a:pt x="98806" y="7261860"/>
                    <a:pt x="0" y="7163054"/>
                    <a:pt x="0" y="7041261"/>
                  </a:cubicBezTo>
                  <a:close/>
                </a:path>
              </a:pathLst>
            </a:custGeom>
            <a:solidFill>
              <a:srgbClr val="1B1F3B"/>
            </a:solidFill>
            <a:ln w="28575" cap="sq">
              <a:solidFill>
                <a:srgbClr val="0D417C"/>
              </a:solidFill>
              <a:prstDash val="solid"/>
              <a:miter/>
            </a:ln>
          </p:spPr>
        </p:sp>
      </p:grpSp>
      <p:grpSp>
        <p:nvGrpSpPr>
          <p:cNvPr name="Group 4" id="4"/>
          <p:cNvGrpSpPr/>
          <p:nvPr/>
        </p:nvGrpSpPr>
        <p:grpSpPr>
          <a:xfrm rot="0">
            <a:off x="1220057" y="3589334"/>
            <a:ext cx="275463" cy="275463"/>
            <a:chOff x="0" y="0"/>
            <a:chExt cx="367284" cy="367284"/>
          </a:xfrm>
        </p:grpSpPr>
        <p:sp>
          <p:nvSpPr>
            <p:cNvPr name="Freeform 5" id="5"/>
            <p:cNvSpPr/>
            <p:nvPr/>
          </p:nvSpPr>
          <p:spPr>
            <a:xfrm flipH="false" flipV="false" rot="0">
              <a:off x="0" y="0"/>
              <a:ext cx="367284" cy="367284"/>
            </a:xfrm>
            <a:custGeom>
              <a:avLst/>
              <a:gdLst/>
              <a:ahLst/>
              <a:cxnLst/>
              <a:rect r="r" b="b" t="t" l="l"/>
              <a:pathLst>
                <a:path h="367284" w="367284">
                  <a:moveTo>
                    <a:pt x="0" y="183642"/>
                  </a:moveTo>
                  <a:cubicBezTo>
                    <a:pt x="0" y="82169"/>
                    <a:pt x="82169" y="0"/>
                    <a:pt x="183642" y="0"/>
                  </a:cubicBezTo>
                  <a:cubicBezTo>
                    <a:pt x="285115" y="0"/>
                    <a:pt x="367284" y="82169"/>
                    <a:pt x="367284" y="183642"/>
                  </a:cubicBezTo>
                  <a:cubicBezTo>
                    <a:pt x="367284" y="285115"/>
                    <a:pt x="285115" y="367284"/>
                    <a:pt x="183642" y="367284"/>
                  </a:cubicBezTo>
                  <a:cubicBezTo>
                    <a:pt x="82169" y="367284"/>
                    <a:pt x="0" y="285115"/>
                    <a:pt x="0" y="183642"/>
                  </a:cubicBezTo>
                  <a:close/>
                </a:path>
              </a:pathLst>
            </a:custGeom>
            <a:solidFill>
              <a:srgbClr val="0493FB"/>
            </a:solidFill>
            <a:ln w="28575" cap="sq">
              <a:solidFill>
                <a:srgbClr val="0493FB"/>
              </a:solidFill>
              <a:prstDash val="solid"/>
              <a:miter/>
            </a:ln>
          </p:spPr>
        </p:sp>
      </p:grpSp>
      <p:grpSp>
        <p:nvGrpSpPr>
          <p:cNvPr name="Group 6" id="6"/>
          <p:cNvGrpSpPr/>
          <p:nvPr/>
        </p:nvGrpSpPr>
        <p:grpSpPr>
          <a:xfrm rot="0">
            <a:off x="1631537" y="3589334"/>
            <a:ext cx="275463" cy="275463"/>
            <a:chOff x="0" y="0"/>
            <a:chExt cx="367284" cy="367284"/>
          </a:xfrm>
        </p:grpSpPr>
        <p:sp>
          <p:nvSpPr>
            <p:cNvPr name="Freeform 7" id="7"/>
            <p:cNvSpPr/>
            <p:nvPr/>
          </p:nvSpPr>
          <p:spPr>
            <a:xfrm flipH="false" flipV="false" rot="0">
              <a:off x="0" y="0"/>
              <a:ext cx="367284" cy="367284"/>
            </a:xfrm>
            <a:custGeom>
              <a:avLst/>
              <a:gdLst/>
              <a:ahLst/>
              <a:cxnLst/>
              <a:rect r="r" b="b" t="t" l="l"/>
              <a:pathLst>
                <a:path h="367284" w="367284">
                  <a:moveTo>
                    <a:pt x="0" y="183642"/>
                  </a:moveTo>
                  <a:cubicBezTo>
                    <a:pt x="0" y="82169"/>
                    <a:pt x="82169" y="0"/>
                    <a:pt x="183642" y="0"/>
                  </a:cubicBezTo>
                  <a:cubicBezTo>
                    <a:pt x="285115" y="0"/>
                    <a:pt x="367284" y="82169"/>
                    <a:pt x="367284" y="183642"/>
                  </a:cubicBezTo>
                  <a:cubicBezTo>
                    <a:pt x="367284" y="285115"/>
                    <a:pt x="285115" y="367284"/>
                    <a:pt x="183642" y="367284"/>
                  </a:cubicBezTo>
                  <a:cubicBezTo>
                    <a:pt x="82169" y="367284"/>
                    <a:pt x="0" y="285115"/>
                    <a:pt x="0" y="183642"/>
                  </a:cubicBezTo>
                  <a:close/>
                </a:path>
              </a:pathLst>
            </a:custGeom>
            <a:solidFill>
              <a:srgbClr val="8D99AE"/>
            </a:solidFill>
            <a:ln w="28575" cap="sq">
              <a:solidFill>
                <a:srgbClr val="8D99AE"/>
              </a:solidFill>
              <a:prstDash val="solid"/>
              <a:miter/>
            </a:ln>
          </p:spPr>
        </p:sp>
      </p:grpSp>
      <p:grpSp>
        <p:nvGrpSpPr>
          <p:cNvPr name="Group 8" id="8"/>
          <p:cNvGrpSpPr/>
          <p:nvPr/>
        </p:nvGrpSpPr>
        <p:grpSpPr>
          <a:xfrm rot="0">
            <a:off x="2043017" y="3589334"/>
            <a:ext cx="275463" cy="275463"/>
            <a:chOff x="0" y="0"/>
            <a:chExt cx="367284" cy="367284"/>
          </a:xfrm>
        </p:grpSpPr>
        <p:sp>
          <p:nvSpPr>
            <p:cNvPr name="Freeform 9" id="9"/>
            <p:cNvSpPr/>
            <p:nvPr/>
          </p:nvSpPr>
          <p:spPr>
            <a:xfrm flipH="false" flipV="false" rot="0">
              <a:off x="0" y="0"/>
              <a:ext cx="367284" cy="367284"/>
            </a:xfrm>
            <a:custGeom>
              <a:avLst/>
              <a:gdLst/>
              <a:ahLst/>
              <a:cxnLst/>
              <a:rect r="r" b="b" t="t" l="l"/>
              <a:pathLst>
                <a:path h="367284" w="367284">
                  <a:moveTo>
                    <a:pt x="0" y="183642"/>
                  </a:moveTo>
                  <a:cubicBezTo>
                    <a:pt x="0" y="82169"/>
                    <a:pt x="82169" y="0"/>
                    <a:pt x="183642" y="0"/>
                  </a:cubicBezTo>
                  <a:cubicBezTo>
                    <a:pt x="285115" y="0"/>
                    <a:pt x="367284" y="82169"/>
                    <a:pt x="367284" y="183642"/>
                  </a:cubicBezTo>
                  <a:cubicBezTo>
                    <a:pt x="367284" y="285115"/>
                    <a:pt x="285115" y="367284"/>
                    <a:pt x="183642" y="367284"/>
                  </a:cubicBezTo>
                  <a:cubicBezTo>
                    <a:pt x="82169" y="367284"/>
                    <a:pt x="0" y="285115"/>
                    <a:pt x="0" y="183642"/>
                  </a:cubicBezTo>
                  <a:close/>
                </a:path>
              </a:pathLst>
            </a:custGeom>
            <a:solidFill>
              <a:srgbClr val="8D99AE"/>
            </a:solidFill>
            <a:ln w="28575" cap="sq">
              <a:solidFill>
                <a:srgbClr val="8D99AE"/>
              </a:solidFill>
              <a:prstDash val="solid"/>
              <a:miter/>
            </a:ln>
          </p:spPr>
        </p:sp>
      </p:grpSp>
      <p:grpSp>
        <p:nvGrpSpPr>
          <p:cNvPr name="Group 10" id="10"/>
          <p:cNvGrpSpPr/>
          <p:nvPr/>
        </p:nvGrpSpPr>
        <p:grpSpPr>
          <a:xfrm rot="0">
            <a:off x="11507057" y="3287582"/>
            <a:ext cx="5967603" cy="2428875"/>
            <a:chOff x="0" y="0"/>
            <a:chExt cx="7956804" cy="3238500"/>
          </a:xfrm>
        </p:grpSpPr>
        <p:sp>
          <p:nvSpPr>
            <p:cNvPr name="Freeform 11" id="11"/>
            <p:cNvSpPr/>
            <p:nvPr/>
          </p:nvSpPr>
          <p:spPr>
            <a:xfrm flipH="false" flipV="false" rot="0">
              <a:off x="0" y="0"/>
              <a:ext cx="7956804" cy="3238500"/>
            </a:xfrm>
            <a:custGeom>
              <a:avLst/>
              <a:gdLst/>
              <a:ahLst/>
              <a:cxnLst/>
              <a:rect r="r" b="b" t="t" l="l"/>
              <a:pathLst>
                <a:path h="3238500" w="7956804">
                  <a:moveTo>
                    <a:pt x="0" y="222123"/>
                  </a:moveTo>
                  <a:cubicBezTo>
                    <a:pt x="0" y="99441"/>
                    <a:pt x="99441" y="0"/>
                    <a:pt x="222123" y="0"/>
                  </a:cubicBezTo>
                  <a:lnTo>
                    <a:pt x="7734681" y="0"/>
                  </a:lnTo>
                  <a:cubicBezTo>
                    <a:pt x="7857363" y="0"/>
                    <a:pt x="7956804" y="99441"/>
                    <a:pt x="7956804" y="222123"/>
                  </a:cubicBezTo>
                  <a:lnTo>
                    <a:pt x="7956804" y="3016377"/>
                  </a:lnTo>
                  <a:cubicBezTo>
                    <a:pt x="7956804" y="3139059"/>
                    <a:pt x="7857363" y="3238500"/>
                    <a:pt x="7734681" y="3238500"/>
                  </a:cubicBezTo>
                  <a:lnTo>
                    <a:pt x="222123" y="3238500"/>
                  </a:lnTo>
                  <a:cubicBezTo>
                    <a:pt x="99441" y="3238500"/>
                    <a:pt x="0" y="3139059"/>
                    <a:pt x="0" y="3016377"/>
                  </a:cubicBezTo>
                  <a:close/>
                </a:path>
              </a:pathLst>
            </a:custGeom>
            <a:solidFill>
              <a:srgbClr val="FFFFFF"/>
            </a:solidFill>
            <a:ln w="28575" cap="sq">
              <a:solidFill>
                <a:srgbClr val="FFFFFF"/>
              </a:solidFill>
              <a:prstDash val="solid"/>
              <a:miter/>
            </a:ln>
          </p:spPr>
        </p:sp>
      </p:grpSp>
      <p:sp>
        <p:nvSpPr>
          <p:cNvPr name="TextBox 12" id="12"/>
          <p:cNvSpPr txBox="true"/>
          <p:nvPr/>
        </p:nvSpPr>
        <p:spPr>
          <a:xfrm rot="0">
            <a:off x="11932825" y="3450459"/>
            <a:ext cx="4983440" cy="876300"/>
          </a:xfrm>
          <a:prstGeom prst="rect">
            <a:avLst/>
          </a:prstGeom>
        </p:spPr>
        <p:txBody>
          <a:bodyPr anchor="t" rtlCol="false" tIns="0" lIns="0" bIns="0" rIns="0">
            <a:spAutoFit/>
          </a:bodyPr>
          <a:lstStyle/>
          <a:p>
            <a:pPr algn="l">
              <a:lnSpc>
                <a:spcPts val="3240"/>
              </a:lnSpc>
            </a:pPr>
            <a:r>
              <a:rPr lang="en-US" sz="2700" b="true">
                <a:solidFill>
                  <a:srgbClr val="1B1F3B"/>
                </a:solidFill>
                <a:latin typeface="Calibri (MS) Bold"/>
                <a:ea typeface="Calibri (MS) Bold"/>
                <a:cs typeface="Calibri (MS) Bold"/>
                <a:sym typeface="Calibri (MS) Bold"/>
              </a:rPr>
              <a:t>What</a:t>
            </a:r>
            <a:r>
              <a:rPr lang="en-US" sz="2700" b="true">
                <a:solidFill>
                  <a:srgbClr val="1B1F3B"/>
                </a:solidFill>
                <a:latin typeface="Calibri (MS) Bold"/>
                <a:ea typeface="Calibri (MS) Bold"/>
                <a:cs typeface="Calibri (MS) Bold"/>
                <a:sym typeface="Calibri (MS) Bold"/>
              </a:rPr>
              <a:t> it is</a:t>
            </a:r>
          </a:p>
          <a:p>
            <a:pPr algn="l">
              <a:lnSpc>
                <a:spcPts val="3240"/>
              </a:lnSpc>
            </a:pPr>
          </a:p>
        </p:txBody>
      </p:sp>
      <p:sp>
        <p:nvSpPr>
          <p:cNvPr name="TextBox 13" id="13"/>
          <p:cNvSpPr txBox="true"/>
          <p:nvPr/>
        </p:nvSpPr>
        <p:spPr>
          <a:xfrm rot="0">
            <a:off x="11932825" y="4086729"/>
            <a:ext cx="5212080" cy="1485900"/>
          </a:xfrm>
          <a:prstGeom prst="rect">
            <a:avLst/>
          </a:prstGeom>
        </p:spPr>
        <p:txBody>
          <a:bodyPr anchor="t" rtlCol="false" tIns="0" lIns="0" bIns="0" rIns="0">
            <a:spAutoFit/>
          </a:bodyPr>
          <a:lstStyle/>
          <a:p>
            <a:pPr algn="l">
              <a:lnSpc>
                <a:spcPts val="2879"/>
              </a:lnSpc>
            </a:pPr>
            <a:r>
              <a:rPr lang="en-US" sz="2400">
                <a:solidFill>
                  <a:srgbClr val="3D5A80"/>
                </a:solidFill>
                <a:latin typeface="Calibri (MS)"/>
                <a:ea typeface="Calibri (MS)"/>
                <a:cs typeface="Calibri (MS)"/>
                <a:sym typeface="Calibri (MS)"/>
              </a:rPr>
              <a:t>A </a:t>
            </a:r>
            <a:r>
              <a:rPr lang="en-US" sz="2400">
                <a:solidFill>
                  <a:srgbClr val="3D5A80"/>
                </a:solidFill>
                <a:latin typeface="Calibri (MS)"/>
                <a:ea typeface="Calibri (MS)"/>
                <a:cs typeface="Calibri (MS)"/>
                <a:sym typeface="Calibri (MS)"/>
              </a:rPr>
              <a:t>wrapper around any node. It adds timing and logging without touching the node’s code.</a:t>
            </a:r>
          </a:p>
          <a:p>
            <a:pPr algn="l">
              <a:lnSpc>
                <a:spcPts val="2879"/>
              </a:lnSpc>
            </a:pPr>
          </a:p>
        </p:txBody>
      </p:sp>
      <p:grpSp>
        <p:nvGrpSpPr>
          <p:cNvPr name="Group 14" id="14"/>
          <p:cNvGrpSpPr/>
          <p:nvPr/>
        </p:nvGrpSpPr>
        <p:grpSpPr>
          <a:xfrm rot="0">
            <a:off x="11502295" y="6026019"/>
            <a:ext cx="5977128" cy="2712720"/>
            <a:chOff x="0" y="0"/>
            <a:chExt cx="7969504" cy="3616960"/>
          </a:xfrm>
        </p:grpSpPr>
        <p:sp>
          <p:nvSpPr>
            <p:cNvPr name="Freeform 15" id="15"/>
            <p:cNvSpPr/>
            <p:nvPr/>
          </p:nvSpPr>
          <p:spPr>
            <a:xfrm flipH="false" flipV="false" rot="0">
              <a:off x="0" y="0"/>
              <a:ext cx="7969504" cy="3616960"/>
            </a:xfrm>
            <a:custGeom>
              <a:avLst/>
              <a:gdLst/>
              <a:ahLst/>
              <a:cxnLst/>
              <a:rect r="r" b="b" t="t" l="l"/>
              <a:pathLst>
                <a:path h="3616960" w="7969504">
                  <a:moveTo>
                    <a:pt x="0" y="222631"/>
                  </a:moveTo>
                  <a:cubicBezTo>
                    <a:pt x="0" y="99695"/>
                    <a:pt x="99695" y="0"/>
                    <a:pt x="222631" y="0"/>
                  </a:cubicBezTo>
                  <a:lnTo>
                    <a:pt x="7746873" y="0"/>
                  </a:lnTo>
                  <a:cubicBezTo>
                    <a:pt x="7869809" y="0"/>
                    <a:pt x="7969504" y="99695"/>
                    <a:pt x="7969504" y="222631"/>
                  </a:cubicBezTo>
                  <a:lnTo>
                    <a:pt x="7969504" y="3394329"/>
                  </a:lnTo>
                  <a:cubicBezTo>
                    <a:pt x="7969504" y="3517265"/>
                    <a:pt x="7869809" y="3616960"/>
                    <a:pt x="7746873" y="3616960"/>
                  </a:cubicBezTo>
                  <a:lnTo>
                    <a:pt x="222631" y="3616960"/>
                  </a:lnTo>
                  <a:cubicBezTo>
                    <a:pt x="99695" y="3616960"/>
                    <a:pt x="0" y="3517265"/>
                    <a:pt x="0" y="3394329"/>
                  </a:cubicBezTo>
                  <a:close/>
                </a:path>
              </a:pathLst>
            </a:custGeom>
            <a:solidFill>
              <a:srgbClr val="FFFFFF"/>
            </a:solidFill>
            <a:ln w="38100" cap="sq">
              <a:solidFill>
                <a:srgbClr val="0493FB"/>
              </a:solidFill>
              <a:prstDash val="solid"/>
              <a:miter/>
            </a:ln>
          </p:spPr>
        </p:sp>
      </p:grpSp>
      <p:sp>
        <p:nvSpPr>
          <p:cNvPr name="TextBox 16" id="16"/>
          <p:cNvSpPr txBox="true"/>
          <p:nvPr/>
        </p:nvSpPr>
        <p:spPr>
          <a:xfrm rot="0">
            <a:off x="11932825" y="6203184"/>
            <a:ext cx="5212080" cy="527685"/>
          </a:xfrm>
          <a:prstGeom prst="rect">
            <a:avLst/>
          </a:prstGeom>
        </p:spPr>
        <p:txBody>
          <a:bodyPr anchor="t" rtlCol="false" tIns="0" lIns="0" bIns="0" rIns="0">
            <a:spAutoFit/>
          </a:bodyPr>
          <a:lstStyle/>
          <a:p>
            <a:pPr algn="l">
              <a:lnSpc>
                <a:spcPts val="2340"/>
              </a:lnSpc>
            </a:pPr>
            <a:r>
              <a:rPr lang="en-US" b="true" sz="1950" spc="150">
                <a:solidFill>
                  <a:srgbClr val="0E3C74"/>
                </a:solidFill>
                <a:latin typeface="Calibri (MS) Bold"/>
                <a:ea typeface="Calibri (MS) Bold"/>
                <a:cs typeface="Calibri (MS) Bold"/>
                <a:sym typeface="Calibri (MS) Bold"/>
              </a:rPr>
              <a:t>INTERVIEW QUESTION</a:t>
            </a:r>
          </a:p>
        </p:txBody>
      </p:sp>
      <p:sp>
        <p:nvSpPr>
          <p:cNvPr name="TextBox 17" id="17"/>
          <p:cNvSpPr txBox="true"/>
          <p:nvPr/>
        </p:nvSpPr>
        <p:spPr>
          <a:xfrm rot="0">
            <a:off x="11932825" y="6692769"/>
            <a:ext cx="5212080" cy="1123950"/>
          </a:xfrm>
          <a:prstGeom prst="rect">
            <a:avLst/>
          </a:prstGeom>
        </p:spPr>
        <p:txBody>
          <a:bodyPr anchor="t" rtlCol="false" tIns="0" lIns="0" bIns="0" rIns="0">
            <a:spAutoFit/>
          </a:bodyPr>
          <a:lstStyle/>
          <a:p>
            <a:pPr algn="l">
              <a:lnSpc>
                <a:spcPts val="2879"/>
              </a:lnSpc>
            </a:pPr>
            <a:r>
              <a:rPr lang="en-US" sz="2400" i="true">
                <a:solidFill>
                  <a:srgbClr val="1B1F3B"/>
                </a:solidFill>
                <a:latin typeface="Calibri (MS) Italics"/>
                <a:ea typeface="Calibri (MS) Italics"/>
                <a:cs typeface="Calibri (MS) Italics"/>
                <a:sym typeface="Calibri (MS) Italics"/>
              </a:rPr>
              <a:t>“How do you add logging to every node without editing each one?”</a:t>
            </a:r>
          </a:p>
          <a:p>
            <a:pPr algn="l">
              <a:lnSpc>
                <a:spcPts val="2879"/>
              </a:lnSpc>
            </a:pPr>
          </a:p>
        </p:txBody>
      </p:sp>
      <p:sp>
        <p:nvSpPr>
          <p:cNvPr name="TextBox 18" id="18"/>
          <p:cNvSpPr txBox="true"/>
          <p:nvPr/>
        </p:nvSpPr>
        <p:spPr>
          <a:xfrm rot="0">
            <a:off x="11932825" y="7849104"/>
            <a:ext cx="5212080" cy="809625"/>
          </a:xfrm>
          <a:prstGeom prst="rect">
            <a:avLst/>
          </a:prstGeom>
        </p:spPr>
        <p:txBody>
          <a:bodyPr anchor="t" rtlCol="false" tIns="0" lIns="0" bIns="0" rIns="0">
            <a:spAutoFit/>
          </a:bodyPr>
          <a:lstStyle/>
          <a:p>
            <a:pPr algn="l">
              <a:lnSpc>
                <a:spcPts val="3060"/>
              </a:lnSpc>
            </a:pPr>
            <a:r>
              <a:rPr lang="en-US" b="true" sz="2550">
                <a:solidFill>
                  <a:srgbClr val="0E3C74"/>
                </a:solidFill>
                <a:latin typeface="Calibri (MS) Bold"/>
                <a:ea typeface="Calibri (MS) Bold"/>
                <a:cs typeface="Calibri (MS) Bold"/>
                <a:sym typeface="Calibri (MS) Bold"/>
              </a:rPr>
              <a:t>→ “Wrap them in a decorator.”</a:t>
            </a:r>
          </a:p>
          <a:p>
            <a:pPr algn="l">
              <a:lnSpc>
                <a:spcPts val="3060"/>
              </a:lnSpc>
            </a:pPr>
          </a:p>
        </p:txBody>
      </p:sp>
      <p:grpSp>
        <p:nvGrpSpPr>
          <p:cNvPr name="Group 19" id="19"/>
          <p:cNvGrpSpPr/>
          <p:nvPr/>
        </p:nvGrpSpPr>
        <p:grpSpPr>
          <a:xfrm rot="0">
            <a:off x="808672" y="1335796"/>
            <a:ext cx="7122605" cy="799261"/>
            <a:chOff x="0" y="0"/>
            <a:chExt cx="1875912" cy="210505"/>
          </a:xfrm>
        </p:grpSpPr>
        <p:sp>
          <p:nvSpPr>
            <p:cNvPr name="Freeform 20" id="20"/>
            <p:cNvSpPr/>
            <p:nvPr/>
          </p:nvSpPr>
          <p:spPr>
            <a:xfrm flipH="false" flipV="false" rot="0">
              <a:off x="0" y="0"/>
              <a:ext cx="1875912" cy="210505"/>
            </a:xfrm>
            <a:custGeom>
              <a:avLst/>
              <a:gdLst/>
              <a:ahLst/>
              <a:cxnLst/>
              <a:rect r="r" b="b" t="t" l="l"/>
              <a:pathLst>
                <a:path h="210505" w="1875912">
                  <a:moveTo>
                    <a:pt x="0" y="0"/>
                  </a:moveTo>
                  <a:lnTo>
                    <a:pt x="1875912" y="0"/>
                  </a:lnTo>
                  <a:lnTo>
                    <a:pt x="1875912" y="210505"/>
                  </a:lnTo>
                  <a:lnTo>
                    <a:pt x="0" y="210505"/>
                  </a:lnTo>
                  <a:close/>
                </a:path>
              </a:pathLst>
            </a:custGeom>
            <a:solidFill>
              <a:srgbClr val="0493FB"/>
            </a:solidFill>
          </p:spPr>
        </p:sp>
        <p:sp>
          <p:nvSpPr>
            <p:cNvPr name="TextBox 21" id="21"/>
            <p:cNvSpPr txBox="true"/>
            <p:nvPr/>
          </p:nvSpPr>
          <p:spPr>
            <a:xfrm>
              <a:off x="0" y="-57150"/>
              <a:ext cx="1875912" cy="267655"/>
            </a:xfrm>
            <a:prstGeom prst="rect">
              <a:avLst/>
            </a:prstGeom>
          </p:spPr>
          <p:txBody>
            <a:bodyPr anchor="ctr" rtlCol="false" tIns="50800" lIns="50800" bIns="50800" rIns="50800"/>
            <a:lstStyle/>
            <a:p>
              <a:pPr algn="ctr">
                <a:lnSpc>
                  <a:spcPts val="2700"/>
                </a:lnSpc>
              </a:pPr>
            </a:p>
          </p:txBody>
        </p:sp>
      </p:grpSp>
      <p:sp>
        <p:nvSpPr>
          <p:cNvPr name="TextBox 22" id="22"/>
          <p:cNvSpPr txBox="true"/>
          <p:nvPr/>
        </p:nvSpPr>
        <p:spPr>
          <a:xfrm rot="0">
            <a:off x="1026414" y="520329"/>
            <a:ext cx="6904863"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The Decorator</a:t>
            </a:r>
          </a:p>
        </p:txBody>
      </p:sp>
      <p:sp>
        <p:nvSpPr>
          <p:cNvPr name="TextBox 23" id="23"/>
          <p:cNvSpPr txBox="true"/>
          <p:nvPr/>
        </p:nvSpPr>
        <p:spPr>
          <a:xfrm rot="0">
            <a:off x="1028700" y="8952028"/>
            <a:ext cx="15887565" cy="914400"/>
          </a:xfrm>
          <a:prstGeom prst="rect">
            <a:avLst/>
          </a:prstGeom>
        </p:spPr>
        <p:txBody>
          <a:bodyPr anchor="t" rtlCol="false" tIns="0" lIns="0" bIns="0" rIns="0">
            <a:spAutoFit/>
          </a:bodyPr>
          <a:lstStyle/>
          <a:p>
            <a:pPr algn="ctr">
              <a:lnSpc>
                <a:spcPts val="3427"/>
              </a:lnSpc>
            </a:pPr>
            <a:r>
              <a:rPr lang="en-US" sz="2856" i="true">
                <a:solidFill>
                  <a:srgbClr val="FFFFFF"/>
                </a:solidFill>
                <a:latin typeface="Calibri (MS) Italics"/>
                <a:ea typeface="Calibri (MS) Italics"/>
                <a:cs typeface="Calibri (MS) Italics"/>
                <a:sym typeface="Calibri (MS) Italics"/>
              </a:rPr>
              <a:t>Think of a phone case: it adds grip and a wallet without opening the phone.</a:t>
            </a:r>
          </a:p>
          <a:p>
            <a:pPr algn="ctr">
              <a:lnSpc>
                <a:spcPts val="3427"/>
              </a:lnSpc>
              <a:spcBef>
                <a:spcPct val="0"/>
              </a:spcBef>
            </a:pPr>
          </a:p>
        </p:txBody>
      </p:sp>
      <p:sp>
        <p:nvSpPr>
          <p:cNvPr name="TextBox 24" id="24"/>
          <p:cNvSpPr txBox="true"/>
          <p:nvPr/>
        </p:nvSpPr>
        <p:spPr>
          <a:xfrm rot="0">
            <a:off x="1495520" y="4444869"/>
            <a:ext cx="8774304" cy="4105275"/>
          </a:xfrm>
          <a:prstGeom prst="rect">
            <a:avLst/>
          </a:prstGeom>
        </p:spPr>
        <p:txBody>
          <a:bodyPr anchor="t" rtlCol="false" tIns="0" lIns="0" bIns="0" rIns="0">
            <a:spAutoFit/>
          </a:bodyPr>
          <a:lstStyle/>
          <a:p>
            <a:pPr algn="l">
              <a:lnSpc>
                <a:spcPts val="3239"/>
              </a:lnSpc>
            </a:pPr>
            <a:r>
              <a:rPr lang="en-US" sz="2699">
                <a:solidFill>
                  <a:srgbClr val="8D99AE"/>
                </a:solidFill>
                <a:latin typeface="Calibri (MS)"/>
                <a:ea typeface="Calibri (MS)"/>
                <a:cs typeface="Calibri (MS)"/>
                <a:sym typeface="Calibri (MS)"/>
              </a:rPr>
              <a:t># wrap the node once</a:t>
            </a:r>
          </a:p>
          <a:p>
            <a:pPr algn="l">
              <a:lnSpc>
                <a:spcPts val="3239"/>
              </a:lnSpc>
            </a:pPr>
            <a:r>
              <a:rPr lang="en-US" sz="2699">
                <a:solidFill>
                  <a:srgbClr val="0091FF"/>
                </a:solidFill>
                <a:latin typeface="Calibri (MS)"/>
                <a:ea typeface="Calibri (MS)"/>
                <a:cs typeface="Calibri (MS)"/>
                <a:sym typeface="Calibri (MS)"/>
              </a:rPr>
              <a:t>intake </a:t>
            </a:r>
            <a:r>
              <a:rPr lang="en-US" sz="2699">
                <a:solidFill>
                  <a:srgbClr val="FFFFFF"/>
                </a:solidFill>
                <a:latin typeface="Calibri (MS)"/>
                <a:ea typeface="Calibri (MS)"/>
                <a:cs typeface="Calibri (MS)"/>
                <a:sym typeface="Calibri (MS)"/>
              </a:rPr>
              <a:t>= traced_node("intake")(intake)</a:t>
            </a:r>
          </a:p>
          <a:p>
            <a:pPr algn="l">
              <a:lnSpc>
                <a:spcPts val="3239"/>
              </a:lnSpc>
            </a:pPr>
            <a:r>
              <a:rPr lang="en-US" sz="2699">
                <a:solidFill>
                  <a:srgbClr val="FFFFFF"/>
                </a:solidFill>
                <a:latin typeface="Calibri (MS)"/>
                <a:ea typeface="Calibri (MS)"/>
                <a:cs typeface="Calibri (MS)"/>
                <a:sym typeface="Calibri (MS)"/>
              </a:rPr>
              <a:t> </a:t>
            </a:r>
          </a:p>
          <a:p>
            <a:pPr algn="l">
              <a:lnSpc>
                <a:spcPts val="3239"/>
              </a:lnSpc>
              <a:spcBef>
                <a:spcPct val="0"/>
              </a:spcBef>
            </a:pPr>
            <a:r>
              <a:rPr lang="en-US" sz="2699">
                <a:solidFill>
                  <a:srgbClr val="8D99AE"/>
                </a:solidFill>
                <a:latin typeface="Calibri (MS)"/>
                <a:ea typeface="Calibri (MS)"/>
                <a:cs typeface="Calibri (MS)"/>
                <a:sym typeface="Calibri (MS)"/>
              </a:rPr>
              <a:t># the n</a:t>
            </a:r>
            <a:r>
              <a:rPr lang="en-US" sz="2699">
                <a:solidFill>
                  <a:srgbClr val="8D99AE"/>
                </a:solidFill>
                <a:latin typeface="Calibri (MS)"/>
                <a:ea typeface="Calibri (MS)"/>
                <a:cs typeface="Calibri (MS)"/>
                <a:sym typeface="Calibri (MS)"/>
              </a:rPr>
              <a:t>ode’s own code is untouched.</a:t>
            </a:r>
          </a:p>
          <a:p>
            <a:pPr algn="l">
              <a:lnSpc>
                <a:spcPts val="3239"/>
              </a:lnSpc>
              <a:spcBef>
                <a:spcPct val="0"/>
              </a:spcBef>
            </a:pPr>
            <a:r>
              <a:rPr lang="en-US" sz="2699">
                <a:solidFill>
                  <a:srgbClr val="8D99AE"/>
                </a:solidFill>
                <a:latin typeface="Calibri (MS)"/>
                <a:ea typeface="Calibri (MS)"/>
                <a:cs typeface="Calibri (MS)"/>
                <a:sym typeface="Calibri (MS)"/>
              </a:rPr>
              <a:t># every run now appends one JSON line:</a:t>
            </a:r>
          </a:p>
          <a:p>
            <a:pPr algn="l">
              <a:lnSpc>
                <a:spcPts val="3239"/>
              </a:lnSpc>
              <a:spcBef>
                <a:spcPct val="0"/>
              </a:spcBef>
            </a:pPr>
            <a:r>
              <a:rPr lang="en-US" sz="2699">
                <a:solidFill>
                  <a:srgbClr val="FFFFFF"/>
                </a:solidFill>
                <a:latin typeface="Calibri (MS)"/>
                <a:ea typeface="Calibri (MS)"/>
                <a:cs typeface="Calibri (MS)"/>
                <a:sym typeface="Calibri (MS)"/>
              </a:rPr>
              <a:t>{"node": "intake",</a:t>
            </a:r>
          </a:p>
          <a:p>
            <a:pPr algn="l">
              <a:lnSpc>
                <a:spcPts val="3239"/>
              </a:lnSpc>
              <a:spcBef>
                <a:spcPct val="0"/>
              </a:spcBef>
            </a:pPr>
            <a:r>
              <a:rPr lang="en-US" sz="2699">
                <a:solidFill>
                  <a:srgbClr val="FFFFFF"/>
                </a:solidFill>
                <a:latin typeface="Calibri (MS)"/>
                <a:ea typeface="Calibri (MS)"/>
                <a:cs typeface="Calibri (MS)"/>
                <a:sym typeface="Calibri (MS)"/>
              </a:rPr>
              <a:t> "duration_ms": 812.3,</a:t>
            </a:r>
          </a:p>
          <a:p>
            <a:pPr algn="l">
              <a:lnSpc>
                <a:spcPts val="3239"/>
              </a:lnSpc>
              <a:spcBef>
                <a:spcPct val="0"/>
              </a:spcBef>
            </a:pPr>
            <a:r>
              <a:rPr lang="en-US" sz="2699">
                <a:solidFill>
                  <a:srgbClr val="FFFFFF"/>
                </a:solidFill>
                <a:latin typeface="Calibri (MS)"/>
                <a:ea typeface="Calibri (MS)"/>
                <a:cs typeface="Calibri (MS)"/>
                <a:sym typeface="Calibri (MS)"/>
              </a:rPr>
              <a:t> "output_category": "technical",</a:t>
            </a:r>
          </a:p>
          <a:p>
            <a:pPr algn="l">
              <a:lnSpc>
                <a:spcPts val="3239"/>
              </a:lnSpc>
              <a:spcBef>
                <a:spcPct val="0"/>
              </a:spcBef>
            </a:pPr>
            <a:r>
              <a:rPr lang="en-US" sz="2699">
                <a:solidFill>
                  <a:srgbClr val="FFFFFF"/>
                </a:solidFill>
                <a:latin typeface="Calibri (MS)"/>
                <a:ea typeface="Calibri (MS)"/>
                <a:cs typeface="Calibri (MS)"/>
                <a:sym typeface="Calibri (MS)"/>
              </a:rPr>
              <a:t> "confidence": 0.92}</a:t>
            </a:r>
          </a:p>
          <a:p>
            <a:pPr algn="l">
              <a:lnSpc>
                <a:spcPts val="2879"/>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1720342"/>
            <a:ext cx="15177633" cy="787661"/>
            <a:chOff x="0" y="0"/>
            <a:chExt cx="3997401" cy="207450"/>
          </a:xfrm>
        </p:grpSpPr>
        <p:sp>
          <p:nvSpPr>
            <p:cNvPr name="Freeform 3" id="3"/>
            <p:cNvSpPr/>
            <p:nvPr/>
          </p:nvSpPr>
          <p:spPr>
            <a:xfrm flipH="false" flipV="false" rot="0">
              <a:off x="0" y="0"/>
              <a:ext cx="3997401" cy="207450"/>
            </a:xfrm>
            <a:custGeom>
              <a:avLst/>
              <a:gdLst/>
              <a:ahLst/>
              <a:cxnLst/>
              <a:rect r="r" b="b" t="t" l="l"/>
              <a:pathLst>
                <a:path h="207450" w="3997401">
                  <a:moveTo>
                    <a:pt x="0" y="0"/>
                  </a:moveTo>
                  <a:lnTo>
                    <a:pt x="3997401" y="0"/>
                  </a:lnTo>
                  <a:lnTo>
                    <a:pt x="3997401" y="207450"/>
                  </a:lnTo>
                  <a:lnTo>
                    <a:pt x="0" y="207450"/>
                  </a:lnTo>
                  <a:close/>
                </a:path>
              </a:pathLst>
            </a:custGeom>
            <a:solidFill>
              <a:srgbClr val="0493FB"/>
            </a:solidFill>
          </p:spPr>
        </p:sp>
        <p:sp>
          <p:nvSpPr>
            <p:cNvPr name="TextBox 4" id="4"/>
            <p:cNvSpPr txBox="true"/>
            <p:nvPr/>
          </p:nvSpPr>
          <p:spPr>
            <a:xfrm>
              <a:off x="0" y="-57150"/>
              <a:ext cx="3997401" cy="264600"/>
            </a:xfrm>
            <a:prstGeom prst="rect">
              <a:avLst/>
            </a:prstGeom>
          </p:spPr>
          <p:txBody>
            <a:bodyPr anchor="ctr" rtlCol="false" tIns="50800" lIns="50800" bIns="50800" rIns="50800"/>
            <a:lstStyle/>
            <a:p>
              <a:pPr algn="ctr">
                <a:lnSpc>
                  <a:spcPts val="2700"/>
                </a:lnSpc>
              </a:pPr>
            </a:p>
          </p:txBody>
        </p:sp>
      </p:grpSp>
      <p:grpSp>
        <p:nvGrpSpPr>
          <p:cNvPr name="Group 5" id="5"/>
          <p:cNvGrpSpPr/>
          <p:nvPr/>
        </p:nvGrpSpPr>
        <p:grpSpPr>
          <a:xfrm rot="0">
            <a:off x="1162906" y="3518535"/>
            <a:ext cx="8126349" cy="5739765"/>
            <a:chOff x="0" y="0"/>
            <a:chExt cx="10835132" cy="7653020"/>
          </a:xfrm>
        </p:grpSpPr>
        <p:sp>
          <p:nvSpPr>
            <p:cNvPr name="Freeform 6" id="6"/>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7" id="7"/>
          <p:cNvGrpSpPr/>
          <p:nvPr/>
        </p:nvGrpSpPr>
        <p:grpSpPr>
          <a:xfrm rot="0">
            <a:off x="1486550" y="4010363"/>
            <a:ext cx="5305015" cy="906678"/>
            <a:chOff x="0" y="0"/>
            <a:chExt cx="1397205" cy="238796"/>
          </a:xfrm>
        </p:grpSpPr>
        <p:sp>
          <p:nvSpPr>
            <p:cNvPr name="Freeform 8" id="8"/>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493FB"/>
            </a:solidFill>
          </p:spPr>
        </p:sp>
        <p:sp>
          <p:nvSpPr>
            <p:cNvPr name="TextBox 9" id="9"/>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Your manager asks?</a:t>
              </a:r>
            </a:p>
          </p:txBody>
        </p:sp>
      </p:grpSp>
      <p:sp>
        <p:nvSpPr>
          <p:cNvPr name="TextBox 10" id="10"/>
          <p:cNvSpPr txBox="true"/>
          <p:nvPr/>
        </p:nvSpPr>
        <p:spPr>
          <a:xfrm rot="0">
            <a:off x="1028700" y="904875"/>
            <a:ext cx="15838986"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At Work: Branching &amp; Tracing</a:t>
            </a:r>
          </a:p>
        </p:txBody>
      </p:sp>
      <p:sp>
        <p:nvSpPr>
          <p:cNvPr name="TextBox 11" id="11"/>
          <p:cNvSpPr txBox="true"/>
          <p:nvPr/>
        </p:nvSpPr>
        <p:spPr>
          <a:xfrm rot="0">
            <a:off x="1383185" y="5336858"/>
            <a:ext cx="7760815" cy="3181350"/>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“Legal says a lawsuit ticket got an auto-reply. What happened?”</a:t>
            </a: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Pull that ticket’s trace</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Find which node decided what, and why.</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Add a compliance check before routing.</a:t>
            </a:r>
          </a:p>
        </p:txBody>
      </p:sp>
      <p:grpSp>
        <p:nvGrpSpPr>
          <p:cNvPr name="Group 12" id="12"/>
          <p:cNvGrpSpPr/>
          <p:nvPr/>
        </p:nvGrpSpPr>
        <p:grpSpPr>
          <a:xfrm rot="0">
            <a:off x="9447135" y="3518535"/>
            <a:ext cx="8126349" cy="5739765"/>
            <a:chOff x="0" y="0"/>
            <a:chExt cx="10835132" cy="7653020"/>
          </a:xfrm>
        </p:grpSpPr>
        <p:sp>
          <p:nvSpPr>
            <p:cNvPr name="Freeform 13" id="13"/>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14" id="14"/>
          <p:cNvGrpSpPr/>
          <p:nvPr/>
        </p:nvGrpSpPr>
        <p:grpSpPr>
          <a:xfrm rot="0">
            <a:off x="9770779" y="4010363"/>
            <a:ext cx="5305015" cy="906678"/>
            <a:chOff x="0" y="0"/>
            <a:chExt cx="1397205" cy="238796"/>
          </a:xfrm>
        </p:grpSpPr>
        <p:sp>
          <p:nvSpPr>
            <p:cNvPr name="Freeform 15" id="15"/>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E3C74"/>
            </a:solidFill>
          </p:spPr>
        </p:sp>
        <p:sp>
          <p:nvSpPr>
            <p:cNvPr name="TextBox 16" id="16"/>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The interviewer asks?</a:t>
              </a:r>
            </a:p>
          </p:txBody>
        </p:sp>
      </p:grpSp>
      <p:sp>
        <p:nvSpPr>
          <p:cNvPr name="TextBox 17" id="17"/>
          <p:cNvSpPr txBox="true"/>
          <p:nvPr/>
        </p:nvSpPr>
        <p:spPr>
          <a:xfrm rot="0">
            <a:off x="9447135" y="5336858"/>
            <a:ext cx="8284229" cy="3181350"/>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“Your agent made the wrong call. How do you debug it?”</a:t>
            </a:r>
          </a:p>
          <a:p>
            <a:pPr algn="ctr">
              <a:lnSpc>
                <a:spcPts val="3114"/>
              </a:lnSpc>
            </a:pP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Read the trace for that run.</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Find the node where it went wrong.</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Fix that node, then add a test for it.</a:t>
            </a:r>
          </a:p>
        </p:txBody>
      </p:sp>
      <p:sp>
        <p:nvSpPr>
          <p:cNvPr name="TextBox 18" id="18"/>
          <p:cNvSpPr txBox="true"/>
          <p:nvPr/>
        </p:nvSpPr>
        <p:spPr>
          <a:xfrm rot="0">
            <a:off x="1237930" y="9403298"/>
            <a:ext cx="15812140" cy="561975"/>
          </a:xfrm>
          <a:prstGeom prst="rect">
            <a:avLst/>
          </a:prstGeom>
        </p:spPr>
        <p:txBody>
          <a:bodyPr anchor="t" rtlCol="false" tIns="0" lIns="0" bIns="0" rIns="0">
            <a:spAutoFit/>
          </a:bodyPr>
          <a:lstStyle/>
          <a:p>
            <a:pPr algn="ctr">
              <a:lnSpc>
                <a:spcPts val="3908"/>
              </a:lnSpc>
              <a:spcBef>
                <a:spcPct val="0"/>
              </a:spcBef>
            </a:pPr>
            <a:r>
              <a:rPr lang="en-US" b="true" sz="3257">
                <a:solidFill>
                  <a:srgbClr val="FFFFFF"/>
                </a:solidFill>
                <a:latin typeface="Calibri (MS) Bold"/>
                <a:ea typeface="Calibri (MS) Bold"/>
                <a:cs typeface="Calibri (MS) Bold"/>
                <a:sym typeface="Calibri (MS) Bold"/>
              </a:rPr>
              <a:t>Every debugging answer </a:t>
            </a:r>
            <a:r>
              <a:rPr lang="en-US" sz="3257">
                <a:solidFill>
                  <a:srgbClr val="FFFFFF"/>
                </a:solidFill>
                <a:latin typeface="Calibri (MS)"/>
                <a:ea typeface="Calibri (MS)"/>
                <a:cs typeface="Calibri (MS)"/>
                <a:sym typeface="Calibri (MS)"/>
              </a:rPr>
              <a:t>starts with “I’d look at the trace.“</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3566916"/>
            <a:ext cx="5300091" cy="2154555"/>
            <a:chOff x="0" y="0"/>
            <a:chExt cx="7066788" cy="2872740"/>
          </a:xfrm>
        </p:grpSpPr>
        <p:sp>
          <p:nvSpPr>
            <p:cNvPr name="Freeform 3" id="3"/>
            <p:cNvSpPr/>
            <p:nvPr/>
          </p:nvSpPr>
          <p:spPr>
            <a:xfrm flipH="false" flipV="false" rot="0">
              <a:off x="0" y="0"/>
              <a:ext cx="7066788" cy="2872740"/>
            </a:xfrm>
            <a:custGeom>
              <a:avLst/>
              <a:gdLst/>
              <a:ahLst/>
              <a:cxnLst/>
              <a:rect r="r" b="b" t="t" l="l"/>
              <a:pathLst>
                <a:path h="2872740" w="7066788">
                  <a:moveTo>
                    <a:pt x="0" y="222377"/>
                  </a:moveTo>
                  <a:cubicBezTo>
                    <a:pt x="0" y="99568"/>
                    <a:pt x="99568" y="0"/>
                    <a:pt x="222377" y="0"/>
                  </a:cubicBezTo>
                  <a:lnTo>
                    <a:pt x="6844411" y="0"/>
                  </a:lnTo>
                  <a:cubicBezTo>
                    <a:pt x="6967220" y="0"/>
                    <a:pt x="7066788" y="99568"/>
                    <a:pt x="7066788" y="222377"/>
                  </a:cubicBezTo>
                  <a:lnTo>
                    <a:pt x="7066788" y="2650363"/>
                  </a:lnTo>
                  <a:cubicBezTo>
                    <a:pt x="7066788" y="2773172"/>
                    <a:pt x="6967220" y="2872740"/>
                    <a:pt x="6844411" y="2872740"/>
                  </a:cubicBezTo>
                  <a:lnTo>
                    <a:pt x="222377" y="2872740"/>
                  </a:lnTo>
                  <a:cubicBezTo>
                    <a:pt x="99568" y="2872740"/>
                    <a:pt x="0" y="2773172"/>
                    <a:pt x="0" y="2650363"/>
                  </a:cubicBezTo>
                  <a:close/>
                </a:path>
              </a:pathLst>
            </a:custGeom>
            <a:solidFill>
              <a:srgbClr val="F1F3F8"/>
            </a:solidFill>
            <a:ln w="28575" cap="sq">
              <a:solidFill>
                <a:srgbClr val="F1F3F8"/>
              </a:solidFill>
              <a:prstDash val="solid"/>
              <a:miter/>
            </a:ln>
          </p:spPr>
        </p:sp>
      </p:grpSp>
      <p:grpSp>
        <p:nvGrpSpPr>
          <p:cNvPr name="Group 4" id="4"/>
          <p:cNvGrpSpPr/>
          <p:nvPr/>
        </p:nvGrpSpPr>
        <p:grpSpPr>
          <a:xfrm rot="0">
            <a:off x="6493954" y="3566916"/>
            <a:ext cx="5300091" cy="2154555"/>
            <a:chOff x="0" y="0"/>
            <a:chExt cx="7066788" cy="2872740"/>
          </a:xfrm>
        </p:grpSpPr>
        <p:sp>
          <p:nvSpPr>
            <p:cNvPr name="Freeform 5" id="5"/>
            <p:cNvSpPr/>
            <p:nvPr/>
          </p:nvSpPr>
          <p:spPr>
            <a:xfrm flipH="false" flipV="false" rot="0">
              <a:off x="0" y="0"/>
              <a:ext cx="7066788" cy="2872740"/>
            </a:xfrm>
            <a:custGeom>
              <a:avLst/>
              <a:gdLst/>
              <a:ahLst/>
              <a:cxnLst/>
              <a:rect r="r" b="b" t="t" l="l"/>
              <a:pathLst>
                <a:path h="2872740" w="7066788">
                  <a:moveTo>
                    <a:pt x="0" y="222377"/>
                  </a:moveTo>
                  <a:cubicBezTo>
                    <a:pt x="0" y="99568"/>
                    <a:pt x="99568" y="0"/>
                    <a:pt x="222377" y="0"/>
                  </a:cubicBezTo>
                  <a:lnTo>
                    <a:pt x="6844411" y="0"/>
                  </a:lnTo>
                  <a:cubicBezTo>
                    <a:pt x="6967220" y="0"/>
                    <a:pt x="7066788" y="99568"/>
                    <a:pt x="7066788" y="222377"/>
                  </a:cubicBezTo>
                  <a:lnTo>
                    <a:pt x="7066788" y="2650363"/>
                  </a:lnTo>
                  <a:cubicBezTo>
                    <a:pt x="7066788" y="2773172"/>
                    <a:pt x="6967220" y="2872740"/>
                    <a:pt x="6844411" y="2872740"/>
                  </a:cubicBezTo>
                  <a:lnTo>
                    <a:pt x="222377" y="2872740"/>
                  </a:lnTo>
                  <a:cubicBezTo>
                    <a:pt x="99568" y="2872740"/>
                    <a:pt x="0" y="2773172"/>
                    <a:pt x="0" y="2650363"/>
                  </a:cubicBezTo>
                  <a:close/>
                </a:path>
              </a:pathLst>
            </a:custGeom>
            <a:solidFill>
              <a:srgbClr val="F1F3F8"/>
            </a:solidFill>
            <a:ln w="28575" cap="sq">
              <a:solidFill>
                <a:srgbClr val="F1F3F8"/>
              </a:solidFill>
              <a:prstDash val="solid"/>
              <a:miter/>
            </a:ln>
          </p:spPr>
        </p:sp>
      </p:grpSp>
      <p:grpSp>
        <p:nvGrpSpPr>
          <p:cNvPr name="Group 6" id="6"/>
          <p:cNvGrpSpPr/>
          <p:nvPr/>
        </p:nvGrpSpPr>
        <p:grpSpPr>
          <a:xfrm rot="0">
            <a:off x="12176950" y="3566916"/>
            <a:ext cx="5300091" cy="2154555"/>
            <a:chOff x="0" y="0"/>
            <a:chExt cx="7066788" cy="2872740"/>
          </a:xfrm>
        </p:grpSpPr>
        <p:sp>
          <p:nvSpPr>
            <p:cNvPr name="Freeform 7" id="7"/>
            <p:cNvSpPr/>
            <p:nvPr/>
          </p:nvSpPr>
          <p:spPr>
            <a:xfrm flipH="false" flipV="false" rot="0">
              <a:off x="0" y="0"/>
              <a:ext cx="7066788" cy="2872740"/>
            </a:xfrm>
            <a:custGeom>
              <a:avLst/>
              <a:gdLst/>
              <a:ahLst/>
              <a:cxnLst/>
              <a:rect r="r" b="b" t="t" l="l"/>
              <a:pathLst>
                <a:path h="2872740" w="7066788">
                  <a:moveTo>
                    <a:pt x="0" y="222377"/>
                  </a:moveTo>
                  <a:cubicBezTo>
                    <a:pt x="0" y="99568"/>
                    <a:pt x="99568" y="0"/>
                    <a:pt x="222377" y="0"/>
                  </a:cubicBezTo>
                  <a:lnTo>
                    <a:pt x="6844411" y="0"/>
                  </a:lnTo>
                  <a:cubicBezTo>
                    <a:pt x="6967220" y="0"/>
                    <a:pt x="7066788" y="99568"/>
                    <a:pt x="7066788" y="222377"/>
                  </a:cubicBezTo>
                  <a:lnTo>
                    <a:pt x="7066788" y="2650363"/>
                  </a:lnTo>
                  <a:cubicBezTo>
                    <a:pt x="7066788" y="2773172"/>
                    <a:pt x="6967220" y="2872740"/>
                    <a:pt x="6844411" y="2872740"/>
                  </a:cubicBezTo>
                  <a:lnTo>
                    <a:pt x="222377" y="2872740"/>
                  </a:lnTo>
                  <a:cubicBezTo>
                    <a:pt x="99568" y="2872740"/>
                    <a:pt x="0" y="2773172"/>
                    <a:pt x="0" y="2650363"/>
                  </a:cubicBezTo>
                  <a:close/>
                </a:path>
              </a:pathLst>
            </a:custGeom>
            <a:solidFill>
              <a:srgbClr val="F1F3F8"/>
            </a:solidFill>
            <a:ln w="28575" cap="sq">
              <a:solidFill>
                <a:srgbClr val="F1F3F8"/>
              </a:solidFill>
              <a:prstDash val="solid"/>
              <a:miter/>
            </a:ln>
          </p:spPr>
        </p:sp>
      </p:grpSp>
      <p:grpSp>
        <p:nvGrpSpPr>
          <p:cNvPr name="Group 8" id="8"/>
          <p:cNvGrpSpPr/>
          <p:nvPr/>
        </p:nvGrpSpPr>
        <p:grpSpPr>
          <a:xfrm rot="0">
            <a:off x="1054798" y="6872644"/>
            <a:ext cx="2223135" cy="1194435"/>
            <a:chOff x="0" y="0"/>
            <a:chExt cx="2964180" cy="1592580"/>
          </a:xfrm>
        </p:grpSpPr>
        <p:sp>
          <p:nvSpPr>
            <p:cNvPr name="Freeform 9" id="9"/>
            <p:cNvSpPr/>
            <p:nvPr/>
          </p:nvSpPr>
          <p:spPr>
            <a:xfrm flipH="false" flipV="false" rot="0">
              <a:off x="0" y="0"/>
              <a:ext cx="2964180" cy="1592580"/>
            </a:xfrm>
            <a:custGeom>
              <a:avLst/>
              <a:gdLst/>
              <a:ahLst/>
              <a:cxnLst/>
              <a:rect r="r" b="b" t="t" l="l"/>
              <a:pathLst>
                <a:path h="1592580" w="2964180">
                  <a:moveTo>
                    <a:pt x="0" y="796290"/>
                  </a:moveTo>
                  <a:cubicBezTo>
                    <a:pt x="0" y="356489"/>
                    <a:pt x="663575" y="0"/>
                    <a:pt x="1482090" y="0"/>
                  </a:cubicBezTo>
                  <a:cubicBezTo>
                    <a:pt x="2300605" y="0"/>
                    <a:pt x="2964180" y="356489"/>
                    <a:pt x="2964180" y="796290"/>
                  </a:cubicBezTo>
                  <a:cubicBezTo>
                    <a:pt x="2964180" y="1236091"/>
                    <a:pt x="2300605" y="1592580"/>
                    <a:pt x="1482090" y="1592580"/>
                  </a:cubicBezTo>
                  <a:cubicBezTo>
                    <a:pt x="663575" y="1592580"/>
                    <a:pt x="0" y="1236091"/>
                    <a:pt x="0" y="796290"/>
                  </a:cubicBezTo>
                  <a:close/>
                </a:path>
              </a:pathLst>
            </a:custGeom>
            <a:solidFill>
              <a:srgbClr val="0493FB"/>
            </a:solidFill>
            <a:ln w="28575" cap="sq">
              <a:solidFill>
                <a:srgbClr val="0493FB"/>
              </a:solidFill>
              <a:prstDash val="solid"/>
              <a:miter/>
            </a:ln>
          </p:spPr>
        </p:sp>
        <p:sp>
          <p:nvSpPr>
            <p:cNvPr name="TextBox 10" id="10"/>
            <p:cNvSpPr txBox="true"/>
            <p:nvPr/>
          </p:nvSpPr>
          <p:spPr>
            <a:xfrm>
              <a:off x="0" y="-38100"/>
              <a:ext cx="2964180" cy="1630680"/>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intake</a:t>
              </a:r>
            </a:p>
          </p:txBody>
        </p:sp>
      </p:grpSp>
      <p:sp>
        <p:nvSpPr>
          <p:cNvPr name="AutoShape 11" id="11"/>
          <p:cNvSpPr/>
          <p:nvPr/>
        </p:nvSpPr>
        <p:spPr>
          <a:xfrm flipV="true">
            <a:off x="3274631" y="7490283"/>
            <a:ext cx="556707" cy="0"/>
          </a:xfrm>
          <a:prstGeom prst="line">
            <a:avLst/>
          </a:prstGeom>
          <a:ln cap="rnd" w="19050">
            <a:solidFill>
              <a:srgbClr val="1B1F3B"/>
            </a:solidFill>
            <a:prstDash val="solid"/>
            <a:headEnd type="none" len="sm" w="sm"/>
            <a:tailEnd type="triangle" len="med" w="lg"/>
          </a:ln>
        </p:spPr>
      </p:sp>
      <p:grpSp>
        <p:nvGrpSpPr>
          <p:cNvPr name="Group 12" id="12"/>
          <p:cNvGrpSpPr/>
          <p:nvPr/>
        </p:nvGrpSpPr>
        <p:grpSpPr>
          <a:xfrm rot="0">
            <a:off x="3866578" y="6872644"/>
            <a:ext cx="2223135" cy="1194435"/>
            <a:chOff x="0" y="0"/>
            <a:chExt cx="2964180" cy="1592580"/>
          </a:xfrm>
        </p:grpSpPr>
        <p:sp>
          <p:nvSpPr>
            <p:cNvPr name="Freeform 13" id="13"/>
            <p:cNvSpPr/>
            <p:nvPr/>
          </p:nvSpPr>
          <p:spPr>
            <a:xfrm flipH="false" flipV="false" rot="0">
              <a:off x="0" y="0"/>
              <a:ext cx="2964180" cy="1592580"/>
            </a:xfrm>
            <a:custGeom>
              <a:avLst/>
              <a:gdLst/>
              <a:ahLst/>
              <a:cxnLst/>
              <a:rect r="r" b="b" t="t" l="l"/>
              <a:pathLst>
                <a:path h="1592580" w="2964180">
                  <a:moveTo>
                    <a:pt x="0" y="796290"/>
                  </a:moveTo>
                  <a:cubicBezTo>
                    <a:pt x="0" y="356489"/>
                    <a:pt x="663575" y="0"/>
                    <a:pt x="1482090" y="0"/>
                  </a:cubicBezTo>
                  <a:cubicBezTo>
                    <a:pt x="2300605" y="0"/>
                    <a:pt x="2964180" y="356489"/>
                    <a:pt x="2964180" y="796290"/>
                  </a:cubicBezTo>
                  <a:cubicBezTo>
                    <a:pt x="2964180" y="1236091"/>
                    <a:pt x="2300605" y="1592580"/>
                    <a:pt x="1482090" y="1592580"/>
                  </a:cubicBezTo>
                  <a:cubicBezTo>
                    <a:pt x="663575" y="1592580"/>
                    <a:pt x="0" y="1236091"/>
                    <a:pt x="0" y="796290"/>
                  </a:cubicBezTo>
                  <a:close/>
                </a:path>
              </a:pathLst>
            </a:custGeom>
            <a:solidFill>
              <a:srgbClr val="3D5A80"/>
            </a:solidFill>
            <a:ln w="28575" cap="sq">
              <a:solidFill>
                <a:srgbClr val="3D5A80"/>
              </a:solidFill>
              <a:prstDash val="solid"/>
              <a:miter/>
            </a:ln>
          </p:spPr>
        </p:sp>
        <p:sp>
          <p:nvSpPr>
            <p:cNvPr name="TextBox 14" id="14"/>
            <p:cNvSpPr txBox="true"/>
            <p:nvPr/>
          </p:nvSpPr>
          <p:spPr>
            <a:xfrm>
              <a:off x="0" y="-38100"/>
              <a:ext cx="2964180" cy="1630680"/>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validate</a:t>
              </a:r>
            </a:p>
          </p:txBody>
        </p:sp>
      </p:grpSp>
      <p:sp>
        <p:nvSpPr>
          <p:cNvPr name="AutoShape 15" id="15"/>
          <p:cNvSpPr/>
          <p:nvPr/>
        </p:nvSpPr>
        <p:spPr>
          <a:xfrm>
            <a:off x="6089713" y="7490283"/>
            <a:ext cx="553404" cy="0"/>
          </a:xfrm>
          <a:prstGeom prst="line">
            <a:avLst/>
          </a:prstGeom>
          <a:ln cap="rnd" w="19050">
            <a:solidFill>
              <a:srgbClr val="1B1F3B"/>
            </a:solidFill>
            <a:prstDash val="solid"/>
            <a:headEnd type="none" len="sm" w="sm"/>
            <a:tailEnd type="triangle" len="med" w="lg"/>
          </a:ln>
        </p:spPr>
      </p:sp>
      <p:grpSp>
        <p:nvGrpSpPr>
          <p:cNvPr name="Group 16" id="16"/>
          <p:cNvGrpSpPr/>
          <p:nvPr/>
        </p:nvGrpSpPr>
        <p:grpSpPr>
          <a:xfrm rot="0">
            <a:off x="6678358" y="6872644"/>
            <a:ext cx="2223135" cy="1194435"/>
            <a:chOff x="0" y="0"/>
            <a:chExt cx="2964180" cy="1592580"/>
          </a:xfrm>
        </p:grpSpPr>
        <p:sp>
          <p:nvSpPr>
            <p:cNvPr name="Freeform 17" id="17"/>
            <p:cNvSpPr/>
            <p:nvPr/>
          </p:nvSpPr>
          <p:spPr>
            <a:xfrm flipH="false" flipV="false" rot="0">
              <a:off x="0" y="0"/>
              <a:ext cx="2964180" cy="1592580"/>
            </a:xfrm>
            <a:custGeom>
              <a:avLst/>
              <a:gdLst/>
              <a:ahLst/>
              <a:cxnLst/>
              <a:rect r="r" b="b" t="t" l="l"/>
              <a:pathLst>
                <a:path h="1592580" w="2964180">
                  <a:moveTo>
                    <a:pt x="0" y="796290"/>
                  </a:moveTo>
                  <a:cubicBezTo>
                    <a:pt x="0" y="356489"/>
                    <a:pt x="663575" y="0"/>
                    <a:pt x="1482090" y="0"/>
                  </a:cubicBezTo>
                  <a:cubicBezTo>
                    <a:pt x="2300605" y="0"/>
                    <a:pt x="2964180" y="356489"/>
                    <a:pt x="2964180" y="796290"/>
                  </a:cubicBezTo>
                  <a:cubicBezTo>
                    <a:pt x="2964180" y="1236091"/>
                    <a:pt x="2300605" y="1592580"/>
                    <a:pt x="1482090" y="1592580"/>
                  </a:cubicBezTo>
                  <a:cubicBezTo>
                    <a:pt x="663575" y="1592580"/>
                    <a:pt x="0" y="1236091"/>
                    <a:pt x="0" y="796290"/>
                  </a:cubicBezTo>
                  <a:close/>
                </a:path>
              </a:pathLst>
            </a:custGeom>
            <a:solidFill>
              <a:srgbClr val="3D5A80"/>
            </a:solidFill>
            <a:ln w="28575" cap="sq">
              <a:solidFill>
                <a:srgbClr val="3D5A80"/>
              </a:solidFill>
              <a:prstDash val="solid"/>
              <a:miter/>
            </a:ln>
          </p:spPr>
        </p:sp>
        <p:sp>
          <p:nvSpPr>
            <p:cNvPr name="TextBox 18" id="18"/>
            <p:cNvSpPr txBox="true"/>
            <p:nvPr/>
          </p:nvSpPr>
          <p:spPr>
            <a:xfrm>
              <a:off x="0" y="-38100"/>
              <a:ext cx="2964180" cy="1630680"/>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compliance</a:t>
              </a:r>
            </a:p>
          </p:txBody>
        </p:sp>
      </p:grpSp>
      <p:sp>
        <p:nvSpPr>
          <p:cNvPr name="AutoShape 19" id="19"/>
          <p:cNvSpPr/>
          <p:nvPr/>
        </p:nvSpPr>
        <p:spPr>
          <a:xfrm>
            <a:off x="8901493" y="7490283"/>
            <a:ext cx="553404" cy="0"/>
          </a:xfrm>
          <a:prstGeom prst="line">
            <a:avLst/>
          </a:prstGeom>
          <a:ln cap="rnd" w="19050">
            <a:solidFill>
              <a:srgbClr val="1B1F3B"/>
            </a:solidFill>
            <a:prstDash val="solid"/>
            <a:headEnd type="none" len="sm" w="sm"/>
            <a:tailEnd type="triangle" len="med" w="lg"/>
          </a:ln>
        </p:spPr>
      </p:sp>
      <p:grpSp>
        <p:nvGrpSpPr>
          <p:cNvPr name="Group 20" id="20"/>
          <p:cNvGrpSpPr/>
          <p:nvPr/>
        </p:nvGrpSpPr>
        <p:grpSpPr>
          <a:xfrm rot="0">
            <a:off x="9490138" y="6872644"/>
            <a:ext cx="2223135" cy="1194435"/>
            <a:chOff x="0" y="0"/>
            <a:chExt cx="2964180" cy="1592580"/>
          </a:xfrm>
        </p:grpSpPr>
        <p:sp>
          <p:nvSpPr>
            <p:cNvPr name="Freeform 21" id="21"/>
            <p:cNvSpPr/>
            <p:nvPr/>
          </p:nvSpPr>
          <p:spPr>
            <a:xfrm flipH="false" flipV="false" rot="0">
              <a:off x="0" y="0"/>
              <a:ext cx="2964180" cy="1592580"/>
            </a:xfrm>
            <a:custGeom>
              <a:avLst/>
              <a:gdLst/>
              <a:ahLst/>
              <a:cxnLst/>
              <a:rect r="r" b="b" t="t" l="l"/>
              <a:pathLst>
                <a:path h="1592580" w="2964180">
                  <a:moveTo>
                    <a:pt x="0" y="796290"/>
                  </a:moveTo>
                  <a:cubicBezTo>
                    <a:pt x="0" y="356489"/>
                    <a:pt x="663575" y="0"/>
                    <a:pt x="1482090" y="0"/>
                  </a:cubicBezTo>
                  <a:cubicBezTo>
                    <a:pt x="2300605" y="0"/>
                    <a:pt x="2964180" y="356489"/>
                    <a:pt x="2964180" y="796290"/>
                  </a:cubicBezTo>
                  <a:cubicBezTo>
                    <a:pt x="2964180" y="1236091"/>
                    <a:pt x="2300605" y="1592580"/>
                    <a:pt x="1482090" y="1592580"/>
                  </a:cubicBezTo>
                  <a:cubicBezTo>
                    <a:pt x="663575" y="1592580"/>
                    <a:pt x="0" y="1236091"/>
                    <a:pt x="0" y="796290"/>
                  </a:cubicBezTo>
                  <a:close/>
                </a:path>
              </a:pathLst>
            </a:custGeom>
            <a:solidFill>
              <a:srgbClr val="3D5A80"/>
            </a:solidFill>
            <a:ln w="28575" cap="sq">
              <a:solidFill>
                <a:srgbClr val="3D5A80"/>
              </a:solidFill>
              <a:prstDash val="solid"/>
              <a:miter/>
            </a:ln>
          </p:spPr>
        </p:sp>
        <p:sp>
          <p:nvSpPr>
            <p:cNvPr name="TextBox 22" id="22"/>
            <p:cNvSpPr txBox="true"/>
            <p:nvPr/>
          </p:nvSpPr>
          <p:spPr>
            <a:xfrm>
              <a:off x="0" y="-38100"/>
              <a:ext cx="2964180" cy="1630680"/>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priority</a:t>
              </a:r>
            </a:p>
          </p:txBody>
        </p:sp>
      </p:grpSp>
      <p:sp>
        <p:nvSpPr>
          <p:cNvPr name="AutoShape 23" id="23"/>
          <p:cNvSpPr/>
          <p:nvPr/>
        </p:nvSpPr>
        <p:spPr>
          <a:xfrm>
            <a:off x="11713273" y="7490283"/>
            <a:ext cx="553404" cy="0"/>
          </a:xfrm>
          <a:prstGeom prst="line">
            <a:avLst/>
          </a:prstGeom>
          <a:ln cap="rnd" w="19050">
            <a:solidFill>
              <a:srgbClr val="1B1F3B"/>
            </a:solidFill>
            <a:prstDash val="solid"/>
            <a:headEnd type="none" len="sm" w="sm"/>
            <a:tailEnd type="triangle" len="med" w="lg"/>
          </a:ln>
        </p:spPr>
      </p:sp>
      <p:grpSp>
        <p:nvGrpSpPr>
          <p:cNvPr name="Group 24" id="24"/>
          <p:cNvGrpSpPr/>
          <p:nvPr/>
        </p:nvGrpSpPr>
        <p:grpSpPr>
          <a:xfrm rot="0">
            <a:off x="808672" y="1335796"/>
            <a:ext cx="15001304" cy="728070"/>
            <a:chOff x="0" y="0"/>
            <a:chExt cx="3950961" cy="191755"/>
          </a:xfrm>
        </p:grpSpPr>
        <p:sp>
          <p:nvSpPr>
            <p:cNvPr name="Freeform 25" id="25"/>
            <p:cNvSpPr/>
            <p:nvPr/>
          </p:nvSpPr>
          <p:spPr>
            <a:xfrm flipH="false" flipV="false" rot="0">
              <a:off x="0" y="0"/>
              <a:ext cx="3950961" cy="191755"/>
            </a:xfrm>
            <a:custGeom>
              <a:avLst/>
              <a:gdLst/>
              <a:ahLst/>
              <a:cxnLst/>
              <a:rect r="r" b="b" t="t" l="l"/>
              <a:pathLst>
                <a:path h="191755" w="3950961">
                  <a:moveTo>
                    <a:pt x="0" y="0"/>
                  </a:moveTo>
                  <a:lnTo>
                    <a:pt x="3950961" y="0"/>
                  </a:lnTo>
                  <a:lnTo>
                    <a:pt x="3950961" y="191755"/>
                  </a:lnTo>
                  <a:lnTo>
                    <a:pt x="0" y="191755"/>
                  </a:lnTo>
                  <a:close/>
                </a:path>
              </a:pathLst>
            </a:custGeom>
            <a:solidFill>
              <a:srgbClr val="0493FB"/>
            </a:solidFill>
          </p:spPr>
        </p:sp>
        <p:sp>
          <p:nvSpPr>
            <p:cNvPr name="TextBox 26" id="26"/>
            <p:cNvSpPr txBox="true"/>
            <p:nvPr/>
          </p:nvSpPr>
          <p:spPr>
            <a:xfrm>
              <a:off x="0" y="-57150"/>
              <a:ext cx="3950961" cy="248905"/>
            </a:xfrm>
            <a:prstGeom prst="rect">
              <a:avLst/>
            </a:prstGeom>
          </p:spPr>
          <p:txBody>
            <a:bodyPr anchor="ctr" rtlCol="false" tIns="50800" lIns="50800" bIns="50800" rIns="50800"/>
            <a:lstStyle/>
            <a:p>
              <a:pPr algn="ctr">
                <a:lnSpc>
                  <a:spcPts val="2700"/>
                </a:lnSpc>
              </a:pPr>
            </a:p>
          </p:txBody>
        </p:sp>
      </p:grpSp>
      <p:sp>
        <p:nvSpPr>
          <p:cNvPr name="Freeform 27" id="27"/>
          <p:cNvSpPr/>
          <p:nvPr/>
        </p:nvSpPr>
        <p:spPr>
          <a:xfrm flipH="false" flipV="false" rot="0">
            <a:off x="12266678" y="6095072"/>
            <a:ext cx="5413236" cy="3093278"/>
          </a:xfrm>
          <a:custGeom>
            <a:avLst/>
            <a:gdLst/>
            <a:ahLst/>
            <a:cxnLst/>
            <a:rect r="r" b="b" t="t" l="l"/>
            <a:pathLst>
              <a:path h="3093278" w="5413236">
                <a:moveTo>
                  <a:pt x="0" y="0"/>
                </a:moveTo>
                <a:lnTo>
                  <a:pt x="5413236" y="0"/>
                </a:lnTo>
                <a:lnTo>
                  <a:pt x="5413236" y="3093278"/>
                </a:lnTo>
                <a:lnTo>
                  <a:pt x="0" y="3093278"/>
                </a:lnTo>
                <a:lnTo>
                  <a:pt x="0" y="0"/>
                </a:lnTo>
                <a:close/>
              </a:path>
            </a:pathLst>
          </a:custGeom>
          <a:blipFill>
            <a:blip r:embed="rId2"/>
            <a:stretch>
              <a:fillRect l="0" t="0" r="0" b="0"/>
            </a:stretch>
          </a:blipFill>
        </p:spPr>
      </p:sp>
      <p:sp>
        <p:nvSpPr>
          <p:cNvPr name="TextBox 28" id="28"/>
          <p:cNvSpPr txBox="true"/>
          <p:nvPr/>
        </p:nvSpPr>
        <p:spPr>
          <a:xfrm rot="0">
            <a:off x="1236726" y="3926009"/>
            <a:ext cx="4448556" cy="752475"/>
          </a:xfrm>
          <a:prstGeom prst="rect">
            <a:avLst/>
          </a:prstGeom>
        </p:spPr>
        <p:txBody>
          <a:bodyPr anchor="t" rtlCol="false" tIns="0" lIns="0" bIns="0" rIns="0">
            <a:spAutoFit/>
          </a:bodyPr>
          <a:lstStyle/>
          <a:p>
            <a:pPr algn="l">
              <a:lnSpc>
                <a:spcPts val="3960"/>
              </a:lnSpc>
            </a:pPr>
            <a:r>
              <a:rPr lang="en-US" sz="3300" b="true">
                <a:solidFill>
                  <a:srgbClr val="1B1F3B"/>
                </a:solidFill>
                <a:latin typeface="Calibri (MS) Bold"/>
                <a:ea typeface="Calibri (MS) Bold"/>
                <a:cs typeface="Calibri (MS) Bold"/>
                <a:sym typeface="Calibri (MS) Bold"/>
              </a:rPr>
              <a:t>State</a:t>
            </a:r>
          </a:p>
        </p:txBody>
      </p:sp>
      <p:sp>
        <p:nvSpPr>
          <p:cNvPr name="TextBox 29" id="29"/>
          <p:cNvSpPr txBox="true"/>
          <p:nvPr/>
        </p:nvSpPr>
        <p:spPr>
          <a:xfrm rot="0">
            <a:off x="1236726" y="4640384"/>
            <a:ext cx="4448556" cy="400050"/>
          </a:xfrm>
          <a:prstGeom prst="rect">
            <a:avLst/>
          </a:prstGeom>
        </p:spPr>
        <p:txBody>
          <a:bodyPr anchor="t" rtlCol="false" tIns="0" lIns="0" bIns="0" rIns="0">
            <a:spAutoFit/>
          </a:bodyPr>
          <a:lstStyle/>
          <a:p>
            <a:pPr algn="l">
              <a:lnSpc>
                <a:spcPts val="2879"/>
              </a:lnSpc>
            </a:pPr>
            <a:r>
              <a:rPr lang="en-US" sz="2400">
                <a:solidFill>
                  <a:srgbClr val="3D5A80"/>
                </a:solidFill>
                <a:latin typeface="Calibri (MS)"/>
                <a:ea typeface="Calibri (MS)"/>
                <a:cs typeface="Calibri (MS)"/>
                <a:sym typeface="Calibri (MS)"/>
              </a:rPr>
              <a:t>the schema, what we track</a:t>
            </a:r>
          </a:p>
        </p:txBody>
      </p:sp>
      <p:sp>
        <p:nvSpPr>
          <p:cNvPr name="TextBox 30" id="30"/>
          <p:cNvSpPr txBox="true"/>
          <p:nvPr/>
        </p:nvSpPr>
        <p:spPr>
          <a:xfrm rot="0">
            <a:off x="6919722" y="3926009"/>
            <a:ext cx="4448556" cy="752475"/>
          </a:xfrm>
          <a:prstGeom prst="rect">
            <a:avLst/>
          </a:prstGeom>
        </p:spPr>
        <p:txBody>
          <a:bodyPr anchor="t" rtlCol="false" tIns="0" lIns="0" bIns="0" rIns="0">
            <a:spAutoFit/>
          </a:bodyPr>
          <a:lstStyle/>
          <a:p>
            <a:pPr algn="l">
              <a:lnSpc>
                <a:spcPts val="3960"/>
              </a:lnSpc>
            </a:pPr>
            <a:r>
              <a:rPr lang="en-US" b="true" sz="3300">
                <a:solidFill>
                  <a:srgbClr val="0E3C74"/>
                </a:solidFill>
                <a:latin typeface="Calibri (MS) Bold"/>
                <a:ea typeface="Calibri (MS) Bold"/>
                <a:cs typeface="Calibri (MS) Bold"/>
                <a:sym typeface="Calibri (MS) Bold"/>
              </a:rPr>
              <a:t>Nodes</a:t>
            </a:r>
          </a:p>
        </p:txBody>
      </p:sp>
      <p:sp>
        <p:nvSpPr>
          <p:cNvPr name="TextBox 31" id="31"/>
          <p:cNvSpPr txBox="true"/>
          <p:nvPr/>
        </p:nvSpPr>
        <p:spPr>
          <a:xfrm rot="0">
            <a:off x="6919722" y="4640384"/>
            <a:ext cx="4448556" cy="762000"/>
          </a:xfrm>
          <a:prstGeom prst="rect">
            <a:avLst/>
          </a:prstGeom>
        </p:spPr>
        <p:txBody>
          <a:bodyPr anchor="t" rtlCol="false" tIns="0" lIns="0" bIns="0" rIns="0">
            <a:spAutoFit/>
          </a:bodyPr>
          <a:lstStyle/>
          <a:p>
            <a:pPr algn="l">
              <a:lnSpc>
                <a:spcPts val="2879"/>
              </a:lnSpc>
            </a:pPr>
            <a:r>
              <a:rPr lang="en-US" sz="2400">
                <a:solidFill>
                  <a:srgbClr val="3D5A80"/>
                </a:solidFill>
                <a:latin typeface="Calibri (MS)"/>
                <a:ea typeface="Calibri (MS)"/>
                <a:cs typeface="Calibri (MS)"/>
                <a:sym typeface="Calibri (MS)"/>
              </a:rPr>
              <a:t>the circles, functions you already trust</a:t>
            </a:r>
          </a:p>
        </p:txBody>
      </p:sp>
      <p:sp>
        <p:nvSpPr>
          <p:cNvPr name="TextBox 32" id="32"/>
          <p:cNvSpPr txBox="true"/>
          <p:nvPr/>
        </p:nvSpPr>
        <p:spPr>
          <a:xfrm rot="0">
            <a:off x="12602718" y="3926009"/>
            <a:ext cx="4448556" cy="752475"/>
          </a:xfrm>
          <a:prstGeom prst="rect">
            <a:avLst/>
          </a:prstGeom>
        </p:spPr>
        <p:txBody>
          <a:bodyPr anchor="t" rtlCol="false" tIns="0" lIns="0" bIns="0" rIns="0">
            <a:spAutoFit/>
          </a:bodyPr>
          <a:lstStyle/>
          <a:p>
            <a:pPr algn="l">
              <a:lnSpc>
                <a:spcPts val="3960"/>
              </a:lnSpc>
            </a:pPr>
            <a:r>
              <a:rPr lang="en-US" sz="3300" b="true">
                <a:solidFill>
                  <a:srgbClr val="1B1F3B"/>
                </a:solidFill>
                <a:latin typeface="Calibri (MS) Bold"/>
                <a:ea typeface="Calibri (MS) Bold"/>
                <a:cs typeface="Calibri (MS) Bold"/>
                <a:sym typeface="Calibri (MS) Bold"/>
              </a:rPr>
              <a:t>Edges</a:t>
            </a:r>
          </a:p>
        </p:txBody>
      </p:sp>
      <p:sp>
        <p:nvSpPr>
          <p:cNvPr name="TextBox 33" id="33"/>
          <p:cNvSpPr txBox="true"/>
          <p:nvPr/>
        </p:nvSpPr>
        <p:spPr>
          <a:xfrm rot="0">
            <a:off x="12602718" y="4640384"/>
            <a:ext cx="4448556" cy="792480"/>
          </a:xfrm>
          <a:prstGeom prst="rect">
            <a:avLst/>
          </a:prstGeom>
        </p:spPr>
        <p:txBody>
          <a:bodyPr anchor="t" rtlCol="false" tIns="0" lIns="0" bIns="0" rIns="0">
            <a:spAutoFit/>
          </a:bodyPr>
          <a:lstStyle/>
          <a:p>
            <a:pPr algn="l">
              <a:lnSpc>
                <a:spcPts val="2879"/>
              </a:lnSpc>
            </a:pPr>
            <a:r>
              <a:rPr lang="en-US" sz="2400">
                <a:solidFill>
                  <a:srgbClr val="3D5A80"/>
                </a:solidFill>
                <a:latin typeface="Calibri (MS)"/>
                <a:ea typeface="Calibri (MS)"/>
                <a:cs typeface="Calibri (MS)"/>
                <a:sym typeface="Calibri (MS)"/>
              </a:rPr>
              <a:t>the lines — where to go next</a:t>
            </a:r>
          </a:p>
        </p:txBody>
      </p:sp>
      <p:sp>
        <p:nvSpPr>
          <p:cNvPr name="TextBox 34" id="34"/>
          <p:cNvSpPr txBox="true"/>
          <p:nvPr/>
        </p:nvSpPr>
        <p:spPr>
          <a:xfrm rot="0">
            <a:off x="863346" y="8357592"/>
            <a:ext cx="10972800" cy="1123950"/>
          </a:xfrm>
          <a:prstGeom prst="rect">
            <a:avLst/>
          </a:prstGeom>
        </p:spPr>
        <p:txBody>
          <a:bodyPr anchor="t" rtlCol="false" tIns="0" lIns="0" bIns="0" rIns="0">
            <a:spAutoFit/>
          </a:bodyPr>
          <a:lstStyle/>
          <a:p>
            <a:pPr algn="l">
              <a:lnSpc>
                <a:spcPts val="2879"/>
              </a:lnSpc>
            </a:pPr>
            <a:r>
              <a:rPr lang="en-US" sz="2400" i="true">
                <a:solidFill>
                  <a:srgbClr val="FFFFFF"/>
                </a:solidFill>
                <a:latin typeface="Calibri (MS) Italics"/>
                <a:ea typeface="Calibri (MS) Italics"/>
                <a:cs typeface="Calibri (MS) Italics"/>
                <a:sym typeface="Calibri (MS) Italics"/>
              </a:rPr>
              <a:t>Only intake calls the LLM. lg_route reads the state and returns the next node’s name.</a:t>
            </a:r>
          </a:p>
          <a:p>
            <a:pPr algn="l">
              <a:lnSpc>
                <a:spcPts val="2879"/>
              </a:lnSpc>
            </a:pPr>
            <a:r>
              <a:rPr lang="en-US" sz="2400" i="true">
                <a:solidFill>
                  <a:srgbClr val="FFFFFF"/>
                </a:solidFill>
                <a:latin typeface="Calibri (MS) Italics"/>
                <a:ea typeface="Calibri (MS) Italics"/>
                <a:cs typeface="Calibri (MS) Italics"/>
                <a:sym typeface="Calibri (MS) Italics"/>
              </a:rPr>
              <a:t>Three moves:  add a node  ·  add an edge  ·  compile</a:t>
            </a:r>
          </a:p>
          <a:p>
            <a:pPr algn="l">
              <a:lnSpc>
                <a:spcPts val="2879"/>
              </a:lnSpc>
            </a:pPr>
          </a:p>
        </p:txBody>
      </p:sp>
      <p:sp>
        <p:nvSpPr>
          <p:cNvPr name="TextBox 35" id="35"/>
          <p:cNvSpPr txBox="true"/>
          <p:nvPr/>
        </p:nvSpPr>
        <p:spPr>
          <a:xfrm rot="0">
            <a:off x="1026414" y="520329"/>
            <a:ext cx="16399564"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Part 3: The LangGraph Rebuild</a:t>
            </a:r>
          </a:p>
        </p:txBody>
      </p:sp>
    </p:spTree>
  </p:cSld>
  <p:clrMapOvr>
    <a:masterClrMapping/>
  </p:clrMapOvr>
</p:sld>
</file>

<file path=ppt/slides/slide34.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1720342"/>
            <a:ext cx="10952308" cy="787661"/>
            <a:chOff x="0" y="0"/>
            <a:chExt cx="2884559" cy="207450"/>
          </a:xfrm>
        </p:grpSpPr>
        <p:sp>
          <p:nvSpPr>
            <p:cNvPr name="Freeform 3" id="3"/>
            <p:cNvSpPr/>
            <p:nvPr/>
          </p:nvSpPr>
          <p:spPr>
            <a:xfrm flipH="false" flipV="false" rot="0">
              <a:off x="0" y="0"/>
              <a:ext cx="2884559" cy="207450"/>
            </a:xfrm>
            <a:custGeom>
              <a:avLst/>
              <a:gdLst/>
              <a:ahLst/>
              <a:cxnLst/>
              <a:rect r="r" b="b" t="t" l="l"/>
              <a:pathLst>
                <a:path h="207450" w="2884559">
                  <a:moveTo>
                    <a:pt x="0" y="0"/>
                  </a:moveTo>
                  <a:lnTo>
                    <a:pt x="2884559" y="0"/>
                  </a:lnTo>
                  <a:lnTo>
                    <a:pt x="2884559" y="207450"/>
                  </a:lnTo>
                  <a:lnTo>
                    <a:pt x="0" y="207450"/>
                  </a:lnTo>
                  <a:close/>
                </a:path>
              </a:pathLst>
            </a:custGeom>
            <a:solidFill>
              <a:srgbClr val="0493FB"/>
            </a:solidFill>
          </p:spPr>
        </p:sp>
        <p:sp>
          <p:nvSpPr>
            <p:cNvPr name="TextBox 4" id="4"/>
            <p:cNvSpPr txBox="true"/>
            <p:nvPr/>
          </p:nvSpPr>
          <p:spPr>
            <a:xfrm>
              <a:off x="0" y="-57150"/>
              <a:ext cx="2884559" cy="264600"/>
            </a:xfrm>
            <a:prstGeom prst="rect">
              <a:avLst/>
            </a:prstGeom>
          </p:spPr>
          <p:txBody>
            <a:bodyPr anchor="ctr" rtlCol="false" tIns="50800" lIns="50800" bIns="50800" rIns="50800"/>
            <a:lstStyle/>
            <a:p>
              <a:pPr algn="ctr">
                <a:lnSpc>
                  <a:spcPts val="2700"/>
                </a:lnSpc>
              </a:pPr>
            </a:p>
          </p:txBody>
        </p:sp>
      </p:grpSp>
      <p:grpSp>
        <p:nvGrpSpPr>
          <p:cNvPr name="Group 5" id="5"/>
          <p:cNvGrpSpPr/>
          <p:nvPr/>
        </p:nvGrpSpPr>
        <p:grpSpPr>
          <a:xfrm rot="0">
            <a:off x="1162906" y="3518535"/>
            <a:ext cx="8126349" cy="5739765"/>
            <a:chOff x="0" y="0"/>
            <a:chExt cx="10835132" cy="7653020"/>
          </a:xfrm>
        </p:grpSpPr>
        <p:sp>
          <p:nvSpPr>
            <p:cNvPr name="Freeform 6" id="6"/>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7" id="7"/>
          <p:cNvGrpSpPr/>
          <p:nvPr/>
        </p:nvGrpSpPr>
        <p:grpSpPr>
          <a:xfrm rot="0">
            <a:off x="1486550" y="4010363"/>
            <a:ext cx="5305015" cy="906678"/>
            <a:chOff x="0" y="0"/>
            <a:chExt cx="1397205" cy="238796"/>
          </a:xfrm>
        </p:grpSpPr>
        <p:sp>
          <p:nvSpPr>
            <p:cNvPr name="Freeform 8" id="8"/>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493FB"/>
            </a:solidFill>
          </p:spPr>
        </p:sp>
        <p:sp>
          <p:nvSpPr>
            <p:cNvPr name="TextBox 9" id="9"/>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Your manager asks?</a:t>
              </a:r>
            </a:p>
          </p:txBody>
        </p:sp>
      </p:grpSp>
      <p:sp>
        <p:nvSpPr>
          <p:cNvPr name="TextBox 10" id="10"/>
          <p:cNvSpPr txBox="true"/>
          <p:nvPr/>
        </p:nvSpPr>
        <p:spPr>
          <a:xfrm rot="0">
            <a:off x="1028700" y="904875"/>
            <a:ext cx="11074861"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At Work: LangGraph</a:t>
            </a:r>
          </a:p>
        </p:txBody>
      </p:sp>
      <p:sp>
        <p:nvSpPr>
          <p:cNvPr name="TextBox 11" id="11"/>
          <p:cNvSpPr txBox="true"/>
          <p:nvPr/>
        </p:nvSpPr>
        <p:spPr>
          <a:xfrm rot="0">
            <a:off x="1383185" y="5336858"/>
            <a:ext cx="7760815" cy="2790825"/>
          </a:xfrm>
          <a:prstGeom prst="rect">
            <a:avLst/>
          </a:prstGeom>
        </p:spPr>
        <p:txBody>
          <a:bodyPr anchor="t" rtlCol="false" tIns="0" lIns="0" bIns="0" rIns="0">
            <a:spAutoFit/>
          </a:bodyPr>
          <a:lstStyle/>
          <a:p>
            <a:pPr algn="ctr">
              <a:lnSpc>
                <a:spcPts val="3114"/>
              </a:lnSpc>
            </a:pPr>
            <a:r>
              <a:rPr lang="en-US" sz="2595" b="true">
                <a:solidFill>
                  <a:srgbClr val="0D1B34"/>
                </a:solidFill>
                <a:latin typeface="Calibri (MS) Bold"/>
                <a:ea typeface="Calibri (MS) Bold"/>
                <a:cs typeface="Calibri (MS) Bold"/>
                <a:sym typeface="Calibri (MS) Bold"/>
              </a:rPr>
              <a:t>    “Product wants three new ticket types by Friday.”</a:t>
            </a: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Add each one as a node + handler</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Add each to the router’s edge map.</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Print the graph; check every path.</a:t>
            </a:r>
          </a:p>
        </p:txBody>
      </p:sp>
      <p:grpSp>
        <p:nvGrpSpPr>
          <p:cNvPr name="Group 12" id="12"/>
          <p:cNvGrpSpPr/>
          <p:nvPr/>
        </p:nvGrpSpPr>
        <p:grpSpPr>
          <a:xfrm rot="0">
            <a:off x="9447135" y="3518535"/>
            <a:ext cx="8126349" cy="5739765"/>
            <a:chOff x="0" y="0"/>
            <a:chExt cx="10835132" cy="7653020"/>
          </a:xfrm>
        </p:grpSpPr>
        <p:sp>
          <p:nvSpPr>
            <p:cNvPr name="Freeform 13" id="13"/>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14" id="14"/>
          <p:cNvGrpSpPr/>
          <p:nvPr/>
        </p:nvGrpSpPr>
        <p:grpSpPr>
          <a:xfrm rot="0">
            <a:off x="9770779" y="4010363"/>
            <a:ext cx="5305015" cy="906678"/>
            <a:chOff x="0" y="0"/>
            <a:chExt cx="1397205" cy="238796"/>
          </a:xfrm>
        </p:grpSpPr>
        <p:sp>
          <p:nvSpPr>
            <p:cNvPr name="Freeform 15" id="15"/>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E3C74"/>
            </a:solidFill>
          </p:spPr>
        </p:sp>
        <p:sp>
          <p:nvSpPr>
            <p:cNvPr name="TextBox 16" id="16"/>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The interviewer asks?</a:t>
              </a:r>
            </a:p>
          </p:txBody>
        </p:sp>
      </p:grpSp>
      <p:sp>
        <p:nvSpPr>
          <p:cNvPr name="TextBox 17" id="17"/>
          <p:cNvSpPr txBox="true"/>
          <p:nvPr/>
        </p:nvSpPr>
        <p:spPr>
          <a:xfrm rot="0">
            <a:off x="9447135" y="5336858"/>
            <a:ext cx="8284229" cy="2790825"/>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“Why LangGraph instead of your own loop?”</a:t>
            </a: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At 50 nodes, the wiring becomes the bug.</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The graph makes every path explicit.</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It replaced my wiring, not my engineering.</a:t>
            </a:r>
          </a:p>
        </p:txBody>
      </p:sp>
      <p:sp>
        <p:nvSpPr>
          <p:cNvPr name="TextBox 18" id="18"/>
          <p:cNvSpPr txBox="true"/>
          <p:nvPr/>
        </p:nvSpPr>
        <p:spPr>
          <a:xfrm rot="0">
            <a:off x="1237930" y="9403298"/>
            <a:ext cx="15812140" cy="561975"/>
          </a:xfrm>
          <a:prstGeom prst="rect">
            <a:avLst/>
          </a:prstGeom>
        </p:spPr>
        <p:txBody>
          <a:bodyPr anchor="t" rtlCol="false" tIns="0" lIns="0" bIns="0" rIns="0">
            <a:spAutoFit/>
          </a:bodyPr>
          <a:lstStyle/>
          <a:p>
            <a:pPr algn="ctr">
              <a:lnSpc>
                <a:spcPts val="3908"/>
              </a:lnSpc>
              <a:spcBef>
                <a:spcPct val="0"/>
              </a:spcBef>
            </a:pPr>
            <a:r>
              <a:rPr lang="en-US" b="true" sz="3257">
                <a:solidFill>
                  <a:srgbClr val="FFFFFF"/>
                </a:solidFill>
                <a:latin typeface="Calibri (MS) Bold"/>
                <a:ea typeface="Calibri (MS) Bold"/>
                <a:cs typeface="Calibri (MS) Bold"/>
                <a:sym typeface="Calibri (MS) Bold"/>
              </a:rPr>
              <a:t>Frameworks change. </a:t>
            </a:r>
            <a:r>
              <a:rPr lang="en-US" sz="3257">
                <a:solidFill>
                  <a:srgbClr val="FFFFFF"/>
                </a:solidFill>
                <a:latin typeface="Calibri (MS)"/>
                <a:ea typeface="Calibri (MS)"/>
                <a:cs typeface="Calibri (MS)"/>
                <a:sym typeface="Calibri (MS)"/>
              </a:rPr>
              <a:t>The state machine underneath doesn’t.</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9" y="2772214"/>
            <a:ext cx="8107299" cy="5583555"/>
            <a:chOff x="0" y="0"/>
            <a:chExt cx="10809732" cy="7444740"/>
          </a:xfrm>
        </p:grpSpPr>
        <p:sp>
          <p:nvSpPr>
            <p:cNvPr name="Freeform 3" id="3"/>
            <p:cNvSpPr/>
            <p:nvPr/>
          </p:nvSpPr>
          <p:spPr>
            <a:xfrm flipH="false" flipV="false" rot="0">
              <a:off x="0" y="0"/>
              <a:ext cx="10809732" cy="7444740"/>
            </a:xfrm>
            <a:custGeom>
              <a:avLst/>
              <a:gdLst/>
              <a:ahLst/>
              <a:cxnLst/>
              <a:rect r="r" b="b" t="t" l="l"/>
              <a:pathLst>
                <a:path h="7444740" w="10809732">
                  <a:moveTo>
                    <a:pt x="0" y="220599"/>
                  </a:moveTo>
                  <a:cubicBezTo>
                    <a:pt x="0" y="98806"/>
                    <a:pt x="98806" y="0"/>
                    <a:pt x="220599" y="0"/>
                  </a:cubicBezTo>
                  <a:lnTo>
                    <a:pt x="10589133" y="0"/>
                  </a:lnTo>
                  <a:cubicBezTo>
                    <a:pt x="10710926" y="0"/>
                    <a:pt x="10809732" y="98806"/>
                    <a:pt x="10809732" y="220599"/>
                  </a:cubicBezTo>
                  <a:lnTo>
                    <a:pt x="10809732" y="7224141"/>
                  </a:lnTo>
                  <a:cubicBezTo>
                    <a:pt x="10809732" y="7345935"/>
                    <a:pt x="10710926" y="7444740"/>
                    <a:pt x="10589133" y="7444740"/>
                  </a:cubicBezTo>
                  <a:lnTo>
                    <a:pt x="220599" y="7444740"/>
                  </a:lnTo>
                  <a:cubicBezTo>
                    <a:pt x="98806" y="7444740"/>
                    <a:pt x="0" y="7345934"/>
                    <a:pt x="0" y="7224141"/>
                  </a:cubicBezTo>
                  <a:close/>
                </a:path>
              </a:pathLst>
            </a:custGeom>
            <a:solidFill>
              <a:srgbClr val="F1F3F8"/>
            </a:solidFill>
            <a:ln w="28575" cap="sq">
              <a:solidFill>
                <a:srgbClr val="F1F3F8"/>
              </a:solidFill>
              <a:prstDash val="solid"/>
              <a:miter/>
            </a:ln>
          </p:spPr>
        </p:sp>
      </p:grpSp>
      <p:grpSp>
        <p:nvGrpSpPr>
          <p:cNvPr name="Group 4" id="4"/>
          <p:cNvGrpSpPr/>
          <p:nvPr/>
        </p:nvGrpSpPr>
        <p:grpSpPr>
          <a:xfrm rot="0">
            <a:off x="1291019" y="3115114"/>
            <a:ext cx="2360295" cy="645795"/>
            <a:chOff x="0" y="0"/>
            <a:chExt cx="3147060" cy="861060"/>
          </a:xfrm>
        </p:grpSpPr>
        <p:sp>
          <p:nvSpPr>
            <p:cNvPr name="Freeform 5" id="5"/>
            <p:cNvSpPr/>
            <p:nvPr/>
          </p:nvSpPr>
          <p:spPr>
            <a:xfrm flipH="false" flipV="false" rot="0">
              <a:off x="0" y="0"/>
              <a:ext cx="3147060" cy="861187"/>
            </a:xfrm>
            <a:custGeom>
              <a:avLst/>
              <a:gdLst/>
              <a:ahLst/>
              <a:cxnLst/>
              <a:rect r="r" b="b" t="t" l="l"/>
              <a:pathLst>
                <a:path h="861187" w="3147060">
                  <a:moveTo>
                    <a:pt x="0" y="421005"/>
                  </a:moveTo>
                  <a:cubicBezTo>
                    <a:pt x="0" y="188468"/>
                    <a:pt x="188468" y="0"/>
                    <a:pt x="421005" y="0"/>
                  </a:cubicBezTo>
                  <a:lnTo>
                    <a:pt x="2726055" y="0"/>
                  </a:lnTo>
                  <a:cubicBezTo>
                    <a:pt x="2958592" y="0"/>
                    <a:pt x="3147060" y="188468"/>
                    <a:pt x="3147060" y="421005"/>
                  </a:cubicBezTo>
                  <a:lnTo>
                    <a:pt x="3147060" y="440182"/>
                  </a:lnTo>
                  <a:cubicBezTo>
                    <a:pt x="3147060" y="672719"/>
                    <a:pt x="2958592" y="861187"/>
                    <a:pt x="2726055" y="861187"/>
                  </a:cubicBezTo>
                  <a:lnTo>
                    <a:pt x="421005" y="861187"/>
                  </a:lnTo>
                  <a:cubicBezTo>
                    <a:pt x="188468" y="861060"/>
                    <a:pt x="0" y="672592"/>
                    <a:pt x="0" y="440055"/>
                  </a:cubicBezTo>
                  <a:close/>
                </a:path>
              </a:pathLst>
            </a:custGeom>
            <a:solidFill>
              <a:srgbClr val="0493FB"/>
            </a:solidFill>
            <a:ln w="28575" cap="sq">
              <a:solidFill>
                <a:srgbClr val="0493FB"/>
              </a:solidFill>
              <a:prstDash val="solid"/>
              <a:miter/>
            </a:ln>
          </p:spPr>
        </p:sp>
        <p:sp>
          <p:nvSpPr>
            <p:cNvPr name="TextBox 6" id="6"/>
            <p:cNvSpPr txBox="true"/>
            <p:nvPr/>
          </p:nvSpPr>
          <p:spPr>
            <a:xfrm>
              <a:off x="0" y="-47625"/>
              <a:ext cx="314706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LLM PARTS</a:t>
              </a:r>
            </a:p>
          </p:txBody>
        </p:sp>
      </p:grpSp>
      <p:sp>
        <p:nvSpPr>
          <p:cNvPr name="TextBox 7" id="7"/>
          <p:cNvSpPr txBox="true"/>
          <p:nvPr/>
        </p:nvSpPr>
        <p:spPr>
          <a:xfrm rot="0">
            <a:off x="1305306" y="3944741"/>
            <a:ext cx="7118604" cy="899160"/>
          </a:xfrm>
          <a:prstGeom prst="rect">
            <a:avLst/>
          </a:prstGeom>
        </p:spPr>
        <p:txBody>
          <a:bodyPr anchor="t" rtlCol="false" tIns="0" lIns="0" bIns="0" rIns="0">
            <a:spAutoFit/>
          </a:bodyPr>
          <a:lstStyle/>
          <a:p>
            <a:pPr algn="l">
              <a:lnSpc>
                <a:spcPts val="4680"/>
              </a:lnSpc>
            </a:pPr>
            <a:r>
              <a:rPr lang="en-US" sz="3900" b="true">
                <a:solidFill>
                  <a:srgbClr val="1B1F3B"/>
                </a:solidFill>
                <a:latin typeface="Calibri (MS) Bold"/>
                <a:ea typeface="Calibri (MS) Bold"/>
                <a:cs typeface="Calibri (MS) Bold"/>
                <a:sym typeface="Calibri (MS) Bold"/>
              </a:rPr>
              <a:t>Test the shape</a:t>
            </a:r>
          </a:p>
        </p:txBody>
      </p:sp>
      <p:grpSp>
        <p:nvGrpSpPr>
          <p:cNvPr name="Group 8" id="8"/>
          <p:cNvGrpSpPr/>
          <p:nvPr/>
        </p:nvGrpSpPr>
        <p:grpSpPr>
          <a:xfrm rot="0">
            <a:off x="1291019" y="5227378"/>
            <a:ext cx="549783" cy="549783"/>
            <a:chOff x="0" y="0"/>
            <a:chExt cx="733044" cy="733044"/>
          </a:xfrm>
        </p:grpSpPr>
        <p:sp>
          <p:nvSpPr>
            <p:cNvPr name="Freeform 9" id="9"/>
            <p:cNvSpPr/>
            <p:nvPr/>
          </p:nvSpPr>
          <p:spPr>
            <a:xfrm flipH="false" flipV="false" rot="0">
              <a:off x="0" y="0"/>
              <a:ext cx="733044" cy="733044"/>
            </a:xfrm>
            <a:custGeom>
              <a:avLst/>
              <a:gdLst/>
              <a:ahLst/>
              <a:cxnLst/>
              <a:rect r="r" b="b" t="t" l="l"/>
              <a:pathLst>
                <a:path h="733044" w="733044">
                  <a:moveTo>
                    <a:pt x="0" y="366522"/>
                  </a:moveTo>
                  <a:cubicBezTo>
                    <a:pt x="0" y="164084"/>
                    <a:pt x="164084" y="0"/>
                    <a:pt x="366522" y="0"/>
                  </a:cubicBezTo>
                  <a:cubicBezTo>
                    <a:pt x="568960" y="0"/>
                    <a:pt x="733044" y="164084"/>
                    <a:pt x="733044" y="366522"/>
                  </a:cubicBezTo>
                  <a:cubicBezTo>
                    <a:pt x="733044" y="568960"/>
                    <a:pt x="568960" y="733044"/>
                    <a:pt x="366522" y="733044"/>
                  </a:cubicBezTo>
                  <a:cubicBezTo>
                    <a:pt x="164084" y="733044"/>
                    <a:pt x="0" y="568960"/>
                    <a:pt x="0" y="366522"/>
                  </a:cubicBezTo>
                  <a:close/>
                </a:path>
              </a:pathLst>
            </a:custGeom>
            <a:solidFill>
              <a:srgbClr val="0493FB"/>
            </a:solidFill>
            <a:ln w="28575" cap="sq">
              <a:solidFill>
                <a:srgbClr val="0493FB"/>
              </a:solidFill>
              <a:prstDash val="solid"/>
              <a:miter/>
            </a:ln>
          </p:spPr>
        </p:sp>
        <p:sp>
          <p:nvSpPr>
            <p:cNvPr name="TextBox 10" id="10"/>
            <p:cNvSpPr txBox="true"/>
            <p:nvPr/>
          </p:nvSpPr>
          <p:spPr>
            <a:xfrm>
              <a:off x="0" y="-47625"/>
              <a:ext cx="733044" cy="780669"/>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a:t>
              </a:r>
            </a:p>
          </p:txBody>
        </p:sp>
      </p:grpSp>
      <p:grpSp>
        <p:nvGrpSpPr>
          <p:cNvPr name="Group 11" id="11"/>
          <p:cNvGrpSpPr/>
          <p:nvPr/>
        </p:nvGrpSpPr>
        <p:grpSpPr>
          <a:xfrm rot="0">
            <a:off x="2128266" y="5186801"/>
            <a:ext cx="6295644" cy="630936"/>
            <a:chOff x="0" y="0"/>
            <a:chExt cx="8394192" cy="841248"/>
          </a:xfrm>
        </p:grpSpPr>
        <p:sp>
          <p:nvSpPr>
            <p:cNvPr name="Freeform 12" id="12"/>
            <p:cNvSpPr/>
            <p:nvPr/>
          </p:nvSpPr>
          <p:spPr>
            <a:xfrm flipH="false" flipV="false" rot="0">
              <a:off x="0" y="0"/>
              <a:ext cx="8394192" cy="841248"/>
            </a:xfrm>
            <a:custGeom>
              <a:avLst/>
              <a:gdLst/>
              <a:ahLst/>
              <a:cxnLst/>
              <a:rect r="r" b="b" t="t" l="l"/>
              <a:pathLst>
                <a:path h="841248" w="8394192">
                  <a:moveTo>
                    <a:pt x="0" y="0"/>
                  </a:moveTo>
                  <a:lnTo>
                    <a:pt x="8394192" y="0"/>
                  </a:lnTo>
                  <a:lnTo>
                    <a:pt x="8394192" y="841248"/>
                  </a:lnTo>
                  <a:lnTo>
                    <a:pt x="0" y="841248"/>
                  </a:lnTo>
                  <a:close/>
                </a:path>
              </a:pathLst>
            </a:custGeom>
            <a:blipFill>
              <a:blip r:embed="rId2">
                <a:alphaModFix amt="0"/>
              </a:blip>
              <a:stretch>
                <a:fillRect l="0" t="-144426" r="0" b="-144426"/>
              </a:stretch>
            </a:blipFill>
          </p:spPr>
        </p:sp>
        <p:sp>
          <p:nvSpPr>
            <p:cNvPr name="TextBox 13" id="13"/>
            <p:cNvSpPr txBox="true"/>
            <p:nvPr/>
          </p:nvSpPr>
          <p:spPr>
            <a:xfrm>
              <a:off x="0" y="-57150"/>
              <a:ext cx="8394192" cy="898398"/>
            </a:xfrm>
            <a:prstGeom prst="rect">
              <a:avLst/>
            </a:prstGeom>
          </p:spPr>
          <p:txBody>
            <a:bodyPr anchor="ctr" rtlCol="false" tIns="0" lIns="0" bIns="0" rIns="0"/>
            <a:lstStyle/>
            <a:p>
              <a:pPr algn="l">
                <a:lnSpc>
                  <a:spcPts val="3240"/>
                </a:lnSpc>
              </a:pPr>
              <a:r>
                <a:rPr lang="en-US" sz="2700">
                  <a:solidFill>
                    <a:srgbClr val="1B1F3B"/>
                  </a:solidFill>
                  <a:latin typeface="Calibri (MS)"/>
                  <a:ea typeface="Calibri (MS)"/>
                  <a:cs typeface="Calibri (MS)"/>
                  <a:sym typeface="Calibri (MS)"/>
                </a:rPr>
                <a:t>Category is one of the three</a:t>
              </a:r>
            </a:p>
          </p:txBody>
        </p:sp>
      </p:grpSp>
      <p:grpSp>
        <p:nvGrpSpPr>
          <p:cNvPr name="Group 14" id="14"/>
          <p:cNvGrpSpPr/>
          <p:nvPr/>
        </p:nvGrpSpPr>
        <p:grpSpPr>
          <a:xfrm rot="0">
            <a:off x="1291019" y="6187498"/>
            <a:ext cx="549783" cy="549783"/>
            <a:chOff x="0" y="0"/>
            <a:chExt cx="733044" cy="733044"/>
          </a:xfrm>
        </p:grpSpPr>
        <p:sp>
          <p:nvSpPr>
            <p:cNvPr name="Freeform 15" id="15"/>
            <p:cNvSpPr/>
            <p:nvPr/>
          </p:nvSpPr>
          <p:spPr>
            <a:xfrm flipH="false" flipV="false" rot="0">
              <a:off x="0" y="0"/>
              <a:ext cx="733044" cy="733044"/>
            </a:xfrm>
            <a:custGeom>
              <a:avLst/>
              <a:gdLst/>
              <a:ahLst/>
              <a:cxnLst/>
              <a:rect r="r" b="b" t="t" l="l"/>
              <a:pathLst>
                <a:path h="733044" w="733044">
                  <a:moveTo>
                    <a:pt x="0" y="366522"/>
                  </a:moveTo>
                  <a:cubicBezTo>
                    <a:pt x="0" y="164084"/>
                    <a:pt x="164084" y="0"/>
                    <a:pt x="366522" y="0"/>
                  </a:cubicBezTo>
                  <a:cubicBezTo>
                    <a:pt x="568960" y="0"/>
                    <a:pt x="733044" y="164084"/>
                    <a:pt x="733044" y="366522"/>
                  </a:cubicBezTo>
                  <a:cubicBezTo>
                    <a:pt x="733044" y="568960"/>
                    <a:pt x="568960" y="733044"/>
                    <a:pt x="366522" y="733044"/>
                  </a:cubicBezTo>
                  <a:cubicBezTo>
                    <a:pt x="164084" y="733044"/>
                    <a:pt x="0" y="568960"/>
                    <a:pt x="0" y="366522"/>
                  </a:cubicBezTo>
                  <a:close/>
                </a:path>
              </a:pathLst>
            </a:custGeom>
            <a:solidFill>
              <a:srgbClr val="0493FB"/>
            </a:solidFill>
            <a:ln w="28575" cap="sq">
              <a:solidFill>
                <a:srgbClr val="0493FB"/>
              </a:solidFill>
              <a:prstDash val="solid"/>
              <a:miter/>
            </a:ln>
          </p:spPr>
        </p:sp>
        <p:sp>
          <p:nvSpPr>
            <p:cNvPr name="TextBox 16" id="16"/>
            <p:cNvSpPr txBox="true"/>
            <p:nvPr/>
          </p:nvSpPr>
          <p:spPr>
            <a:xfrm>
              <a:off x="0" y="-47625"/>
              <a:ext cx="733044" cy="780669"/>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a:t>
              </a:r>
            </a:p>
          </p:txBody>
        </p:sp>
      </p:grpSp>
      <p:grpSp>
        <p:nvGrpSpPr>
          <p:cNvPr name="Group 17" id="17"/>
          <p:cNvGrpSpPr/>
          <p:nvPr/>
        </p:nvGrpSpPr>
        <p:grpSpPr>
          <a:xfrm rot="0">
            <a:off x="2128266" y="6146921"/>
            <a:ext cx="6295644" cy="630936"/>
            <a:chOff x="0" y="0"/>
            <a:chExt cx="8394192" cy="841248"/>
          </a:xfrm>
        </p:grpSpPr>
        <p:sp>
          <p:nvSpPr>
            <p:cNvPr name="Freeform 18" id="18"/>
            <p:cNvSpPr/>
            <p:nvPr/>
          </p:nvSpPr>
          <p:spPr>
            <a:xfrm flipH="false" flipV="false" rot="0">
              <a:off x="0" y="0"/>
              <a:ext cx="8394192" cy="841248"/>
            </a:xfrm>
            <a:custGeom>
              <a:avLst/>
              <a:gdLst/>
              <a:ahLst/>
              <a:cxnLst/>
              <a:rect r="r" b="b" t="t" l="l"/>
              <a:pathLst>
                <a:path h="841248" w="8394192">
                  <a:moveTo>
                    <a:pt x="0" y="0"/>
                  </a:moveTo>
                  <a:lnTo>
                    <a:pt x="8394192" y="0"/>
                  </a:lnTo>
                  <a:lnTo>
                    <a:pt x="8394192" y="841248"/>
                  </a:lnTo>
                  <a:lnTo>
                    <a:pt x="0" y="841248"/>
                  </a:lnTo>
                  <a:close/>
                </a:path>
              </a:pathLst>
            </a:custGeom>
            <a:blipFill>
              <a:blip r:embed="rId2">
                <a:alphaModFix amt="0"/>
              </a:blip>
              <a:stretch>
                <a:fillRect l="0" t="-144426" r="0" b="-144426"/>
              </a:stretch>
            </a:blipFill>
          </p:spPr>
        </p:sp>
        <p:sp>
          <p:nvSpPr>
            <p:cNvPr name="TextBox 19" id="19"/>
            <p:cNvSpPr txBox="true"/>
            <p:nvPr/>
          </p:nvSpPr>
          <p:spPr>
            <a:xfrm>
              <a:off x="0" y="-57150"/>
              <a:ext cx="8394192" cy="898398"/>
            </a:xfrm>
            <a:prstGeom prst="rect">
              <a:avLst/>
            </a:prstGeom>
          </p:spPr>
          <p:txBody>
            <a:bodyPr anchor="ctr" rtlCol="false" tIns="0" lIns="0" bIns="0" rIns="0"/>
            <a:lstStyle/>
            <a:p>
              <a:pPr algn="l">
                <a:lnSpc>
                  <a:spcPts val="3240"/>
                </a:lnSpc>
              </a:pPr>
              <a:r>
                <a:rPr lang="en-US" sz="2700">
                  <a:solidFill>
                    <a:srgbClr val="1B1F3B"/>
                  </a:solidFill>
                  <a:latin typeface="Calibri (MS)"/>
                  <a:ea typeface="Calibri (MS)"/>
                  <a:cs typeface="Calibri (MS)"/>
                  <a:sym typeface="Calibri (MS)"/>
                </a:rPr>
                <a:t>Confidence is between 0 and 1</a:t>
              </a:r>
            </a:p>
          </p:txBody>
        </p:sp>
      </p:grpSp>
      <p:grpSp>
        <p:nvGrpSpPr>
          <p:cNvPr name="Group 20" id="20"/>
          <p:cNvGrpSpPr/>
          <p:nvPr/>
        </p:nvGrpSpPr>
        <p:grpSpPr>
          <a:xfrm rot="0">
            <a:off x="1291019" y="7147618"/>
            <a:ext cx="549783" cy="549783"/>
            <a:chOff x="0" y="0"/>
            <a:chExt cx="733044" cy="733044"/>
          </a:xfrm>
        </p:grpSpPr>
        <p:sp>
          <p:nvSpPr>
            <p:cNvPr name="Freeform 21" id="21"/>
            <p:cNvSpPr/>
            <p:nvPr/>
          </p:nvSpPr>
          <p:spPr>
            <a:xfrm flipH="false" flipV="false" rot="0">
              <a:off x="0" y="0"/>
              <a:ext cx="733044" cy="733044"/>
            </a:xfrm>
            <a:custGeom>
              <a:avLst/>
              <a:gdLst/>
              <a:ahLst/>
              <a:cxnLst/>
              <a:rect r="r" b="b" t="t" l="l"/>
              <a:pathLst>
                <a:path h="733044" w="733044">
                  <a:moveTo>
                    <a:pt x="0" y="366522"/>
                  </a:moveTo>
                  <a:cubicBezTo>
                    <a:pt x="0" y="164084"/>
                    <a:pt x="164084" y="0"/>
                    <a:pt x="366522" y="0"/>
                  </a:cubicBezTo>
                  <a:cubicBezTo>
                    <a:pt x="568960" y="0"/>
                    <a:pt x="733044" y="164084"/>
                    <a:pt x="733044" y="366522"/>
                  </a:cubicBezTo>
                  <a:cubicBezTo>
                    <a:pt x="733044" y="568960"/>
                    <a:pt x="568960" y="733044"/>
                    <a:pt x="366522" y="733044"/>
                  </a:cubicBezTo>
                  <a:cubicBezTo>
                    <a:pt x="164084" y="733044"/>
                    <a:pt x="0" y="568960"/>
                    <a:pt x="0" y="366522"/>
                  </a:cubicBezTo>
                  <a:close/>
                </a:path>
              </a:pathLst>
            </a:custGeom>
            <a:solidFill>
              <a:srgbClr val="0493FB"/>
            </a:solidFill>
            <a:ln w="28575" cap="sq">
              <a:solidFill>
                <a:srgbClr val="0493FB"/>
              </a:solidFill>
              <a:prstDash val="solid"/>
              <a:miter/>
            </a:ln>
          </p:spPr>
        </p:sp>
        <p:sp>
          <p:nvSpPr>
            <p:cNvPr name="TextBox 22" id="22"/>
            <p:cNvSpPr txBox="true"/>
            <p:nvPr/>
          </p:nvSpPr>
          <p:spPr>
            <a:xfrm>
              <a:off x="0" y="-47625"/>
              <a:ext cx="733044" cy="780669"/>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a:t>
              </a:r>
            </a:p>
          </p:txBody>
        </p:sp>
      </p:grpSp>
      <p:grpSp>
        <p:nvGrpSpPr>
          <p:cNvPr name="Group 23" id="23"/>
          <p:cNvGrpSpPr/>
          <p:nvPr/>
        </p:nvGrpSpPr>
        <p:grpSpPr>
          <a:xfrm rot="0">
            <a:off x="2128266" y="7107041"/>
            <a:ext cx="6295644" cy="630936"/>
            <a:chOff x="0" y="0"/>
            <a:chExt cx="8394192" cy="841248"/>
          </a:xfrm>
        </p:grpSpPr>
        <p:sp>
          <p:nvSpPr>
            <p:cNvPr name="Freeform 24" id="24"/>
            <p:cNvSpPr/>
            <p:nvPr/>
          </p:nvSpPr>
          <p:spPr>
            <a:xfrm flipH="false" flipV="false" rot="0">
              <a:off x="0" y="0"/>
              <a:ext cx="8394192" cy="841248"/>
            </a:xfrm>
            <a:custGeom>
              <a:avLst/>
              <a:gdLst/>
              <a:ahLst/>
              <a:cxnLst/>
              <a:rect r="r" b="b" t="t" l="l"/>
              <a:pathLst>
                <a:path h="841248" w="8394192">
                  <a:moveTo>
                    <a:pt x="0" y="0"/>
                  </a:moveTo>
                  <a:lnTo>
                    <a:pt x="8394192" y="0"/>
                  </a:lnTo>
                  <a:lnTo>
                    <a:pt x="8394192" y="841248"/>
                  </a:lnTo>
                  <a:lnTo>
                    <a:pt x="0" y="841248"/>
                  </a:lnTo>
                  <a:close/>
                </a:path>
              </a:pathLst>
            </a:custGeom>
            <a:blipFill>
              <a:blip r:embed="rId2">
                <a:alphaModFix amt="0"/>
              </a:blip>
              <a:stretch>
                <a:fillRect l="0" t="-144426" r="0" b="-144426"/>
              </a:stretch>
            </a:blipFill>
          </p:spPr>
        </p:sp>
        <p:sp>
          <p:nvSpPr>
            <p:cNvPr name="TextBox 25" id="25"/>
            <p:cNvSpPr txBox="true"/>
            <p:nvPr/>
          </p:nvSpPr>
          <p:spPr>
            <a:xfrm>
              <a:off x="0" y="-57150"/>
              <a:ext cx="8394192" cy="898398"/>
            </a:xfrm>
            <a:prstGeom prst="rect">
              <a:avLst/>
            </a:prstGeom>
          </p:spPr>
          <p:txBody>
            <a:bodyPr anchor="ctr" rtlCol="false" tIns="0" lIns="0" bIns="0" rIns="0"/>
            <a:lstStyle/>
            <a:p>
              <a:pPr algn="l">
                <a:lnSpc>
                  <a:spcPts val="3240"/>
                </a:lnSpc>
              </a:pPr>
              <a:r>
                <a:rPr lang="en-US" sz="2700">
                  <a:solidFill>
                    <a:srgbClr val="1B1F3B"/>
                  </a:solidFill>
                  <a:latin typeface="Calibri (MS)"/>
                  <a:ea typeface="Calibri (MS)"/>
                  <a:cs typeface="Calibri (MS)"/>
                  <a:sym typeface="Calibri (MS)"/>
                </a:rPr>
                <a:t>A reason is always attached</a:t>
              </a:r>
            </a:p>
          </p:txBody>
        </p:sp>
      </p:grpSp>
      <p:grpSp>
        <p:nvGrpSpPr>
          <p:cNvPr name="Group 26" id="26"/>
          <p:cNvGrpSpPr/>
          <p:nvPr/>
        </p:nvGrpSpPr>
        <p:grpSpPr>
          <a:xfrm rot="0">
            <a:off x="9369743" y="2772214"/>
            <a:ext cx="8107299" cy="5583555"/>
            <a:chOff x="0" y="0"/>
            <a:chExt cx="10809732" cy="7444740"/>
          </a:xfrm>
        </p:grpSpPr>
        <p:sp>
          <p:nvSpPr>
            <p:cNvPr name="Freeform 27" id="27"/>
            <p:cNvSpPr/>
            <p:nvPr/>
          </p:nvSpPr>
          <p:spPr>
            <a:xfrm flipH="false" flipV="false" rot="0">
              <a:off x="0" y="0"/>
              <a:ext cx="10809732" cy="7444740"/>
            </a:xfrm>
            <a:custGeom>
              <a:avLst/>
              <a:gdLst/>
              <a:ahLst/>
              <a:cxnLst/>
              <a:rect r="r" b="b" t="t" l="l"/>
              <a:pathLst>
                <a:path h="7444740" w="10809732">
                  <a:moveTo>
                    <a:pt x="0" y="220599"/>
                  </a:moveTo>
                  <a:cubicBezTo>
                    <a:pt x="0" y="98806"/>
                    <a:pt x="98806" y="0"/>
                    <a:pt x="220599" y="0"/>
                  </a:cubicBezTo>
                  <a:lnTo>
                    <a:pt x="10589133" y="0"/>
                  </a:lnTo>
                  <a:cubicBezTo>
                    <a:pt x="10710926" y="0"/>
                    <a:pt x="10809732" y="98806"/>
                    <a:pt x="10809732" y="220599"/>
                  </a:cubicBezTo>
                  <a:lnTo>
                    <a:pt x="10809732" y="7224141"/>
                  </a:lnTo>
                  <a:cubicBezTo>
                    <a:pt x="10809732" y="7345935"/>
                    <a:pt x="10710926" y="7444740"/>
                    <a:pt x="10589133" y="7444740"/>
                  </a:cubicBezTo>
                  <a:lnTo>
                    <a:pt x="220599" y="7444740"/>
                  </a:lnTo>
                  <a:cubicBezTo>
                    <a:pt x="98806" y="7444740"/>
                    <a:pt x="0" y="7345934"/>
                    <a:pt x="0" y="7224141"/>
                  </a:cubicBezTo>
                  <a:close/>
                </a:path>
              </a:pathLst>
            </a:custGeom>
            <a:solidFill>
              <a:srgbClr val="F1F3F8"/>
            </a:solidFill>
            <a:ln w="28575" cap="sq">
              <a:solidFill>
                <a:srgbClr val="F1F3F8"/>
              </a:solidFill>
              <a:prstDash val="solid"/>
              <a:miter/>
            </a:ln>
          </p:spPr>
        </p:sp>
      </p:grpSp>
      <p:grpSp>
        <p:nvGrpSpPr>
          <p:cNvPr name="Group 28" id="28"/>
          <p:cNvGrpSpPr/>
          <p:nvPr/>
        </p:nvGrpSpPr>
        <p:grpSpPr>
          <a:xfrm rot="0">
            <a:off x="9849802" y="3115114"/>
            <a:ext cx="2360295" cy="645795"/>
            <a:chOff x="0" y="0"/>
            <a:chExt cx="3147060" cy="861060"/>
          </a:xfrm>
        </p:grpSpPr>
        <p:sp>
          <p:nvSpPr>
            <p:cNvPr name="Freeform 29" id="29"/>
            <p:cNvSpPr/>
            <p:nvPr/>
          </p:nvSpPr>
          <p:spPr>
            <a:xfrm flipH="false" flipV="false" rot="0">
              <a:off x="0" y="0"/>
              <a:ext cx="3147060" cy="861187"/>
            </a:xfrm>
            <a:custGeom>
              <a:avLst/>
              <a:gdLst/>
              <a:ahLst/>
              <a:cxnLst/>
              <a:rect r="r" b="b" t="t" l="l"/>
              <a:pathLst>
                <a:path h="861187" w="3147060">
                  <a:moveTo>
                    <a:pt x="0" y="421005"/>
                  </a:moveTo>
                  <a:cubicBezTo>
                    <a:pt x="0" y="188468"/>
                    <a:pt x="188468" y="0"/>
                    <a:pt x="421005" y="0"/>
                  </a:cubicBezTo>
                  <a:lnTo>
                    <a:pt x="2726055" y="0"/>
                  </a:lnTo>
                  <a:cubicBezTo>
                    <a:pt x="2958592" y="0"/>
                    <a:pt x="3147060" y="188468"/>
                    <a:pt x="3147060" y="421005"/>
                  </a:cubicBezTo>
                  <a:lnTo>
                    <a:pt x="3147060" y="440182"/>
                  </a:lnTo>
                  <a:cubicBezTo>
                    <a:pt x="3147060" y="672719"/>
                    <a:pt x="2958592" y="861187"/>
                    <a:pt x="2726055" y="861187"/>
                  </a:cubicBezTo>
                  <a:lnTo>
                    <a:pt x="421005" y="861187"/>
                  </a:lnTo>
                  <a:cubicBezTo>
                    <a:pt x="188468" y="861060"/>
                    <a:pt x="0" y="672592"/>
                    <a:pt x="0" y="440055"/>
                  </a:cubicBezTo>
                  <a:close/>
                </a:path>
              </a:pathLst>
            </a:custGeom>
            <a:solidFill>
              <a:srgbClr val="3D5A80"/>
            </a:solidFill>
            <a:ln w="28575" cap="sq">
              <a:solidFill>
                <a:srgbClr val="3D5A80"/>
              </a:solidFill>
              <a:prstDash val="solid"/>
              <a:miter/>
            </a:ln>
          </p:spPr>
        </p:sp>
        <p:sp>
          <p:nvSpPr>
            <p:cNvPr name="TextBox 30" id="30"/>
            <p:cNvSpPr txBox="true"/>
            <p:nvPr/>
          </p:nvSpPr>
          <p:spPr>
            <a:xfrm>
              <a:off x="0" y="-47625"/>
              <a:ext cx="314706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PLAIN CODE</a:t>
              </a:r>
            </a:p>
          </p:txBody>
        </p:sp>
      </p:grpSp>
      <p:sp>
        <p:nvSpPr>
          <p:cNvPr name="TextBox 31" id="31"/>
          <p:cNvSpPr txBox="true"/>
          <p:nvPr/>
        </p:nvSpPr>
        <p:spPr>
          <a:xfrm rot="0">
            <a:off x="9864090" y="3944741"/>
            <a:ext cx="7118604" cy="899160"/>
          </a:xfrm>
          <a:prstGeom prst="rect">
            <a:avLst/>
          </a:prstGeom>
        </p:spPr>
        <p:txBody>
          <a:bodyPr anchor="t" rtlCol="false" tIns="0" lIns="0" bIns="0" rIns="0">
            <a:spAutoFit/>
          </a:bodyPr>
          <a:lstStyle/>
          <a:p>
            <a:pPr algn="l">
              <a:lnSpc>
                <a:spcPts val="4680"/>
              </a:lnSpc>
            </a:pPr>
            <a:r>
              <a:rPr lang="en-US" sz="3900" b="true">
                <a:solidFill>
                  <a:srgbClr val="1B1F3B"/>
                </a:solidFill>
                <a:latin typeface="Calibri (MS) Bold"/>
                <a:ea typeface="Calibri (MS) Bold"/>
                <a:cs typeface="Calibri (MS) Bold"/>
                <a:sym typeface="Calibri (MS) Bold"/>
              </a:rPr>
              <a:t>Test exactly</a:t>
            </a:r>
          </a:p>
        </p:txBody>
      </p:sp>
      <p:grpSp>
        <p:nvGrpSpPr>
          <p:cNvPr name="Group 32" id="32"/>
          <p:cNvGrpSpPr/>
          <p:nvPr/>
        </p:nvGrpSpPr>
        <p:grpSpPr>
          <a:xfrm rot="0">
            <a:off x="9849802" y="5227378"/>
            <a:ext cx="549783" cy="549783"/>
            <a:chOff x="0" y="0"/>
            <a:chExt cx="733044" cy="733044"/>
          </a:xfrm>
        </p:grpSpPr>
        <p:sp>
          <p:nvSpPr>
            <p:cNvPr name="Freeform 33" id="33"/>
            <p:cNvSpPr/>
            <p:nvPr/>
          </p:nvSpPr>
          <p:spPr>
            <a:xfrm flipH="false" flipV="false" rot="0">
              <a:off x="0" y="0"/>
              <a:ext cx="733044" cy="733044"/>
            </a:xfrm>
            <a:custGeom>
              <a:avLst/>
              <a:gdLst/>
              <a:ahLst/>
              <a:cxnLst/>
              <a:rect r="r" b="b" t="t" l="l"/>
              <a:pathLst>
                <a:path h="733044" w="733044">
                  <a:moveTo>
                    <a:pt x="0" y="366522"/>
                  </a:moveTo>
                  <a:cubicBezTo>
                    <a:pt x="0" y="164084"/>
                    <a:pt x="164084" y="0"/>
                    <a:pt x="366522" y="0"/>
                  </a:cubicBezTo>
                  <a:cubicBezTo>
                    <a:pt x="568960" y="0"/>
                    <a:pt x="733044" y="164084"/>
                    <a:pt x="733044" y="366522"/>
                  </a:cubicBezTo>
                  <a:cubicBezTo>
                    <a:pt x="733044" y="568960"/>
                    <a:pt x="568960" y="733044"/>
                    <a:pt x="366522" y="733044"/>
                  </a:cubicBezTo>
                  <a:cubicBezTo>
                    <a:pt x="164084" y="733044"/>
                    <a:pt x="0" y="568960"/>
                    <a:pt x="0" y="366522"/>
                  </a:cubicBezTo>
                  <a:close/>
                </a:path>
              </a:pathLst>
            </a:custGeom>
            <a:solidFill>
              <a:srgbClr val="3D5A80"/>
            </a:solidFill>
            <a:ln w="28575" cap="sq">
              <a:solidFill>
                <a:srgbClr val="3D5A80"/>
              </a:solidFill>
              <a:prstDash val="solid"/>
              <a:miter/>
            </a:ln>
          </p:spPr>
        </p:sp>
        <p:sp>
          <p:nvSpPr>
            <p:cNvPr name="TextBox 34" id="34"/>
            <p:cNvSpPr txBox="true"/>
            <p:nvPr/>
          </p:nvSpPr>
          <p:spPr>
            <a:xfrm>
              <a:off x="0" y="-47625"/>
              <a:ext cx="733044" cy="780669"/>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a:t>
              </a:r>
            </a:p>
          </p:txBody>
        </p:sp>
      </p:grpSp>
      <p:grpSp>
        <p:nvGrpSpPr>
          <p:cNvPr name="Group 35" id="35"/>
          <p:cNvGrpSpPr/>
          <p:nvPr/>
        </p:nvGrpSpPr>
        <p:grpSpPr>
          <a:xfrm rot="0">
            <a:off x="10687050" y="5186801"/>
            <a:ext cx="6295644" cy="630936"/>
            <a:chOff x="0" y="0"/>
            <a:chExt cx="8394192" cy="841248"/>
          </a:xfrm>
        </p:grpSpPr>
        <p:sp>
          <p:nvSpPr>
            <p:cNvPr name="Freeform 36" id="36"/>
            <p:cNvSpPr/>
            <p:nvPr/>
          </p:nvSpPr>
          <p:spPr>
            <a:xfrm flipH="false" flipV="false" rot="0">
              <a:off x="0" y="0"/>
              <a:ext cx="8394192" cy="841248"/>
            </a:xfrm>
            <a:custGeom>
              <a:avLst/>
              <a:gdLst/>
              <a:ahLst/>
              <a:cxnLst/>
              <a:rect r="r" b="b" t="t" l="l"/>
              <a:pathLst>
                <a:path h="841248" w="8394192">
                  <a:moveTo>
                    <a:pt x="0" y="0"/>
                  </a:moveTo>
                  <a:lnTo>
                    <a:pt x="8394192" y="0"/>
                  </a:lnTo>
                  <a:lnTo>
                    <a:pt x="8394192" y="841248"/>
                  </a:lnTo>
                  <a:lnTo>
                    <a:pt x="0" y="841248"/>
                  </a:lnTo>
                  <a:close/>
                </a:path>
              </a:pathLst>
            </a:custGeom>
            <a:blipFill>
              <a:blip r:embed="rId2">
                <a:alphaModFix amt="0"/>
              </a:blip>
              <a:stretch>
                <a:fillRect l="0" t="-144426" r="0" b="-144426"/>
              </a:stretch>
            </a:blipFill>
          </p:spPr>
        </p:sp>
        <p:sp>
          <p:nvSpPr>
            <p:cNvPr name="TextBox 37" id="37"/>
            <p:cNvSpPr txBox="true"/>
            <p:nvPr/>
          </p:nvSpPr>
          <p:spPr>
            <a:xfrm>
              <a:off x="0" y="-57150"/>
              <a:ext cx="8394192" cy="898398"/>
            </a:xfrm>
            <a:prstGeom prst="rect">
              <a:avLst/>
            </a:prstGeom>
          </p:spPr>
          <p:txBody>
            <a:bodyPr anchor="ctr" rtlCol="false" tIns="0" lIns="0" bIns="0" rIns="0"/>
            <a:lstStyle/>
            <a:p>
              <a:pPr algn="l">
                <a:lnSpc>
                  <a:spcPts val="3240"/>
                </a:lnSpc>
              </a:pPr>
              <a:r>
                <a:rPr lang="en-US" sz="2700">
                  <a:solidFill>
                    <a:srgbClr val="1B1F3B"/>
                  </a:solidFill>
                  <a:latin typeface="Calibri (MS)"/>
                  <a:ea typeface="Calibri (MS)"/>
                  <a:cs typeface="Calibri (MS)"/>
                  <a:sym typeface="Calibri (MS)"/>
                </a:rPr>
                <a:t>“invoice” → billing fallback</a:t>
              </a:r>
            </a:p>
          </p:txBody>
        </p:sp>
      </p:grpSp>
      <p:grpSp>
        <p:nvGrpSpPr>
          <p:cNvPr name="Group 38" id="38"/>
          <p:cNvGrpSpPr/>
          <p:nvPr/>
        </p:nvGrpSpPr>
        <p:grpSpPr>
          <a:xfrm rot="0">
            <a:off x="9849802" y="6187498"/>
            <a:ext cx="549783" cy="549783"/>
            <a:chOff x="0" y="0"/>
            <a:chExt cx="733044" cy="733044"/>
          </a:xfrm>
        </p:grpSpPr>
        <p:sp>
          <p:nvSpPr>
            <p:cNvPr name="Freeform 39" id="39"/>
            <p:cNvSpPr/>
            <p:nvPr/>
          </p:nvSpPr>
          <p:spPr>
            <a:xfrm flipH="false" flipV="false" rot="0">
              <a:off x="0" y="0"/>
              <a:ext cx="733044" cy="733044"/>
            </a:xfrm>
            <a:custGeom>
              <a:avLst/>
              <a:gdLst/>
              <a:ahLst/>
              <a:cxnLst/>
              <a:rect r="r" b="b" t="t" l="l"/>
              <a:pathLst>
                <a:path h="733044" w="733044">
                  <a:moveTo>
                    <a:pt x="0" y="366522"/>
                  </a:moveTo>
                  <a:cubicBezTo>
                    <a:pt x="0" y="164084"/>
                    <a:pt x="164084" y="0"/>
                    <a:pt x="366522" y="0"/>
                  </a:cubicBezTo>
                  <a:cubicBezTo>
                    <a:pt x="568960" y="0"/>
                    <a:pt x="733044" y="164084"/>
                    <a:pt x="733044" y="366522"/>
                  </a:cubicBezTo>
                  <a:cubicBezTo>
                    <a:pt x="733044" y="568960"/>
                    <a:pt x="568960" y="733044"/>
                    <a:pt x="366522" y="733044"/>
                  </a:cubicBezTo>
                  <a:cubicBezTo>
                    <a:pt x="164084" y="733044"/>
                    <a:pt x="0" y="568960"/>
                    <a:pt x="0" y="366522"/>
                  </a:cubicBezTo>
                  <a:close/>
                </a:path>
              </a:pathLst>
            </a:custGeom>
            <a:solidFill>
              <a:srgbClr val="3D5A80"/>
            </a:solidFill>
            <a:ln w="28575" cap="sq">
              <a:solidFill>
                <a:srgbClr val="3D5A80"/>
              </a:solidFill>
              <a:prstDash val="solid"/>
              <a:miter/>
            </a:ln>
          </p:spPr>
        </p:sp>
        <p:sp>
          <p:nvSpPr>
            <p:cNvPr name="TextBox 40" id="40"/>
            <p:cNvSpPr txBox="true"/>
            <p:nvPr/>
          </p:nvSpPr>
          <p:spPr>
            <a:xfrm>
              <a:off x="0" y="-47625"/>
              <a:ext cx="733044" cy="780669"/>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a:t>
              </a:r>
            </a:p>
          </p:txBody>
        </p:sp>
      </p:grpSp>
      <p:grpSp>
        <p:nvGrpSpPr>
          <p:cNvPr name="Group 41" id="41"/>
          <p:cNvGrpSpPr/>
          <p:nvPr/>
        </p:nvGrpSpPr>
        <p:grpSpPr>
          <a:xfrm rot="0">
            <a:off x="10687050" y="6146921"/>
            <a:ext cx="6295644" cy="630936"/>
            <a:chOff x="0" y="0"/>
            <a:chExt cx="8394192" cy="841248"/>
          </a:xfrm>
        </p:grpSpPr>
        <p:sp>
          <p:nvSpPr>
            <p:cNvPr name="Freeform 42" id="42"/>
            <p:cNvSpPr/>
            <p:nvPr/>
          </p:nvSpPr>
          <p:spPr>
            <a:xfrm flipH="false" flipV="false" rot="0">
              <a:off x="0" y="0"/>
              <a:ext cx="8394192" cy="841248"/>
            </a:xfrm>
            <a:custGeom>
              <a:avLst/>
              <a:gdLst/>
              <a:ahLst/>
              <a:cxnLst/>
              <a:rect r="r" b="b" t="t" l="l"/>
              <a:pathLst>
                <a:path h="841248" w="8394192">
                  <a:moveTo>
                    <a:pt x="0" y="0"/>
                  </a:moveTo>
                  <a:lnTo>
                    <a:pt x="8394192" y="0"/>
                  </a:lnTo>
                  <a:lnTo>
                    <a:pt x="8394192" y="841248"/>
                  </a:lnTo>
                  <a:lnTo>
                    <a:pt x="0" y="841248"/>
                  </a:lnTo>
                  <a:close/>
                </a:path>
              </a:pathLst>
            </a:custGeom>
            <a:blipFill>
              <a:blip r:embed="rId2">
                <a:alphaModFix amt="0"/>
              </a:blip>
              <a:stretch>
                <a:fillRect l="0" t="-144426" r="0" b="-144426"/>
              </a:stretch>
            </a:blipFill>
          </p:spPr>
        </p:sp>
        <p:sp>
          <p:nvSpPr>
            <p:cNvPr name="TextBox 43" id="43"/>
            <p:cNvSpPr txBox="true"/>
            <p:nvPr/>
          </p:nvSpPr>
          <p:spPr>
            <a:xfrm>
              <a:off x="0" y="-57150"/>
              <a:ext cx="8394192" cy="898398"/>
            </a:xfrm>
            <a:prstGeom prst="rect">
              <a:avLst/>
            </a:prstGeom>
          </p:spPr>
          <p:txBody>
            <a:bodyPr anchor="ctr" rtlCol="false" tIns="0" lIns="0" bIns="0" rIns="0"/>
            <a:lstStyle/>
            <a:p>
              <a:pPr algn="l">
                <a:lnSpc>
                  <a:spcPts val="3240"/>
                </a:lnSpc>
              </a:pPr>
              <a:r>
                <a:rPr lang="en-US" sz="2700">
                  <a:solidFill>
                    <a:srgbClr val="1B1F3B"/>
                  </a:solidFill>
                  <a:latin typeface="Calibri (MS)"/>
                  <a:ea typeface="Calibri (MS)"/>
                  <a:cs typeface="Calibri (MS)"/>
                  <a:sym typeface="Calibri (MS)"/>
                </a:rPr>
                <a:t>Routing always picks the right team</a:t>
              </a:r>
            </a:p>
          </p:txBody>
        </p:sp>
      </p:grpSp>
      <p:grpSp>
        <p:nvGrpSpPr>
          <p:cNvPr name="Group 44" id="44"/>
          <p:cNvGrpSpPr/>
          <p:nvPr/>
        </p:nvGrpSpPr>
        <p:grpSpPr>
          <a:xfrm rot="0">
            <a:off x="9849802" y="7147618"/>
            <a:ext cx="549783" cy="549783"/>
            <a:chOff x="0" y="0"/>
            <a:chExt cx="733044" cy="733044"/>
          </a:xfrm>
        </p:grpSpPr>
        <p:sp>
          <p:nvSpPr>
            <p:cNvPr name="Freeform 45" id="45"/>
            <p:cNvSpPr/>
            <p:nvPr/>
          </p:nvSpPr>
          <p:spPr>
            <a:xfrm flipH="false" flipV="false" rot="0">
              <a:off x="0" y="0"/>
              <a:ext cx="733044" cy="733044"/>
            </a:xfrm>
            <a:custGeom>
              <a:avLst/>
              <a:gdLst/>
              <a:ahLst/>
              <a:cxnLst/>
              <a:rect r="r" b="b" t="t" l="l"/>
              <a:pathLst>
                <a:path h="733044" w="733044">
                  <a:moveTo>
                    <a:pt x="0" y="366522"/>
                  </a:moveTo>
                  <a:cubicBezTo>
                    <a:pt x="0" y="164084"/>
                    <a:pt x="164084" y="0"/>
                    <a:pt x="366522" y="0"/>
                  </a:cubicBezTo>
                  <a:cubicBezTo>
                    <a:pt x="568960" y="0"/>
                    <a:pt x="733044" y="164084"/>
                    <a:pt x="733044" y="366522"/>
                  </a:cubicBezTo>
                  <a:cubicBezTo>
                    <a:pt x="733044" y="568960"/>
                    <a:pt x="568960" y="733044"/>
                    <a:pt x="366522" y="733044"/>
                  </a:cubicBezTo>
                  <a:cubicBezTo>
                    <a:pt x="164084" y="733044"/>
                    <a:pt x="0" y="568960"/>
                    <a:pt x="0" y="366522"/>
                  </a:cubicBezTo>
                  <a:close/>
                </a:path>
              </a:pathLst>
            </a:custGeom>
            <a:solidFill>
              <a:srgbClr val="3D5A80"/>
            </a:solidFill>
            <a:ln w="28575" cap="sq">
              <a:solidFill>
                <a:srgbClr val="3D5A80"/>
              </a:solidFill>
              <a:prstDash val="solid"/>
              <a:miter/>
            </a:ln>
          </p:spPr>
        </p:sp>
        <p:sp>
          <p:nvSpPr>
            <p:cNvPr name="TextBox 46" id="46"/>
            <p:cNvSpPr txBox="true"/>
            <p:nvPr/>
          </p:nvSpPr>
          <p:spPr>
            <a:xfrm>
              <a:off x="0" y="-47625"/>
              <a:ext cx="733044" cy="780669"/>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a:t>
              </a:r>
            </a:p>
          </p:txBody>
        </p:sp>
      </p:grpSp>
      <p:grpSp>
        <p:nvGrpSpPr>
          <p:cNvPr name="Group 47" id="47"/>
          <p:cNvGrpSpPr/>
          <p:nvPr/>
        </p:nvGrpSpPr>
        <p:grpSpPr>
          <a:xfrm rot="0">
            <a:off x="10687050" y="7107041"/>
            <a:ext cx="6295644" cy="630936"/>
            <a:chOff x="0" y="0"/>
            <a:chExt cx="8394192" cy="841248"/>
          </a:xfrm>
        </p:grpSpPr>
        <p:sp>
          <p:nvSpPr>
            <p:cNvPr name="Freeform 48" id="48"/>
            <p:cNvSpPr/>
            <p:nvPr/>
          </p:nvSpPr>
          <p:spPr>
            <a:xfrm flipH="false" flipV="false" rot="0">
              <a:off x="0" y="0"/>
              <a:ext cx="8394192" cy="841248"/>
            </a:xfrm>
            <a:custGeom>
              <a:avLst/>
              <a:gdLst/>
              <a:ahLst/>
              <a:cxnLst/>
              <a:rect r="r" b="b" t="t" l="l"/>
              <a:pathLst>
                <a:path h="841248" w="8394192">
                  <a:moveTo>
                    <a:pt x="0" y="0"/>
                  </a:moveTo>
                  <a:lnTo>
                    <a:pt x="8394192" y="0"/>
                  </a:lnTo>
                  <a:lnTo>
                    <a:pt x="8394192" y="841248"/>
                  </a:lnTo>
                  <a:lnTo>
                    <a:pt x="0" y="841248"/>
                  </a:lnTo>
                  <a:close/>
                </a:path>
              </a:pathLst>
            </a:custGeom>
            <a:blipFill>
              <a:blip r:embed="rId2">
                <a:alphaModFix amt="0"/>
              </a:blip>
              <a:stretch>
                <a:fillRect l="0" t="-144426" r="0" b="-144426"/>
              </a:stretch>
            </a:blipFill>
          </p:spPr>
        </p:sp>
        <p:sp>
          <p:nvSpPr>
            <p:cNvPr name="TextBox 49" id="49"/>
            <p:cNvSpPr txBox="true"/>
            <p:nvPr/>
          </p:nvSpPr>
          <p:spPr>
            <a:xfrm>
              <a:off x="0" y="-57150"/>
              <a:ext cx="8394192" cy="898398"/>
            </a:xfrm>
            <a:prstGeom prst="rect">
              <a:avLst/>
            </a:prstGeom>
          </p:spPr>
          <p:txBody>
            <a:bodyPr anchor="ctr" rtlCol="false" tIns="0" lIns="0" bIns="0" rIns="0"/>
            <a:lstStyle/>
            <a:p>
              <a:pPr algn="l">
                <a:lnSpc>
                  <a:spcPts val="3240"/>
                </a:lnSpc>
              </a:pPr>
              <a:r>
                <a:rPr lang="en-US" sz="2700">
                  <a:solidFill>
                    <a:srgbClr val="1B1F3B"/>
                  </a:solidFill>
                  <a:latin typeface="Calibri (MS)"/>
                  <a:ea typeface="Calibri (MS)"/>
                  <a:cs typeface="Calibri (MS)"/>
                  <a:sym typeface="Calibri (MS)"/>
                </a:rPr>
                <a:t>Too-short tickets get rejected</a:t>
              </a:r>
            </a:p>
          </p:txBody>
        </p:sp>
      </p:grpSp>
      <p:grpSp>
        <p:nvGrpSpPr>
          <p:cNvPr name="Group 50" id="50"/>
          <p:cNvGrpSpPr/>
          <p:nvPr/>
        </p:nvGrpSpPr>
        <p:grpSpPr>
          <a:xfrm rot="0">
            <a:off x="8649652" y="5035354"/>
            <a:ext cx="988695" cy="988695"/>
            <a:chOff x="0" y="0"/>
            <a:chExt cx="1318260" cy="1318260"/>
          </a:xfrm>
        </p:grpSpPr>
        <p:sp>
          <p:nvSpPr>
            <p:cNvPr name="Freeform 51" id="51"/>
            <p:cNvSpPr/>
            <p:nvPr/>
          </p:nvSpPr>
          <p:spPr>
            <a:xfrm flipH="false" flipV="false" rot="0">
              <a:off x="0" y="0"/>
              <a:ext cx="1318260" cy="1318260"/>
            </a:xfrm>
            <a:custGeom>
              <a:avLst/>
              <a:gdLst/>
              <a:ahLst/>
              <a:cxnLst/>
              <a:rect r="r" b="b" t="t" l="l"/>
              <a:pathLst>
                <a:path h="1318260" w="1318260">
                  <a:moveTo>
                    <a:pt x="0" y="659130"/>
                  </a:moveTo>
                  <a:cubicBezTo>
                    <a:pt x="0" y="295148"/>
                    <a:pt x="295148" y="0"/>
                    <a:pt x="659130" y="0"/>
                  </a:cubicBezTo>
                  <a:cubicBezTo>
                    <a:pt x="1023112" y="0"/>
                    <a:pt x="1318260" y="295148"/>
                    <a:pt x="1318260" y="659130"/>
                  </a:cubicBezTo>
                  <a:cubicBezTo>
                    <a:pt x="1318260" y="1023112"/>
                    <a:pt x="1023112" y="1318260"/>
                    <a:pt x="659130" y="1318260"/>
                  </a:cubicBezTo>
                  <a:cubicBezTo>
                    <a:pt x="295148" y="1318260"/>
                    <a:pt x="0" y="1023112"/>
                    <a:pt x="0" y="659130"/>
                  </a:cubicBezTo>
                  <a:close/>
                </a:path>
              </a:pathLst>
            </a:custGeom>
            <a:solidFill>
              <a:srgbClr val="1B1F3B"/>
            </a:solidFill>
            <a:ln w="28575" cap="sq">
              <a:solidFill>
                <a:srgbClr val="1B1F3B"/>
              </a:solidFill>
              <a:prstDash val="solid"/>
              <a:miter/>
            </a:ln>
          </p:spPr>
        </p:sp>
        <p:sp>
          <p:nvSpPr>
            <p:cNvPr name="TextBox 52" id="52"/>
            <p:cNvSpPr txBox="true"/>
            <p:nvPr/>
          </p:nvSpPr>
          <p:spPr>
            <a:xfrm>
              <a:off x="0" y="-38100"/>
              <a:ext cx="1318260" cy="1356360"/>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vs</a:t>
              </a:r>
            </a:p>
          </p:txBody>
        </p:sp>
      </p:grpSp>
      <p:grpSp>
        <p:nvGrpSpPr>
          <p:cNvPr name="Group 53" id="53"/>
          <p:cNvGrpSpPr/>
          <p:nvPr/>
        </p:nvGrpSpPr>
        <p:grpSpPr>
          <a:xfrm rot="0">
            <a:off x="808672" y="1335796"/>
            <a:ext cx="13026200" cy="728070"/>
            <a:chOff x="0" y="0"/>
            <a:chExt cx="3430769" cy="191755"/>
          </a:xfrm>
        </p:grpSpPr>
        <p:sp>
          <p:nvSpPr>
            <p:cNvPr name="Freeform 54" id="54"/>
            <p:cNvSpPr/>
            <p:nvPr/>
          </p:nvSpPr>
          <p:spPr>
            <a:xfrm flipH="false" flipV="false" rot="0">
              <a:off x="0" y="0"/>
              <a:ext cx="3430768" cy="191755"/>
            </a:xfrm>
            <a:custGeom>
              <a:avLst/>
              <a:gdLst/>
              <a:ahLst/>
              <a:cxnLst/>
              <a:rect r="r" b="b" t="t" l="l"/>
              <a:pathLst>
                <a:path h="191755" w="3430768">
                  <a:moveTo>
                    <a:pt x="0" y="0"/>
                  </a:moveTo>
                  <a:lnTo>
                    <a:pt x="3430768" y="0"/>
                  </a:lnTo>
                  <a:lnTo>
                    <a:pt x="3430768" y="191755"/>
                  </a:lnTo>
                  <a:lnTo>
                    <a:pt x="0" y="191755"/>
                  </a:lnTo>
                  <a:close/>
                </a:path>
              </a:pathLst>
            </a:custGeom>
            <a:solidFill>
              <a:srgbClr val="0493FB"/>
            </a:solidFill>
          </p:spPr>
        </p:sp>
        <p:sp>
          <p:nvSpPr>
            <p:cNvPr name="TextBox 55" id="55"/>
            <p:cNvSpPr txBox="true"/>
            <p:nvPr/>
          </p:nvSpPr>
          <p:spPr>
            <a:xfrm>
              <a:off x="0" y="-57150"/>
              <a:ext cx="3430769" cy="248905"/>
            </a:xfrm>
            <a:prstGeom prst="rect">
              <a:avLst/>
            </a:prstGeom>
          </p:spPr>
          <p:txBody>
            <a:bodyPr anchor="ctr" rtlCol="false" tIns="50800" lIns="50800" bIns="50800" rIns="50800"/>
            <a:lstStyle/>
            <a:p>
              <a:pPr algn="ctr">
                <a:lnSpc>
                  <a:spcPts val="2700"/>
                </a:lnSpc>
              </a:pPr>
            </a:p>
          </p:txBody>
        </p:sp>
      </p:grpSp>
      <p:sp>
        <p:nvSpPr>
          <p:cNvPr name="TextBox 56" id="56"/>
          <p:cNvSpPr txBox="true"/>
          <p:nvPr/>
        </p:nvSpPr>
        <p:spPr>
          <a:xfrm rot="0">
            <a:off x="1026414" y="520329"/>
            <a:ext cx="12808458"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Testing Non-Determinism</a:t>
            </a:r>
          </a:p>
        </p:txBody>
      </p:sp>
      <p:sp>
        <p:nvSpPr>
          <p:cNvPr name="TextBox 57" id="57"/>
          <p:cNvSpPr txBox="true"/>
          <p:nvPr/>
        </p:nvSpPr>
        <p:spPr>
          <a:xfrm rot="0">
            <a:off x="2905184" y="8791575"/>
            <a:ext cx="12026146" cy="466725"/>
          </a:xfrm>
          <a:prstGeom prst="rect">
            <a:avLst/>
          </a:prstGeom>
        </p:spPr>
        <p:txBody>
          <a:bodyPr anchor="t" rtlCol="false" tIns="0" lIns="0" bIns="0" rIns="0">
            <a:spAutoFit/>
          </a:bodyPr>
          <a:lstStyle/>
          <a:p>
            <a:pPr algn="ctr">
              <a:lnSpc>
                <a:spcPts val="3240"/>
              </a:lnSpc>
              <a:spcBef>
                <a:spcPct val="0"/>
              </a:spcBef>
            </a:pPr>
            <a:r>
              <a:rPr lang="en-US" sz="2700">
                <a:solidFill>
                  <a:srgbClr val="FFFFFF"/>
                </a:solidFill>
                <a:latin typeface="Calibri (MS)"/>
                <a:ea typeface="Calibri (MS)"/>
                <a:cs typeface="Calibri (MS)"/>
                <a:sym typeface="Calibri (MS)"/>
              </a:rPr>
              <a:t>In industry this grows into evals: golden datasets, LLM-as-judge, regression suites in CI.</a:t>
            </a:r>
          </a:p>
        </p:txBody>
      </p:sp>
    </p:spTree>
  </p:cSld>
  <p:clrMapOvr>
    <a:masterClrMapping/>
  </p:clrMapOvr>
</p:sld>
</file>

<file path=ppt/slides/slide36.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1720342"/>
            <a:ext cx="10952308" cy="787661"/>
            <a:chOff x="0" y="0"/>
            <a:chExt cx="2884559" cy="207450"/>
          </a:xfrm>
        </p:grpSpPr>
        <p:sp>
          <p:nvSpPr>
            <p:cNvPr name="Freeform 3" id="3"/>
            <p:cNvSpPr/>
            <p:nvPr/>
          </p:nvSpPr>
          <p:spPr>
            <a:xfrm flipH="false" flipV="false" rot="0">
              <a:off x="0" y="0"/>
              <a:ext cx="2884559" cy="207450"/>
            </a:xfrm>
            <a:custGeom>
              <a:avLst/>
              <a:gdLst/>
              <a:ahLst/>
              <a:cxnLst/>
              <a:rect r="r" b="b" t="t" l="l"/>
              <a:pathLst>
                <a:path h="207450" w="2884559">
                  <a:moveTo>
                    <a:pt x="0" y="0"/>
                  </a:moveTo>
                  <a:lnTo>
                    <a:pt x="2884559" y="0"/>
                  </a:lnTo>
                  <a:lnTo>
                    <a:pt x="2884559" y="207450"/>
                  </a:lnTo>
                  <a:lnTo>
                    <a:pt x="0" y="207450"/>
                  </a:lnTo>
                  <a:close/>
                </a:path>
              </a:pathLst>
            </a:custGeom>
            <a:solidFill>
              <a:srgbClr val="0493FB"/>
            </a:solidFill>
          </p:spPr>
        </p:sp>
        <p:sp>
          <p:nvSpPr>
            <p:cNvPr name="TextBox 4" id="4"/>
            <p:cNvSpPr txBox="true"/>
            <p:nvPr/>
          </p:nvSpPr>
          <p:spPr>
            <a:xfrm>
              <a:off x="0" y="-57150"/>
              <a:ext cx="2884559" cy="264600"/>
            </a:xfrm>
            <a:prstGeom prst="rect">
              <a:avLst/>
            </a:prstGeom>
          </p:spPr>
          <p:txBody>
            <a:bodyPr anchor="ctr" rtlCol="false" tIns="50800" lIns="50800" bIns="50800" rIns="50800"/>
            <a:lstStyle/>
            <a:p>
              <a:pPr algn="ctr">
                <a:lnSpc>
                  <a:spcPts val="2700"/>
                </a:lnSpc>
              </a:pPr>
            </a:p>
          </p:txBody>
        </p:sp>
      </p:grpSp>
      <p:grpSp>
        <p:nvGrpSpPr>
          <p:cNvPr name="Group 5" id="5"/>
          <p:cNvGrpSpPr/>
          <p:nvPr/>
        </p:nvGrpSpPr>
        <p:grpSpPr>
          <a:xfrm rot="0">
            <a:off x="1162906" y="3518535"/>
            <a:ext cx="8126349" cy="5739765"/>
            <a:chOff x="0" y="0"/>
            <a:chExt cx="10835132" cy="7653020"/>
          </a:xfrm>
        </p:grpSpPr>
        <p:sp>
          <p:nvSpPr>
            <p:cNvPr name="Freeform 6" id="6"/>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7" id="7"/>
          <p:cNvGrpSpPr/>
          <p:nvPr/>
        </p:nvGrpSpPr>
        <p:grpSpPr>
          <a:xfrm rot="0">
            <a:off x="1486550" y="4010363"/>
            <a:ext cx="5305015" cy="906678"/>
            <a:chOff x="0" y="0"/>
            <a:chExt cx="1397205" cy="238796"/>
          </a:xfrm>
        </p:grpSpPr>
        <p:sp>
          <p:nvSpPr>
            <p:cNvPr name="Freeform 8" id="8"/>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493FB"/>
            </a:solidFill>
          </p:spPr>
        </p:sp>
        <p:sp>
          <p:nvSpPr>
            <p:cNvPr name="TextBox 9" id="9"/>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Your manager asks?</a:t>
              </a:r>
            </a:p>
          </p:txBody>
        </p:sp>
      </p:grpSp>
      <p:sp>
        <p:nvSpPr>
          <p:cNvPr name="TextBox 10" id="10"/>
          <p:cNvSpPr txBox="true"/>
          <p:nvPr/>
        </p:nvSpPr>
        <p:spPr>
          <a:xfrm rot="0">
            <a:off x="1028700" y="904875"/>
            <a:ext cx="11394586"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At Work: Testing LLMs</a:t>
            </a:r>
          </a:p>
        </p:txBody>
      </p:sp>
      <p:sp>
        <p:nvSpPr>
          <p:cNvPr name="TextBox 11" id="11"/>
          <p:cNvSpPr txBox="true"/>
          <p:nvPr/>
        </p:nvSpPr>
        <p:spPr>
          <a:xfrm rot="0">
            <a:off x="1383185" y="5336858"/>
            <a:ext cx="7906070" cy="2790825"/>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“Can we change the prompt without breaking anything?”</a:t>
            </a: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Exact tests on routing and rules.</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Shape tests on the LLM output</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A labelled ticket set to compare accuracy</a:t>
            </a:r>
          </a:p>
        </p:txBody>
      </p:sp>
      <p:grpSp>
        <p:nvGrpSpPr>
          <p:cNvPr name="Group 12" id="12"/>
          <p:cNvGrpSpPr/>
          <p:nvPr/>
        </p:nvGrpSpPr>
        <p:grpSpPr>
          <a:xfrm rot="0">
            <a:off x="9447135" y="3518535"/>
            <a:ext cx="8126349" cy="5739765"/>
            <a:chOff x="0" y="0"/>
            <a:chExt cx="10835132" cy="7653020"/>
          </a:xfrm>
        </p:grpSpPr>
        <p:sp>
          <p:nvSpPr>
            <p:cNvPr name="Freeform 13" id="13"/>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14" id="14"/>
          <p:cNvGrpSpPr/>
          <p:nvPr/>
        </p:nvGrpSpPr>
        <p:grpSpPr>
          <a:xfrm rot="0">
            <a:off x="9770779" y="4010363"/>
            <a:ext cx="5305015" cy="906678"/>
            <a:chOff x="0" y="0"/>
            <a:chExt cx="1397205" cy="238796"/>
          </a:xfrm>
        </p:grpSpPr>
        <p:sp>
          <p:nvSpPr>
            <p:cNvPr name="Freeform 15" id="15"/>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E3C74"/>
            </a:solidFill>
          </p:spPr>
        </p:sp>
        <p:sp>
          <p:nvSpPr>
            <p:cNvPr name="TextBox 16" id="16"/>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The interviewer asks?</a:t>
              </a:r>
            </a:p>
          </p:txBody>
        </p:sp>
      </p:grpSp>
      <p:sp>
        <p:nvSpPr>
          <p:cNvPr name="TextBox 17" id="17"/>
          <p:cNvSpPr txBox="true"/>
          <p:nvPr/>
        </p:nvSpPr>
        <p:spPr>
          <a:xfrm rot="0">
            <a:off x="9447135" y="5336858"/>
            <a:ext cx="8284229" cy="2790825"/>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“How do you test code that calls an LLM?”</a:t>
            </a: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Assert the shape, not the words.</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Test the deterministic parts exactly.</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Track quality with a regression eval.</a:t>
            </a:r>
          </a:p>
        </p:txBody>
      </p:sp>
      <p:sp>
        <p:nvSpPr>
          <p:cNvPr name="TextBox 18" id="18"/>
          <p:cNvSpPr txBox="true"/>
          <p:nvPr/>
        </p:nvSpPr>
        <p:spPr>
          <a:xfrm rot="0">
            <a:off x="1237930" y="9403298"/>
            <a:ext cx="15812140" cy="561975"/>
          </a:xfrm>
          <a:prstGeom prst="rect">
            <a:avLst/>
          </a:prstGeom>
        </p:spPr>
        <p:txBody>
          <a:bodyPr anchor="t" rtlCol="false" tIns="0" lIns="0" bIns="0" rIns="0">
            <a:spAutoFit/>
          </a:bodyPr>
          <a:lstStyle/>
          <a:p>
            <a:pPr algn="ctr">
              <a:lnSpc>
                <a:spcPts val="3908"/>
              </a:lnSpc>
              <a:spcBef>
                <a:spcPct val="0"/>
              </a:spcBef>
            </a:pPr>
            <a:r>
              <a:rPr lang="en-US" b="true" sz="3257">
                <a:solidFill>
                  <a:srgbClr val="FFFFFF"/>
                </a:solidFill>
                <a:latin typeface="Calibri (MS) Bold"/>
                <a:ea typeface="Calibri (MS) Bold"/>
                <a:cs typeface="Calibri (MS) Bold"/>
                <a:sym typeface="Calibri (MS) Bold"/>
              </a:rPr>
              <a:t>Today’s 4 tests</a:t>
            </a:r>
            <a:r>
              <a:rPr lang="en-US" sz="3257">
                <a:solidFill>
                  <a:srgbClr val="FFFFFF"/>
                </a:solidFill>
                <a:latin typeface="Calibri (MS)"/>
                <a:ea typeface="Calibri (MS)"/>
                <a:cs typeface="Calibri (MS)"/>
                <a:sym typeface="Calibri (MS)"/>
              </a:rPr>
              <a:t> are the first rung of the evals ladder.</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08673" y="2523172"/>
            <a:ext cx="4006215" cy="645795"/>
            <a:chOff x="0" y="0"/>
            <a:chExt cx="5341620" cy="861060"/>
          </a:xfrm>
        </p:grpSpPr>
        <p:sp>
          <p:nvSpPr>
            <p:cNvPr name="Freeform 3" id="3"/>
            <p:cNvSpPr/>
            <p:nvPr/>
          </p:nvSpPr>
          <p:spPr>
            <a:xfrm flipH="false" flipV="false" rot="0">
              <a:off x="0" y="0"/>
              <a:ext cx="5341620" cy="861187"/>
            </a:xfrm>
            <a:custGeom>
              <a:avLst/>
              <a:gdLst/>
              <a:ahLst/>
              <a:cxnLst/>
              <a:rect r="r" b="b" t="t" l="l"/>
              <a:pathLst>
                <a:path h="861187" w="5341620">
                  <a:moveTo>
                    <a:pt x="0" y="421005"/>
                  </a:moveTo>
                  <a:cubicBezTo>
                    <a:pt x="0" y="188468"/>
                    <a:pt x="188468" y="0"/>
                    <a:pt x="421005" y="0"/>
                  </a:cubicBezTo>
                  <a:lnTo>
                    <a:pt x="4920615" y="0"/>
                  </a:lnTo>
                  <a:cubicBezTo>
                    <a:pt x="5153152" y="0"/>
                    <a:pt x="5341620" y="188468"/>
                    <a:pt x="5341620" y="421005"/>
                  </a:cubicBezTo>
                  <a:lnTo>
                    <a:pt x="5341620" y="440182"/>
                  </a:lnTo>
                  <a:cubicBezTo>
                    <a:pt x="5341620" y="672719"/>
                    <a:pt x="5153152" y="861187"/>
                    <a:pt x="4920615" y="861187"/>
                  </a:cubicBezTo>
                  <a:lnTo>
                    <a:pt x="421005" y="861187"/>
                  </a:lnTo>
                  <a:cubicBezTo>
                    <a:pt x="188468" y="861060"/>
                    <a:pt x="0" y="672592"/>
                    <a:pt x="0" y="440055"/>
                  </a:cubicBezTo>
                  <a:close/>
                </a:path>
              </a:pathLst>
            </a:custGeom>
            <a:solidFill>
              <a:srgbClr val="0493FB"/>
            </a:solidFill>
            <a:ln w="28575" cap="sq">
              <a:solidFill>
                <a:srgbClr val="0493FB"/>
              </a:solidFill>
              <a:prstDash val="solid"/>
              <a:miter/>
            </a:ln>
          </p:spPr>
        </p:sp>
        <p:sp>
          <p:nvSpPr>
            <p:cNvPr name="TextBox 4" id="4"/>
            <p:cNvSpPr txBox="true"/>
            <p:nvPr/>
          </p:nvSpPr>
          <p:spPr>
            <a:xfrm>
              <a:off x="0" y="-47625"/>
              <a:ext cx="534162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25 MIN  ·  HANDS ON</a:t>
              </a:r>
            </a:p>
          </p:txBody>
        </p:sp>
      </p:grpSp>
      <p:grpSp>
        <p:nvGrpSpPr>
          <p:cNvPr name="Group 5" id="5"/>
          <p:cNvGrpSpPr/>
          <p:nvPr/>
        </p:nvGrpSpPr>
        <p:grpSpPr>
          <a:xfrm rot="0">
            <a:off x="806291" y="3659219"/>
            <a:ext cx="472250" cy="472250"/>
            <a:chOff x="0" y="0"/>
            <a:chExt cx="629666" cy="629666"/>
          </a:xfrm>
        </p:grpSpPr>
        <p:sp>
          <p:nvSpPr>
            <p:cNvPr name="Freeform 6" id="6"/>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7" id="7"/>
          <p:cNvGrpSpPr/>
          <p:nvPr/>
        </p:nvGrpSpPr>
        <p:grpSpPr>
          <a:xfrm rot="0">
            <a:off x="1508760" y="3566160"/>
            <a:ext cx="8641080" cy="658368"/>
            <a:chOff x="0" y="0"/>
            <a:chExt cx="11521440" cy="877824"/>
          </a:xfrm>
        </p:grpSpPr>
        <p:sp>
          <p:nvSpPr>
            <p:cNvPr name="Freeform 8" id="8"/>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9" id="9"/>
            <p:cNvSpPr txBox="true"/>
            <p:nvPr/>
          </p:nvSpPr>
          <p:spPr>
            <a:xfrm>
              <a:off x="0" y="-57150"/>
              <a:ext cx="11521440" cy="934974"/>
            </a:xfrm>
            <a:prstGeom prst="rect">
              <a:avLst/>
            </a:prstGeom>
          </p:spPr>
          <p:txBody>
            <a:bodyPr anchor="ctr" rtlCol="false" tIns="0" lIns="0" bIns="0" rIns="0"/>
            <a:lstStyle/>
            <a:p>
              <a:pPr algn="l">
                <a:lnSpc>
                  <a:spcPts val="3240"/>
                </a:lnSpc>
              </a:pPr>
              <a:r>
                <a:rPr lang="en-US" b="true" sz="2700">
                  <a:solidFill>
                    <a:srgbClr val="FFFFFF"/>
                  </a:solidFill>
                  <a:latin typeface="Calibri (MS) Bold"/>
                  <a:ea typeface="Calibri (MS) Bold"/>
                  <a:cs typeface="Calibri (MS) Bold"/>
                  <a:sym typeface="Calibri (MS) Bold"/>
                </a:rPr>
                <a:t>Schema  </a:t>
              </a:r>
              <a:r>
                <a:rPr lang="en-US" sz="2700">
                  <a:solidFill>
                    <a:srgbClr val="FFFFFF"/>
                  </a:solidFill>
                  <a:latin typeface="Calibri (MS)"/>
                  <a:ea typeface="Calibri (MS)"/>
                  <a:cs typeface="Calibri (MS)"/>
                  <a:sym typeface="Calibri (MS)"/>
                </a:rPr>
                <a:t>— add “urgent” as a category</a:t>
              </a:r>
            </a:p>
          </p:txBody>
        </p:sp>
      </p:grpSp>
      <p:grpSp>
        <p:nvGrpSpPr>
          <p:cNvPr name="Group 10" id="10"/>
          <p:cNvGrpSpPr/>
          <p:nvPr/>
        </p:nvGrpSpPr>
        <p:grpSpPr>
          <a:xfrm rot="0">
            <a:off x="806291" y="4482179"/>
            <a:ext cx="472250" cy="472250"/>
            <a:chOff x="0" y="0"/>
            <a:chExt cx="629666" cy="629666"/>
          </a:xfrm>
        </p:grpSpPr>
        <p:sp>
          <p:nvSpPr>
            <p:cNvPr name="Freeform 11" id="11"/>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12" id="12"/>
          <p:cNvGrpSpPr/>
          <p:nvPr/>
        </p:nvGrpSpPr>
        <p:grpSpPr>
          <a:xfrm rot="0">
            <a:off x="1508760" y="4389120"/>
            <a:ext cx="8641080" cy="658368"/>
            <a:chOff x="0" y="0"/>
            <a:chExt cx="11521440" cy="877824"/>
          </a:xfrm>
        </p:grpSpPr>
        <p:sp>
          <p:nvSpPr>
            <p:cNvPr name="Freeform 13" id="13"/>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14" id="14"/>
            <p:cNvSpPr txBox="true"/>
            <p:nvPr/>
          </p:nvSpPr>
          <p:spPr>
            <a:xfrm>
              <a:off x="0" y="-57150"/>
              <a:ext cx="11521440" cy="934974"/>
            </a:xfrm>
            <a:prstGeom prst="rect">
              <a:avLst/>
            </a:prstGeom>
          </p:spPr>
          <p:txBody>
            <a:bodyPr anchor="ctr" rtlCol="false" tIns="0" lIns="0" bIns="0" rIns="0"/>
            <a:lstStyle/>
            <a:p>
              <a:pPr algn="l">
                <a:lnSpc>
                  <a:spcPts val="3240"/>
                </a:lnSpc>
              </a:pPr>
              <a:r>
                <a:rPr lang="en-US" b="true" sz="2700">
                  <a:solidFill>
                    <a:srgbClr val="FFFFFF"/>
                  </a:solidFill>
                  <a:latin typeface="Calibri (MS) Bold"/>
                  <a:ea typeface="Calibri (MS) Bold"/>
                  <a:cs typeface="Calibri (MS) Bold"/>
                  <a:sym typeface="Calibri (MS) Bold"/>
                </a:rPr>
                <a:t>Node  </a:t>
              </a:r>
              <a:r>
                <a:rPr lang="en-US" sz="2700">
                  <a:solidFill>
                    <a:srgbClr val="FFFFFF"/>
                  </a:solidFill>
                  <a:latin typeface="Calibri (MS)"/>
                  <a:ea typeface="Calibri (MS)"/>
                  <a:cs typeface="Calibri (MS)"/>
                  <a:sym typeface="Calibri (MS)"/>
                </a:rPr>
                <a:t>— write the urgent handler</a:t>
              </a:r>
            </a:p>
          </p:txBody>
        </p:sp>
      </p:grpSp>
      <p:grpSp>
        <p:nvGrpSpPr>
          <p:cNvPr name="Group 15" id="15"/>
          <p:cNvGrpSpPr/>
          <p:nvPr/>
        </p:nvGrpSpPr>
        <p:grpSpPr>
          <a:xfrm rot="0">
            <a:off x="806291" y="5305139"/>
            <a:ext cx="472250" cy="472250"/>
            <a:chOff x="0" y="0"/>
            <a:chExt cx="629666" cy="629666"/>
          </a:xfrm>
        </p:grpSpPr>
        <p:sp>
          <p:nvSpPr>
            <p:cNvPr name="Freeform 16" id="16"/>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17" id="17"/>
          <p:cNvGrpSpPr/>
          <p:nvPr/>
        </p:nvGrpSpPr>
        <p:grpSpPr>
          <a:xfrm rot="0">
            <a:off x="1508760" y="5212080"/>
            <a:ext cx="8641080" cy="658368"/>
            <a:chOff x="0" y="0"/>
            <a:chExt cx="11521440" cy="877824"/>
          </a:xfrm>
        </p:grpSpPr>
        <p:sp>
          <p:nvSpPr>
            <p:cNvPr name="Freeform 18" id="18"/>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19" id="19"/>
            <p:cNvSpPr txBox="true"/>
            <p:nvPr/>
          </p:nvSpPr>
          <p:spPr>
            <a:xfrm>
              <a:off x="0" y="-57150"/>
              <a:ext cx="11521440" cy="934974"/>
            </a:xfrm>
            <a:prstGeom prst="rect">
              <a:avLst/>
            </a:prstGeom>
          </p:spPr>
          <p:txBody>
            <a:bodyPr anchor="ctr" rtlCol="false" tIns="0" lIns="0" bIns="0" rIns="0"/>
            <a:lstStyle/>
            <a:p>
              <a:pPr algn="l">
                <a:lnSpc>
                  <a:spcPts val="3240"/>
                </a:lnSpc>
              </a:pPr>
              <a:r>
                <a:rPr lang="en-US" b="true" sz="2700">
                  <a:solidFill>
                    <a:srgbClr val="FFFFFF"/>
                  </a:solidFill>
                  <a:latin typeface="Calibri (MS) Bold"/>
                  <a:ea typeface="Calibri (MS) Bold"/>
                  <a:cs typeface="Calibri (MS) Bold"/>
                  <a:sym typeface="Calibri (MS) Bold"/>
                </a:rPr>
                <a:t>Route  </a:t>
              </a:r>
              <a:r>
                <a:rPr lang="en-US" sz="2700">
                  <a:solidFill>
                    <a:srgbClr val="FFFFFF"/>
                  </a:solidFill>
                  <a:latin typeface="Calibri (MS)"/>
                  <a:ea typeface="Calibri (MS)"/>
                  <a:cs typeface="Calibri (MS)"/>
                  <a:sym typeface="Calibri (MS)"/>
                </a:rPr>
                <a:t>— make it reachable in the graph</a:t>
              </a:r>
            </a:p>
          </p:txBody>
        </p:sp>
      </p:grpSp>
      <p:grpSp>
        <p:nvGrpSpPr>
          <p:cNvPr name="Group 20" id="20"/>
          <p:cNvGrpSpPr/>
          <p:nvPr/>
        </p:nvGrpSpPr>
        <p:grpSpPr>
          <a:xfrm rot="0">
            <a:off x="806291" y="6128099"/>
            <a:ext cx="472250" cy="472250"/>
            <a:chOff x="0" y="0"/>
            <a:chExt cx="629666" cy="629666"/>
          </a:xfrm>
        </p:grpSpPr>
        <p:sp>
          <p:nvSpPr>
            <p:cNvPr name="Freeform 21" id="21"/>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22" id="22"/>
          <p:cNvGrpSpPr/>
          <p:nvPr/>
        </p:nvGrpSpPr>
        <p:grpSpPr>
          <a:xfrm rot="0">
            <a:off x="1508760" y="6035040"/>
            <a:ext cx="8641080" cy="658368"/>
            <a:chOff x="0" y="0"/>
            <a:chExt cx="11521440" cy="877824"/>
          </a:xfrm>
        </p:grpSpPr>
        <p:sp>
          <p:nvSpPr>
            <p:cNvPr name="Freeform 23" id="23"/>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24" id="24"/>
            <p:cNvSpPr txBox="true"/>
            <p:nvPr/>
          </p:nvSpPr>
          <p:spPr>
            <a:xfrm>
              <a:off x="0" y="-57150"/>
              <a:ext cx="11521440" cy="934974"/>
            </a:xfrm>
            <a:prstGeom prst="rect">
              <a:avLst/>
            </a:prstGeom>
          </p:spPr>
          <p:txBody>
            <a:bodyPr anchor="ctr" rtlCol="false" tIns="0" lIns="0" bIns="0" rIns="0"/>
            <a:lstStyle/>
            <a:p>
              <a:pPr algn="l">
                <a:lnSpc>
                  <a:spcPts val="3240"/>
                </a:lnSpc>
              </a:pPr>
              <a:r>
                <a:rPr lang="en-US" b="true" sz="2700">
                  <a:solidFill>
                    <a:srgbClr val="FFFFFF"/>
                  </a:solidFill>
                  <a:latin typeface="Calibri (MS) Bold"/>
                  <a:ea typeface="Calibri (MS) Bold"/>
                  <a:cs typeface="Calibri (MS) Bold"/>
                  <a:sym typeface="Calibri (MS) Bold"/>
                </a:rPr>
                <a:t>Retry-safe  </a:t>
              </a:r>
              <a:r>
                <a:rPr lang="en-US" sz="2700">
                  <a:solidFill>
                    <a:srgbClr val="FFFFFF"/>
                  </a:solidFill>
                  <a:latin typeface="Calibri (MS)"/>
                  <a:ea typeface="Calibri (MS)"/>
                  <a:cs typeface="Calibri (MS)"/>
                  <a:sym typeface="Calibri (MS)"/>
                </a:rPr>
                <a:t>— goes through retry + fallback</a:t>
              </a:r>
            </a:p>
          </p:txBody>
        </p:sp>
      </p:grpSp>
      <p:grpSp>
        <p:nvGrpSpPr>
          <p:cNvPr name="Group 25" id="25"/>
          <p:cNvGrpSpPr/>
          <p:nvPr/>
        </p:nvGrpSpPr>
        <p:grpSpPr>
          <a:xfrm rot="0">
            <a:off x="806291" y="6951059"/>
            <a:ext cx="472250" cy="472250"/>
            <a:chOff x="0" y="0"/>
            <a:chExt cx="629666" cy="629666"/>
          </a:xfrm>
        </p:grpSpPr>
        <p:sp>
          <p:nvSpPr>
            <p:cNvPr name="Freeform 26" id="26"/>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27" id="27"/>
          <p:cNvGrpSpPr/>
          <p:nvPr/>
        </p:nvGrpSpPr>
        <p:grpSpPr>
          <a:xfrm rot="0">
            <a:off x="1508760" y="6858000"/>
            <a:ext cx="8641080" cy="658368"/>
            <a:chOff x="0" y="0"/>
            <a:chExt cx="11521440" cy="877824"/>
          </a:xfrm>
        </p:grpSpPr>
        <p:sp>
          <p:nvSpPr>
            <p:cNvPr name="Freeform 28" id="28"/>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29" id="29"/>
            <p:cNvSpPr txBox="true"/>
            <p:nvPr/>
          </p:nvSpPr>
          <p:spPr>
            <a:xfrm>
              <a:off x="0" y="-57150"/>
              <a:ext cx="11521440" cy="934974"/>
            </a:xfrm>
            <a:prstGeom prst="rect">
              <a:avLst/>
            </a:prstGeom>
          </p:spPr>
          <p:txBody>
            <a:bodyPr anchor="ctr" rtlCol="false" tIns="0" lIns="0" bIns="0" rIns="0"/>
            <a:lstStyle/>
            <a:p>
              <a:pPr algn="l">
                <a:lnSpc>
                  <a:spcPts val="3240"/>
                </a:lnSpc>
              </a:pPr>
              <a:r>
                <a:rPr lang="en-US" b="true" sz="2700">
                  <a:solidFill>
                    <a:srgbClr val="FFFFFF"/>
                  </a:solidFill>
                  <a:latin typeface="Calibri (MS) Bold"/>
                  <a:ea typeface="Calibri (MS) Bold"/>
                  <a:cs typeface="Calibri (MS) Bold"/>
                  <a:sym typeface="Calibri (MS) Bold"/>
                </a:rPr>
                <a:t>Trace  </a:t>
              </a:r>
              <a:r>
                <a:rPr lang="en-US" sz="2700">
                  <a:solidFill>
                    <a:srgbClr val="FFFFFF"/>
                  </a:solidFill>
                  <a:latin typeface="Calibri (MS)"/>
                  <a:ea typeface="Calibri (MS)"/>
                  <a:cs typeface="Calibri (MS)"/>
                  <a:sym typeface="Calibri (MS)"/>
                </a:rPr>
                <a:t>— logs like every other node</a:t>
              </a:r>
            </a:p>
          </p:txBody>
        </p:sp>
      </p:grpSp>
      <p:grpSp>
        <p:nvGrpSpPr>
          <p:cNvPr name="Group 30" id="30"/>
          <p:cNvGrpSpPr/>
          <p:nvPr/>
        </p:nvGrpSpPr>
        <p:grpSpPr>
          <a:xfrm rot="0">
            <a:off x="806291" y="7774019"/>
            <a:ext cx="472250" cy="472250"/>
            <a:chOff x="0" y="0"/>
            <a:chExt cx="629666" cy="629666"/>
          </a:xfrm>
        </p:grpSpPr>
        <p:sp>
          <p:nvSpPr>
            <p:cNvPr name="Freeform 31" id="31"/>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32" id="32"/>
          <p:cNvGrpSpPr/>
          <p:nvPr/>
        </p:nvGrpSpPr>
        <p:grpSpPr>
          <a:xfrm rot="0">
            <a:off x="1508760" y="7680960"/>
            <a:ext cx="8641080" cy="658368"/>
            <a:chOff x="0" y="0"/>
            <a:chExt cx="11521440" cy="877824"/>
          </a:xfrm>
        </p:grpSpPr>
        <p:sp>
          <p:nvSpPr>
            <p:cNvPr name="Freeform 33" id="33"/>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34" id="34"/>
            <p:cNvSpPr txBox="true"/>
            <p:nvPr/>
          </p:nvSpPr>
          <p:spPr>
            <a:xfrm>
              <a:off x="0" y="-57150"/>
              <a:ext cx="11521440" cy="934974"/>
            </a:xfrm>
            <a:prstGeom prst="rect">
              <a:avLst/>
            </a:prstGeom>
          </p:spPr>
          <p:txBody>
            <a:bodyPr anchor="ctr" rtlCol="false" tIns="0" lIns="0" bIns="0" rIns="0"/>
            <a:lstStyle/>
            <a:p>
              <a:pPr algn="l">
                <a:lnSpc>
                  <a:spcPts val="3240"/>
                </a:lnSpc>
              </a:pPr>
              <a:r>
                <a:rPr lang="en-US" b="true" sz="2700">
                  <a:solidFill>
                    <a:srgbClr val="FFFFFF"/>
                  </a:solidFill>
                  <a:latin typeface="Calibri (MS) Bold"/>
                  <a:ea typeface="Calibri (MS) Bold"/>
                  <a:cs typeface="Calibri (MS) Bold"/>
                  <a:sym typeface="Calibri (MS) Bold"/>
                </a:rPr>
                <a:t>Test  </a:t>
              </a:r>
              <a:r>
                <a:rPr lang="en-US" sz="2700">
                  <a:solidFill>
                    <a:srgbClr val="FFFFFF"/>
                  </a:solidFill>
                  <a:latin typeface="Calibri (MS)"/>
                  <a:ea typeface="Calibri (MS)"/>
                  <a:cs typeface="Calibri (MS)"/>
                  <a:sym typeface="Calibri (MS)"/>
                </a:rPr>
                <a:t>— one test — and know why you picked it</a:t>
              </a:r>
            </a:p>
          </p:txBody>
        </p:sp>
      </p:grpSp>
      <p:grpSp>
        <p:nvGrpSpPr>
          <p:cNvPr name="Group 35" id="35"/>
          <p:cNvGrpSpPr/>
          <p:nvPr/>
        </p:nvGrpSpPr>
        <p:grpSpPr>
          <a:xfrm rot="0">
            <a:off x="10821352" y="4580572"/>
            <a:ext cx="2085975" cy="1125855"/>
            <a:chOff x="0" y="0"/>
            <a:chExt cx="2781300" cy="1501140"/>
          </a:xfrm>
        </p:grpSpPr>
        <p:sp>
          <p:nvSpPr>
            <p:cNvPr name="Freeform 36" id="36"/>
            <p:cNvSpPr/>
            <p:nvPr/>
          </p:nvSpPr>
          <p:spPr>
            <a:xfrm flipH="false" flipV="false" rot="0">
              <a:off x="0" y="0"/>
              <a:ext cx="2781300" cy="1501140"/>
            </a:xfrm>
            <a:custGeom>
              <a:avLst/>
              <a:gdLst/>
              <a:ahLst/>
              <a:cxnLst/>
              <a:rect r="r" b="b" t="t" l="l"/>
              <a:pathLst>
                <a:path h="1501140" w="2781300">
                  <a:moveTo>
                    <a:pt x="0" y="750570"/>
                  </a:moveTo>
                  <a:cubicBezTo>
                    <a:pt x="0" y="336042"/>
                    <a:pt x="622554" y="0"/>
                    <a:pt x="1390650" y="0"/>
                  </a:cubicBezTo>
                  <a:cubicBezTo>
                    <a:pt x="2158746" y="0"/>
                    <a:pt x="2781300" y="336042"/>
                    <a:pt x="2781300" y="750570"/>
                  </a:cubicBezTo>
                  <a:cubicBezTo>
                    <a:pt x="2781300" y="1165098"/>
                    <a:pt x="2158746" y="1501140"/>
                    <a:pt x="1390650" y="1501140"/>
                  </a:cubicBezTo>
                  <a:cubicBezTo>
                    <a:pt x="622554" y="1501140"/>
                    <a:pt x="0" y="1165098"/>
                    <a:pt x="0" y="750570"/>
                  </a:cubicBezTo>
                  <a:close/>
                </a:path>
              </a:pathLst>
            </a:custGeom>
            <a:solidFill>
              <a:srgbClr val="3D5A80"/>
            </a:solidFill>
            <a:ln w="28575" cap="sq">
              <a:solidFill>
                <a:srgbClr val="3D5A80"/>
              </a:solidFill>
              <a:prstDash val="solid"/>
              <a:miter/>
            </a:ln>
          </p:spPr>
        </p:sp>
        <p:sp>
          <p:nvSpPr>
            <p:cNvPr name="TextBox 37" id="37"/>
            <p:cNvSpPr txBox="true"/>
            <p:nvPr/>
          </p:nvSpPr>
          <p:spPr>
            <a:xfrm>
              <a:off x="0" y="-47625"/>
              <a:ext cx="2781300" cy="1548765"/>
            </a:xfrm>
            <a:prstGeom prst="rect">
              <a:avLst/>
            </a:prstGeom>
          </p:spPr>
          <p:txBody>
            <a:bodyPr anchor="ctr" rtlCol="false" tIns="50800" lIns="50800" bIns="50800" rIns="50800"/>
            <a:lstStyle/>
            <a:p>
              <a:pPr algn="ctr">
                <a:lnSpc>
                  <a:spcPts val="3060"/>
                </a:lnSpc>
              </a:pPr>
              <a:r>
                <a:rPr lang="en-US" sz="2550" b="true">
                  <a:solidFill>
                    <a:srgbClr val="FFFFFF"/>
                  </a:solidFill>
                  <a:latin typeface="Calibri (MS) Bold"/>
                  <a:ea typeface="Calibri (MS) Bold"/>
                  <a:cs typeface="Calibri (MS) Bold"/>
                  <a:sym typeface="Calibri (MS) Bold"/>
                </a:rPr>
                <a:t>Route</a:t>
              </a:r>
            </a:p>
          </p:txBody>
        </p:sp>
      </p:grpSp>
      <p:grpSp>
        <p:nvGrpSpPr>
          <p:cNvPr name="Group 38" id="38"/>
          <p:cNvGrpSpPr/>
          <p:nvPr/>
        </p:nvGrpSpPr>
        <p:grpSpPr>
          <a:xfrm rot="0">
            <a:off x="14113193" y="3140392"/>
            <a:ext cx="3361563" cy="782955"/>
            <a:chOff x="0" y="0"/>
            <a:chExt cx="4482084" cy="1043940"/>
          </a:xfrm>
        </p:grpSpPr>
        <p:sp>
          <p:nvSpPr>
            <p:cNvPr name="Freeform 39" id="39"/>
            <p:cNvSpPr/>
            <p:nvPr/>
          </p:nvSpPr>
          <p:spPr>
            <a:xfrm flipH="false" flipV="false" rot="0">
              <a:off x="0" y="0"/>
              <a:ext cx="4482084" cy="1043940"/>
            </a:xfrm>
            <a:custGeom>
              <a:avLst/>
              <a:gdLst/>
              <a:ahLst/>
              <a:cxnLst/>
              <a:rect r="r" b="b" t="t" l="l"/>
              <a:pathLst>
                <a:path h="1043940" w="4482084">
                  <a:moveTo>
                    <a:pt x="0" y="227711"/>
                  </a:moveTo>
                  <a:cubicBezTo>
                    <a:pt x="0" y="101981"/>
                    <a:pt x="101981" y="0"/>
                    <a:pt x="227711" y="0"/>
                  </a:cubicBezTo>
                  <a:lnTo>
                    <a:pt x="4254373" y="0"/>
                  </a:lnTo>
                  <a:cubicBezTo>
                    <a:pt x="4380103" y="0"/>
                    <a:pt x="4482084" y="101981"/>
                    <a:pt x="4482084" y="227711"/>
                  </a:cubicBezTo>
                  <a:lnTo>
                    <a:pt x="4482084" y="816229"/>
                  </a:lnTo>
                  <a:cubicBezTo>
                    <a:pt x="4482084" y="941959"/>
                    <a:pt x="4380103" y="1043940"/>
                    <a:pt x="4254373" y="1043940"/>
                  </a:cubicBezTo>
                  <a:lnTo>
                    <a:pt x="227711" y="1043940"/>
                  </a:lnTo>
                  <a:cubicBezTo>
                    <a:pt x="101981" y="1043940"/>
                    <a:pt x="0" y="941959"/>
                    <a:pt x="0" y="816229"/>
                  </a:cubicBezTo>
                  <a:close/>
                </a:path>
              </a:pathLst>
            </a:custGeom>
            <a:solidFill>
              <a:srgbClr val="F1F3F8"/>
            </a:solidFill>
            <a:ln w="28575" cap="sq">
              <a:solidFill>
                <a:srgbClr val="F1F3F8"/>
              </a:solidFill>
              <a:prstDash val="solid"/>
              <a:miter/>
            </a:ln>
          </p:spPr>
        </p:sp>
        <p:sp>
          <p:nvSpPr>
            <p:cNvPr name="TextBox 40" id="40"/>
            <p:cNvSpPr txBox="true"/>
            <p:nvPr/>
          </p:nvSpPr>
          <p:spPr>
            <a:xfrm>
              <a:off x="0" y="-57150"/>
              <a:ext cx="4482084" cy="1101090"/>
            </a:xfrm>
            <a:prstGeom prst="rect">
              <a:avLst/>
            </a:prstGeom>
          </p:spPr>
          <p:txBody>
            <a:bodyPr anchor="ctr" rtlCol="false" tIns="50800" lIns="50800" bIns="50800" rIns="50800"/>
            <a:lstStyle/>
            <a:p>
              <a:pPr algn="ctr">
                <a:lnSpc>
                  <a:spcPts val="2700"/>
                </a:lnSpc>
              </a:pPr>
              <a:r>
                <a:rPr lang="en-US" sz="2250">
                  <a:solidFill>
                    <a:srgbClr val="1B1F3B"/>
                  </a:solidFill>
                  <a:latin typeface="Calibri (MS)"/>
                  <a:ea typeface="Calibri (MS)"/>
                  <a:cs typeface="Calibri (MS)"/>
                  <a:sym typeface="Calibri (MS)"/>
                </a:rPr>
                <a:t>Billing</a:t>
              </a:r>
            </a:p>
          </p:txBody>
        </p:sp>
      </p:grpSp>
      <p:sp>
        <p:nvSpPr>
          <p:cNvPr name="AutoShape 41" id="41"/>
          <p:cNvSpPr/>
          <p:nvPr/>
        </p:nvSpPr>
        <p:spPr>
          <a:xfrm rot="-3347279">
            <a:off x="12505934" y="4328160"/>
            <a:ext cx="1994926" cy="0"/>
          </a:xfrm>
          <a:prstGeom prst="line">
            <a:avLst/>
          </a:prstGeom>
          <a:ln cap="rnd" w="19050">
            <a:solidFill>
              <a:srgbClr val="FFFFFF"/>
            </a:solidFill>
            <a:prstDash val="solid"/>
            <a:headEnd type="none" len="sm" w="sm"/>
            <a:tailEnd type="triangle" len="med" w="lg"/>
          </a:ln>
        </p:spPr>
      </p:sp>
      <p:grpSp>
        <p:nvGrpSpPr>
          <p:cNvPr name="Group 42" id="42"/>
          <p:cNvGrpSpPr/>
          <p:nvPr/>
        </p:nvGrpSpPr>
        <p:grpSpPr>
          <a:xfrm rot="0">
            <a:off x="14113193" y="4127944"/>
            <a:ext cx="3361563" cy="782955"/>
            <a:chOff x="0" y="0"/>
            <a:chExt cx="4482084" cy="1043940"/>
          </a:xfrm>
        </p:grpSpPr>
        <p:sp>
          <p:nvSpPr>
            <p:cNvPr name="Freeform 43" id="43"/>
            <p:cNvSpPr/>
            <p:nvPr/>
          </p:nvSpPr>
          <p:spPr>
            <a:xfrm flipH="false" flipV="false" rot="0">
              <a:off x="0" y="0"/>
              <a:ext cx="4482084" cy="1043940"/>
            </a:xfrm>
            <a:custGeom>
              <a:avLst/>
              <a:gdLst/>
              <a:ahLst/>
              <a:cxnLst/>
              <a:rect r="r" b="b" t="t" l="l"/>
              <a:pathLst>
                <a:path h="1043940" w="4482084">
                  <a:moveTo>
                    <a:pt x="0" y="227711"/>
                  </a:moveTo>
                  <a:cubicBezTo>
                    <a:pt x="0" y="101981"/>
                    <a:pt x="101981" y="0"/>
                    <a:pt x="227711" y="0"/>
                  </a:cubicBezTo>
                  <a:lnTo>
                    <a:pt x="4254373" y="0"/>
                  </a:lnTo>
                  <a:cubicBezTo>
                    <a:pt x="4380103" y="0"/>
                    <a:pt x="4482084" y="101981"/>
                    <a:pt x="4482084" y="227711"/>
                  </a:cubicBezTo>
                  <a:lnTo>
                    <a:pt x="4482084" y="816229"/>
                  </a:lnTo>
                  <a:cubicBezTo>
                    <a:pt x="4482084" y="941959"/>
                    <a:pt x="4380103" y="1043940"/>
                    <a:pt x="4254373" y="1043940"/>
                  </a:cubicBezTo>
                  <a:lnTo>
                    <a:pt x="227711" y="1043940"/>
                  </a:lnTo>
                  <a:cubicBezTo>
                    <a:pt x="101981" y="1043940"/>
                    <a:pt x="0" y="941959"/>
                    <a:pt x="0" y="816229"/>
                  </a:cubicBezTo>
                  <a:close/>
                </a:path>
              </a:pathLst>
            </a:custGeom>
            <a:solidFill>
              <a:srgbClr val="F1F3F8"/>
            </a:solidFill>
            <a:ln w="28575" cap="sq">
              <a:solidFill>
                <a:srgbClr val="F1F3F8"/>
              </a:solidFill>
              <a:prstDash val="solid"/>
              <a:miter/>
            </a:ln>
          </p:spPr>
        </p:sp>
        <p:sp>
          <p:nvSpPr>
            <p:cNvPr name="TextBox 44" id="44"/>
            <p:cNvSpPr txBox="true"/>
            <p:nvPr/>
          </p:nvSpPr>
          <p:spPr>
            <a:xfrm>
              <a:off x="0" y="-57150"/>
              <a:ext cx="4482084" cy="1101090"/>
            </a:xfrm>
            <a:prstGeom prst="rect">
              <a:avLst/>
            </a:prstGeom>
          </p:spPr>
          <p:txBody>
            <a:bodyPr anchor="ctr" rtlCol="false" tIns="50800" lIns="50800" bIns="50800" rIns="50800"/>
            <a:lstStyle/>
            <a:p>
              <a:pPr algn="ctr">
                <a:lnSpc>
                  <a:spcPts val="2700"/>
                </a:lnSpc>
              </a:pPr>
              <a:r>
                <a:rPr lang="en-US" sz="2250">
                  <a:solidFill>
                    <a:srgbClr val="1B1F3B"/>
                  </a:solidFill>
                  <a:latin typeface="Calibri (MS)"/>
                  <a:ea typeface="Calibri (MS)"/>
                  <a:cs typeface="Calibri (MS)"/>
                  <a:sym typeface="Calibri (MS)"/>
                </a:rPr>
                <a:t>Technical</a:t>
              </a:r>
            </a:p>
          </p:txBody>
        </p:sp>
      </p:grpSp>
      <p:sp>
        <p:nvSpPr>
          <p:cNvPr name="AutoShape 45" id="45"/>
          <p:cNvSpPr/>
          <p:nvPr/>
        </p:nvSpPr>
        <p:spPr>
          <a:xfrm rot="-1833360">
            <a:off x="12852130" y="4821936"/>
            <a:ext cx="1302544" cy="0"/>
          </a:xfrm>
          <a:prstGeom prst="line">
            <a:avLst/>
          </a:prstGeom>
          <a:ln cap="rnd" w="19050">
            <a:solidFill>
              <a:srgbClr val="FFFFFF"/>
            </a:solidFill>
            <a:prstDash val="solid"/>
            <a:headEnd type="none" len="sm" w="sm"/>
            <a:tailEnd type="triangle" len="med" w="lg"/>
          </a:ln>
        </p:spPr>
      </p:sp>
      <p:grpSp>
        <p:nvGrpSpPr>
          <p:cNvPr name="Group 46" id="46"/>
          <p:cNvGrpSpPr/>
          <p:nvPr/>
        </p:nvGrpSpPr>
        <p:grpSpPr>
          <a:xfrm rot="0">
            <a:off x="14113193" y="5115496"/>
            <a:ext cx="3361563" cy="782955"/>
            <a:chOff x="0" y="0"/>
            <a:chExt cx="4482084" cy="1043940"/>
          </a:xfrm>
        </p:grpSpPr>
        <p:sp>
          <p:nvSpPr>
            <p:cNvPr name="Freeform 47" id="47"/>
            <p:cNvSpPr/>
            <p:nvPr/>
          </p:nvSpPr>
          <p:spPr>
            <a:xfrm flipH="false" flipV="false" rot="0">
              <a:off x="0" y="0"/>
              <a:ext cx="4482084" cy="1043940"/>
            </a:xfrm>
            <a:custGeom>
              <a:avLst/>
              <a:gdLst/>
              <a:ahLst/>
              <a:cxnLst/>
              <a:rect r="r" b="b" t="t" l="l"/>
              <a:pathLst>
                <a:path h="1043940" w="4482084">
                  <a:moveTo>
                    <a:pt x="0" y="227711"/>
                  </a:moveTo>
                  <a:cubicBezTo>
                    <a:pt x="0" y="101981"/>
                    <a:pt x="101981" y="0"/>
                    <a:pt x="227711" y="0"/>
                  </a:cubicBezTo>
                  <a:lnTo>
                    <a:pt x="4254373" y="0"/>
                  </a:lnTo>
                  <a:cubicBezTo>
                    <a:pt x="4380103" y="0"/>
                    <a:pt x="4482084" y="101981"/>
                    <a:pt x="4482084" y="227711"/>
                  </a:cubicBezTo>
                  <a:lnTo>
                    <a:pt x="4482084" y="816229"/>
                  </a:lnTo>
                  <a:cubicBezTo>
                    <a:pt x="4482084" y="941959"/>
                    <a:pt x="4380103" y="1043940"/>
                    <a:pt x="4254373" y="1043940"/>
                  </a:cubicBezTo>
                  <a:lnTo>
                    <a:pt x="227711" y="1043940"/>
                  </a:lnTo>
                  <a:cubicBezTo>
                    <a:pt x="101981" y="1043940"/>
                    <a:pt x="0" y="941959"/>
                    <a:pt x="0" y="816229"/>
                  </a:cubicBezTo>
                  <a:close/>
                </a:path>
              </a:pathLst>
            </a:custGeom>
            <a:solidFill>
              <a:srgbClr val="F1F3F8"/>
            </a:solidFill>
            <a:ln w="28575" cap="sq">
              <a:solidFill>
                <a:srgbClr val="F1F3F8"/>
              </a:solidFill>
              <a:prstDash val="solid"/>
              <a:miter/>
            </a:ln>
          </p:spPr>
        </p:sp>
        <p:sp>
          <p:nvSpPr>
            <p:cNvPr name="TextBox 48" id="48"/>
            <p:cNvSpPr txBox="true"/>
            <p:nvPr/>
          </p:nvSpPr>
          <p:spPr>
            <a:xfrm>
              <a:off x="0" y="-57150"/>
              <a:ext cx="4482084" cy="1101090"/>
            </a:xfrm>
            <a:prstGeom prst="rect">
              <a:avLst/>
            </a:prstGeom>
          </p:spPr>
          <p:txBody>
            <a:bodyPr anchor="ctr" rtlCol="false" tIns="50800" lIns="50800" bIns="50800" rIns="50800"/>
            <a:lstStyle/>
            <a:p>
              <a:pPr algn="ctr">
                <a:lnSpc>
                  <a:spcPts val="2700"/>
                </a:lnSpc>
              </a:pPr>
              <a:r>
                <a:rPr lang="en-US" sz="2250">
                  <a:solidFill>
                    <a:srgbClr val="1B1F3B"/>
                  </a:solidFill>
                  <a:latin typeface="Calibri (MS)"/>
                  <a:ea typeface="Calibri (MS)"/>
                  <a:cs typeface="Calibri (MS)"/>
                  <a:sym typeface="Calibri (MS)"/>
                </a:rPr>
                <a:t>General</a:t>
              </a:r>
            </a:p>
          </p:txBody>
        </p:sp>
      </p:grpSp>
      <p:sp>
        <p:nvSpPr>
          <p:cNvPr name="AutoShape 49" id="49"/>
          <p:cNvSpPr/>
          <p:nvPr/>
        </p:nvSpPr>
        <p:spPr>
          <a:xfrm rot="1181879">
            <a:off x="12907708" y="5315712"/>
            <a:ext cx="1191387" cy="0"/>
          </a:xfrm>
          <a:prstGeom prst="line">
            <a:avLst/>
          </a:prstGeom>
          <a:ln cap="rnd" w="19050">
            <a:solidFill>
              <a:srgbClr val="FFFFFF"/>
            </a:solidFill>
            <a:prstDash val="solid"/>
            <a:headEnd type="none" len="sm" w="sm"/>
            <a:tailEnd type="triangle" len="med" w="lg"/>
          </a:ln>
        </p:spPr>
      </p:sp>
      <p:grpSp>
        <p:nvGrpSpPr>
          <p:cNvPr name="Group 50" id="50"/>
          <p:cNvGrpSpPr/>
          <p:nvPr/>
        </p:nvGrpSpPr>
        <p:grpSpPr>
          <a:xfrm rot="0">
            <a:off x="14113193" y="6500812"/>
            <a:ext cx="3361563" cy="782955"/>
            <a:chOff x="0" y="0"/>
            <a:chExt cx="4482084" cy="1043940"/>
          </a:xfrm>
        </p:grpSpPr>
        <p:sp>
          <p:nvSpPr>
            <p:cNvPr name="Freeform 51" id="51"/>
            <p:cNvSpPr/>
            <p:nvPr/>
          </p:nvSpPr>
          <p:spPr>
            <a:xfrm flipH="false" flipV="false" rot="0">
              <a:off x="0" y="0"/>
              <a:ext cx="4482084" cy="1043940"/>
            </a:xfrm>
            <a:custGeom>
              <a:avLst/>
              <a:gdLst/>
              <a:ahLst/>
              <a:cxnLst/>
              <a:rect r="r" b="b" t="t" l="l"/>
              <a:pathLst>
                <a:path h="1043940" w="4482084">
                  <a:moveTo>
                    <a:pt x="0" y="227711"/>
                  </a:moveTo>
                  <a:cubicBezTo>
                    <a:pt x="0" y="101981"/>
                    <a:pt x="101981" y="0"/>
                    <a:pt x="227711" y="0"/>
                  </a:cubicBezTo>
                  <a:lnTo>
                    <a:pt x="4254373" y="0"/>
                  </a:lnTo>
                  <a:cubicBezTo>
                    <a:pt x="4380103" y="0"/>
                    <a:pt x="4482084" y="101981"/>
                    <a:pt x="4482084" y="227711"/>
                  </a:cubicBezTo>
                  <a:lnTo>
                    <a:pt x="4482084" y="816229"/>
                  </a:lnTo>
                  <a:cubicBezTo>
                    <a:pt x="4482084" y="941959"/>
                    <a:pt x="4380103" y="1043940"/>
                    <a:pt x="4254373" y="1043940"/>
                  </a:cubicBezTo>
                  <a:lnTo>
                    <a:pt x="227711" y="1043940"/>
                  </a:lnTo>
                  <a:cubicBezTo>
                    <a:pt x="101981" y="1043940"/>
                    <a:pt x="0" y="941959"/>
                    <a:pt x="0" y="816229"/>
                  </a:cubicBezTo>
                  <a:close/>
                </a:path>
              </a:pathLst>
            </a:custGeom>
            <a:solidFill>
              <a:srgbClr val="FFFFFF"/>
            </a:solidFill>
            <a:ln w="28575" cap="sq">
              <a:solidFill>
                <a:srgbClr val="0493FB"/>
              </a:solidFill>
              <a:prstDash val="dash"/>
              <a:miter/>
            </a:ln>
          </p:spPr>
        </p:sp>
        <p:sp>
          <p:nvSpPr>
            <p:cNvPr name="TextBox 52" id="52"/>
            <p:cNvSpPr txBox="true"/>
            <p:nvPr/>
          </p:nvSpPr>
          <p:spPr>
            <a:xfrm>
              <a:off x="0" y="-38100"/>
              <a:ext cx="4482084" cy="1082040"/>
            </a:xfrm>
            <a:prstGeom prst="rect">
              <a:avLst/>
            </a:prstGeom>
          </p:spPr>
          <p:txBody>
            <a:bodyPr anchor="ctr" rtlCol="false" tIns="50800" lIns="50800" bIns="50800" rIns="50800"/>
            <a:lstStyle/>
            <a:p>
              <a:pPr algn="ctr">
                <a:lnSpc>
                  <a:spcPts val="2879"/>
                </a:lnSpc>
              </a:pPr>
              <a:r>
                <a:rPr lang="en-US" b="true" sz="2400">
                  <a:solidFill>
                    <a:srgbClr val="0E3C74"/>
                  </a:solidFill>
                  <a:latin typeface="Calibri (MS) Bold"/>
                  <a:ea typeface="Calibri (MS) Bold"/>
                  <a:cs typeface="Calibri (MS) Bold"/>
                  <a:sym typeface="Calibri (MS) Bold"/>
                </a:rPr>
                <a:t>urgent ?</a:t>
              </a:r>
            </a:p>
          </p:txBody>
        </p:sp>
      </p:grpSp>
      <p:sp>
        <p:nvSpPr>
          <p:cNvPr name="TextBox 53" id="53"/>
          <p:cNvSpPr txBox="true"/>
          <p:nvPr/>
        </p:nvSpPr>
        <p:spPr>
          <a:xfrm rot="0">
            <a:off x="14127480" y="7290435"/>
            <a:ext cx="3332988" cy="527685"/>
          </a:xfrm>
          <a:prstGeom prst="rect">
            <a:avLst/>
          </a:prstGeom>
        </p:spPr>
        <p:txBody>
          <a:bodyPr anchor="t" rtlCol="false" tIns="0" lIns="0" bIns="0" rIns="0">
            <a:spAutoFit/>
          </a:bodyPr>
          <a:lstStyle/>
          <a:p>
            <a:pPr algn="ctr">
              <a:lnSpc>
                <a:spcPts val="2520"/>
              </a:lnSpc>
            </a:pPr>
            <a:r>
              <a:rPr lang="en-US" sz="2100" i="true">
                <a:solidFill>
                  <a:srgbClr val="FFFFFF"/>
                </a:solidFill>
                <a:latin typeface="Calibri (MS) Italics"/>
                <a:ea typeface="Calibri (MS) Italics"/>
                <a:cs typeface="Calibri (MS) Italics"/>
                <a:sym typeface="Calibri (MS) Italics"/>
              </a:rPr>
              <a:t>your new path</a:t>
            </a:r>
          </a:p>
        </p:txBody>
      </p:sp>
      <p:grpSp>
        <p:nvGrpSpPr>
          <p:cNvPr name="Group 54" id="54"/>
          <p:cNvGrpSpPr/>
          <p:nvPr/>
        </p:nvGrpSpPr>
        <p:grpSpPr>
          <a:xfrm rot="0">
            <a:off x="808672" y="1335796"/>
            <a:ext cx="13026200" cy="728070"/>
            <a:chOff x="0" y="0"/>
            <a:chExt cx="3430769" cy="191755"/>
          </a:xfrm>
        </p:grpSpPr>
        <p:sp>
          <p:nvSpPr>
            <p:cNvPr name="Freeform 55" id="55"/>
            <p:cNvSpPr/>
            <p:nvPr/>
          </p:nvSpPr>
          <p:spPr>
            <a:xfrm flipH="false" flipV="false" rot="0">
              <a:off x="0" y="0"/>
              <a:ext cx="3430768" cy="191755"/>
            </a:xfrm>
            <a:custGeom>
              <a:avLst/>
              <a:gdLst/>
              <a:ahLst/>
              <a:cxnLst/>
              <a:rect r="r" b="b" t="t" l="l"/>
              <a:pathLst>
                <a:path h="191755" w="3430768">
                  <a:moveTo>
                    <a:pt x="0" y="0"/>
                  </a:moveTo>
                  <a:lnTo>
                    <a:pt x="3430768" y="0"/>
                  </a:lnTo>
                  <a:lnTo>
                    <a:pt x="3430768" y="191755"/>
                  </a:lnTo>
                  <a:lnTo>
                    <a:pt x="0" y="191755"/>
                  </a:lnTo>
                  <a:close/>
                </a:path>
              </a:pathLst>
            </a:custGeom>
            <a:solidFill>
              <a:srgbClr val="0493FB"/>
            </a:solidFill>
          </p:spPr>
        </p:sp>
        <p:sp>
          <p:nvSpPr>
            <p:cNvPr name="TextBox 56" id="56"/>
            <p:cNvSpPr txBox="true"/>
            <p:nvPr/>
          </p:nvSpPr>
          <p:spPr>
            <a:xfrm>
              <a:off x="0" y="-57150"/>
              <a:ext cx="3430769" cy="248905"/>
            </a:xfrm>
            <a:prstGeom prst="rect">
              <a:avLst/>
            </a:prstGeom>
          </p:spPr>
          <p:txBody>
            <a:bodyPr anchor="ctr" rtlCol="false" tIns="50800" lIns="50800" bIns="50800" rIns="50800"/>
            <a:lstStyle/>
            <a:p>
              <a:pPr algn="ctr">
                <a:lnSpc>
                  <a:spcPts val="2700"/>
                </a:lnSpc>
              </a:pPr>
            </a:p>
          </p:txBody>
        </p:sp>
      </p:grpSp>
      <p:sp>
        <p:nvSpPr>
          <p:cNvPr name="TextBox 57" id="57"/>
          <p:cNvSpPr txBox="true"/>
          <p:nvPr/>
        </p:nvSpPr>
        <p:spPr>
          <a:xfrm rot="0">
            <a:off x="1026414" y="520329"/>
            <a:ext cx="12808458"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Your Turn: Add the Path</a:t>
            </a:r>
          </a:p>
        </p:txBody>
      </p:sp>
      <p:sp>
        <p:nvSpPr>
          <p:cNvPr name="TextBox 58" id="58"/>
          <p:cNvSpPr txBox="true"/>
          <p:nvPr/>
        </p:nvSpPr>
        <p:spPr>
          <a:xfrm rot="0">
            <a:off x="1278541" y="8996362"/>
            <a:ext cx="9861233" cy="466725"/>
          </a:xfrm>
          <a:prstGeom prst="rect">
            <a:avLst/>
          </a:prstGeom>
        </p:spPr>
        <p:txBody>
          <a:bodyPr anchor="t" rtlCol="false" tIns="0" lIns="0" bIns="0" rIns="0">
            <a:spAutoFit/>
          </a:bodyPr>
          <a:lstStyle/>
          <a:p>
            <a:pPr algn="ctr">
              <a:lnSpc>
                <a:spcPts val="3240"/>
              </a:lnSpc>
              <a:spcBef>
                <a:spcPct val="0"/>
              </a:spcBef>
            </a:pPr>
            <a:r>
              <a:rPr lang="en-US" sz="2700">
                <a:solidFill>
                  <a:srgbClr val="FFFFFF"/>
                </a:solidFill>
                <a:latin typeface="Calibri (MS)"/>
                <a:ea typeface="Calibri (MS)"/>
                <a:cs typeface="Calibri (MS)"/>
                <a:sym typeface="Calibri (MS)"/>
              </a:rPr>
              <a:t>Stuck? Read the trace before you read your code. Which node ran last?</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1211580" y="3293745"/>
            <a:ext cx="16047720" cy="752475"/>
          </a:xfrm>
          <a:prstGeom prst="rect">
            <a:avLst/>
          </a:prstGeom>
        </p:spPr>
        <p:txBody>
          <a:bodyPr anchor="t" rtlCol="false" tIns="0" lIns="0" bIns="0" rIns="0">
            <a:spAutoFit/>
          </a:bodyPr>
          <a:lstStyle/>
          <a:p>
            <a:pPr algn="l">
              <a:lnSpc>
                <a:spcPts val="3960"/>
              </a:lnSpc>
            </a:pPr>
            <a:r>
              <a:rPr lang="en-US" sz="3300">
                <a:solidFill>
                  <a:srgbClr val="C9D1E3"/>
                </a:solidFill>
                <a:latin typeface="Calibri (MS)"/>
                <a:ea typeface="Calibri (MS)"/>
                <a:cs typeface="Calibri (MS)"/>
                <a:sym typeface="Calibri (MS)"/>
              </a:rPr>
              <a:t>Not “I built a chatbot.”  This:</a:t>
            </a:r>
          </a:p>
        </p:txBody>
      </p:sp>
      <p:sp>
        <p:nvSpPr>
          <p:cNvPr name="TextBox 3" id="3"/>
          <p:cNvSpPr txBox="true"/>
          <p:nvPr/>
        </p:nvSpPr>
        <p:spPr>
          <a:xfrm rot="0">
            <a:off x="937260" y="3691890"/>
            <a:ext cx="1371600" cy="1931670"/>
          </a:xfrm>
          <a:prstGeom prst="rect">
            <a:avLst/>
          </a:prstGeom>
        </p:spPr>
        <p:txBody>
          <a:bodyPr anchor="t" rtlCol="false" tIns="0" lIns="0" bIns="0" rIns="0">
            <a:spAutoFit/>
          </a:bodyPr>
          <a:lstStyle/>
          <a:p>
            <a:pPr algn="l">
              <a:lnSpc>
                <a:spcPts val="17280"/>
              </a:lnSpc>
            </a:pPr>
            <a:r>
              <a:rPr lang="en-US" b="true" sz="14400">
                <a:solidFill>
                  <a:srgbClr val="0A91F4"/>
                </a:solidFill>
                <a:latin typeface="Calibri (MS) Bold"/>
                <a:ea typeface="Calibri (MS) Bold"/>
                <a:cs typeface="Calibri (MS) Bold"/>
                <a:sym typeface="Calibri (MS) Bold"/>
              </a:rPr>
              <a:t>“</a:t>
            </a:r>
          </a:p>
        </p:txBody>
      </p:sp>
      <p:grpSp>
        <p:nvGrpSpPr>
          <p:cNvPr name="Group 4" id="4"/>
          <p:cNvGrpSpPr/>
          <p:nvPr/>
        </p:nvGrpSpPr>
        <p:grpSpPr>
          <a:xfrm rot="0">
            <a:off x="2171700" y="4389120"/>
            <a:ext cx="14813280" cy="3840480"/>
            <a:chOff x="0" y="0"/>
            <a:chExt cx="19751040" cy="5120640"/>
          </a:xfrm>
        </p:grpSpPr>
        <p:sp>
          <p:nvSpPr>
            <p:cNvPr name="Freeform 5" id="5"/>
            <p:cNvSpPr/>
            <p:nvPr/>
          </p:nvSpPr>
          <p:spPr>
            <a:xfrm flipH="false" flipV="false" rot="0">
              <a:off x="0" y="0"/>
              <a:ext cx="19751039" cy="5120640"/>
            </a:xfrm>
            <a:custGeom>
              <a:avLst/>
              <a:gdLst/>
              <a:ahLst/>
              <a:cxnLst/>
              <a:rect r="r" b="b" t="t" l="l"/>
              <a:pathLst>
                <a:path h="5120640" w="19751039">
                  <a:moveTo>
                    <a:pt x="0" y="0"/>
                  </a:moveTo>
                  <a:lnTo>
                    <a:pt x="19751039" y="0"/>
                  </a:lnTo>
                  <a:lnTo>
                    <a:pt x="19751039" y="5120640"/>
                  </a:lnTo>
                  <a:lnTo>
                    <a:pt x="0" y="5120640"/>
                  </a:lnTo>
                  <a:close/>
                </a:path>
              </a:pathLst>
            </a:custGeom>
            <a:blipFill>
              <a:blip r:embed="rId2">
                <a:alphaModFix amt="0"/>
              </a:blip>
              <a:stretch>
                <a:fillRect l="0" t="-25156" r="0" b="-25156"/>
              </a:stretch>
            </a:blipFill>
          </p:spPr>
        </p:sp>
        <p:sp>
          <p:nvSpPr>
            <p:cNvPr name="TextBox 6" id="6"/>
            <p:cNvSpPr txBox="true"/>
            <p:nvPr/>
          </p:nvSpPr>
          <p:spPr>
            <a:xfrm>
              <a:off x="0" y="-85725"/>
              <a:ext cx="19751040" cy="5206365"/>
            </a:xfrm>
            <a:prstGeom prst="rect">
              <a:avLst/>
            </a:prstGeom>
          </p:spPr>
          <p:txBody>
            <a:bodyPr anchor="ctr" rtlCol="false" tIns="0" lIns="0" bIns="0" rIns="0"/>
            <a:lstStyle/>
            <a:p>
              <a:pPr algn="l">
                <a:lnSpc>
                  <a:spcPts val="5759"/>
                </a:lnSpc>
              </a:pPr>
              <a:r>
                <a:rPr lang="en-US" sz="4800" b="true">
                  <a:solidFill>
                    <a:srgbClr val="FFFFFF"/>
                  </a:solidFill>
                  <a:latin typeface="Calibri (MS) Bold"/>
                  <a:ea typeface="Calibri (MS) Bold"/>
                  <a:cs typeface="Calibri (MS) Bold"/>
                  <a:sym typeface="Calibri (MS) Bold"/>
                </a:rPr>
                <a:t>I designed a stateful agent with structured output, retry and fallback logic, and full tracing, then reimplemented it in LangGraph and tested the parts that needed testing.</a:t>
              </a:r>
            </a:p>
          </p:txBody>
        </p:sp>
      </p:grpSp>
      <p:grpSp>
        <p:nvGrpSpPr>
          <p:cNvPr name="Group 7" id="7"/>
          <p:cNvGrpSpPr/>
          <p:nvPr/>
        </p:nvGrpSpPr>
        <p:grpSpPr>
          <a:xfrm rot="0">
            <a:off x="746412" y="1720342"/>
            <a:ext cx="6893557" cy="728070"/>
            <a:chOff x="0" y="0"/>
            <a:chExt cx="1815587" cy="191755"/>
          </a:xfrm>
        </p:grpSpPr>
        <p:sp>
          <p:nvSpPr>
            <p:cNvPr name="Freeform 8" id="8"/>
            <p:cNvSpPr/>
            <p:nvPr/>
          </p:nvSpPr>
          <p:spPr>
            <a:xfrm flipH="false" flipV="false" rot="0">
              <a:off x="0" y="0"/>
              <a:ext cx="1815587" cy="191755"/>
            </a:xfrm>
            <a:custGeom>
              <a:avLst/>
              <a:gdLst/>
              <a:ahLst/>
              <a:cxnLst/>
              <a:rect r="r" b="b" t="t" l="l"/>
              <a:pathLst>
                <a:path h="191755" w="1815587">
                  <a:moveTo>
                    <a:pt x="0" y="0"/>
                  </a:moveTo>
                  <a:lnTo>
                    <a:pt x="1815587" y="0"/>
                  </a:lnTo>
                  <a:lnTo>
                    <a:pt x="1815587" y="191755"/>
                  </a:lnTo>
                  <a:lnTo>
                    <a:pt x="0" y="191755"/>
                  </a:lnTo>
                  <a:close/>
                </a:path>
              </a:pathLst>
            </a:custGeom>
            <a:solidFill>
              <a:srgbClr val="0493FB"/>
            </a:solidFill>
          </p:spPr>
        </p:sp>
        <p:sp>
          <p:nvSpPr>
            <p:cNvPr name="TextBox 9" id="9"/>
            <p:cNvSpPr txBox="true"/>
            <p:nvPr/>
          </p:nvSpPr>
          <p:spPr>
            <a:xfrm>
              <a:off x="0" y="-57150"/>
              <a:ext cx="1815587" cy="248905"/>
            </a:xfrm>
            <a:prstGeom prst="rect">
              <a:avLst/>
            </a:prstGeom>
          </p:spPr>
          <p:txBody>
            <a:bodyPr anchor="ctr" rtlCol="false" tIns="50800" lIns="50800" bIns="50800" rIns="50800"/>
            <a:lstStyle/>
            <a:p>
              <a:pPr algn="ctr">
                <a:lnSpc>
                  <a:spcPts val="2700"/>
                </a:lnSpc>
              </a:pPr>
            </a:p>
          </p:txBody>
        </p:sp>
      </p:grpSp>
      <p:sp>
        <p:nvSpPr>
          <p:cNvPr name="TextBox 10" id="10"/>
          <p:cNvSpPr txBox="true"/>
          <p:nvPr/>
        </p:nvSpPr>
        <p:spPr>
          <a:xfrm rot="0">
            <a:off x="964154" y="904875"/>
            <a:ext cx="6675815"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The Sentence</a:t>
            </a:r>
          </a:p>
        </p:txBody>
      </p:sp>
      <p:sp>
        <p:nvSpPr>
          <p:cNvPr name="Freeform 11" id="11"/>
          <p:cNvSpPr/>
          <p:nvPr/>
        </p:nvSpPr>
        <p:spPr>
          <a:xfrm flipH="false" flipV="false" rot="0">
            <a:off x="-875956" y="7966921"/>
            <a:ext cx="5480719" cy="5511824"/>
          </a:xfrm>
          <a:custGeom>
            <a:avLst/>
            <a:gdLst/>
            <a:ahLst/>
            <a:cxnLst/>
            <a:rect r="r" b="b" t="t" l="l"/>
            <a:pathLst>
              <a:path h="5511824" w="5480719">
                <a:moveTo>
                  <a:pt x="0" y="0"/>
                </a:moveTo>
                <a:lnTo>
                  <a:pt x="5480720" y="0"/>
                </a:lnTo>
                <a:lnTo>
                  <a:pt x="5480720" y="5511824"/>
                </a:lnTo>
                <a:lnTo>
                  <a:pt x="0" y="55118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5"/>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08673" y="2523172"/>
            <a:ext cx="4006215" cy="645795"/>
            <a:chOff x="0" y="0"/>
            <a:chExt cx="5341620" cy="861060"/>
          </a:xfrm>
        </p:grpSpPr>
        <p:sp>
          <p:nvSpPr>
            <p:cNvPr name="Freeform 3" id="3"/>
            <p:cNvSpPr/>
            <p:nvPr/>
          </p:nvSpPr>
          <p:spPr>
            <a:xfrm flipH="false" flipV="false" rot="0">
              <a:off x="0" y="0"/>
              <a:ext cx="5341620" cy="861187"/>
            </a:xfrm>
            <a:custGeom>
              <a:avLst/>
              <a:gdLst/>
              <a:ahLst/>
              <a:cxnLst/>
              <a:rect r="r" b="b" t="t" l="l"/>
              <a:pathLst>
                <a:path h="861187" w="5341620">
                  <a:moveTo>
                    <a:pt x="0" y="421005"/>
                  </a:moveTo>
                  <a:cubicBezTo>
                    <a:pt x="0" y="188468"/>
                    <a:pt x="188468" y="0"/>
                    <a:pt x="421005" y="0"/>
                  </a:cubicBezTo>
                  <a:lnTo>
                    <a:pt x="4920615" y="0"/>
                  </a:lnTo>
                  <a:cubicBezTo>
                    <a:pt x="5153152" y="0"/>
                    <a:pt x="5341620" y="188468"/>
                    <a:pt x="5341620" y="421005"/>
                  </a:cubicBezTo>
                  <a:lnTo>
                    <a:pt x="5341620" y="440182"/>
                  </a:lnTo>
                  <a:cubicBezTo>
                    <a:pt x="5341620" y="672719"/>
                    <a:pt x="5153152" y="861187"/>
                    <a:pt x="4920615" y="861187"/>
                  </a:cubicBezTo>
                  <a:lnTo>
                    <a:pt x="421005" y="861187"/>
                  </a:lnTo>
                  <a:cubicBezTo>
                    <a:pt x="188468" y="861060"/>
                    <a:pt x="0" y="672592"/>
                    <a:pt x="0" y="440055"/>
                  </a:cubicBezTo>
                  <a:close/>
                </a:path>
              </a:pathLst>
            </a:custGeom>
            <a:solidFill>
              <a:srgbClr val="0493FB"/>
            </a:solidFill>
            <a:ln w="28575" cap="sq">
              <a:solidFill>
                <a:srgbClr val="0493FB"/>
              </a:solidFill>
              <a:prstDash val="solid"/>
              <a:miter/>
            </a:ln>
          </p:spPr>
        </p:sp>
        <p:sp>
          <p:nvSpPr>
            <p:cNvPr name="TextBox 4" id="4"/>
            <p:cNvSpPr txBox="true"/>
            <p:nvPr/>
          </p:nvSpPr>
          <p:spPr>
            <a:xfrm>
              <a:off x="0" y="-47625"/>
              <a:ext cx="5341620" cy="908685"/>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This week  ·  After today</a:t>
              </a:r>
            </a:p>
          </p:txBody>
        </p:sp>
      </p:grpSp>
      <p:grpSp>
        <p:nvGrpSpPr>
          <p:cNvPr name="Group 5" id="5"/>
          <p:cNvGrpSpPr/>
          <p:nvPr/>
        </p:nvGrpSpPr>
        <p:grpSpPr>
          <a:xfrm rot="0">
            <a:off x="806291" y="3659219"/>
            <a:ext cx="472250" cy="472250"/>
            <a:chOff x="0" y="0"/>
            <a:chExt cx="629666" cy="629666"/>
          </a:xfrm>
        </p:grpSpPr>
        <p:sp>
          <p:nvSpPr>
            <p:cNvPr name="Freeform 6" id="6"/>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7" id="7"/>
          <p:cNvGrpSpPr/>
          <p:nvPr/>
        </p:nvGrpSpPr>
        <p:grpSpPr>
          <a:xfrm rot="0">
            <a:off x="1508760" y="3566160"/>
            <a:ext cx="8641080" cy="658368"/>
            <a:chOff x="0" y="0"/>
            <a:chExt cx="11521440" cy="877824"/>
          </a:xfrm>
        </p:grpSpPr>
        <p:sp>
          <p:nvSpPr>
            <p:cNvPr name="Freeform 8" id="8"/>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9" id="9"/>
            <p:cNvSpPr txBox="true"/>
            <p:nvPr/>
          </p:nvSpPr>
          <p:spPr>
            <a:xfrm>
              <a:off x="0" y="-57150"/>
              <a:ext cx="11521440" cy="934974"/>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Repo</a:t>
              </a:r>
              <a:r>
                <a:rPr lang="en-US" b="true" sz="2700">
                  <a:solidFill>
                    <a:srgbClr val="FFFFFF"/>
                  </a:solidFill>
                  <a:latin typeface="Calibri (MS) Bold"/>
                  <a:ea typeface="Calibri (MS) Bold"/>
                  <a:cs typeface="Calibri (MS) Bold"/>
                  <a:sym typeface="Calibri (MS) Bold"/>
                </a:rPr>
                <a:t>  </a:t>
              </a:r>
              <a:r>
                <a:rPr lang="en-US" sz="2700">
                  <a:solidFill>
                    <a:srgbClr val="FFFFFF"/>
                  </a:solidFill>
                  <a:latin typeface="Calibri (MS)"/>
                  <a:ea typeface="Calibri (MS)"/>
                  <a:cs typeface="Calibri (MS)"/>
                  <a:sym typeface="Calibri (MS)"/>
                </a:rPr>
                <a:t>— public GitHub, API key removed.</a:t>
              </a:r>
            </a:p>
          </p:txBody>
        </p:sp>
      </p:grpSp>
      <p:grpSp>
        <p:nvGrpSpPr>
          <p:cNvPr name="Group 10" id="10"/>
          <p:cNvGrpSpPr/>
          <p:nvPr/>
        </p:nvGrpSpPr>
        <p:grpSpPr>
          <a:xfrm rot="0">
            <a:off x="806291" y="4482179"/>
            <a:ext cx="472250" cy="472250"/>
            <a:chOff x="0" y="0"/>
            <a:chExt cx="629666" cy="629666"/>
          </a:xfrm>
        </p:grpSpPr>
        <p:sp>
          <p:nvSpPr>
            <p:cNvPr name="Freeform 11" id="11"/>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12" id="12"/>
          <p:cNvGrpSpPr/>
          <p:nvPr/>
        </p:nvGrpSpPr>
        <p:grpSpPr>
          <a:xfrm rot="0">
            <a:off x="1508760" y="4389120"/>
            <a:ext cx="8641080" cy="658368"/>
            <a:chOff x="0" y="0"/>
            <a:chExt cx="11521440" cy="877824"/>
          </a:xfrm>
        </p:grpSpPr>
        <p:sp>
          <p:nvSpPr>
            <p:cNvPr name="Freeform 13" id="13"/>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14" id="14"/>
            <p:cNvSpPr txBox="true"/>
            <p:nvPr/>
          </p:nvSpPr>
          <p:spPr>
            <a:xfrm>
              <a:off x="0" y="-57150"/>
              <a:ext cx="11521440" cy="934974"/>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README</a:t>
              </a:r>
              <a:r>
                <a:rPr lang="en-US" b="true" sz="2700">
                  <a:solidFill>
                    <a:srgbClr val="FFFFFF"/>
                  </a:solidFill>
                  <a:latin typeface="Calibri (MS) Bold"/>
                  <a:ea typeface="Calibri (MS) Bold"/>
                  <a:cs typeface="Calibri (MS) Bold"/>
                  <a:sym typeface="Calibri (MS) Bold"/>
                </a:rPr>
                <a:t>  </a:t>
              </a:r>
              <a:r>
                <a:rPr lang="en-US" sz="2700">
                  <a:solidFill>
                    <a:srgbClr val="FFFFFF"/>
                  </a:solidFill>
                  <a:latin typeface="Calibri (MS)"/>
                  <a:ea typeface="Calibri (MS)"/>
                  <a:cs typeface="Calibri (MS)"/>
                  <a:sym typeface="Calibri (MS)"/>
                </a:rPr>
                <a:t>— the problem, the graph, how to run it</a:t>
              </a:r>
            </a:p>
          </p:txBody>
        </p:sp>
      </p:grpSp>
      <p:grpSp>
        <p:nvGrpSpPr>
          <p:cNvPr name="Group 15" id="15"/>
          <p:cNvGrpSpPr/>
          <p:nvPr/>
        </p:nvGrpSpPr>
        <p:grpSpPr>
          <a:xfrm rot="0">
            <a:off x="806291" y="5305139"/>
            <a:ext cx="472250" cy="472250"/>
            <a:chOff x="0" y="0"/>
            <a:chExt cx="629666" cy="629666"/>
          </a:xfrm>
        </p:grpSpPr>
        <p:sp>
          <p:nvSpPr>
            <p:cNvPr name="Freeform 16" id="16"/>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17" id="17"/>
          <p:cNvGrpSpPr/>
          <p:nvPr/>
        </p:nvGrpSpPr>
        <p:grpSpPr>
          <a:xfrm rot="0">
            <a:off x="1508760" y="5212080"/>
            <a:ext cx="8641080" cy="658368"/>
            <a:chOff x="0" y="0"/>
            <a:chExt cx="11521440" cy="877824"/>
          </a:xfrm>
        </p:grpSpPr>
        <p:sp>
          <p:nvSpPr>
            <p:cNvPr name="Freeform 18" id="18"/>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19" id="19"/>
            <p:cNvSpPr txBox="true"/>
            <p:nvPr/>
          </p:nvSpPr>
          <p:spPr>
            <a:xfrm>
              <a:off x="0" y="-57150"/>
              <a:ext cx="11521440" cy="934974"/>
            </a:xfrm>
            <a:prstGeom prst="rect">
              <a:avLst/>
            </a:prstGeom>
          </p:spPr>
          <p:txBody>
            <a:bodyPr anchor="ctr" rtlCol="false" tIns="0" lIns="0" bIns="0" rIns="0"/>
            <a:lstStyle/>
            <a:p>
              <a:pPr algn="l">
                <a:lnSpc>
                  <a:spcPts val="3240"/>
                </a:lnSpc>
              </a:pPr>
              <a:r>
                <a:rPr lang="en-US" sz="2700">
                  <a:solidFill>
                    <a:srgbClr val="FFFFFF"/>
                  </a:solidFill>
                  <a:latin typeface="Calibri (MS)"/>
                  <a:ea typeface="Calibri (MS)"/>
                  <a:cs typeface="Calibri (MS)"/>
                  <a:sym typeface="Calibri (MS)"/>
                </a:rPr>
                <a:t>Decisions </a:t>
              </a:r>
              <a:r>
                <a:rPr lang="en-US" sz="2700">
                  <a:solidFill>
                    <a:srgbClr val="FFFFFF"/>
                  </a:solidFill>
                  <a:latin typeface="Calibri (MS)"/>
                  <a:ea typeface="Calibri (MS)"/>
                  <a:cs typeface="Calibri (MS)"/>
                  <a:sym typeface="Calibri (MS)"/>
                </a:rPr>
                <a:t>— Why a state machine? Why one LLM call?</a:t>
              </a:r>
            </a:p>
          </p:txBody>
        </p:sp>
      </p:grpSp>
      <p:grpSp>
        <p:nvGrpSpPr>
          <p:cNvPr name="Group 20" id="20"/>
          <p:cNvGrpSpPr/>
          <p:nvPr/>
        </p:nvGrpSpPr>
        <p:grpSpPr>
          <a:xfrm rot="0">
            <a:off x="806291" y="6128099"/>
            <a:ext cx="472250" cy="472250"/>
            <a:chOff x="0" y="0"/>
            <a:chExt cx="629666" cy="629666"/>
          </a:xfrm>
        </p:grpSpPr>
        <p:sp>
          <p:nvSpPr>
            <p:cNvPr name="Freeform 21" id="21"/>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22" id="22"/>
          <p:cNvGrpSpPr/>
          <p:nvPr/>
        </p:nvGrpSpPr>
        <p:grpSpPr>
          <a:xfrm rot="0">
            <a:off x="1508760" y="6035040"/>
            <a:ext cx="8641080" cy="658368"/>
            <a:chOff x="0" y="0"/>
            <a:chExt cx="11521440" cy="877824"/>
          </a:xfrm>
        </p:grpSpPr>
        <p:sp>
          <p:nvSpPr>
            <p:cNvPr name="Freeform 23" id="23"/>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24" id="24"/>
            <p:cNvSpPr txBox="true"/>
            <p:nvPr/>
          </p:nvSpPr>
          <p:spPr>
            <a:xfrm>
              <a:off x="0" y="-57150"/>
              <a:ext cx="11521440" cy="934974"/>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T</a:t>
              </a:r>
              <a:r>
                <a:rPr lang="en-US" b="true" sz="2700">
                  <a:solidFill>
                    <a:srgbClr val="FFFFFF"/>
                  </a:solidFill>
                  <a:latin typeface="Calibri (MS) Bold"/>
                  <a:ea typeface="Calibri (MS) Bold"/>
                  <a:cs typeface="Calibri (MS) Bold"/>
                  <a:sym typeface="Calibri (MS) Bold"/>
                </a:rPr>
                <a:t>race — one ticket’s trace, pasted in</a:t>
              </a:r>
            </a:p>
          </p:txBody>
        </p:sp>
      </p:grpSp>
      <p:grpSp>
        <p:nvGrpSpPr>
          <p:cNvPr name="Group 25" id="25"/>
          <p:cNvGrpSpPr/>
          <p:nvPr/>
        </p:nvGrpSpPr>
        <p:grpSpPr>
          <a:xfrm rot="0">
            <a:off x="806291" y="6951059"/>
            <a:ext cx="472250" cy="472250"/>
            <a:chOff x="0" y="0"/>
            <a:chExt cx="629666" cy="629666"/>
          </a:xfrm>
        </p:grpSpPr>
        <p:sp>
          <p:nvSpPr>
            <p:cNvPr name="Freeform 26" id="26"/>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27" id="27"/>
          <p:cNvGrpSpPr/>
          <p:nvPr/>
        </p:nvGrpSpPr>
        <p:grpSpPr>
          <a:xfrm rot="0">
            <a:off x="1508760" y="6858000"/>
            <a:ext cx="8641080" cy="658368"/>
            <a:chOff x="0" y="0"/>
            <a:chExt cx="11521440" cy="877824"/>
          </a:xfrm>
        </p:grpSpPr>
        <p:sp>
          <p:nvSpPr>
            <p:cNvPr name="Freeform 28" id="28"/>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29" id="29"/>
            <p:cNvSpPr txBox="true"/>
            <p:nvPr/>
          </p:nvSpPr>
          <p:spPr>
            <a:xfrm>
              <a:off x="0" y="-57150"/>
              <a:ext cx="11521440" cy="934974"/>
            </a:xfrm>
            <a:prstGeom prst="rect">
              <a:avLst/>
            </a:prstGeom>
          </p:spPr>
          <p:txBody>
            <a:bodyPr anchor="ctr" rtlCol="false" tIns="0" lIns="0" bIns="0" rIns="0"/>
            <a:lstStyle/>
            <a:p>
              <a:pPr algn="l">
                <a:lnSpc>
                  <a:spcPts val="3240"/>
                </a:lnSpc>
              </a:pPr>
              <a:r>
                <a:rPr lang="en-US" b="true" sz="2700">
                  <a:solidFill>
                    <a:srgbClr val="FFFFFF"/>
                  </a:solidFill>
                  <a:latin typeface="Calibri (MS) Bold"/>
                  <a:ea typeface="Calibri (MS) Bold"/>
                  <a:cs typeface="Calibri (MS) Bold"/>
                  <a:sym typeface="Calibri (MS) Bold"/>
                </a:rPr>
                <a:t>Tests </a:t>
              </a:r>
              <a:r>
                <a:rPr lang="en-US" sz="2700">
                  <a:solidFill>
                    <a:srgbClr val="FFFFFF"/>
                  </a:solidFill>
                  <a:latin typeface="Calibri (MS)"/>
                  <a:ea typeface="Calibri (MS)"/>
                  <a:cs typeface="Calibri (MS)"/>
                  <a:sym typeface="Calibri (MS)"/>
                </a:rPr>
                <a:t>— passing and you know what each kind is</a:t>
              </a:r>
            </a:p>
          </p:txBody>
        </p:sp>
      </p:grpSp>
      <p:grpSp>
        <p:nvGrpSpPr>
          <p:cNvPr name="Group 30" id="30"/>
          <p:cNvGrpSpPr/>
          <p:nvPr/>
        </p:nvGrpSpPr>
        <p:grpSpPr>
          <a:xfrm rot="0">
            <a:off x="806291" y="7774019"/>
            <a:ext cx="472250" cy="472250"/>
            <a:chOff x="0" y="0"/>
            <a:chExt cx="629666" cy="629666"/>
          </a:xfrm>
        </p:grpSpPr>
        <p:sp>
          <p:nvSpPr>
            <p:cNvPr name="Freeform 31" id="31"/>
            <p:cNvSpPr/>
            <p:nvPr/>
          </p:nvSpPr>
          <p:spPr>
            <a:xfrm flipH="false" flipV="false" rot="0">
              <a:off x="0" y="0"/>
              <a:ext cx="629666" cy="629666"/>
            </a:xfrm>
            <a:custGeom>
              <a:avLst/>
              <a:gdLst/>
              <a:ahLst/>
              <a:cxnLst/>
              <a:rect r="r" b="b" t="t" l="l"/>
              <a:pathLst>
                <a:path h="629666" w="629666">
                  <a:moveTo>
                    <a:pt x="0" y="98425"/>
                  </a:moveTo>
                  <a:cubicBezTo>
                    <a:pt x="0" y="44069"/>
                    <a:pt x="44069" y="0"/>
                    <a:pt x="98425" y="0"/>
                  </a:cubicBezTo>
                  <a:lnTo>
                    <a:pt x="531241" y="0"/>
                  </a:lnTo>
                  <a:cubicBezTo>
                    <a:pt x="585597" y="0"/>
                    <a:pt x="629666" y="44069"/>
                    <a:pt x="629666" y="98425"/>
                  </a:cubicBezTo>
                  <a:lnTo>
                    <a:pt x="629666" y="531241"/>
                  </a:lnTo>
                  <a:cubicBezTo>
                    <a:pt x="629666" y="585597"/>
                    <a:pt x="585597" y="629666"/>
                    <a:pt x="531241" y="629666"/>
                  </a:cubicBezTo>
                  <a:lnTo>
                    <a:pt x="98425" y="629666"/>
                  </a:lnTo>
                  <a:cubicBezTo>
                    <a:pt x="44069" y="629666"/>
                    <a:pt x="0" y="585597"/>
                    <a:pt x="0" y="531241"/>
                  </a:cubicBezTo>
                  <a:close/>
                </a:path>
              </a:pathLst>
            </a:custGeom>
            <a:solidFill>
              <a:srgbClr val="FFFFFF"/>
            </a:solidFill>
            <a:ln w="33338" cap="sq">
              <a:solidFill>
                <a:srgbClr val="3D5A80"/>
              </a:solidFill>
              <a:prstDash val="solid"/>
              <a:miter/>
            </a:ln>
          </p:spPr>
        </p:sp>
      </p:grpSp>
      <p:grpSp>
        <p:nvGrpSpPr>
          <p:cNvPr name="Group 32" id="32"/>
          <p:cNvGrpSpPr/>
          <p:nvPr/>
        </p:nvGrpSpPr>
        <p:grpSpPr>
          <a:xfrm rot="0">
            <a:off x="1508760" y="7680960"/>
            <a:ext cx="8641080" cy="658368"/>
            <a:chOff x="0" y="0"/>
            <a:chExt cx="11521440" cy="877824"/>
          </a:xfrm>
        </p:grpSpPr>
        <p:sp>
          <p:nvSpPr>
            <p:cNvPr name="Freeform 33" id="33"/>
            <p:cNvSpPr/>
            <p:nvPr/>
          </p:nvSpPr>
          <p:spPr>
            <a:xfrm flipH="false" flipV="false" rot="0">
              <a:off x="0" y="0"/>
              <a:ext cx="11521440" cy="877824"/>
            </a:xfrm>
            <a:custGeom>
              <a:avLst/>
              <a:gdLst/>
              <a:ahLst/>
              <a:cxnLst/>
              <a:rect r="r" b="b" t="t" l="l"/>
              <a:pathLst>
                <a:path h="877824" w="11521440">
                  <a:moveTo>
                    <a:pt x="0" y="0"/>
                  </a:moveTo>
                  <a:lnTo>
                    <a:pt x="11521440" y="0"/>
                  </a:lnTo>
                  <a:lnTo>
                    <a:pt x="11521440" y="877824"/>
                  </a:lnTo>
                  <a:lnTo>
                    <a:pt x="0" y="877824"/>
                  </a:lnTo>
                  <a:close/>
                </a:path>
              </a:pathLst>
            </a:custGeom>
            <a:blipFill>
              <a:blip r:embed="rId2">
                <a:alphaModFix amt="0"/>
              </a:blip>
              <a:stretch>
                <a:fillRect l="0" t="-205741" r="0" b="-205741"/>
              </a:stretch>
            </a:blipFill>
          </p:spPr>
        </p:sp>
        <p:sp>
          <p:nvSpPr>
            <p:cNvPr name="TextBox 34" id="34"/>
            <p:cNvSpPr txBox="true"/>
            <p:nvPr/>
          </p:nvSpPr>
          <p:spPr>
            <a:xfrm>
              <a:off x="0" y="-57150"/>
              <a:ext cx="11521440" cy="934974"/>
            </a:xfrm>
            <a:prstGeom prst="rect">
              <a:avLst/>
            </a:prstGeom>
          </p:spPr>
          <p:txBody>
            <a:bodyPr anchor="ctr" rtlCol="false" tIns="0" lIns="0" bIns="0" rIns="0"/>
            <a:lstStyle/>
            <a:p>
              <a:pPr algn="l">
                <a:lnSpc>
                  <a:spcPts val="3240"/>
                </a:lnSpc>
              </a:pPr>
              <a:r>
                <a:rPr lang="en-US" sz="2700" b="true">
                  <a:solidFill>
                    <a:srgbClr val="FFFFFF"/>
                  </a:solidFill>
                  <a:latin typeface="Calibri (MS) Bold"/>
                  <a:ea typeface="Calibri (MS) Bold"/>
                  <a:cs typeface="Calibri (MS) Bold"/>
                  <a:sym typeface="Calibri (MS) Bold"/>
                </a:rPr>
                <a:t>Yours</a:t>
              </a:r>
              <a:r>
                <a:rPr lang="en-US" b="true" sz="2700">
                  <a:solidFill>
                    <a:srgbClr val="FFFFFF"/>
                  </a:solidFill>
                  <a:latin typeface="Calibri (MS) Bold"/>
                  <a:ea typeface="Calibri (MS) Bold"/>
                  <a:cs typeface="Calibri (MS) Bold"/>
                  <a:sym typeface="Calibri (MS) Bold"/>
                </a:rPr>
                <a:t>  </a:t>
              </a:r>
              <a:r>
                <a:rPr lang="en-US" sz="2700">
                  <a:solidFill>
                    <a:srgbClr val="FFFFFF"/>
                  </a:solidFill>
                  <a:latin typeface="Calibri (MS)"/>
                  <a:ea typeface="Calibri (MS)"/>
                  <a:cs typeface="Calibri (MS)"/>
                  <a:sym typeface="Calibri (MS)"/>
                </a:rPr>
                <a:t>— one extension — nobody else built</a:t>
              </a:r>
            </a:p>
          </p:txBody>
        </p:sp>
      </p:grpSp>
      <p:grpSp>
        <p:nvGrpSpPr>
          <p:cNvPr name="Group 35" id="35"/>
          <p:cNvGrpSpPr/>
          <p:nvPr/>
        </p:nvGrpSpPr>
        <p:grpSpPr>
          <a:xfrm rot="0">
            <a:off x="808672" y="1335796"/>
            <a:ext cx="13026200" cy="728070"/>
            <a:chOff x="0" y="0"/>
            <a:chExt cx="3430769" cy="191755"/>
          </a:xfrm>
        </p:grpSpPr>
        <p:sp>
          <p:nvSpPr>
            <p:cNvPr name="Freeform 36" id="36"/>
            <p:cNvSpPr/>
            <p:nvPr/>
          </p:nvSpPr>
          <p:spPr>
            <a:xfrm flipH="false" flipV="false" rot="0">
              <a:off x="0" y="0"/>
              <a:ext cx="3430768" cy="191755"/>
            </a:xfrm>
            <a:custGeom>
              <a:avLst/>
              <a:gdLst/>
              <a:ahLst/>
              <a:cxnLst/>
              <a:rect r="r" b="b" t="t" l="l"/>
              <a:pathLst>
                <a:path h="191755" w="3430768">
                  <a:moveTo>
                    <a:pt x="0" y="0"/>
                  </a:moveTo>
                  <a:lnTo>
                    <a:pt x="3430768" y="0"/>
                  </a:lnTo>
                  <a:lnTo>
                    <a:pt x="3430768" y="191755"/>
                  </a:lnTo>
                  <a:lnTo>
                    <a:pt x="0" y="191755"/>
                  </a:lnTo>
                  <a:close/>
                </a:path>
              </a:pathLst>
            </a:custGeom>
            <a:solidFill>
              <a:srgbClr val="0493FB"/>
            </a:solidFill>
          </p:spPr>
        </p:sp>
        <p:sp>
          <p:nvSpPr>
            <p:cNvPr name="TextBox 37" id="37"/>
            <p:cNvSpPr txBox="true"/>
            <p:nvPr/>
          </p:nvSpPr>
          <p:spPr>
            <a:xfrm>
              <a:off x="0" y="-57150"/>
              <a:ext cx="3430769" cy="248905"/>
            </a:xfrm>
            <a:prstGeom prst="rect">
              <a:avLst/>
            </a:prstGeom>
          </p:spPr>
          <p:txBody>
            <a:bodyPr anchor="ctr" rtlCol="false" tIns="50800" lIns="50800" bIns="50800" rIns="50800"/>
            <a:lstStyle/>
            <a:p>
              <a:pPr algn="ctr">
                <a:lnSpc>
                  <a:spcPts val="2700"/>
                </a:lnSpc>
              </a:pPr>
            </a:p>
          </p:txBody>
        </p:sp>
      </p:grpSp>
      <p:sp>
        <p:nvSpPr>
          <p:cNvPr name="Freeform 38" id="38"/>
          <p:cNvSpPr/>
          <p:nvPr/>
        </p:nvSpPr>
        <p:spPr>
          <a:xfrm flipH="false" flipV="false" rot="0">
            <a:off x="9365486" y="2557672"/>
            <a:ext cx="8700089" cy="5216347"/>
          </a:xfrm>
          <a:custGeom>
            <a:avLst/>
            <a:gdLst/>
            <a:ahLst/>
            <a:cxnLst/>
            <a:rect r="r" b="b" t="t" l="l"/>
            <a:pathLst>
              <a:path h="5216347" w="8700089">
                <a:moveTo>
                  <a:pt x="0" y="0"/>
                </a:moveTo>
                <a:lnTo>
                  <a:pt x="8700088" y="0"/>
                </a:lnTo>
                <a:lnTo>
                  <a:pt x="8700088" y="5216347"/>
                </a:lnTo>
                <a:lnTo>
                  <a:pt x="0" y="5216347"/>
                </a:lnTo>
                <a:lnTo>
                  <a:pt x="0" y="0"/>
                </a:lnTo>
                <a:close/>
              </a:path>
            </a:pathLst>
          </a:custGeom>
          <a:blipFill>
            <a:blip r:embed="rId3"/>
            <a:stretch>
              <a:fillRect l="0" t="-1410" r="0" b="-16897"/>
            </a:stretch>
          </a:blipFill>
        </p:spPr>
      </p:sp>
      <p:sp>
        <p:nvSpPr>
          <p:cNvPr name="TextBox 39" id="39"/>
          <p:cNvSpPr txBox="true"/>
          <p:nvPr/>
        </p:nvSpPr>
        <p:spPr>
          <a:xfrm rot="0">
            <a:off x="1026414" y="520329"/>
            <a:ext cx="12808458"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Make it a Portfolio Piece</a:t>
            </a:r>
          </a:p>
        </p:txBody>
      </p:sp>
      <p:sp>
        <p:nvSpPr>
          <p:cNvPr name="TextBox 40" id="40"/>
          <p:cNvSpPr txBox="true"/>
          <p:nvPr/>
        </p:nvSpPr>
        <p:spPr>
          <a:xfrm rot="0">
            <a:off x="9732648" y="2907030"/>
            <a:ext cx="1885355" cy="466725"/>
          </a:xfrm>
          <a:prstGeom prst="rect">
            <a:avLst/>
          </a:prstGeom>
        </p:spPr>
        <p:txBody>
          <a:bodyPr anchor="t" rtlCol="false" tIns="0" lIns="0" bIns="0" rIns="0">
            <a:spAutoFit/>
          </a:bodyPr>
          <a:lstStyle/>
          <a:p>
            <a:pPr algn="ctr">
              <a:lnSpc>
                <a:spcPts val="3240"/>
              </a:lnSpc>
              <a:spcBef>
                <a:spcPct val="0"/>
              </a:spcBef>
            </a:pPr>
            <a:r>
              <a:rPr lang="en-US" sz="2700">
                <a:solidFill>
                  <a:srgbClr val="000000"/>
                </a:solidFill>
                <a:latin typeface="Calibri (MS)"/>
                <a:ea typeface="Calibri (MS)"/>
                <a:cs typeface="Calibri (MS)"/>
                <a:sym typeface="Calibri (MS)"/>
              </a:rPr>
              <a:t>RÉSUMÉ LINE</a:t>
            </a:r>
          </a:p>
        </p:txBody>
      </p:sp>
      <p:sp>
        <p:nvSpPr>
          <p:cNvPr name="TextBox 41" id="41"/>
          <p:cNvSpPr txBox="true"/>
          <p:nvPr/>
        </p:nvSpPr>
        <p:spPr>
          <a:xfrm rot="0">
            <a:off x="9604170" y="3625215"/>
            <a:ext cx="8461404" cy="1695450"/>
          </a:xfrm>
          <a:prstGeom prst="rect">
            <a:avLst/>
          </a:prstGeom>
        </p:spPr>
        <p:txBody>
          <a:bodyPr anchor="t" rtlCol="false" tIns="0" lIns="0" bIns="0" rIns="0">
            <a:spAutoFit/>
          </a:bodyPr>
          <a:lstStyle/>
          <a:p>
            <a:pPr algn="l">
              <a:lnSpc>
                <a:spcPts val="3240"/>
              </a:lnSpc>
              <a:spcBef>
                <a:spcPct val="0"/>
              </a:spcBef>
            </a:pPr>
            <a:r>
              <a:rPr lang="en-US" sz="2700">
                <a:solidFill>
                  <a:srgbClr val="000000"/>
                </a:solidFill>
                <a:latin typeface="Calibri (MS)"/>
                <a:ea typeface="Calibri (MS)"/>
                <a:cs typeface="Calibri (MS)"/>
                <a:sym typeface="Calibri (MS)"/>
              </a:rPr>
              <a:t>Built a support-ticket triage agent in Python (Pydantic, Instructor, LangGraph) with schema-validated LLM output, retries with a keyword fallback, per-node JSON tracing and pytest coverage. Extended it with ____.</a:t>
            </a:r>
          </a:p>
        </p:txBody>
      </p:sp>
      <p:sp>
        <p:nvSpPr>
          <p:cNvPr name="TextBox 42" id="42"/>
          <p:cNvSpPr txBox="true"/>
          <p:nvPr/>
        </p:nvSpPr>
        <p:spPr>
          <a:xfrm rot="0">
            <a:off x="9484828" y="6720459"/>
            <a:ext cx="8461404" cy="876300"/>
          </a:xfrm>
          <a:prstGeom prst="rect">
            <a:avLst/>
          </a:prstGeom>
        </p:spPr>
        <p:txBody>
          <a:bodyPr anchor="t" rtlCol="false" tIns="0" lIns="0" bIns="0" rIns="0">
            <a:spAutoFit/>
          </a:bodyPr>
          <a:lstStyle/>
          <a:p>
            <a:pPr algn="ctr">
              <a:lnSpc>
                <a:spcPts val="3240"/>
              </a:lnSpc>
              <a:spcBef>
                <a:spcPct val="0"/>
              </a:spcBef>
            </a:pPr>
            <a:r>
              <a:rPr lang="en-US" sz="2700" i="true">
                <a:solidFill>
                  <a:srgbClr val="000000"/>
                </a:solidFill>
                <a:latin typeface="Calibri (MS) Italics"/>
                <a:ea typeface="Calibri (MS) Italics"/>
                <a:cs typeface="Calibri (MS) Italics"/>
                <a:sym typeface="Calibri (MS) Italics"/>
              </a:rPr>
              <a:t>Credit the workshop in your README. Your extension is what you defend in interviews.</a:t>
            </a:r>
          </a:p>
        </p:txBody>
      </p:sp>
    </p:spTree>
  </p:cSld>
  <p:clrMapOvr>
    <a:masterClrMapping/>
  </p:clrMapOvr>
</p:sld>
</file>

<file path=ppt/slides/slide40.xml><?xml version="1.0" encoding="utf-8"?>
<p:sld xmlns:p="http://schemas.openxmlformats.org/presentationml/2006/main" xmlns:a="http://schemas.openxmlformats.org/drawingml/2006/main">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10958" y="1720342"/>
            <a:ext cx="14930200" cy="787661"/>
            <a:chOff x="0" y="0"/>
            <a:chExt cx="3932234" cy="207450"/>
          </a:xfrm>
        </p:grpSpPr>
        <p:sp>
          <p:nvSpPr>
            <p:cNvPr name="Freeform 3" id="3"/>
            <p:cNvSpPr/>
            <p:nvPr/>
          </p:nvSpPr>
          <p:spPr>
            <a:xfrm flipH="false" flipV="false" rot="0">
              <a:off x="0" y="0"/>
              <a:ext cx="3932234" cy="207450"/>
            </a:xfrm>
            <a:custGeom>
              <a:avLst/>
              <a:gdLst/>
              <a:ahLst/>
              <a:cxnLst/>
              <a:rect r="r" b="b" t="t" l="l"/>
              <a:pathLst>
                <a:path h="207450" w="3932234">
                  <a:moveTo>
                    <a:pt x="0" y="0"/>
                  </a:moveTo>
                  <a:lnTo>
                    <a:pt x="3932234" y="0"/>
                  </a:lnTo>
                  <a:lnTo>
                    <a:pt x="3932234" y="207450"/>
                  </a:lnTo>
                  <a:lnTo>
                    <a:pt x="0" y="207450"/>
                  </a:lnTo>
                  <a:close/>
                </a:path>
              </a:pathLst>
            </a:custGeom>
            <a:solidFill>
              <a:srgbClr val="0493FB"/>
            </a:solidFill>
          </p:spPr>
        </p:sp>
        <p:sp>
          <p:nvSpPr>
            <p:cNvPr name="TextBox 4" id="4"/>
            <p:cNvSpPr txBox="true"/>
            <p:nvPr/>
          </p:nvSpPr>
          <p:spPr>
            <a:xfrm>
              <a:off x="0" y="-57150"/>
              <a:ext cx="3932234" cy="264600"/>
            </a:xfrm>
            <a:prstGeom prst="rect">
              <a:avLst/>
            </a:prstGeom>
          </p:spPr>
          <p:txBody>
            <a:bodyPr anchor="ctr" rtlCol="false" tIns="50800" lIns="50800" bIns="50800" rIns="50800"/>
            <a:lstStyle/>
            <a:p>
              <a:pPr algn="ctr">
                <a:lnSpc>
                  <a:spcPts val="2700"/>
                </a:lnSpc>
              </a:pPr>
            </a:p>
          </p:txBody>
        </p:sp>
      </p:grpSp>
      <p:grpSp>
        <p:nvGrpSpPr>
          <p:cNvPr name="Group 5" id="5"/>
          <p:cNvGrpSpPr/>
          <p:nvPr/>
        </p:nvGrpSpPr>
        <p:grpSpPr>
          <a:xfrm rot="0">
            <a:off x="1162906" y="3518535"/>
            <a:ext cx="8126349" cy="5739765"/>
            <a:chOff x="0" y="0"/>
            <a:chExt cx="10835132" cy="7653020"/>
          </a:xfrm>
        </p:grpSpPr>
        <p:sp>
          <p:nvSpPr>
            <p:cNvPr name="Freeform 6" id="6"/>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7" id="7"/>
          <p:cNvGrpSpPr/>
          <p:nvPr/>
        </p:nvGrpSpPr>
        <p:grpSpPr>
          <a:xfrm rot="0">
            <a:off x="1486550" y="4010363"/>
            <a:ext cx="5305015" cy="906678"/>
            <a:chOff x="0" y="0"/>
            <a:chExt cx="1397205" cy="238796"/>
          </a:xfrm>
        </p:grpSpPr>
        <p:sp>
          <p:nvSpPr>
            <p:cNvPr name="Freeform 8" id="8"/>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493FB"/>
            </a:solidFill>
          </p:spPr>
        </p:sp>
        <p:sp>
          <p:nvSpPr>
            <p:cNvPr name="TextBox 9" id="9"/>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The SYSTEM</a:t>
              </a:r>
            </a:p>
          </p:txBody>
        </p:sp>
      </p:grpSp>
      <p:sp>
        <p:nvSpPr>
          <p:cNvPr name="TextBox 10" id="10"/>
          <p:cNvSpPr txBox="true"/>
          <p:nvPr/>
        </p:nvSpPr>
        <p:spPr>
          <a:xfrm rot="0">
            <a:off x="1028700" y="904875"/>
            <a:ext cx="14712458" cy="1507109"/>
          </a:xfrm>
          <a:prstGeom prst="rect">
            <a:avLst/>
          </a:prstGeom>
        </p:spPr>
        <p:txBody>
          <a:bodyPr anchor="t" rtlCol="false" tIns="0" lIns="0" bIns="0" rIns="0">
            <a:spAutoFit/>
          </a:bodyPr>
          <a:lstStyle/>
          <a:p>
            <a:pPr algn="l" marL="0" indent="0" lvl="0">
              <a:lnSpc>
                <a:spcPts val="12102"/>
              </a:lnSpc>
              <a:spcBef>
                <a:spcPct val="0"/>
              </a:spcBef>
            </a:pPr>
            <a:r>
              <a:rPr lang="en-US" sz="9099">
                <a:solidFill>
                  <a:srgbClr val="DDEFFF"/>
                </a:solidFill>
                <a:latin typeface="Lilita One"/>
                <a:ea typeface="Lilita One"/>
                <a:cs typeface="Lilita One"/>
                <a:sym typeface="Lilita One"/>
              </a:rPr>
              <a:t>Interview: Lightning Round</a:t>
            </a:r>
          </a:p>
        </p:txBody>
      </p:sp>
      <p:sp>
        <p:nvSpPr>
          <p:cNvPr name="TextBox 11" id="11"/>
          <p:cNvSpPr txBox="true"/>
          <p:nvPr/>
        </p:nvSpPr>
        <p:spPr>
          <a:xfrm rot="0">
            <a:off x="1383185" y="5336858"/>
            <a:ext cx="7906070" cy="2790825"/>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EXPLAIN IT</a:t>
            </a:r>
          </a:p>
          <a:p>
            <a:pPr algn="ctr">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When would you not build an agent?</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How do you get reliable JSON?</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Which nodes use the LLM and why?</a:t>
            </a:r>
          </a:p>
        </p:txBody>
      </p:sp>
      <p:grpSp>
        <p:nvGrpSpPr>
          <p:cNvPr name="Group 12" id="12"/>
          <p:cNvGrpSpPr/>
          <p:nvPr/>
        </p:nvGrpSpPr>
        <p:grpSpPr>
          <a:xfrm rot="0">
            <a:off x="9447135" y="3518535"/>
            <a:ext cx="8126349" cy="5739765"/>
            <a:chOff x="0" y="0"/>
            <a:chExt cx="10835132" cy="7653020"/>
          </a:xfrm>
        </p:grpSpPr>
        <p:sp>
          <p:nvSpPr>
            <p:cNvPr name="Freeform 13" id="13"/>
            <p:cNvSpPr/>
            <p:nvPr/>
          </p:nvSpPr>
          <p:spPr>
            <a:xfrm flipH="false" flipV="false" rot="0">
              <a:off x="0" y="0"/>
              <a:ext cx="10835132" cy="7653020"/>
            </a:xfrm>
            <a:custGeom>
              <a:avLst/>
              <a:gdLst/>
              <a:ahLst/>
              <a:cxnLst/>
              <a:rect r="r" b="b" t="t" l="l"/>
              <a:pathLst>
                <a:path h="7653020" w="10835132">
                  <a:moveTo>
                    <a:pt x="0" y="221361"/>
                  </a:moveTo>
                  <a:cubicBezTo>
                    <a:pt x="0" y="99060"/>
                    <a:pt x="99060" y="0"/>
                    <a:pt x="221361" y="0"/>
                  </a:cubicBezTo>
                  <a:lnTo>
                    <a:pt x="10613771" y="0"/>
                  </a:lnTo>
                  <a:cubicBezTo>
                    <a:pt x="10735945" y="0"/>
                    <a:pt x="10835132" y="99060"/>
                    <a:pt x="10835132" y="221361"/>
                  </a:cubicBezTo>
                  <a:lnTo>
                    <a:pt x="10835132" y="7431659"/>
                  </a:lnTo>
                  <a:cubicBezTo>
                    <a:pt x="10835132" y="7553833"/>
                    <a:pt x="10736072" y="7653020"/>
                    <a:pt x="10613771" y="7653020"/>
                  </a:cubicBezTo>
                  <a:lnTo>
                    <a:pt x="221361" y="7653020"/>
                  </a:lnTo>
                  <a:cubicBezTo>
                    <a:pt x="99060" y="7653020"/>
                    <a:pt x="0" y="7553960"/>
                    <a:pt x="0" y="7431659"/>
                  </a:cubicBezTo>
                  <a:close/>
                </a:path>
              </a:pathLst>
            </a:custGeom>
            <a:solidFill>
              <a:srgbClr val="FFFFFF"/>
            </a:solidFill>
            <a:ln w="47625" cap="sq">
              <a:solidFill>
                <a:srgbClr val="2A9D8F"/>
              </a:solidFill>
              <a:prstDash val="solid"/>
              <a:miter/>
            </a:ln>
          </p:spPr>
        </p:sp>
      </p:grpSp>
      <p:grpSp>
        <p:nvGrpSpPr>
          <p:cNvPr name="Group 14" id="14"/>
          <p:cNvGrpSpPr/>
          <p:nvPr/>
        </p:nvGrpSpPr>
        <p:grpSpPr>
          <a:xfrm rot="0">
            <a:off x="9770779" y="4010363"/>
            <a:ext cx="5305015" cy="906678"/>
            <a:chOff x="0" y="0"/>
            <a:chExt cx="1397205" cy="238796"/>
          </a:xfrm>
        </p:grpSpPr>
        <p:sp>
          <p:nvSpPr>
            <p:cNvPr name="Freeform 15" id="15"/>
            <p:cNvSpPr/>
            <p:nvPr/>
          </p:nvSpPr>
          <p:spPr>
            <a:xfrm flipH="false" flipV="false" rot="0">
              <a:off x="0" y="0"/>
              <a:ext cx="1397206" cy="238796"/>
            </a:xfrm>
            <a:custGeom>
              <a:avLst/>
              <a:gdLst/>
              <a:ahLst/>
              <a:cxnLst/>
              <a:rect r="r" b="b" t="t" l="l"/>
              <a:pathLst>
                <a:path h="238796" w="1397206">
                  <a:moveTo>
                    <a:pt x="74427" y="0"/>
                  </a:moveTo>
                  <a:lnTo>
                    <a:pt x="1322778" y="0"/>
                  </a:lnTo>
                  <a:cubicBezTo>
                    <a:pt x="1363883" y="0"/>
                    <a:pt x="1397206" y="33322"/>
                    <a:pt x="1397206" y="74427"/>
                  </a:cubicBezTo>
                  <a:lnTo>
                    <a:pt x="1397206" y="164369"/>
                  </a:lnTo>
                  <a:cubicBezTo>
                    <a:pt x="1397206" y="205474"/>
                    <a:pt x="1363883" y="238796"/>
                    <a:pt x="1322778" y="238796"/>
                  </a:cubicBezTo>
                  <a:lnTo>
                    <a:pt x="74427" y="238796"/>
                  </a:lnTo>
                  <a:cubicBezTo>
                    <a:pt x="33322" y="238796"/>
                    <a:pt x="0" y="205474"/>
                    <a:pt x="0" y="164369"/>
                  </a:cubicBezTo>
                  <a:lnTo>
                    <a:pt x="0" y="74427"/>
                  </a:lnTo>
                  <a:cubicBezTo>
                    <a:pt x="0" y="33322"/>
                    <a:pt x="33322" y="0"/>
                    <a:pt x="74427" y="0"/>
                  </a:cubicBezTo>
                  <a:close/>
                </a:path>
              </a:pathLst>
            </a:custGeom>
            <a:solidFill>
              <a:srgbClr val="0E3C74"/>
            </a:solidFill>
          </p:spPr>
        </p:sp>
        <p:sp>
          <p:nvSpPr>
            <p:cNvPr name="TextBox 16" id="16"/>
            <p:cNvSpPr txBox="true"/>
            <p:nvPr/>
          </p:nvSpPr>
          <p:spPr>
            <a:xfrm>
              <a:off x="0" y="-76200"/>
              <a:ext cx="1397205" cy="314996"/>
            </a:xfrm>
            <a:prstGeom prst="rect">
              <a:avLst/>
            </a:prstGeom>
          </p:spPr>
          <p:txBody>
            <a:bodyPr anchor="ctr" rtlCol="false" tIns="50800" lIns="50800" bIns="50800" rIns="50800"/>
            <a:lstStyle/>
            <a:p>
              <a:pPr algn="ctr">
                <a:lnSpc>
                  <a:spcPts val="4859"/>
                </a:lnSpc>
              </a:pPr>
              <a:r>
                <a:rPr lang="en-US" sz="4049">
                  <a:solidFill>
                    <a:srgbClr val="FFFFFF"/>
                  </a:solidFill>
                  <a:latin typeface="Calibri (MS)"/>
                  <a:ea typeface="Calibri (MS)"/>
                  <a:cs typeface="Calibri (MS)"/>
                  <a:sym typeface="Calibri (MS)"/>
                </a:rPr>
                <a:t>BREAK IT</a:t>
              </a:r>
            </a:p>
          </p:txBody>
        </p:sp>
      </p:grpSp>
      <p:sp>
        <p:nvSpPr>
          <p:cNvPr name="TextBox 17" id="17"/>
          <p:cNvSpPr txBox="true"/>
          <p:nvPr/>
        </p:nvSpPr>
        <p:spPr>
          <a:xfrm rot="0">
            <a:off x="9447135" y="5336858"/>
            <a:ext cx="8284229" cy="2790825"/>
          </a:xfrm>
          <a:prstGeom prst="rect">
            <a:avLst/>
          </a:prstGeom>
        </p:spPr>
        <p:txBody>
          <a:bodyPr anchor="t" rtlCol="false" tIns="0" lIns="0" bIns="0" rIns="0">
            <a:spAutoFit/>
          </a:bodyPr>
          <a:lstStyle/>
          <a:p>
            <a:pPr algn="l">
              <a:lnSpc>
                <a:spcPts val="3114"/>
              </a:lnSpc>
            </a:pPr>
            <a:r>
              <a:rPr lang="en-US" sz="2595" b="true">
                <a:solidFill>
                  <a:srgbClr val="0D1B34"/>
                </a:solidFill>
                <a:latin typeface="Calibri (MS) Bold"/>
                <a:ea typeface="Calibri (MS) Bold"/>
                <a:cs typeface="Calibri (MS) Bold"/>
                <a:sym typeface="Calibri (MS) Bold"/>
              </a:rPr>
              <a:t>      DEFEND IT</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The model API goes down. Then?</a:t>
            </a:r>
          </a:p>
          <a:p>
            <a:pPr algn="l">
              <a:lnSpc>
                <a:spcPts val="3114"/>
              </a:lnSpc>
            </a:pPr>
          </a:p>
          <a:p>
            <a:pPr algn="l" marL="560422" indent="-280211" lvl="1">
              <a:lnSpc>
                <a:spcPts val="3114"/>
              </a:lnSpc>
              <a:buFont typeface="Arial"/>
              <a:buChar char="•"/>
            </a:pPr>
            <a:r>
              <a:rPr lang="en-US" sz="2595">
                <a:solidFill>
                  <a:srgbClr val="0D1B34"/>
                </a:solidFill>
                <a:latin typeface="Calibri (MS)"/>
                <a:ea typeface="Calibri (MS)"/>
                <a:cs typeface="Calibri (MS)"/>
                <a:sym typeface="Calibri (MS)"/>
              </a:rPr>
              <a:t>A ticket went wrong. Show me why?</a:t>
            </a:r>
          </a:p>
          <a:p>
            <a:pPr algn="l">
              <a:lnSpc>
                <a:spcPts val="3114"/>
              </a:lnSpc>
            </a:pPr>
          </a:p>
          <a:p>
            <a:pPr algn="l" marL="560422" indent="-280211" lvl="1">
              <a:lnSpc>
                <a:spcPts val="3114"/>
              </a:lnSpc>
              <a:spcBef>
                <a:spcPct val="0"/>
              </a:spcBef>
              <a:buFont typeface="Arial"/>
              <a:buChar char="•"/>
            </a:pPr>
            <a:r>
              <a:rPr lang="en-US" sz="2595">
                <a:solidFill>
                  <a:srgbClr val="0D1B34"/>
                </a:solidFill>
                <a:latin typeface="Calibri (MS)"/>
                <a:ea typeface="Calibri (MS)"/>
                <a:cs typeface="Calibri (MS)"/>
                <a:sym typeface="Calibri (MS)"/>
              </a:rPr>
              <a:t>How do you test random output?</a:t>
            </a:r>
          </a:p>
        </p:txBody>
      </p:sp>
      <p:sp>
        <p:nvSpPr>
          <p:cNvPr name="TextBox 18" id="18"/>
          <p:cNvSpPr txBox="true"/>
          <p:nvPr/>
        </p:nvSpPr>
        <p:spPr>
          <a:xfrm rot="0">
            <a:off x="1237930" y="9403298"/>
            <a:ext cx="16918098" cy="561975"/>
          </a:xfrm>
          <a:prstGeom prst="rect">
            <a:avLst/>
          </a:prstGeom>
        </p:spPr>
        <p:txBody>
          <a:bodyPr anchor="t" rtlCol="false" tIns="0" lIns="0" bIns="0" rIns="0">
            <a:spAutoFit/>
          </a:bodyPr>
          <a:lstStyle/>
          <a:p>
            <a:pPr algn="ctr">
              <a:lnSpc>
                <a:spcPts val="3908"/>
              </a:lnSpc>
              <a:spcBef>
                <a:spcPct val="0"/>
              </a:spcBef>
            </a:pPr>
            <a:r>
              <a:rPr lang="en-US" b="true" sz="3257">
                <a:solidFill>
                  <a:srgbClr val="FFFFFF"/>
                </a:solidFill>
                <a:latin typeface="Calibri (MS) Bold"/>
                <a:ea typeface="Calibri (MS) Bold"/>
                <a:cs typeface="Calibri (MS) Bold"/>
                <a:sym typeface="Calibri (MS) Bold"/>
              </a:rPr>
              <a:t>Answer each one out loud in 30 seconds. </a:t>
            </a:r>
            <a:r>
              <a:rPr lang="en-US" sz="3257">
                <a:solidFill>
                  <a:srgbClr val="FFFFFF"/>
                </a:solidFill>
                <a:latin typeface="Calibri (MS)"/>
                <a:ea typeface="Calibri (MS)"/>
                <a:cs typeface="Calibri (MS)"/>
                <a:sym typeface="Calibri (MS)"/>
              </a:rPr>
              <a:t>If you can, you can defend this project in an interview.</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21A3E">
                <a:alpha val="100000"/>
              </a:srgbClr>
            </a:gs>
            <a:gs pos="100000">
              <a:srgbClr val="0493FB">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097280" y="3017520"/>
            <a:ext cx="16047720" cy="1783080"/>
            <a:chOff x="0" y="0"/>
            <a:chExt cx="21396960" cy="2377440"/>
          </a:xfrm>
        </p:grpSpPr>
        <p:sp>
          <p:nvSpPr>
            <p:cNvPr name="Freeform 3" id="3"/>
            <p:cNvSpPr/>
            <p:nvPr/>
          </p:nvSpPr>
          <p:spPr>
            <a:xfrm flipH="false" flipV="false" rot="0">
              <a:off x="0" y="0"/>
              <a:ext cx="21396961" cy="2377440"/>
            </a:xfrm>
            <a:custGeom>
              <a:avLst/>
              <a:gdLst/>
              <a:ahLst/>
              <a:cxnLst/>
              <a:rect r="r" b="b" t="t" l="l"/>
              <a:pathLst>
                <a:path h="2377440" w="21396961">
                  <a:moveTo>
                    <a:pt x="0" y="0"/>
                  </a:moveTo>
                  <a:lnTo>
                    <a:pt x="21396961" y="0"/>
                  </a:lnTo>
                  <a:lnTo>
                    <a:pt x="21396961" y="2377440"/>
                  </a:lnTo>
                  <a:lnTo>
                    <a:pt x="0" y="2377440"/>
                  </a:lnTo>
                  <a:close/>
                </a:path>
              </a:pathLst>
            </a:custGeom>
            <a:blipFill>
              <a:blip r:embed="rId2">
                <a:alphaModFix amt="0"/>
              </a:blip>
              <a:stretch>
                <a:fillRect l="0" t="-125365" r="0" b="-125365"/>
              </a:stretch>
            </a:blipFill>
          </p:spPr>
        </p:sp>
        <p:sp>
          <p:nvSpPr>
            <p:cNvPr name="TextBox 4" id="4"/>
            <p:cNvSpPr txBox="true"/>
            <p:nvPr/>
          </p:nvSpPr>
          <p:spPr>
            <a:xfrm>
              <a:off x="0" y="-28575"/>
              <a:ext cx="21396960" cy="2406015"/>
            </a:xfrm>
            <a:prstGeom prst="rect">
              <a:avLst/>
            </a:prstGeom>
          </p:spPr>
          <p:txBody>
            <a:bodyPr anchor="ctr" rtlCol="false" tIns="0" lIns="0" bIns="0" rIns="0"/>
            <a:lstStyle/>
            <a:p>
              <a:pPr algn="l">
                <a:lnSpc>
                  <a:spcPts val="9720"/>
                </a:lnSpc>
              </a:pPr>
              <a:r>
                <a:rPr lang="en-US" sz="8100" b="true">
                  <a:solidFill>
                    <a:srgbClr val="FFFFFF"/>
                  </a:solidFill>
                  <a:latin typeface="Arial Bold"/>
                  <a:ea typeface="Arial Bold"/>
                  <a:cs typeface="Arial Bold"/>
                  <a:sym typeface="Arial Bold"/>
                </a:rPr>
                <a:t>Questions &amp; Discussion</a:t>
              </a:r>
            </a:p>
          </p:txBody>
        </p:sp>
      </p:grpSp>
      <p:sp>
        <p:nvSpPr>
          <p:cNvPr name="TextBox 5" id="5"/>
          <p:cNvSpPr txBox="true"/>
          <p:nvPr/>
        </p:nvSpPr>
        <p:spPr>
          <a:xfrm rot="0">
            <a:off x="1097280" y="4802505"/>
            <a:ext cx="16047720" cy="1026795"/>
          </a:xfrm>
          <a:prstGeom prst="rect">
            <a:avLst/>
          </a:prstGeom>
        </p:spPr>
        <p:txBody>
          <a:bodyPr anchor="t" rtlCol="false" tIns="0" lIns="0" bIns="0" rIns="0">
            <a:spAutoFit/>
          </a:bodyPr>
          <a:lstStyle/>
          <a:p>
            <a:pPr algn="l">
              <a:lnSpc>
                <a:spcPts val="3960"/>
              </a:lnSpc>
            </a:pPr>
            <a:r>
              <a:rPr lang="en-US" sz="3300" i="true">
                <a:solidFill>
                  <a:srgbClr val="C9D1E3"/>
                </a:solidFill>
                <a:latin typeface="Calibri (MS) Italics"/>
                <a:ea typeface="Calibri (MS) Italics"/>
                <a:cs typeface="Calibri (MS) Italics"/>
                <a:sym typeface="Calibri (MS) Italics"/>
              </a:rPr>
              <a:t>Thank you for your time.</a:t>
            </a:r>
          </a:p>
        </p:txBody>
      </p:sp>
      <p:sp>
        <p:nvSpPr>
          <p:cNvPr name="TextBox 6" id="6"/>
          <p:cNvSpPr txBox="true"/>
          <p:nvPr/>
        </p:nvSpPr>
        <p:spPr>
          <a:xfrm rot="0">
            <a:off x="1097280" y="5488305"/>
            <a:ext cx="10972800" cy="581025"/>
          </a:xfrm>
          <a:prstGeom prst="rect">
            <a:avLst/>
          </a:prstGeom>
        </p:spPr>
        <p:txBody>
          <a:bodyPr anchor="t" rtlCol="false" tIns="0" lIns="0" bIns="0" rIns="0">
            <a:spAutoFit/>
          </a:bodyPr>
          <a:lstStyle/>
          <a:p>
            <a:pPr algn="l">
              <a:lnSpc>
                <a:spcPts val="4079"/>
              </a:lnSpc>
            </a:pPr>
            <a:r>
              <a:rPr lang="en-US" b="true" sz="3399">
                <a:solidFill>
                  <a:srgbClr val="FFFFFF"/>
                </a:solidFill>
                <a:latin typeface="Calibri (MS) Bold"/>
                <a:ea typeface="Calibri (MS) Bold"/>
                <a:cs typeface="Calibri (MS) Bold"/>
                <a:sym typeface="Calibri (MS) Bold"/>
              </a:rPr>
              <a:t>Dalhousie Machine Learning Society - DMLS</a:t>
            </a:r>
          </a:p>
        </p:txBody>
      </p:sp>
      <p:sp>
        <p:nvSpPr>
          <p:cNvPr name="Freeform 7" id="7"/>
          <p:cNvSpPr/>
          <p:nvPr/>
        </p:nvSpPr>
        <p:spPr>
          <a:xfrm flipH="false" flipV="false" rot="0">
            <a:off x="-875956" y="7966921"/>
            <a:ext cx="5480719" cy="5511824"/>
          </a:xfrm>
          <a:custGeom>
            <a:avLst/>
            <a:gdLst/>
            <a:ahLst/>
            <a:cxnLst/>
            <a:rect r="r" b="b" t="t" l="l"/>
            <a:pathLst>
              <a:path h="5511824" w="5480719">
                <a:moveTo>
                  <a:pt x="0" y="0"/>
                </a:moveTo>
                <a:lnTo>
                  <a:pt x="5480720" y="0"/>
                </a:lnTo>
                <a:lnTo>
                  <a:pt x="5480720" y="5511824"/>
                </a:lnTo>
                <a:lnTo>
                  <a:pt x="0" y="55118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422494" y="9043911"/>
            <a:ext cx="3218631" cy="963472"/>
          </a:xfrm>
          <a:custGeom>
            <a:avLst/>
            <a:gdLst/>
            <a:ahLst/>
            <a:cxnLst/>
            <a:rect r="r" b="b" t="t" l="l"/>
            <a:pathLst>
              <a:path h="963472" w="3218631">
                <a:moveTo>
                  <a:pt x="0" y="0"/>
                </a:moveTo>
                <a:lnTo>
                  <a:pt x="3218631" y="0"/>
                </a:lnTo>
                <a:lnTo>
                  <a:pt x="3218631" y="963472"/>
                </a:lnTo>
                <a:lnTo>
                  <a:pt x="0" y="963472"/>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DAHXKNlG4Lo</dc:identifier>
  <dcterms:modified xsi:type="dcterms:W3CDTF">2011-08-01T06:04:30Z</dcterms:modified>
  <cp:revision>1</cp:revision>
  <dc:title>Session 1 : LLM to Agent</dc:title>
</cp:coreProperties>
</file>